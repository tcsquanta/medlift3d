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Good morning. We are presenting MedLift-3D. In one sentence: a doctor clicks on a nodule in a low-dose chest tomosynthesis image, and our system returns the nodule's 3D mass and volume, each with an honest, calibrated uncertainty. In the next fifteen minutes we explain the problem, the physics insight behind our design, what we built, what we found (including what did not work), and why.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Lung cancer kills about 1.8 million people a year. Caught early at stage one, 70 to 90 percent survive; at stage four only 15 to 19 percent. Early cancer shows up as a nodule, but most nodules are benign, so doctors follow them over months and measure growth. Today that means a CT every time: several millisieverts of radiation, cost, and in Bangladesh, CT is concentrated in big cities. Tomosynthesis is a cheap, low-dose alternative at about 0.1 mSv, but it cannot see depth, so it gives no trustworthy 3D measurement. Our problem statement: one DTS scan plus one click, return mass, volume and growth with an honest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animation shows how tomosynthesis works. On the left, the X-ray tube sweeps over plus or minus 15 degrees. Watch the nodule's shadow on the detector move as the tube moves; that small shift is the only depth information we get. On the right is the same thing in Fourier space: each view measures one line, so fifteen views fill only a thin fan. The orange region, the depth frequencies, is never measured: the missing wedge. In practice a nodule reconstructed from DTS is smeared three to five times longer in depth than in-plane.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This is the idea our design is built on. We asked what DTS can measure, not just what it can show. If we take moments of each projection: the zeroth moment, the total signal on the detector, equals the nodule's mass in every single view, no matter how deep it is. We verified this numerically to 0.03 percent. But the depth extent, which you need for volume, enters through sine squared of the tube angle; at 15 degrees that is about 15 times worse conditioned. So: mass first, a learned prior for depth that must agree with the X-rays, and calibrated uncertainty on everything.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We stated our objectives as six hypotheses that could each turn out false. H1: mass is measured better than volume. H2: the learned prior reduces volume error. H3: conformal intervals are valid. H4: mass doubling time classifies growth better. H5: calibrated category probabilities. H6: the prior recovers rather than invents. Later we will report honestly which ones held.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Here is the full pipeline, which I'll build up step by step. One: we simulate the DTS scan, 15 low-dose views, reconstructed with SIRT. Two: the clinician clicks, helped by a learned 3D detector. Three: we reconstruct a 64 millimetre prism, a column through the whole chest around the click. Four: a conditional 3D diffusion model generates eight CT-like hypotheses of that prism, and inside the sampler we keep pulling each one back to agree with the X-rays. Five: we fit 3D Gaussians, which give the mass in closed form. Six: conformal prediction turns the spread into calibrated intervals and size-category probabilities. Seven: we split every result into what the X-rays saw and what the prior filled in. Grey is physics, blue is learned, green is measurement and trust. Everything runs as 18 verified steps.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No public dataset has chest DTS together with CT ground truth, so we ran a virtual clinical trial. We took 583 real patients from LIDC-IDRI, 1,144 nodules between 4 and 30 millimetres that at least three of four radiologists marked, and simulated 15-view low-dose DTS from each CT with realistic Poisson noise. On the left are the fifteen simulated views of one patient; the red circle marks the nodule. We split by patient, 60/20/20, so no test patient is ever seen in training or calibration. The diffusion prior trained on 2,522 pairs; 150 nodules were measured with every method.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The core learned component is a conditional 3D diffusion model with 17.4 million parameters. It is conditioned on the blurry DTS reconstruction of the prism and generates CT-like volumes. To stop it from inventing anatomy, we insert SIRT data-consistency steps inside the sampler, so every sample must still reproduce the measured X-rays. Here is a held-out example: left the DTS input, middle our sample, right the real CT; the sample recovers sharp ribs and vessels. It trained for 27,610 steps in six hours, and on held-out patients raised nodule-region PSNR from 11.88 to 15.23 dB. Fit checks showed no memorisation of inputs, but it is still under-trained.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Each diffusion sample is fitted with anisotropic 3D Gaussians. The nice property is that the integral of a Gaussian is known exactly, so the nodule's mass is a closed-form sum, no voxel counting. For trust, we use split conformal prediction: we measure the errors on 76 calibration nodules from patients never used in training, take the 90 percent quantile, and that becomes the interval for every new nodule. This gives a coverage guarantee without assuming any error distribution. We also produce calibrated probabilities of the clinical size categories, below 100, 100 to 300, and above 300 cubic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is the working application. The clinician picks a patient, the detector suggests nodules, and one click runs the whole pipeline. On the left are the prism views: the blurry DTS input on top, and below our reconstruction with its segmentation in red and the spread of the eight samples. The spread is highest in the depth view, exactly as the physics predicts. On the right, the interactive 3D view: green where the samples agree, red where they disagree, and the radiologists' nodule in grey for comparison. It returns mass, volume, the EUPS category with probabilities, and a low-confidence flag that tells the doctor when to order a CT instead. It runs on a free Kaggle notebook.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Now the results, all on held-out test patients. The short version: every component did what it was designed to do, but the final measurements did not reach the goal. We will show both sides honestly, and then explain why.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First, what worked. The diffusion prior improved nodule-region image quality on held-out patients by 3.35 dB. The learned detector is 17 times better than a training-free detector by the standard CPM score. The conformal intervals reached 95 percent coverage on the test patients, against a 90 percent target, while the raw spread of the samples covered only 28 percent; that is why calibration is necessary. And calibrated probabilities cut the Brier score for "is this nodule at least 100 cubic millimetres" from 0.54 to 0.17.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Now what did not work. This chart is the median volume error on the 74 test nodules; lower is better and a failed measurement counts as 100 percent. Our full method, in orange, has 94.6 percent, no better than the physics-only methods at 88 to 91. The diffusion prior alone has the lowest error, 74.5, but it underestimates by 58 percent. So H1, mass more accurate than volume, held only for physics-only Gaussians, and H2 is not supported. No method is clinically usable yet. The key lesson for medical generative AI: the method with the best-looking images still underestimated volume by 58 percent. Image quality is not measurement accuracy.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For uncertainty, the conformal guarantee held in practice: 95 to 96 percent coverage for a 90 percent target. But the intervals were not useful. When a method finds nothing at the click, the measurement is zero, its log error is infinite, and with about a quarter of calibration nodules failing, the conformal quantile becomes infinite. The calibrated category probabilities did help at the 100 cubic millimetre threshold, Brier 0.54 to 0.17, but not at 300. And an important finding: the spread of the eight samples is negatively correlated with the error, minus 0.52. The samples agree most when they all erase the same faint nodule, so raw spread is not a trustworthy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Explainability. Using a conjugate-gradient null-space decomposition we split every 3D result into the part the fifteen X-rays actually measured, the seen part, and the part they cannot see, which only the prior can supply. The table of numbers on the right is the result over 30 test nodules. Only 0.3 percent of a nodule's mass is in the unseen part, which confirms our physics argument: the X-rays do measure mass. The prior's unseen content has a positive skill of 0.22 against the real CT, so it recovers missing depth rather than inventing structure; H6 is supported. But after Gaussian fitting the skill falls to 0.09, so the Gaussian step throws away much of what the prior recovered. That points directly to a fix.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Putting it together. H1, H2 and H4, the measurement hypotheses, were not supported. H3 was valid but not useful. H5 was partly supported. H6, that the prior recovers rather than invents, was supported. On growth, for the physics-only prism reconstruction mass doubling time was slightly better than volume, 50 versus 48 percent, in line with our mass-first argument, but 40 pairs are too few to be conclusive.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Why did it fail? Our analysis points to three causes, and each suggests a fix. First, the prior shrinks faint nodules: it was not told a nodule is present at the click, so for faint ones it draws plausible normal lung. Here is a 6.8 millimetre nodule: clear in CT on the left, almost erased by our method on the right. Fix: condition the prior on the click. Second, we measured mass by integrating the reconstruction inside a segmentation, so segmentation failures leaked into mass, even though the X-rays themselves measure 99.7 percent of the mass. Fix: measure mass directly from the projections. Third, zero measurements made the intervals infinite. Fix: report "not measurable" as its own outcome and calibrate only the measurable cases.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On cost: the full study, 583 patients, ran in about 15 hours on one rented L40S GPU at 1.33 dollars an hour, about 20 dollars, roughly 22 dollars including a CPU machine, about 2,640 taka. Buying an equivalent workstation would cost four to five lakh taka. The demo runs on a free Kaggle GPU. Legally, LIDC-IDRI is CC BY 3.0 and we followed its citation and no-re-identification policy. A clinical version would be a medical device registrable with DGDA under the Drugs and Cosmetics Act 2023, and patient data would fall under Bangladesh's Personal Data Protection Ordinance 2025, which requires consent and treats health data as sensitive.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conclude. Our contributions: a physics argument that DTS measures mass but not depth extent; a diffusion prior kept consistent with the X-rays, combined with Gaussian mass; calibrated, decision-level uncertainty; a truth-referenced test of what a generative prior adds; and an open, verified pipeline with a working application. Next steps follow directly from the failure analysis: a click-conditioned prior, mass measured from the projections, failure-aware calibration, and above all real DTS data with a hospital partner. Our main lesson: better images do not guarantee better measurements; you must measure and calibrate the number that matters clinically.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and short answers. Why simulated DTS? No public chest DTS dataset with CT ground truth exists; simulation from real CT gives exact ground truth. Why only 15 views? Same dose as clinical units; our geometry study showed view count barely changes the depth smear at equal dose, a 40 degree sweep helps about 9 percent. Is the prior hallucinating? The seen/unseen test shows positive unseen skill of 0.22, and data-consistency keeps every sample faithful to the X-rays. Overfitting? Denoising loss train vs held-out ratio 0.97, but sample gain +7.00 vs +4.22 dB, so some patient-level advantage, and still under-trained. Why did H1 fail if mass is measured exactly? Because we measured mass from the reconstruction inside a segmentation, not from the projections. Clinical use? Not yet; decision support only, a low-confidence flag tells the doctor to order 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14213D"/>
            </a:gs>
            <a:gs pos="100000">
              <a:srgbClr val="1B2E52"/>
            </a:gs>
          </a:gsLst>
          <a:lin scaled="0" ang="13500000"/>
        </a:gradFill>
        <a:effectLst/>
      </p:bgPr>
    </p:bg>
    <p:spTree>
      <p:nvGrpSpPr>
        <p:cNvPr id="1" name=""/>
        <p:cNvGrpSpPr/>
        <p:nvPr/>
      </p:nvGrpSpPr>
      <p:grpSpPr/>
      <p:sp>
        <p:nvSpPr>
          <p:cNvPr id="2" name="TextBox 1"/>
          <p:cNvSpPr txBox="1"/>
          <p:nvPr/>
        </p:nvSpPr>
        <p:spPr>
          <a:xfrm>
            <a:off x="812800" y="1460500"/>
            <a:ext cx="10566400" cy="254000"/>
          </a:xfrm>
          <a:prstGeom prst="rect">
            <a:avLst/>
          </a:prstGeom>
          <a:noFill/>
        </p:spPr>
        <p:txBody>
          <a:bodyPr wrap="square" lIns="0" rIns="0" tIns="0" bIns="0" anchor="t">
            <a:spAutoFit/>
          </a:bodyPr>
          <a:lstStyle/>
          <a:p>
            <a:pPr algn="l">
              <a:lnSpc>
                <a:spcPct val="120000"/>
              </a:lnSpc>
            </a:pPr>
            <a:r>
              <a:rPr sz="1400" b="1" i="0">
                <a:solidFill>
                  <a:srgbClr val="8FB3E3"/>
                </a:solidFill>
                <a:latin typeface="Calibri"/>
              </a:rPr>
              <a:t>FINAL YEAR DESIGN PROJECT · CSE · UNITED INTERNATIONAL UNIVERSITY</a:t>
            </a:r>
          </a:p>
        </p:txBody>
      </p:sp>
      <p:sp>
        <p:nvSpPr>
          <p:cNvPr id="3" name="TextBox 2"/>
          <p:cNvSpPr txBox="1"/>
          <p:nvPr/>
        </p:nvSpPr>
        <p:spPr>
          <a:xfrm>
            <a:off x="812800" y="1905000"/>
            <a:ext cx="10566400" cy="889000"/>
          </a:xfrm>
          <a:prstGeom prst="rect">
            <a:avLst/>
          </a:prstGeom>
          <a:noFill/>
        </p:spPr>
        <p:txBody>
          <a:bodyPr wrap="square" lIns="0" rIns="0" tIns="0" bIns="0" anchor="t">
            <a:spAutoFit/>
          </a:bodyPr>
          <a:lstStyle/>
          <a:p>
            <a:pPr algn="l">
              <a:lnSpc>
                <a:spcPct val="120000"/>
              </a:lnSpc>
            </a:pPr>
            <a:r>
              <a:rPr sz="6000" b="1" i="0">
                <a:solidFill>
                  <a:srgbClr val="F7F6F2"/>
                </a:solidFill>
                <a:latin typeface="Georgia"/>
              </a:rPr>
              <a:t>MedLift-3D</a:t>
            </a:r>
          </a:p>
        </p:txBody>
      </p:sp>
      <p:sp>
        <p:nvSpPr>
          <p:cNvPr id="4" name="TextBox 3"/>
          <p:cNvSpPr txBox="1"/>
          <p:nvPr/>
        </p:nvSpPr>
        <p:spPr>
          <a:xfrm>
            <a:off x="812800" y="2921000"/>
            <a:ext cx="8890000" cy="825500"/>
          </a:xfrm>
          <a:prstGeom prst="rect">
            <a:avLst/>
          </a:prstGeom>
          <a:noFill/>
        </p:spPr>
        <p:txBody>
          <a:bodyPr wrap="square" lIns="0" rIns="0" tIns="0" bIns="0" anchor="t">
            <a:spAutoFit/>
          </a:bodyPr>
          <a:lstStyle/>
          <a:p>
            <a:pPr algn="l">
              <a:lnSpc>
                <a:spcPct val="115000"/>
              </a:lnSpc>
            </a:pPr>
            <a:r>
              <a:rPr sz="2200" b="0" i="0">
                <a:solidFill>
                  <a:srgbClr val="DCE5F1"/>
                </a:solidFill>
                <a:latin typeface="Georgia"/>
              </a:rPr>
              <a:t>Click-to-3D lung nodule mass and growth assessment from low-dose chest tomosynthesis, with calibrated uncertainty</a:t>
            </a:r>
          </a:p>
        </p:txBody>
      </p:sp>
      <p:cxnSp>
        <p:nvCxnSpPr>
          <p:cNvPr id="5" name="Connector 4"/>
          <p:cNvCxnSpPr/>
          <p:nvPr/>
        </p:nvCxnSpPr>
        <p:spPr>
          <a:xfrm>
            <a:off x="812800" y="4191000"/>
            <a:ext cx="10566400" cy="0"/>
          </a:xfrm>
          <a:prstGeom prst="line">
            <a:avLst/>
          </a:prstGeom>
          <a:ln w="12700">
            <a:solidFill>
              <a:srgbClr val="3A548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12800" y="4381500"/>
            <a:ext cx="3302000" cy="635000"/>
          </a:xfrm>
          <a:prstGeom prst="rect">
            <a:avLst/>
          </a:prstGeom>
          <a:noFill/>
        </p:spPr>
        <p:txBody>
          <a:bodyPr wrap="square" lIns="0" rIns="0" tIns="0" bIns="0" anchor="t">
            <a:spAutoFit/>
          </a:bodyPr>
          <a:lstStyle/>
          <a:p>
            <a:pPr algn="l">
              <a:lnSpc>
                <a:spcPct val="120000"/>
              </a:lnSpc>
            </a:pPr>
            <a:r>
              <a:rPr sz="1600" b="1" i="0">
                <a:solidFill>
                  <a:srgbClr val="F7F6F2"/>
                </a:solidFill>
                <a:latin typeface="Calibri"/>
              </a:rPr>
              <a:t>Jubair Ahmed</a:t>
            </a:r>
          </a:p>
          <a:p>
            <a:pPr algn="l">
              <a:lnSpc>
                <a:spcPct val="120000"/>
              </a:lnSpc>
              <a:spcBef>
                <a:spcPts val="300"/>
              </a:spcBef>
            </a:pPr>
            <a:r>
              <a:rPr sz="1200" b="0" i="0">
                <a:solidFill>
                  <a:srgbClr val="A9BCD6"/>
                </a:solidFill>
                <a:latin typeface="Calibri"/>
              </a:rPr>
              <a:t>011222136</a:t>
            </a:r>
          </a:p>
        </p:txBody>
      </p:sp>
      <p:sp>
        <p:nvSpPr>
          <p:cNvPr id="7" name="TextBox 6"/>
          <p:cNvSpPr txBox="1"/>
          <p:nvPr/>
        </p:nvSpPr>
        <p:spPr>
          <a:xfrm>
            <a:off x="4368800" y="4381500"/>
            <a:ext cx="3302000" cy="635000"/>
          </a:xfrm>
          <a:prstGeom prst="rect">
            <a:avLst/>
          </a:prstGeom>
          <a:noFill/>
        </p:spPr>
        <p:txBody>
          <a:bodyPr wrap="square" lIns="0" rIns="0" tIns="0" bIns="0" anchor="t">
            <a:spAutoFit/>
          </a:bodyPr>
          <a:lstStyle/>
          <a:p>
            <a:pPr algn="l">
              <a:lnSpc>
                <a:spcPct val="120000"/>
              </a:lnSpc>
            </a:pPr>
            <a:r>
              <a:rPr sz="1600" b="1" i="0">
                <a:solidFill>
                  <a:srgbClr val="F7F6F2"/>
                </a:solidFill>
                <a:latin typeface="Calibri"/>
              </a:rPr>
              <a:t>Foyez Ahammed Naeem</a:t>
            </a:r>
          </a:p>
          <a:p>
            <a:pPr algn="l">
              <a:lnSpc>
                <a:spcPct val="120000"/>
              </a:lnSpc>
              <a:spcBef>
                <a:spcPts val="300"/>
              </a:spcBef>
            </a:pPr>
            <a:r>
              <a:rPr sz="1200" b="0" i="0">
                <a:solidFill>
                  <a:srgbClr val="A9BCD6"/>
                </a:solidFill>
                <a:latin typeface="Calibri"/>
              </a:rPr>
              <a:t>011222011</a:t>
            </a:r>
          </a:p>
        </p:txBody>
      </p:sp>
      <p:sp>
        <p:nvSpPr>
          <p:cNvPr id="8" name="TextBox 7"/>
          <p:cNvSpPr txBox="1"/>
          <p:nvPr/>
        </p:nvSpPr>
        <p:spPr>
          <a:xfrm>
            <a:off x="7924800" y="4381500"/>
            <a:ext cx="3302000" cy="635000"/>
          </a:xfrm>
          <a:prstGeom prst="rect">
            <a:avLst/>
          </a:prstGeom>
          <a:noFill/>
        </p:spPr>
        <p:txBody>
          <a:bodyPr wrap="square" lIns="0" rIns="0" tIns="0" bIns="0" anchor="t">
            <a:spAutoFit/>
          </a:bodyPr>
          <a:lstStyle/>
          <a:p>
            <a:pPr algn="l">
              <a:lnSpc>
                <a:spcPct val="120000"/>
              </a:lnSpc>
            </a:pPr>
            <a:r>
              <a:rPr sz="1600" b="1" i="0">
                <a:solidFill>
                  <a:srgbClr val="F7F6F2"/>
                </a:solidFill>
                <a:latin typeface="Calibri"/>
              </a:rPr>
              <a:t>Md Motasim Billah</a:t>
            </a:r>
          </a:p>
          <a:p>
            <a:pPr algn="l">
              <a:lnSpc>
                <a:spcPct val="120000"/>
              </a:lnSpc>
              <a:spcBef>
                <a:spcPts val="300"/>
              </a:spcBef>
            </a:pPr>
            <a:r>
              <a:rPr sz="1200" b="0" i="0">
                <a:solidFill>
                  <a:srgbClr val="A9BCD6"/>
                </a:solidFill>
                <a:latin typeface="Calibri"/>
              </a:rPr>
              <a:t>011222016</a:t>
            </a:r>
          </a:p>
        </p:txBody>
      </p:sp>
      <p:sp>
        <p:nvSpPr>
          <p:cNvPr id="9" name="TextBox 8"/>
          <p:cNvSpPr txBox="1"/>
          <p:nvPr/>
        </p:nvSpPr>
        <p:spPr>
          <a:xfrm>
            <a:off x="7569200" y="6096000"/>
            <a:ext cx="3810000" cy="254000"/>
          </a:xfrm>
          <a:prstGeom prst="rect">
            <a:avLst/>
          </a:prstGeom>
          <a:noFill/>
        </p:spPr>
        <p:txBody>
          <a:bodyPr wrap="square" lIns="0" rIns="0" tIns="0" bIns="0" anchor="t">
            <a:spAutoFit/>
          </a:bodyPr>
          <a:lstStyle/>
          <a:p>
            <a:pPr algn="r">
              <a:lnSpc>
                <a:spcPct val="120000"/>
              </a:lnSpc>
            </a:pPr>
            <a:r>
              <a:rPr sz="1200" b="0" i="0">
                <a:solidFill>
                  <a:srgbClr val="A9BCD6"/>
                </a:solidFill>
                <a:latin typeface="Calibri"/>
              </a:rPr>
              <a:t>Defense · 2 November 2026</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THE PROBLEM</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Lung nodules are followed by measuring growth, and today every follow-up means another CT</a:t>
            </a:r>
          </a:p>
        </p:txBody>
      </p:sp>
      <p:grpSp>
        <p:nvGrpSpPr>
          <p:cNvPr id="4" name="Group 3"/>
          <p:cNvGrpSpPr/>
          <p:nvPr/>
        </p:nvGrpSpPr>
        <p:grpSpPr>
          <a:xfrm>
            <a:off x="812800" y="2222500"/>
            <a:ext cx="3384550" cy="2286000"/>
            <a:chOff x="812800" y="2222500"/>
            <a:chExt cx="3384550" cy="2286000"/>
          </a:xfrm>
        </p:grpSpPr>
        <p:sp>
          <p:nvSpPr>
            <p:cNvPr id="5" name="Rounded Rectangle 4"/>
            <p:cNvSpPr/>
            <p:nvPr/>
          </p:nvSpPr>
          <p:spPr>
            <a:xfrm>
              <a:off x="812800" y="2222500"/>
              <a:ext cx="3384550" cy="2286000"/>
            </a:xfrm>
            <a:prstGeom prst="roundRect">
              <a:avLst>
                <a:gd name="adj" fmla="val 444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1400" y="2405380"/>
              <a:ext cx="2927350" cy="1920240"/>
            </a:xfrm>
            <a:prstGeom prst="rect">
              <a:avLst/>
            </a:prstGeom>
            <a:noFill/>
          </p:spPr>
          <p:txBody>
            <a:bodyPr wrap="square" lIns="0" rIns="0" tIns="0" bIns="0" anchor="t">
              <a:spAutoFit/>
            </a:bodyPr>
            <a:lstStyle/>
            <a:p>
              <a:pPr algn="l">
                <a:lnSpc>
                  <a:spcPct val="100000"/>
                </a:lnSpc>
              </a:pPr>
              <a:r>
                <a:rPr sz="4400" b="1" i="0">
                  <a:solidFill>
                    <a:srgbClr val="1F5FA8"/>
                  </a:solidFill>
                  <a:latin typeface="Georgia"/>
                </a:rPr>
                <a:t>1.8 M</a:t>
              </a:r>
            </a:p>
            <a:p>
              <a:pPr algn="l">
                <a:lnSpc>
                  <a:spcPct val="120000"/>
                </a:lnSpc>
                <a:spcBef>
                  <a:spcPts val="400"/>
                </a:spcBef>
              </a:pPr>
              <a:r>
                <a:rPr sz="1400" b="0" i="0">
                  <a:solidFill>
                    <a:srgbClr val="4A5568"/>
                  </a:solidFill>
                  <a:latin typeface="Calibri"/>
                </a:rPr>
                <a:t>lung cancer deaths in 2022, the leading cause of cancer death. Survival is 70–90% at stage I but 15–19% at stage IV.</a:t>
              </a:r>
            </a:p>
          </p:txBody>
        </p:sp>
      </p:grpSp>
      <p:grpSp>
        <p:nvGrpSpPr>
          <p:cNvPr id="7" name="Group 6"/>
          <p:cNvGrpSpPr/>
          <p:nvPr/>
        </p:nvGrpSpPr>
        <p:grpSpPr>
          <a:xfrm>
            <a:off x="4400550" y="2222500"/>
            <a:ext cx="3384550" cy="2286000"/>
            <a:chOff x="4400550" y="2222500"/>
            <a:chExt cx="3384550" cy="2286000"/>
          </a:xfrm>
        </p:grpSpPr>
        <p:sp>
          <p:nvSpPr>
            <p:cNvPr id="8" name="Rounded Rectangle 7"/>
            <p:cNvSpPr/>
            <p:nvPr/>
          </p:nvSpPr>
          <p:spPr>
            <a:xfrm>
              <a:off x="4400550" y="2222500"/>
              <a:ext cx="3384550" cy="2286000"/>
            </a:xfrm>
            <a:prstGeom prst="roundRect">
              <a:avLst>
                <a:gd name="adj" fmla="val 444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29150" y="2405380"/>
              <a:ext cx="2927350" cy="1920240"/>
            </a:xfrm>
            <a:prstGeom prst="rect">
              <a:avLst/>
            </a:prstGeom>
            <a:noFill/>
          </p:spPr>
          <p:txBody>
            <a:bodyPr wrap="square" lIns="0" rIns="0" tIns="0" bIns="0" anchor="t">
              <a:spAutoFit/>
            </a:bodyPr>
            <a:lstStyle/>
            <a:p>
              <a:pPr algn="l">
                <a:lnSpc>
                  <a:spcPct val="100000"/>
                </a:lnSpc>
              </a:pPr>
              <a:r>
                <a:rPr sz="4400" b="1" i="0">
                  <a:solidFill>
                    <a:srgbClr val="D9661F"/>
                  </a:solidFill>
                  <a:latin typeface="Georgia"/>
                </a:rPr>
                <a:t>CT</a:t>
              </a:r>
            </a:p>
            <a:p>
              <a:pPr algn="l">
                <a:lnSpc>
                  <a:spcPct val="120000"/>
                </a:lnSpc>
                <a:spcBef>
                  <a:spcPts val="400"/>
                </a:spcBef>
              </a:pPr>
              <a:r>
                <a:rPr sz="1400" b="0" i="0">
                  <a:solidFill>
                    <a:srgbClr val="4A5568"/>
                  </a:solidFill>
                  <a:latin typeface="Calibri"/>
                </a:rPr>
                <a:t>gives several mSv per scan, costs money and is scarce outside Bangladesh’s divisional cities.</a:t>
              </a:r>
            </a:p>
          </p:txBody>
        </p:sp>
      </p:grpSp>
      <p:grpSp>
        <p:nvGrpSpPr>
          <p:cNvPr id="10" name="Group 9"/>
          <p:cNvGrpSpPr/>
          <p:nvPr/>
        </p:nvGrpSpPr>
        <p:grpSpPr>
          <a:xfrm>
            <a:off x="7988300" y="2222500"/>
            <a:ext cx="3384550" cy="2286000"/>
            <a:chOff x="7988300" y="2222500"/>
            <a:chExt cx="3384550" cy="2286000"/>
          </a:xfrm>
        </p:grpSpPr>
        <p:sp>
          <p:nvSpPr>
            <p:cNvPr id="11" name="Rounded Rectangle 10"/>
            <p:cNvSpPr/>
            <p:nvPr/>
          </p:nvSpPr>
          <p:spPr>
            <a:xfrm>
              <a:off x="7988300" y="2222500"/>
              <a:ext cx="3384550" cy="2286000"/>
            </a:xfrm>
            <a:prstGeom prst="roundRect">
              <a:avLst>
                <a:gd name="adj" fmla="val 444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16900" y="2405380"/>
              <a:ext cx="2927350" cy="1920240"/>
            </a:xfrm>
            <a:prstGeom prst="rect">
              <a:avLst/>
            </a:prstGeom>
            <a:noFill/>
          </p:spPr>
          <p:txBody>
            <a:bodyPr wrap="square" lIns="0" rIns="0" tIns="0" bIns="0" anchor="t">
              <a:spAutoFit/>
            </a:bodyPr>
            <a:lstStyle/>
            <a:p>
              <a:pPr algn="l">
                <a:lnSpc>
                  <a:spcPct val="100000"/>
                </a:lnSpc>
              </a:pPr>
              <a:r>
                <a:rPr sz="4400" b="1" i="0">
                  <a:solidFill>
                    <a:srgbClr val="1F5FA8"/>
                  </a:solidFill>
                  <a:latin typeface="Georgia"/>
                </a:rPr>
                <a:t>0.1 mSv</a:t>
              </a:r>
            </a:p>
            <a:p>
              <a:pPr algn="l">
                <a:lnSpc>
                  <a:spcPct val="120000"/>
                </a:lnSpc>
                <a:spcBef>
                  <a:spcPts val="400"/>
                </a:spcBef>
              </a:pPr>
              <a:r>
                <a:rPr sz="1400" b="0" i="0">
                  <a:solidFill>
                    <a:srgbClr val="4A5568"/>
                  </a:solidFill>
                  <a:latin typeface="Calibri"/>
                </a:rPr>
                <a:t>for chest tomosynthesis (DTS): cheap and low-dose, but it cannot resolve depth, so it gives no trustworthy 3D size.</a:t>
              </a:r>
            </a:p>
          </p:txBody>
        </p:sp>
      </p:grpSp>
      <p:grpSp>
        <p:nvGrpSpPr>
          <p:cNvPr id="13" name="Group 12"/>
          <p:cNvGrpSpPr/>
          <p:nvPr/>
        </p:nvGrpSpPr>
        <p:grpSpPr>
          <a:xfrm>
            <a:off x="812800" y="4826000"/>
            <a:ext cx="10566400" cy="825500"/>
            <a:chOff x="812800" y="4826000"/>
            <a:chExt cx="10566400" cy="825500"/>
          </a:xfrm>
        </p:grpSpPr>
        <p:sp>
          <p:nvSpPr>
            <p:cNvPr id="14" name="Rounded Rectangle 13"/>
            <p:cNvSpPr/>
            <p:nvPr/>
          </p:nvSpPr>
          <p:spPr>
            <a:xfrm>
              <a:off x="812800" y="4826000"/>
              <a:ext cx="10566400" cy="825500"/>
            </a:xfrm>
            <a:prstGeom prst="roundRect">
              <a:avLst>
                <a:gd name="adj" fmla="val 12307"/>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800" y="4826000"/>
              <a:ext cx="50800" cy="8255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1400" y="4968240"/>
              <a:ext cx="10160000" cy="541020"/>
            </a:xfrm>
            <a:prstGeom prst="rect">
              <a:avLst/>
            </a:prstGeom>
            <a:noFill/>
          </p:spPr>
          <p:txBody>
            <a:bodyPr wrap="square" lIns="0" rIns="0" tIns="0" bIns="0" anchor="ctr">
              <a:spAutoFit/>
            </a:bodyPr>
            <a:lstStyle/>
            <a:p>
              <a:pPr algn="l">
                <a:lnSpc>
                  <a:spcPct val="120000"/>
                </a:lnSpc>
              </a:pPr>
              <a:r>
                <a:rPr sz="1600" b="1" i="0">
                  <a:solidFill>
                    <a:srgbClr val="14213D"/>
                  </a:solidFill>
                  <a:latin typeface="Calibri"/>
                </a:rPr>
                <a:t>Our question: </a:t>
              </a:r>
              <a:r>
                <a:rPr sz="1600" b="0" i="0">
                  <a:solidFill>
                    <a:srgbClr val="14213D"/>
                  </a:solidFill>
                  <a:latin typeface="Calibri"/>
                </a:rPr>
                <a:t>from one low-dose DTS scan and one click, can we give a nodule’s 3D mass, volume and growth with an honest uncertainty?</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anim calcmode="lin" valueType="num">
                                      <p:cBhvr additive="base">
                                        <p:cTn id="11"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anim calcmode="lin" valueType="num">
                                      <p:cBhvr additive="base">
                                        <p:cTn id="17" dur="500" fill="hold"/>
                                        <p:tgtEl>
                                          <p:spTgt spid="10"/>
                                        </p:tgtEl>
                                        <p:attrNameLst>
                                          <p:attrName>ppt_y</p:attrName>
                                        </p:attrNameLst>
                                      </p:cBhvr>
                                      <p:tavLst>
                                        <p:tav tm="0">
                                          <p:val>
                                            <p:strVal val="#ppt_y+0.05"/>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BACKGROUND · DIGITAL TOMOSYNTHESIS</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A ±15° sweep leaves a “missing wedge” of depth information</a:t>
            </a:r>
          </a:p>
        </p:txBody>
      </p:sp>
      <p:pic>
        <p:nvPicPr>
          <p:cNvPr id="4" name="Picture 3" descr="dts_anim.gif"/>
          <p:cNvPicPr>
            <a:picLocks noChangeAspect="1"/>
          </p:cNvPicPr>
          <p:nvPr/>
        </p:nvPicPr>
        <p:blipFill>
          <a:blip r:embed="rId2"/>
          <a:stretch>
            <a:fillRect/>
          </a:stretch>
        </p:blipFill>
        <p:spPr>
          <a:xfrm>
            <a:off x="812800" y="1905000"/>
            <a:ext cx="6604000" cy="3810000"/>
          </a:xfrm>
          <a:prstGeom prst="rect">
            <a:avLst/>
          </a:prstGeom>
        </p:spPr>
      </p:pic>
      <p:sp>
        <p:nvSpPr>
          <p:cNvPr id="5" name="TextBox 4"/>
          <p:cNvSpPr txBox="1"/>
          <p:nvPr/>
        </p:nvSpPr>
        <p:spPr>
          <a:xfrm>
            <a:off x="7823200" y="2032000"/>
            <a:ext cx="3556000" cy="1270000"/>
          </a:xfrm>
          <a:prstGeom prst="rect">
            <a:avLst/>
          </a:prstGeom>
          <a:noFill/>
        </p:spPr>
        <p:txBody>
          <a:bodyPr wrap="square" lIns="0" rIns="0" tIns="0" bIns="0" anchor="t">
            <a:spAutoFit/>
          </a:bodyPr>
          <a:lstStyle/>
          <a:p>
            <a:pPr algn="l">
              <a:lnSpc>
                <a:spcPct val="130000"/>
              </a:lnSpc>
            </a:pPr>
            <a:r>
              <a:rPr sz="1500" b="0" i="0">
                <a:solidFill>
                  <a:srgbClr val="14213D"/>
                </a:solidFill>
                <a:latin typeface="Calibri"/>
              </a:rPr>
              <a:t>The tube moves along a short track. The nodule’s shadow (orange) shifts on the detector: that shift is the only depth information.</a:t>
            </a:r>
          </a:p>
        </p:txBody>
      </p:sp>
      <p:sp>
        <p:nvSpPr>
          <p:cNvPr id="6" name="TextBox 5"/>
          <p:cNvSpPr txBox="1"/>
          <p:nvPr/>
        </p:nvSpPr>
        <p:spPr>
          <a:xfrm>
            <a:off x="7823200" y="3429000"/>
            <a:ext cx="3556000" cy="1270000"/>
          </a:xfrm>
          <a:prstGeom prst="rect">
            <a:avLst/>
          </a:prstGeom>
          <a:noFill/>
        </p:spPr>
        <p:txBody>
          <a:bodyPr wrap="square" lIns="0" rIns="0" tIns="0" bIns="0" anchor="t">
            <a:spAutoFit/>
          </a:bodyPr>
          <a:lstStyle/>
          <a:p>
            <a:pPr algn="l">
              <a:lnSpc>
                <a:spcPct val="130000"/>
              </a:lnSpc>
            </a:pPr>
            <a:r>
              <a:rPr sz="1500" b="0" i="0">
                <a:solidFill>
                  <a:srgbClr val="14213D"/>
                </a:solidFill>
                <a:latin typeface="Calibri"/>
              </a:rPr>
              <a:t>Each view measures one line in Fourier space. Fifteen views fill a thin blue fan; the depth directions are never measured.</a:t>
            </a:r>
          </a:p>
        </p:txBody>
      </p:sp>
      <p:sp>
        <p:nvSpPr>
          <p:cNvPr id="7" name="TextBox 6"/>
          <p:cNvSpPr txBox="1"/>
          <p:nvPr/>
        </p:nvSpPr>
        <p:spPr>
          <a:xfrm>
            <a:off x="7823200" y="4826000"/>
            <a:ext cx="3556000" cy="825500"/>
          </a:xfrm>
          <a:prstGeom prst="rect">
            <a:avLst/>
          </a:prstGeom>
          <a:noFill/>
        </p:spPr>
        <p:txBody>
          <a:bodyPr wrap="square" lIns="0" rIns="0" tIns="0" bIns="0" anchor="t">
            <a:spAutoFit/>
          </a:bodyPr>
          <a:lstStyle/>
          <a:p>
            <a:pPr algn="l">
              <a:lnSpc>
                <a:spcPct val="130000"/>
              </a:lnSpc>
            </a:pPr>
            <a:r>
              <a:rPr sz="1500" b="1" i="0">
                <a:solidFill>
                  <a:srgbClr val="B4521A"/>
                </a:solidFill>
                <a:latin typeface="Calibri"/>
              </a:rPr>
              <a:t>So a nodule smears 3–5× longer in depth (median 3.5 on LIDC).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8FB3E3"/>
                </a:solidFill>
                <a:latin typeface="Calibri"/>
              </a:rPr>
              <a:t>KEY INSIGHT · PROJECTION MOMENTS</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F7F6F2"/>
                </a:solidFill>
                <a:latin typeface="Georgia"/>
              </a:rPr>
              <a:t>DTS cannot see depth, but every view measures the nodule’s mass exactly</a:t>
            </a:r>
          </a:p>
        </p:txBody>
      </p:sp>
      <p:grpSp>
        <p:nvGrpSpPr>
          <p:cNvPr id="4" name="Group 3"/>
          <p:cNvGrpSpPr/>
          <p:nvPr/>
        </p:nvGrpSpPr>
        <p:grpSpPr>
          <a:xfrm>
            <a:off x="812800" y="2413000"/>
            <a:ext cx="5080000" cy="2413000"/>
            <a:chOff x="812800" y="2413000"/>
            <a:chExt cx="5080000" cy="2413000"/>
          </a:xfrm>
        </p:grpSpPr>
        <p:sp>
          <p:nvSpPr>
            <p:cNvPr id="5" name="Rounded Rectangle 4"/>
            <p:cNvSpPr/>
            <p:nvPr/>
          </p:nvSpPr>
          <p:spPr>
            <a:xfrm>
              <a:off x="812800" y="2413000"/>
              <a:ext cx="5080000" cy="2413000"/>
            </a:xfrm>
            <a:prstGeom prst="roundRect">
              <a:avLst>
                <a:gd name="adj" fmla="val 4210"/>
              </a:avLst>
            </a:prstGeom>
            <a:solidFill>
              <a:srgbClr val="1E32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7600" y="2656840"/>
              <a:ext cx="4470400" cy="1925320"/>
            </a:xfrm>
            <a:prstGeom prst="rect">
              <a:avLst/>
            </a:prstGeom>
            <a:noFill/>
          </p:spPr>
          <p:txBody>
            <a:bodyPr wrap="square" lIns="0" rIns="0" tIns="0" bIns="0" anchor="t">
              <a:spAutoFit/>
            </a:bodyPr>
            <a:lstStyle/>
            <a:p>
              <a:pPr algn="l">
                <a:lnSpc>
                  <a:spcPct val="120000"/>
                </a:lnSpc>
              </a:pPr>
              <a:r>
                <a:rPr sz="1300" b="1" i="0">
                  <a:solidFill>
                    <a:srgbClr val="8FB3E3"/>
                  </a:solidFill>
                  <a:latin typeface="Calibri"/>
                </a:rPr>
                <a:t>0TH MOMENT: MASS</a:t>
              </a:r>
            </a:p>
            <a:p>
              <a:pPr algn="l">
                <a:lnSpc>
                  <a:spcPct val="120000"/>
                </a:lnSpc>
                <a:spcBef>
                  <a:spcPts val="1000"/>
                </a:spcBef>
              </a:pPr>
              <a:r>
                <a:rPr sz="2800" b="0" i="0">
                  <a:solidFill>
                    <a:srgbClr val="F7F6F2"/>
                  </a:solidFill>
                  <a:latin typeface="Georgia"/>
                </a:rPr>
                <a:t>∬ pθ(x, v) dx dv = M</a:t>
              </a:r>
            </a:p>
            <a:p>
              <a:pPr algn="l">
                <a:lnSpc>
                  <a:spcPct val="120000"/>
                </a:lnSpc>
                <a:spcBef>
                  <a:spcPts val="1000"/>
                </a:spcBef>
              </a:pPr>
              <a:r>
                <a:rPr sz="1500" b="0" i="0">
                  <a:solidFill>
                    <a:srgbClr val="DCE5F1"/>
                  </a:solidFill>
                  <a:latin typeface="Calibri"/>
                </a:rPr>
                <a:t>Same in all 15 views, independent of depth. Verified to </a:t>
              </a:r>
              <a:r>
                <a:rPr sz="1500" b="1" i="0">
                  <a:solidFill>
                    <a:srgbClr val="DCE5F1"/>
                  </a:solidFill>
                  <a:latin typeface="Calibri"/>
                </a:rPr>
                <a:t>0.03%</a:t>
              </a:r>
              <a:r>
                <a:rPr sz="1500" b="0" i="0">
                  <a:solidFill>
                    <a:srgbClr val="DCE5F1"/>
                  </a:solidFill>
                  <a:latin typeface="Calibri"/>
                </a:rPr>
                <a:t> in every view.</a:t>
              </a:r>
            </a:p>
          </p:txBody>
        </p:sp>
      </p:grpSp>
      <p:grpSp>
        <p:nvGrpSpPr>
          <p:cNvPr id="7" name="Group 6"/>
          <p:cNvGrpSpPr/>
          <p:nvPr/>
        </p:nvGrpSpPr>
        <p:grpSpPr>
          <a:xfrm>
            <a:off x="6299200" y="2413000"/>
            <a:ext cx="5080000" cy="2413000"/>
            <a:chOff x="6299200" y="2413000"/>
            <a:chExt cx="5080000" cy="2413000"/>
          </a:xfrm>
        </p:grpSpPr>
        <p:sp>
          <p:nvSpPr>
            <p:cNvPr id="8" name="Rounded Rectangle 7"/>
            <p:cNvSpPr/>
            <p:nvPr/>
          </p:nvSpPr>
          <p:spPr>
            <a:xfrm>
              <a:off x="6299200" y="2413000"/>
              <a:ext cx="5080000" cy="2413000"/>
            </a:xfrm>
            <a:prstGeom prst="roundRect">
              <a:avLst>
                <a:gd name="adj" fmla="val 4210"/>
              </a:avLst>
            </a:prstGeom>
            <a:solidFill>
              <a:srgbClr val="3A2418"/>
            </a:solidFill>
            <a:ln w="1270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04000" y="2656840"/>
              <a:ext cx="4470400" cy="1925320"/>
            </a:xfrm>
            <a:prstGeom prst="rect">
              <a:avLst/>
            </a:prstGeom>
            <a:noFill/>
          </p:spPr>
          <p:txBody>
            <a:bodyPr wrap="square" lIns="0" rIns="0" tIns="0" bIns="0" anchor="t">
              <a:spAutoFit/>
            </a:bodyPr>
            <a:lstStyle/>
            <a:p>
              <a:pPr algn="l">
                <a:lnSpc>
                  <a:spcPct val="120000"/>
                </a:lnSpc>
              </a:pPr>
              <a:r>
                <a:rPr sz="1300" b="1" i="0">
                  <a:solidFill>
                    <a:srgbClr val="F2A46B"/>
                  </a:solidFill>
                  <a:latin typeface="Calibri"/>
                </a:rPr>
                <a:t>2ND MOMENT: DEPTH EXTENT</a:t>
              </a:r>
            </a:p>
            <a:p>
              <a:pPr algn="l">
                <a:lnSpc>
                  <a:spcPct val="120000"/>
                </a:lnSpc>
                <a:spcBef>
                  <a:spcPts val="1000"/>
                </a:spcBef>
              </a:pPr>
              <a:r>
                <a:rPr sz="2800" b="0" i="0">
                  <a:solidFill>
                    <a:srgbClr val="F7F6F2"/>
                  </a:solidFill>
                  <a:latin typeface="Georgia"/>
                </a:rPr>
                <a:t>enters as sin²θ</a:t>
              </a:r>
            </a:p>
            <a:p>
              <a:pPr algn="l">
                <a:lnSpc>
                  <a:spcPct val="120000"/>
                </a:lnSpc>
                <a:spcBef>
                  <a:spcPts val="1000"/>
                </a:spcBef>
              </a:pPr>
              <a:r>
                <a:rPr sz="1500" b="0" i="0">
                  <a:solidFill>
                    <a:srgbClr val="F4DCCB"/>
                  </a:solidFill>
                  <a:latin typeface="Calibri"/>
                </a:rPr>
                <a:t>1 / sin²15° ≈ </a:t>
              </a:r>
              <a:r>
                <a:rPr sz="1500" b="1" i="0">
                  <a:solidFill>
                    <a:srgbClr val="F4DCCB"/>
                  </a:solidFill>
                  <a:latin typeface="Calibri"/>
                </a:rPr>
                <a:t>15× worse</a:t>
              </a:r>
              <a:r>
                <a:rPr sz="1500" b="0" i="0">
                  <a:solidFill>
                    <a:srgbClr val="F4DCCB"/>
                  </a:solidFill>
                  <a:latin typeface="Calibri"/>
                </a:rPr>
                <a:t> conditioned. Volume needs depth extent; mass does not.</a:t>
              </a:r>
            </a:p>
          </p:txBody>
        </p:sp>
      </p:grpSp>
      <p:sp>
        <p:nvSpPr>
          <p:cNvPr id="10" name="TextBox 9"/>
          <p:cNvSpPr txBox="1"/>
          <p:nvPr/>
        </p:nvSpPr>
        <p:spPr>
          <a:xfrm>
            <a:off x="812800" y="5143500"/>
            <a:ext cx="10566400" cy="762000"/>
          </a:xfrm>
          <a:prstGeom prst="rect">
            <a:avLst/>
          </a:prstGeom>
          <a:noFill/>
        </p:spPr>
        <p:txBody>
          <a:bodyPr wrap="square" lIns="0" rIns="0" tIns="0" bIns="0" anchor="t">
            <a:spAutoFit/>
          </a:bodyPr>
          <a:lstStyle/>
          <a:p>
            <a:pPr algn="l">
              <a:lnSpc>
                <a:spcPct val="130000"/>
              </a:lnSpc>
            </a:pPr>
            <a:r>
              <a:rPr sz="1700" b="1" i="0">
                <a:solidFill>
                  <a:srgbClr val="8FB3E3"/>
                </a:solidFill>
                <a:latin typeface="Calibri"/>
              </a:rPr>
              <a:t>Design consequence: </a:t>
            </a:r>
            <a:r>
              <a:rPr sz="1700" b="0" i="0">
                <a:solidFill>
                  <a:srgbClr val="F7F6F2"/>
                </a:solidFill>
                <a:latin typeface="Calibri"/>
              </a:rPr>
              <a:t>report </a:t>
            </a:r>
            <a:r>
              <a:rPr sz="1700" b="1" i="0">
                <a:solidFill>
                  <a:srgbClr val="F7F6F2"/>
                </a:solidFill>
                <a:latin typeface="Calibri"/>
              </a:rPr>
              <a:t>mass</a:t>
            </a:r>
            <a:r>
              <a:rPr sz="1700" b="0" i="0">
                <a:solidFill>
                  <a:srgbClr val="F7F6F2"/>
                </a:solidFill>
                <a:latin typeface="Calibri"/>
              </a:rPr>
              <a:t> and mass doubling time first, fill depth with a learned prior kept consistent with the X-rays, and say how uncertain every number is.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anim calcmode="lin" valueType="num">
                                      <p:cBhvr additive="base">
                                        <p:cTn id="11"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10"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OBJECTIVES</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Six testable hypotheses, each of which could fail</a:t>
            </a:r>
          </a:p>
        </p:txBody>
      </p:sp>
      <p:graphicFrame>
        <p:nvGraphicFramePr>
          <p:cNvPr id="4" name="Table 3"/>
          <p:cNvGraphicFramePr>
            <a:graphicFrameLocks noGrp="1"/>
          </p:cNvGraphicFramePr>
          <p:nvPr/>
        </p:nvGraphicFramePr>
        <p:xfrm>
          <a:off x="812800" y="1841500"/>
          <a:ext cx="10566400" cy="3289300"/>
        </p:xfrm>
        <a:graphic>
          <a:graphicData uri="http://schemas.openxmlformats.org/drawingml/2006/table">
            <a:tbl>
              <a:tblPr firstRow="1" bandRow="1">
                <a:tableStyleId>{5C22544A-7EE6-4342-B048-85BDC9FD1C3A}</a:tableStyleId>
              </a:tblPr>
              <a:tblGrid>
                <a:gridCol w="1054100"/>
                <a:gridCol w="3175000"/>
                <a:gridCol w="6337300"/>
              </a:tblGrid>
              <a:tr h="469900">
                <a:tc>
                  <a:txBody>
                    <a:bodyPr wrap="square"/>
                    <a:lstStyle/>
                    <a:p>
                      <a:pPr algn="l">
                        <a:lnSpc>
                          <a:spcPct val="120000"/>
                        </a:lnSpc>
                      </a:pPr>
                      <a:r>
                        <a:rPr sz="1500" b="1" i="0">
                          <a:solidFill>
                            <a:srgbClr val="14213D"/>
                          </a:solidFill>
                          <a:latin typeface="Calibri"/>
                        </a:rPr>
                        <a:t>#</a:t>
                      </a:r>
                    </a:p>
                  </a:txBody>
                  <a:tcPr anchor="ctr" marL="127000">
                    <a:solidFill>
                      <a:srgbClr val="E3ECF7"/>
                    </a:solidFill>
                  </a:tcPr>
                </a:tc>
                <a:tc>
                  <a:txBody>
                    <a:bodyPr wrap="square"/>
                    <a:lstStyle/>
                    <a:p>
                      <a:pPr algn="l">
                        <a:lnSpc>
                          <a:spcPct val="120000"/>
                        </a:lnSpc>
                      </a:pPr>
                      <a:r>
                        <a:rPr sz="1500" b="1" i="0">
                          <a:solidFill>
                            <a:srgbClr val="14213D"/>
                          </a:solidFill>
                          <a:latin typeface="Calibri"/>
                        </a:rPr>
                        <a:t>Area</a:t>
                      </a:r>
                    </a:p>
                  </a:txBody>
                  <a:tcPr anchor="ctr" marL="127000">
                    <a:solidFill>
                      <a:srgbClr val="E3ECF7"/>
                    </a:solidFill>
                  </a:tcPr>
                </a:tc>
                <a:tc>
                  <a:txBody>
                    <a:bodyPr wrap="square"/>
                    <a:lstStyle/>
                    <a:p>
                      <a:pPr algn="l">
                        <a:lnSpc>
                          <a:spcPct val="120000"/>
                        </a:lnSpc>
                      </a:pPr>
                      <a:r>
                        <a:rPr sz="1500" b="1" i="0">
                          <a:solidFill>
                            <a:srgbClr val="14213D"/>
                          </a:solidFill>
                          <a:latin typeface="Calibri"/>
                        </a:rPr>
                        <a:t>Hypothesis</a:t>
                      </a:r>
                    </a:p>
                  </a:txBody>
                  <a:tcPr anchor="ctr" marL="127000">
                    <a:solidFill>
                      <a:srgbClr val="E3ECF7"/>
                    </a:solidFill>
                  </a:tcPr>
                </a:tc>
              </a:tr>
              <a:tr h="469900">
                <a:tc>
                  <a:txBody>
                    <a:bodyPr wrap="square"/>
                    <a:lstStyle/>
                    <a:p>
                      <a:pPr algn="l">
                        <a:lnSpc>
                          <a:spcPct val="120000"/>
                        </a:lnSpc>
                      </a:pPr>
                      <a:r>
                        <a:rPr sz="1500" b="1" i="0">
                          <a:solidFill>
                            <a:srgbClr val="14213D"/>
                          </a:solidFill>
                          <a:latin typeface="Calibri"/>
                        </a:rPr>
                        <a:t>H1</a:t>
                      </a:r>
                    </a:p>
                  </a:txBody>
                  <a:tcPr anchor="ctr" marL="127000">
                    <a:solidFill>
                      <a:srgbClr val="FFFFFF"/>
                    </a:solidFill>
                  </a:tcPr>
                </a:tc>
                <a:tc>
                  <a:txBody>
                    <a:bodyPr wrap="square"/>
                    <a:lstStyle/>
                    <a:p>
                      <a:pPr algn="l">
                        <a:lnSpc>
                          <a:spcPct val="120000"/>
                        </a:lnSpc>
                      </a:pPr>
                      <a:r>
                        <a:rPr sz="1500" b="0" i="0">
                          <a:solidFill>
                            <a:srgbClr val="14213D"/>
                          </a:solidFill>
                          <a:latin typeface="Calibri"/>
                        </a:rPr>
                        <a:t>Mass first</a:t>
                      </a:r>
                    </a:p>
                  </a:txBody>
                  <a:tcPr anchor="ctr" marL="127000">
                    <a:solidFill>
                      <a:srgbClr val="FFFFFF"/>
                    </a:solidFill>
                  </a:tcPr>
                </a:tc>
                <a:tc>
                  <a:txBody>
                    <a:bodyPr wrap="square"/>
                    <a:lstStyle/>
                    <a:p>
                      <a:pPr algn="l">
                        <a:lnSpc>
                          <a:spcPct val="120000"/>
                        </a:lnSpc>
                      </a:pPr>
                      <a:r>
                        <a:rPr sz="1500" b="0" i="0">
                          <a:solidFill>
                            <a:srgbClr val="14213D"/>
                          </a:solidFill>
                          <a:latin typeface="Calibri"/>
                        </a:rPr>
                        <a:t>DTS mass error is smaller than volume error</a:t>
                      </a:r>
                    </a:p>
                  </a:txBody>
                  <a:tcPr anchor="ctr" marL="127000">
                    <a:solidFill>
                      <a:srgbClr val="FFFFFF"/>
                    </a:solidFill>
                  </a:tcPr>
                </a:tc>
              </a:tr>
              <a:tr h="469900">
                <a:tc>
                  <a:txBody>
                    <a:bodyPr wrap="square"/>
                    <a:lstStyle/>
                    <a:p>
                      <a:pPr algn="l">
                        <a:lnSpc>
                          <a:spcPct val="120000"/>
                        </a:lnSpc>
                      </a:pPr>
                      <a:r>
                        <a:rPr sz="1500" b="1" i="0">
                          <a:solidFill>
                            <a:srgbClr val="14213D"/>
                          </a:solidFill>
                          <a:latin typeface="Calibri"/>
                        </a:rPr>
                        <a:t>H2</a:t>
                      </a:r>
                    </a:p>
                  </a:txBody>
                  <a:tcPr anchor="ctr" marL="127000">
                    <a:solidFill>
                      <a:srgbClr val="F2F4F7"/>
                    </a:solidFill>
                  </a:tcPr>
                </a:tc>
                <a:tc>
                  <a:txBody>
                    <a:bodyPr wrap="square"/>
                    <a:lstStyle/>
                    <a:p>
                      <a:pPr algn="l">
                        <a:lnSpc>
                          <a:spcPct val="120000"/>
                        </a:lnSpc>
                      </a:pPr>
                      <a:r>
                        <a:rPr sz="1500" b="0" i="0">
                          <a:solidFill>
                            <a:srgbClr val="14213D"/>
                          </a:solidFill>
                          <a:latin typeface="Calibri"/>
                        </a:rPr>
                        <a:t>Learned prior</a:t>
                      </a:r>
                    </a:p>
                  </a:txBody>
                  <a:tcPr anchor="ctr" marL="127000">
                    <a:solidFill>
                      <a:srgbClr val="F2F4F7"/>
                    </a:solidFill>
                  </a:tcPr>
                </a:tc>
                <a:tc>
                  <a:txBody>
                    <a:bodyPr wrap="square"/>
                    <a:lstStyle/>
                    <a:p>
                      <a:pPr algn="l">
                        <a:lnSpc>
                          <a:spcPct val="120000"/>
                        </a:lnSpc>
                      </a:pPr>
                      <a:r>
                        <a:rPr sz="1500" b="0" i="0">
                          <a:solidFill>
                            <a:srgbClr val="14213D"/>
                          </a:solidFill>
                          <a:latin typeface="Calibri"/>
                        </a:rPr>
                        <a:t>Diffusion + Gaussians beat physics-only volume</a:t>
                      </a:r>
                    </a:p>
                  </a:txBody>
                  <a:tcPr anchor="ctr" marL="127000">
                    <a:solidFill>
                      <a:srgbClr val="F2F4F7"/>
                    </a:solidFill>
                  </a:tcPr>
                </a:tc>
              </a:tr>
              <a:tr h="469900">
                <a:tc>
                  <a:txBody>
                    <a:bodyPr wrap="square"/>
                    <a:lstStyle/>
                    <a:p>
                      <a:pPr algn="l">
                        <a:lnSpc>
                          <a:spcPct val="120000"/>
                        </a:lnSpc>
                      </a:pPr>
                      <a:r>
                        <a:rPr sz="1500" b="1" i="0">
                          <a:solidFill>
                            <a:srgbClr val="14213D"/>
                          </a:solidFill>
                          <a:latin typeface="Calibri"/>
                        </a:rPr>
                        <a:t>H3</a:t>
                      </a:r>
                    </a:p>
                  </a:txBody>
                  <a:tcPr anchor="ctr" marL="127000">
                    <a:solidFill>
                      <a:srgbClr val="FFFFFF"/>
                    </a:solidFill>
                  </a:tcPr>
                </a:tc>
                <a:tc>
                  <a:txBody>
                    <a:bodyPr wrap="square"/>
                    <a:lstStyle/>
                    <a:p>
                      <a:pPr algn="l">
                        <a:lnSpc>
                          <a:spcPct val="120000"/>
                        </a:lnSpc>
                      </a:pPr>
                      <a:r>
                        <a:rPr sz="1500" b="0" i="0">
                          <a:solidFill>
                            <a:srgbClr val="14213D"/>
                          </a:solidFill>
                          <a:latin typeface="Calibri"/>
                        </a:rPr>
                        <a:t>Uncertainty</a:t>
                      </a:r>
                    </a:p>
                  </a:txBody>
                  <a:tcPr anchor="ctr" marL="127000">
                    <a:solidFill>
                      <a:srgbClr val="FFFFFF"/>
                    </a:solidFill>
                  </a:tcPr>
                </a:tc>
                <a:tc>
                  <a:txBody>
                    <a:bodyPr wrap="square"/>
                    <a:lstStyle/>
                    <a:p>
                      <a:pPr algn="l">
                        <a:lnSpc>
                          <a:spcPct val="120000"/>
                        </a:lnSpc>
                      </a:pPr>
                      <a:r>
                        <a:rPr sz="1500" b="0" i="0">
                          <a:solidFill>
                            <a:srgbClr val="14213D"/>
                          </a:solidFill>
                          <a:latin typeface="Calibri"/>
                        </a:rPr>
                        <a:t>90% conformal intervals reach their coverage</a:t>
                      </a:r>
                    </a:p>
                  </a:txBody>
                  <a:tcPr anchor="ctr" marL="127000">
                    <a:solidFill>
                      <a:srgbClr val="FFFFFF"/>
                    </a:solidFill>
                  </a:tcPr>
                </a:tc>
              </a:tr>
              <a:tr h="469900">
                <a:tc>
                  <a:txBody>
                    <a:bodyPr wrap="square"/>
                    <a:lstStyle/>
                    <a:p>
                      <a:pPr algn="l">
                        <a:lnSpc>
                          <a:spcPct val="120000"/>
                        </a:lnSpc>
                      </a:pPr>
                      <a:r>
                        <a:rPr sz="1500" b="1" i="0">
                          <a:solidFill>
                            <a:srgbClr val="14213D"/>
                          </a:solidFill>
                          <a:latin typeface="Calibri"/>
                        </a:rPr>
                        <a:t>H4</a:t>
                      </a:r>
                    </a:p>
                  </a:txBody>
                  <a:tcPr anchor="ctr" marL="127000">
                    <a:solidFill>
                      <a:srgbClr val="F2F4F7"/>
                    </a:solidFill>
                  </a:tcPr>
                </a:tc>
                <a:tc>
                  <a:txBody>
                    <a:bodyPr wrap="square"/>
                    <a:lstStyle/>
                    <a:p>
                      <a:pPr algn="l">
                        <a:lnSpc>
                          <a:spcPct val="120000"/>
                        </a:lnSpc>
                      </a:pPr>
                      <a:r>
                        <a:rPr sz="1500" b="0" i="0">
                          <a:solidFill>
                            <a:srgbClr val="14213D"/>
                          </a:solidFill>
                          <a:latin typeface="Calibri"/>
                        </a:rPr>
                        <a:t>Growth</a:t>
                      </a:r>
                    </a:p>
                  </a:txBody>
                  <a:tcPr anchor="ctr" marL="127000">
                    <a:solidFill>
                      <a:srgbClr val="F2F4F7"/>
                    </a:solidFill>
                  </a:tcPr>
                </a:tc>
                <a:tc>
                  <a:txBody>
                    <a:bodyPr wrap="square"/>
                    <a:lstStyle/>
                    <a:p>
                      <a:pPr algn="l">
                        <a:lnSpc>
                          <a:spcPct val="120000"/>
                        </a:lnSpc>
                      </a:pPr>
                      <a:r>
                        <a:rPr sz="1500" b="0" i="0">
                          <a:solidFill>
                            <a:srgbClr val="14213D"/>
                          </a:solidFill>
                          <a:latin typeface="Calibri"/>
                        </a:rPr>
                        <a:t>Mass doubling time classifies growth better than VDT</a:t>
                      </a:r>
                    </a:p>
                  </a:txBody>
                  <a:tcPr anchor="ctr" marL="127000">
                    <a:solidFill>
                      <a:srgbClr val="F2F4F7"/>
                    </a:solidFill>
                  </a:tcPr>
                </a:tc>
              </a:tr>
              <a:tr h="469900">
                <a:tc>
                  <a:txBody>
                    <a:bodyPr wrap="square"/>
                    <a:lstStyle/>
                    <a:p>
                      <a:pPr algn="l">
                        <a:lnSpc>
                          <a:spcPct val="120000"/>
                        </a:lnSpc>
                      </a:pPr>
                      <a:r>
                        <a:rPr sz="1500" b="1" i="0">
                          <a:solidFill>
                            <a:srgbClr val="14213D"/>
                          </a:solidFill>
                          <a:latin typeface="Calibri"/>
                        </a:rPr>
                        <a:t>H5</a:t>
                      </a:r>
                    </a:p>
                  </a:txBody>
                  <a:tcPr anchor="ctr" marL="127000">
                    <a:solidFill>
                      <a:srgbClr val="FFFFFF"/>
                    </a:solidFill>
                  </a:tcPr>
                </a:tc>
                <a:tc>
                  <a:txBody>
                    <a:bodyPr wrap="square"/>
                    <a:lstStyle/>
                    <a:p>
                      <a:pPr algn="l">
                        <a:lnSpc>
                          <a:spcPct val="120000"/>
                        </a:lnSpc>
                      </a:pPr>
                      <a:r>
                        <a:rPr sz="1500" b="0" i="0">
                          <a:solidFill>
                            <a:srgbClr val="14213D"/>
                          </a:solidFill>
                          <a:latin typeface="Calibri"/>
                        </a:rPr>
                        <a:t>Risk</a:t>
                      </a:r>
                    </a:p>
                  </a:txBody>
                  <a:tcPr anchor="ctr" marL="127000">
                    <a:solidFill>
                      <a:srgbClr val="FFFFFF"/>
                    </a:solidFill>
                  </a:tcPr>
                </a:tc>
                <a:tc>
                  <a:txBody>
                    <a:bodyPr wrap="square"/>
                    <a:lstStyle/>
                    <a:p>
                      <a:pPr algn="l">
                        <a:lnSpc>
                          <a:spcPct val="120000"/>
                        </a:lnSpc>
                      </a:pPr>
                      <a:r>
                        <a:rPr sz="1500" b="0" i="0">
                          <a:solidFill>
                            <a:srgbClr val="14213D"/>
                          </a:solidFill>
                          <a:latin typeface="Calibri"/>
                        </a:rPr>
                        <a:t>Calibrated size-category probabilities beat raw votes</a:t>
                      </a:r>
                    </a:p>
                  </a:txBody>
                  <a:tcPr anchor="ctr" marL="127000">
                    <a:solidFill>
                      <a:srgbClr val="FFFFFF"/>
                    </a:solidFill>
                  </a:tcPr>
                </a:tc>
              </a:tr>
              <a:tr h="469900">
                <a:tc>
                  <a:txBody>
                    <a:bodyPr wrap="square"/>
                    <a:lstStyle/>
                    <a:p>
                      <a:pPr algn="l">
                        <a:lnSpc>
                          <a:spcPct val="120000"/>
                        </a:lnSpc>
                      </a:pPr>
                      <a:r>
                        <a:rPr sz="1500" b="1" i="0">
                          <a:solidFill>
                            <a:srgbClr val="14213D"/>
                          </a:solidFill>
                          <a:latin typeface="Calibri"/>
                        </a:rPr>
                        <a:t>H6</a:t>
                      </a:r>
                    </a:p>
                  </a:txBody>
                  <a:tcPr anchor="ctr" marL="127000">
                    <a:solidFill>
                      <a:srgbClr val="F2F4F7"/>
                    </a:solidFill>
                  </a:tcPr>
                </a:tc>
                <a:tc>
                  <a:txBody>
                    <a:bodyPr wrap="square"/>
                    <a:lstStyle/>
                    <a:p>
                      <a:pPr algn="l">
                        <a:lnSpc>
                          <a:spcPct val="120000"/>
                        </a:lnSpc>
                      </a:pPr>
                      <a:r>
                        <a:rPr sz="1500" b="0" i="0">
                          <a:solidFill>
                            <a:srgbClr val="14213D"/>
                          </a:solidFill>
                          <a:latin typeface="Calibri"/>
                        </a:rPr>
                        <a:t>Explainability</a:t>
                      </a:r>
                    </a:p>
                  </a:txBody>
                  <a:tcPr anchor="ctr" marL="127000">
                    <a:solidFill>
                      <a:srgbClr val="F2F4F7"/>
                    </a:solidFill>
                  </a:tcPr>
                </a:tc>
                <a:tc>
                  <a:txBody>
                    <a:bodyPr wrap="square"/>
                    <a:lstStyle/>
                    <a:p>
                      <a:pPr algn="l">
                        <a:lnSpc>
                          <a:spcPct val="120000"/>
                        </a:lnSpc>
                      </a:pPr>
                      <a:r>
                        <a:rPr sz="1500" b="0" i="0">
                          <a:solidFill>
                            <a:srgbClr val="14213D"/>
                          </a:solidFill>
                          <a:latin typeface="Calibri"/>
                        </a:rPr>
                        <a:t>The prior recovers unseen depth instead of inventing it</a:t>
                      </a:r>
                    </a:p>
                  </a:txBody>
                  <a:tcPr anchor="ctr" marL="127000">
                    <a:solidFill>
                      <a:srgbClr val="F2F4F7"/>
                    </a:solidFill>
                  </a:tcPr>
                </a:tc>
              </a:tr>
            </a:tbl>
          </a:graphicData>
        </a:graphic>
      </p:graphicFrame>
      <p:sp>
        <p:nvSpPr>
          <p:cNvPr id="5" name="TextBox 4"/>
          <p:cNvSpPr txBox="1"/>
          <p:nvPr/>
        </p:nvSpPr>
        <p:spPr>
          <a:xfrm>
            <a:off x="812800" y="5334000"/>
            <a:ext cx="10566400" cy="381000"/>
          </a:xfrm>
          <a:prstGeom prst="rect">
            <a:avLst/>
          </a:prstGeom>
          <a:noFill/>
        </p:spPr>
        <p:txBody>
          <a:bodyPr wrap="square" lIns="0" rIns="0" tIns="0" bIns="0" anchor="t">
            <a:spAutoFit/>
          </a:bodyPr>
          <a:lstStyle/>
          <a:p>
            <a:pPr algn="l">
              <a:lnSpc>
                <a:spcPct val="120000"/>
              </a:lnSpc>
            </a:pPr>
            <a:r>
              <a:rPr sz="1400" b="0" i="0">
                <a:solidFill>
                  <a:srgbClr val="4A5568"/>
                </a:solidFill>
                <a:latin typeface="Calibri"/>
              </a:rPr>
              <a:t>Plus a usable system: click-to-3D application with a learned detector, on free or low-cost cloud hardware.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METHODOLOGY</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From one click to a 3D measurement with uncertainty</a:t>
            </a:r>
          </a:p>
        </p:txBody>
      </p:sp>
      <p:grpSp>
        <p:nvGrpSpPr>
          <p:cNvPr id="4" name="Group 3"/>
          <p:cNvGrpSpPr/>
          <p:nvPr/>
        </p:nvGrpSpPr>
        <p:grpSpPr>
          <a:xfrm>
            <a:off x="812800" y="2095500"/>
            <a:ext cx="1308100" cy="2159000"/>
            <a:chOff x="812800" y="2095500"/>
            <a:chExt cx="1308100" cy="2159000"/>
          </a:xfrm>
        </p:grpSpPr>
        <p:sp>
          <p:nvSpPr>
            <p:cNvPr id="5" name="Rounded Rectangle 4"/>
            <p:cNvSpPr/>
            <p:nvPr/>
          </p:nvSpPr>
          <p:spPr>
            <a:xfrm>
              <a:off x="812800" y="2095500"/>
              <a:ext cx="1308100" cy="2159000"/>
            </a:xfrm>
            <a:prstGeom prst="roundRect">
              <a:avLst>
                <a:gd name="adj" fmla="val 7766"/>
              </a:avLst>
            </a:prstGeom>
            <a:solidFill>
              <a:srgbClr val="FFFFFF"/>
            </a:solidFill>
            <a:ln w="12700">
              <a:solidFill>
                <a:srgbClr val="9AA7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2500" y="2207260"/>
              <a:ext cx="1028700" cy="1935480"/>
            </a:xfrm>
            <a:prstGeom prst="rect">
              <a:avLst/>
            </a:prstGeom>
            <a:noFill/>
          </p:spPr>
          <p:txBody>
            <a:bodyPr wrap="square" lIns="0" rIns="0" tIns="0" bIns="0" anchor="t">
              <a:spAutoFit/>
            </a:bodyPr>
            <a:lstStyle/>
            <a:p>
              <a:pPr algn="l">
                <a:lnSpc>
                  <a:spcPct val="120000"/>
                </a:lnSpc>
              </a:pPr>
              <a:r>
                <a:rPr sz="2200" b="1" i="0">
                  <a:solidFill>
                    <a:srgbClr val="4A5568"/>
                  </a:solidFill>
                  <a:latin typeface="Georgia"/>
                </a:rPr>
                <a:t>1</a:t>
              </a:r>
            </a:p>
            <a:p>
              <a:pPr algn="l">
                <a:lnSpc>
                  <a:spcPct val="120000"/>
                </a:lnSpc>
                <a:spcBef>
                  <a:spcPts val="600"/>
                </a:spcBef>
              </a:pPr>
              <a:r>
                <a:rPr sz="1500" b="1" i="0">
                  <a:solidFill>
                    <a:srgbClr val="14213D"/>
                  </a:solidFill>
                  <a:latin typeface="Calibri"/>
                </a:rPr>
                <a:t>DTS scan</a:t>
              </a:r>
            </a:p>
            <a:p>
              <a:pPr algn="l">
                <a:lnSpc>
                  <a:spcPct val="115000"/>
                </a:lnSpc>
                <a:spcBef>
                  <a:spcPts val="500"/>
                </a:spcBef>
              </a:pPr>
              <a:r>
                <a:rPr sz="1200" b="0" i="0">
                  <a:solidFill>
                    <a:srgbClr val="4A5568"/>
                  </a:solidFill>
                  <a:latin typeface="Calibri"/>
                </a:rPr>
                <a:t>15 low-dose views, ±15°, SIRT</a:t>
              </a:r>
            </a:p>
          </p:txBody>
        </p:sp>
      </p:grpSp>
      <p:grpSp>
        <p:nvGrpSpPr>
          <p:cNvPr id="7" name="Group 6"/>
          <p:cNvGrpSpPr/>
          <p:nvPr/>
        </p:nvGrpSpPr>
        <p:grpSpPr>
          <a:xfrm>
            <a:off x="2324100" y="2095500"/>
            <a:ext cx="1308100" cy="2159000"/>
            <a:chOff x="2324100" y="2095500"/>
            <a:chExt cx="1308100" cy="2159000"/>
          </a:xfrm>
        </p:grpSpPr>
        <p:sp>
          <p:nvSpPr>
            <p:cNvPr id="8" name="Rounded Rectangle 7"/>
            <p:cNvSpPr/>
            <p:nvPr/>
          </p:nvSpPr>
          <p:spPr>
            <a:xfrm>
              <a:off x="2324100" y="2095500"/>
              <a:ext cx="1308100" cy="2159000"/>
            </a:xfrm>
            <a:prstGeom prst="roundRect">
              <a:avLst>
                <a:gd name="adj" fmla="val 7766"/>
              </a:avLst>
            </a:prstGeom>
            <a:solidFill>
              <a:srgbClr val="FFFFFF"/>
            </a:solidFill>
            <a:ln w="12700">
              <a:solidFill>
                <a:srgbClr val="9AA7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63800" y="2207260"/>
              <a:ext cx="1028700" cy="1935480"/>
            </a:xfrm>
            <a:prstGeom prst="rect">
              <a:avLst/>
            </a:prstGeom>
            <a:noFill/>
          </p:spPr>
          <p:txBody>
            <a:bodyPr wrap="square" lIns="0" rIns="0" tIns="0" bIns="0" anchor="t">
              <a:spAutoFit/>
            </a:bodyPr>
            <a:lstStyle/>
            <a:p>
              <a:pPr algn="l">
                <a:lnSpc>
                  <a:spcPct val="120000"/>
                </a:lnSpc>
              </a:pPr>
              <a:r>
                <a:rPr sz="2200" b="1" i="0">
                  <a:solidFill>
                    <a:srgbClr val="4A5568"/>
                  </a:solidFill>
                  <a:latin typeface="Georgia"/>
                </a:rPr>
                <a:t>2</a:t>
              </a:r>
            </a:p>
            <a:p>
              <a:pPr algn="l">
                <a:lnSpc>
                  <a:spcPct val="120000"/>
                </a:lnSpc>
                <a:spcBef>
                  <a:spcPts val="600"/>
                </a:spcBef>
              </a:pPr>
              <a:r>
                <a:rPr sz="1500" b="1" i="0">
                  <a:solidFill>
                    <a:srgbClr val="14213D"/>
                  </a:solidFill>
                  <a:latin typeface="Calibri"/>
                </a:rPr>
                <a:t>Click</a:t>
              </a:r>
            </a:p>
            <a:p>
              <a:pPr algn="l">
                <a:lnSpc>
                  <a:spcPct val="115000"/>
                </a:lnSpc>
                <a:spcBef>
                  <a:spcPts val="500"/>
                </a:spcBef>
              </a:pPr>
              <a:r>
                <a:rPr sz="1200" b="0" i="0">
                  <a:solidFill>
                    <a:srgbClr val="4A5568"/>
                  </a:solidFill>
                  <a:latin typeface="Calibri"/>
                </a:rPr>
                <a:t>3D U-Net detector suggests nodules</a:t>
              </a:r>
            </a:p>
          </p:txBody>
        </p:sp>
      </p:grpSp>
      <p:sp>
        <p:nvSpPr>
          <p:cNvPr id="10" name="Rectangle 9"/>
          <p:cNvSpPr/>
          <p:nvPr/>
        </p:nvSpPr>
        <p:spPr>
          <a:xfrm>
            <a:off x="21336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 name="Group 10"/>
          <p:cNvGrpSpPr/>
          <p:nvPr/>
        </p:nvGrpSpPr>
        <p:grpSpPr>
          <a:xfrm>
            <a:off x="3835400" y="2095500"/>
            <a:ext cx="1308100" cy="2159000"/>
            <a:chOff x="3835400" y="2095500"/>
            <a:chExt cx="1308100" cy="2159000"/>
          </a:xfrm>
        </p:grpSpPr>
        <p:sp>
          <p:nvSpPr>
            <p:cNvPr id="12" name="Rounded Rectangle 11"/>
            <p:cNvSpPr/>
            <p:nvPr/>
          </p:nvSpPr>
          <p:spPr>
            <a:xfrm>
              <a:off x="3835400" y="2095500"/>
              <a:ext cx="1308100" cy="2159000"/>
            </a:xfrm>
            <a:prstGeom prst="roundRect">
              <a:avLst>
                <a:gd name="adj" fmla="val 7766"/>
              </a:avLst>
            </a:prstGeom>
            <a:solidFill>
              <a:srgbClr val="FFFFFF"/>
            </a:solidFill>
            <a:ln w="12700">
              <a:solidFill>
                <a:srgbClr val="9AA7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75100" y="2207260"/>
              <a:ext cx="1028700" cy="1935480"/>
            </a:xfrm>
            <a:prstGeom prst="rect">
              <a:avLst/>
            </a:prstGeom>
            <a:noFill/>
          </p:spPr>
          <p:txBody>
            <a:bodyPr wrap="square" lIns="0" rIns="0" tIns="0" bIns="0" anchor="t">
              <a:spAutoFit/>
            </a:bodyPr>
            <a:lstStyle/>
            <a:p>
              <a:pPr algn="l">
                <a:lnSpc>
                  <a:spcPct val="120000"/>
                </a:lnSpc>
              </a:pPr>
              <a:r>
                <a:rPr sz="2200" b="1" i="0">
                  <a:solidFill>
                    <a:srgbClr val="4A5568"/>
                  </a:solidFill>
                  <a:latin typeface="Georgia"/>
                </a:rPr>
                <a:t>3</a:t>
              </a:r>
            </a:p>
            <a:p>
              <a:pPr algn="l">
                <a:lnSpc>
                  <a:spcPct val="120000"/>
                </a:lnSpc>
                <a:spcBef>
                  <a:spcPts val="600"/>
                </a:spcBef>
              </a:pPr>
              <a:r>
                <a:rPr sz="1500" b="1" i="0">
                  <a:solidFill>
                    <a:srgbClr val="14213D"/>
                  </a:solidFill>
                  <a:latin typeface="Calibri"/>
                </a:rPr>
                <a:t>Prism</a:t>
              </a:r>
            </a:p>
            <a:p>
              <a:pPr algn="l">
                <a:lnSpc>
                  <a:spcPct val="115000"/>
                </a:lnSpc>
                <a:spcBef>
                  <a:spcPts val="500"/>
                </a:spcBef>
              </a:pPr>
              <a:r>
                <a:rPr sz="1200" b="0" i="0">
                  <a:solidFill>
                    <a:srgbClr val="4A5568"/>
                  </a:solidFill>
                  <a:latin typeface="Calibri"/>
                </a:rPr>
                <a:t>64 mm column through the chest</a:t>
              </a:r>
            </a:p>
          </p:txBody>
        </p:sp>
      </p:grpSp>
      <p:sp>
        <p:nvSpPr>
          <p:cNvPr id="14" name="Rectangle 13"/>
          <p:cNvSpPr/>
          <p:nvPr/>
        </p:nvSpPr>
        <p:spPr>
          <a:xfrm>
            <a:off x="36449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5" name="Group 14"/>
          <p:cNvGrpSpPr/>
          <p:nvPr/>
        </p:nvGrpSpPr>
        <p:grpSpPr>
          <a:xfrm>
            <a:off x="5346700" y="2095500"/>
            <a:ext cx="1308100" cy="2159000"/>
            <a:chOff x="5346700" y="2095500"/>
            <a:chExt cx="1308100" cy="2159000"/>
          </a:xfrm>
        </p:grpSpPr>
        <p:sp>
          <p:nvSpPr>
            <p:cNvPr id="16" name="Rounded Rectangle 15"/>
            <p:cNvSpPr/>
            <p:nvPr/>
          </p:nvSpPr>
          <p:spPr>
            <a:xfrm>
              <a:off x="5346700" y="2095500"/>
              <a:ext cx="1308100" cy="2159000"/>
            </a:xfrm>
            <a:prstGeom prst="roundRect">
              <a:avLst>
                <a:gd name="adj" fmla="val 7766"/>
              </a:avLst>
            </a:prstGeom>
            <a:solidFill>
              <a:srgbClr val="E3ECF7"/>
            </a:solidFill>
            <a:ln w="12700">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0" y="2207260"/>
              <a:ext cx="1028700" cy="1935480"/>
            </a:xfrm>
            <a:prstGeom prst="rect">
              <a:avLst/>
            </a:prstGeom>
            <a:noFill/>
          </p:spPr>
          <p:txBody>
            <a:bodyPr wrap="square" lIns="0" rIns="0" tIns="0" bIns="0" anchor="t">
              <a:spAutoFit/>
            </a:bodyPr>
            <a:lstStyle/>
            <a:p>
              <a:pPr algn="l">
                <a:lnSpc>
                  <a:spcPct val="120000"/>
                </a:lnSpc>
              </a:pPr>
              <a:r>
                <a:rPr sz="2200" b="1" i="0">
                  <a:solidFill>
                    <a:srgbClr val="1F5FA8"/>
                  </a:solidFill>
                  <a:latin typeface="Georgia"/>
                </a:rPr>
                <a:t>4</a:t>
              </a:r>
            </a:p>
            <a:p>
              <a:pPr algn="l">
                <a:lnSpc>
                  <a:spcPct val="120000"/>
                </a:lnSpc>
                <a:spcBef>
                  <a:spcPts val="600"/>
                </a:spcBef>
              </a:pPr>
              <a:r>
                <a:rPr sz="1500" b="1" i="0">
                  <a:solidFill>
                    <a:srgbClr val="14213D"/>
                  </a:solidFill>
                  <a:latin typeface="Calibri"/>
                </a:rPr>
                <a:t>Diffusion</a:t>
              </a:r>
            </a:p>
            <a:p>
              <a:pPr algn="l">
                <a:lnSpc>
                  <a:spcPct val="115000"/>
                </a:lnSpc>
                <a:spcBef>
                  <a:spcPts val="500"/>
                </a:spcBef>
              </a:pPr>
              <a:r>
                <a:rPr sz="1200" b="0" i="0">
                  <a:solidFill>
                    <a:srgbClr val="4A5568"/>
                  </a:solidFill>
                  <a:latin typeface="Calibri"/>
                </a:rPr>
                <a:t>8 CT-like samples, kept X-ray consistent</a:t>
              </a:r>
            </a:p>
          </p:txBody>
        </p:sp>
      </p:grpSp>
      <p:sp>
        <p:nvSpPr>
          <p:cNvPr id="18" name="Rectangle 17"/>
          <p:cNvSpPr/>
          <p:nvPr/>
        </p:nvSpPr>
        <p:spPr>
          <a:xfrm>
            <a:off x="51562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9" name="Group 18"/>
          <p:cNvGrpSpPr/>
          <p:nvPr/>
        </p:nvGrpSpPr>
        <p:grpSpPr>
          <a:xfrm>
            <a:off x="6858000" y="2095500"/>
            <a:ext cx="1308100" cy="2159000"/>
            <a:chOff x="6858000" y="2095500"/>
            <a:chExt cx="1308100" cy="2159000"/>
          </a:xfrm>
        </p:grpSpPr>
        <p:sp>
          <p:nvSpPr>
            <p:cNvPr id="20" name="Rounded Rectangle 19"/>
            <p:cNvSpPr/>
            <p:nvPr/>
          </p:nvSpPr>
          <p:spPr>
            <a:xfrm>
              <a:off x="6858000" y="2095500"/>
              <a:ext cx="1308100" cy="2159000"/>
            </a:xfrm>
            <a:prstGeom prst="roundRect">
              <a:avLst>
                <a:gd name="adj" fmla="val 7766"/>
              </a:avLst>
            </a:prstGeom>
            <a:solidFill>
              <a:srgbClr val="EAF4EC"/>
            </a:solidFill>
            <a:ln w="1270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97700" y="2207260"/>
              <a:ext cx="1028700" cy="1935480"/>
            </a:xfrm>
            <a:prstGeom prst="rect">
              <a:avLst/>
            </a:prstGeom>
            <a:noFill/>
          </p:spPr>
          <p:txBody>
            <a:bodyPr wrap="square" lIns="0" rIns="0" tIns="0" bIns="0" anchor="t">
              <a:spAutoFit/>
            </a:bodyPr>
            <a:lstStyle/>
            <a:p>
              <a:pPr algn="l">
                <a:lnSpc>
                  <a:spcPct val="120000"/>
                </a:lnSpc>
              </a:pPr>
              <a:r>
                <a:rPr sz="2200" b="1" i="0">
                  <a:solidFill>
                    <a:srgbClr val="2E7D4F"/>
                  </a:solidFill>
                  <a:latin typeface="Georgia"/>
                </a:rPr>
                <a:t>5</a:t>
              </a:r>
            </a:p>
            <a:p>
              <a:pPr algn="l">
                <a:lnSpc>
                  <a:spcPct val="120000"/>
                </a:lnSpc>
                <a:spcBef>
                  <a:spcPts val="600"/>
                </a:spcBef>
              </a:pPr>
              <a:r>
                <a:rPr sz="1500" b="1" i="0">
                  <a:solidFill>
                    <a:srgbClr val="14213D"/>
                  </a:solidFill>
                  <a:latin typeface="Calibri"/>
                </a:rPr>
                <a:t>Gaussians</a:t>
              </a:r>
            </a:p>
            <a:p>
              <a:pPr algn="l">
                <a:lnSpc>
                  <a:spcPct val="115000"/>
                </a:lnSpc>
                <a:spcBef>
                  <a:spcPts val="500"/>
                </a:spcBef>
              </a:pPr>
              <a:r>
                <a:rPr sz="1200" b="0" i="0">
                  <a:solidFill>
                    <a:srgbClr val="4A5568"/>
                  </a:solidFill>
                  <a:latin typeface="Calibri"/>
                </a:rPr>
                <a:t>3D Gaussians give mass in closed form</a:t>
              </a:r>
            </a:p>
          </p:txBody>
        </p:sp>
      </p:grpSp>
      <p:sp>
        <p:nvSpPr>
          <p:cNvPr id="22" name="Rectangle 21"/>
          <p:cNvSpPr/>
          <p:nvPr/>
        </p:nvSpPr>
        <p:spPr>
          <a:xfrm>
            <a:off x="66675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23" name="Group 22"/>
          <p:cNvGrpSpPr/>
          <p:nvPr/>
        </p:nvGrpSpPr>
        <p:grpSpPr>
          <a:xfrm>
            <a:off x="8369300" y="2095500"/>
            <a:ext cx="1308100" cy="2159000"/>
            <a:chOff x="8369300" y="2095500"/>
            <a:chExt cx="1308100" cy="2159000"/>
          </a:xfrm>
        </p:grpSpPr>
        <p:sp>
          <p:nvSpPr>
            <p:cNvPr id="24" name="Rounded Rectangle 23"/>
            <p:cNvSpPr/>
            <p:nvPr/>
          </p:nvSpPr>
          <p:spPr>
            <a:xfrm>
              <a:off x="8369300" y="2095500"/>
              <a:ext cx="1308100" cy="2159000"/>
            </a:xfrm>
            <a:prstGeom prst="roundRect">
              <a:avLst>
                <a:gd name="adj" fmla="val 7766"/>
              </a:avLst>
            </a:prstGeom>
            <a:solidFill>
              <a:srgbClr val="EAF4EC"/>
            </a:solidFill>
            <a:ln w="1270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09000" y="2207260"/>
              <a:ext cx="1028700" cy="1935480"/>
            </a:xfrm>
            <a:prstGeom prst="rect">
              <a:avLst/>
            </a:prstGeom>
            <a:noFill/>
          </p:spPr>
          <p:txBody>
            <a:bodyPr wrap="square" lIns="0" rIns="0" tIns="0" bIns="0" anchor="t">
              <a:spAutoFit/>
            </a:bodyPr>
            <a:lstStyle/>
            <a:p>
              <a:pPr algn="l">
                <a:lnSpc>
                  <a:spcPct val="120000"/>
                </a:lnSpc>
              </a:pPr>
              <a:r>
                <a:rPr sz="2200" b="1" i="0">
                  <a:solidFill>
                    <a:srgbClr val="2E7D4F"/>
                  </a:solidFill>
                  <a:latin typeface="Georgia"/>
                </a:rPr>
                <a:t>6</a:t>
              </a:r>
            </a:p>
            <a:p>
              <a:pPr algn="l">
                <a:lnSpc>
                  <a:spcPct val="120000"/>
                </a:lnSpc>
                <a:spcBef>
                  <a:spcPts val="600"/>
                </a:spcBef>
              </a:pPr>
              <a:r>
                <a:rPr sz="1500" b="1" i="0">
                  <a:solidFill>
                    <a:srgbClr val="14213D"/>
                  </a:solidFill>
                  <a:latin typeface="Calibri"/>
                </a:rPr>
                <a:t>Conformal</a:t>
              </a:r>
            </a:p>
            <a:p>
              <a:pPr algn="l">
                <a:lnSpc>
                  <a:spcPct val="115000"/>
                </a:lnSpc>
                <a:spcBef>
                  <a:spcPts val="500"/>
                </a:spcBef>
              </a:pPr>
              <a:r>
                <a:rPr sz="1200" b="0" i="0">
                  <a:solidFill>
                    <a:srgbClr val="4A5568"/>
                  </a:solidFill>
                  <a:latin typeface="Calibri"/>
                </a:rPr>
                <a:t>Intervals and size-category odds</a:t>
              </a:r>
            </a:p>
          </p:txBody>
        </p:sp>
      </p:grpSp>
      <p:sp>
        <p:nvSpPr>
          <p:cNvPr id="26" name="Rectangle 25"/>
          <p:cNvSpPr/>
          <p:nvPr/>
        </p:nvSpPr>
        <p:spPr>
          <a:xfrm>
            <a:off x="81788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27" name="Group 26"/>
          <p:cNvGrpSpPr/>
          <p:nvPr/>
        </p:nvGrpSpPr>
        <p:grpSpPr>
          <a:xfrm>
            <a:off x="9880600" y="2095500"/>
            <a:ext cx="1308100" cy="2159000"/>
            <a:chOff x="9880600" y="2095500"/>
            <a:chExt cx="1308100" cy="2159000"/>
          </a:xfrm>
        </p:grpSpPr>
        <p:sp>
          <p:nvSpPr>
            <p:cNvPr id="28" name="Rounded Rectangle 27"/>
            <p:cNvSpPr/>
            <p:nvPr/>
          </p:nvSpPr>
          <p:spPr>
            <a:xfrm>
              <a:off x="9880600" y="2095500"/>
              <a:ext cx="1308100" cy="2159000"/>
            </a:xfrm>
            <a:prstGeom prst="roundRect">
              <a:avLst>
                <a:gd name="adj" fmla="val 7766"/>
              </a:avLst>
            </a:prstGeom>
            <a:solidFill>
              <a:srgbClr val="EAF4EC"/>
            </a:solidFill>
            <a:ln w="1270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20300" y="2207260"/>
              <a:ext cx="1028700" cy="1935480"/>
            </a:xfrm>
            <a:prstGeom prst="rect">
              <a:avLst/>
            </a:prstGeom>
            <a:noFill/>
          </p:spPr>
          <p:txBody>
            <a:bodyPr wrap="square" lIns="0" rIns="0" tIns="0" bIns="0" anchor="t">
              <a:spAutoFit/>
            </a:bodyPr>
            <a:lstStyle/>
            <a:p>
              <a:pPr algn="l">
                <a:lnSpc>
                  <a:spcPct val="120000"/>
                </a:lnSpc>
              </a:pPr>
              <a:r>
                <a:rPr sz="2200" b="1" i="0">
                  <a:solidFill>
                    <a:srgbClr val="2E7D4F"/>
                  </a:solidFill>
                  <a:latin typeface="Georgia"/>
                </a:rPr>
                <a:t>7</a:t>
              </a:r>
            </a:p>
            <a:p>
              <a:pPr algn="l">
                <a:lnSpc>
                  <a:spcPct val="120000"/>
                </a:lnSpc>
                <a:spcBef>
                  <a:spcPts val="600"/>
                </a:spcBef>
              </a:pPr>
              <a:r>
                <a:rPr sz="1500" b="1" i="0">
                  <a:solidFill>
                    <a:srgbClr val="14213D"/>
                  </a:solidFill>
                  <a:latin typeface="Calibri"/>
                </a:rPr>
                <a:t>Explain</a:t>
              </a:r>
            </a:p>
            <a:p>
              <a:pPr algn="l">
                <a:lnSpc>
                  <a:spcPct val="115000"/>
                </a:lnSpc>
                <a:spcBef>
                  <a:spcPts val="500"/>
                </a:spcBef>
              </a:pPr>
              <a:r>
                <a:rPr sz="1200" b="0" i="0">
                  <a:solidFill>
                    <a:srgbClr val="4A5568"/>
                  </a:solidFill>
                  <a:latin typeface="Calibri"/>
                </a:rPr>
                <a:t>Seen vs unseen split, saliency</a:t>
              </a:r>
            </a:p>
          </p:txBody>
        </p:sp>
      </p:grpSp>
      <p:sp>
        <p:nvSpPr>
          <p:cNvPr id="30" name="Rectangle 29"/>
          <p:cNvSpPr/>
          <p:nvPr/>
        </p:nvSpPr>
        <p:spPr>
          <a:xfrm>
            <a:off x="96901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1" name="Group 30"/>
          <p:cNvGrpSpPr/>
          <p:nvPr/>
        </p:nvGrpSpPr>
        <p:grpSpPr>
          <a:xfrm>
            <a:off x="812800" y="4508500"/>
            <a:ext cx="2819400" cy="698500"/>
            <a:chOff x="812800" y="4508500"/>
            <a:chExt cx="2819400" cy="698500"/>
          </a:xfrm>
        </p:grpSpPr>
        <p:sp>
          <p:nvSpPr>
            <p:cNvPr id="32" name="Rectangle 31"/>
            <p:cNvSpPr/>
            <p:nvPr/>
          </p:nvSpPr>
          <p:spPr>
            <a:xfrm>
              <a:off x="812800" y="4508500"/>
              <a:ext cx="2819400" cy="38100"/>
            </a:xfrm>
            <a:prstGeom prst="rect">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2800" y="4635500"/>
              <a:ext cx="2819400" cy="571500"/>
            </a:xfrm>
            <a:prstGeom prst="rect">
              <a:avLst/>
            </a:prstGeom>
            <a:noFill/>
          </p:spPr>
          <p:txBody>
            <a:bodyPr wrap="square" lIns="0" tIns="0">
              <a:spAutoFit/>
            </a:bodyPr>
            <a:lstStyle/>
            <a:p>
              <a:pPr algn="l">
                <a:lnSpc>
                  <a:spcPct val="120000"/>
                </a:lnSpc>
              </a:pPr>
              <a:r>
                <a:rPr sz="1200" b="1" i="0">
                  <a:solidFill>
                    <a:srgbClr val="4A5568"/>
                  </a:solidFill>
                  <a:latin typeface="Calibri"/>
                </a:rPr>
                <a:t>PHYSICS</a:t>
              </a:r>
            </a:p>
            <a:p>
              <a:pPr algn="l">
                <a:lnSpc>
                  <a:spcPct val="120000"/>
                </a:lnSpc>
                <a:spcBef>
                  <a:spcPts val="200"/>
                </a:spcBef>
              </a:pPr>
              <a:r>
                <a:rPr sz="1200" b="0" i="0">
                  <a:solidFill>
                    <a:srgbClr val="4A5568"/>
                  </a:solidFill>
                  <a:latin typeface="Calibri"/>
                </a:rPr>
                <a:t>what the X-rays measure</a:t>
              </a:r>
            </a:p>
          </p:txBody>
        </p:sp>
      </p:grpSp>
      <p:grpSp>
        <p:nvGrpSpPr>
          <p:cNvPr id="34" name="Group 33"/>
          <p:cNvGrpSpPr/>
          <p:nvPr/>
        </p:nvGrpSpPr>
        <p:grpSpPr>
          <a:xfrm>
            <a:off x="3835400" y="4508500"/>
            <a:ext cx="2819400" cy="698500"/>
            <a:chOff x="3835400" y="4508500"/>
            <a:chExt cx="2819400" cy="698500"/>
          </a:xfrm>
        </p:grpSpPr>
        <p:sp>
          <p:nvSpPr>
            <p:cNvPr id="35" name="Rectangle 34"/>
            <p:cNvSpPr/>
            <p:nvPr/>
          </p:nvSpPr>
          <p:spPr>
            <a:xfrm>
              <a:off x="3835400" y="4508500"/>
              <a:ext cx="2819400" cy="381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835400" y="4635500"/>
              <a:ext cx="2819400" cy="571500"/>
            </a:xfrm>
            <a:prstGeom prst="rect">
              <a:avLst/>
            </a:prstGeom>
            <a:noFill/>
          </p:spPr>
          <p:txBody>
            <a:bodyPr wrap="square" lIns="0" tIns="0">
              <a:spAutoFit/>
            </a:bodyPr>
            <a:lstStyle/>
            <a:p>
              <a:pPr algn="l">
                <a:lnSpc>
                  <a:spcPct val="120000"/>
                </a:lnSpc>
              </a:pPr>
              <a:r>
                <a:rPr sz="1200" b="1" i="0">
                  <a:solidFill>
                    <a:srgbClr val="1F5FA8"/>
                  </a:solidFill>
                  <a:latin typeface="Calibri"/>
                </a:rPr>
                <a:t>LEARNED</a:t>
              </a:r>
            </a:p>
            <a:p>
              <a:pPr algn="l">
                <a:lnSpc>
                  <a:spcPct val="120000"/>
                </a:lnSpc>
                <a:spcBef>
                  <a:spcPts val="200"/>
                </a:spcBef>
              </a:pPr>
              <a:r>
                <a:rPr sz="1200" b="0" i="0">
                  <a:solidFill>
                    <a:srgbClr val="4A5568"/>
                  </a:solidFill>
                  <a:latin typeface="Calibri"/>
                </a:rPr>
                <a:t>fills the missing wedge</a:t>
              </a:r>
            </a:p>
          </p:txBody>
        </p:sp>
      </p:grpSp>
      <p:grpSp>
        <p:nvGrpSpPr>
          <p:cNvPr id="37" name="Group 36"/>
          <p:cNvGrpSpPr/>
          <p:nvPr/>
        </p:nvGrpSpPr>
        <p:grpSpPr>
          <a:xfrm>
            <a:off x="6858000" y="4508500"/>
            <a:ext cx="4521200" cy="698500"/>
            <a:chOff x="6858000" y="4508500"/>
            <a:chExt cx="4521200" cy="698500"/>
          </a:xfrm>
        </p:grpSpPr>
        <p:sp>
          <p:nvSpPr>
            <p:cNvPr id="38" name="Rectangle 37"/>
            <p:cNvSpPr/>
            <p:nvPr/>
          </p:nvSpPr>
          <p:spPr>
            <a:xfrm>
              <a:off x="6858000" y="4508500"/>
              <a:ext cx="4521200" cy="381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0" y="4635500"/>
              <a:ext cx="4521200" cy="571500"/>
            </a:xfrm>
            <a:prstGeom prst="rect">
              <a:avLst/>
            </a:prstGeom>
            <a:noFill/>
          </p:spPr>
          <p:txBody>
            <a:bodyPr wrap="square" lIns="0" tIns="0">
              <a:spAutoFit/>
            </a:bodyPr>
            <a:lstStyle/>
            <a:p>
              <a:pPr algn="l">
                <a:lnSpc>
                  <a:spcPct val="120000"/>
                </a:lnSpc>
              </a:pPr>
              <a:r>
                <a:rPr sz="1200" b="1" i="0">
                  <a:solidFill>
                    <a:srgbClr val="2E7D4F"/>
                  </a:solidFill>
                  <a:latin typeface="Calibri"/>
                </a:rPr>
                <a:t>MEASURE AND TRUST</a:t>
              </a:r>
            </a:p>
            <a:p>
              <a:pPr algn="l">
                <a:lnSpc>
                  <a:spcPct val="120000"/>
                </a:lnSpc>
                <a:spcBef>
                  <a:spcPts val="200"/>
                </a:spcBef>
              </a:pPr>
              <a:r>
                <a:rPr sz="1200" b="0" i="0">
                  <a:solidFill>
                    <a:srgbClr val="4A5568"/>
                  </a:solidFill>
                  <a:latin typeface="Calibri"/>
                </a:rPr>
                <a:t>numbers, intervals, explanation</a:t>
              </a:r>
            </a:p>
          </p:txBody>
        </p:sp>
      </p:grpSp>
      <p:sp>
        <p:nvSpPr>
          <p:cNvPr id="40" name="TextBox 39"/>
          <p:cNvSpPr txBox="1"/>
          <p:nvPr/>
        </p:nvSpPr>
        <p:spPr>
          <a:xfrm>
            <a:off x="812800" y="5524500"/>
            <a:ext cx="10566400" cy="317500"/>
          </a:xfrm>
          <a:prstGeom prst="rect">
            <a:avLst/>
          </a:prstGeom>
          <a:noFill/>
        </p:spPr>
        <p:txBody>
          <a:bodyPr wrap="square" lIns="0" rIns="0" tIns="0" bIns="0" anchor="t">
            <a:spAutoFit/>
          </a:bodyPr>
          <a:lstStyle/>
          <a:p>
            <a:pPr algn="l">
              <a:lnSpc>
                <a:spcPct val="120000"/>
              </a:lnSpc>
            </a:pPr>
            <a:r>
              <a:rPr sz="1300" b="0" i="0">
                <a:solidFill>
                  <a:srgbClr val="4A5568"/>
                </a:solidFill>
                <a:latin typeface="Calibri"/>
              </a:rPr>
              <a:t>18 scripted steps, each ending in automatic PASS/FAIL checks · 69 unit tests · one rented GPU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anim calcmode="lin" valueType="num">
                                      <p:cBhvr additive="base">
                                        <p:cTn id="11" dur="500" fill="hold"/>
                                        <p:tgtEl>
                                          <p:spTgt spid="10"/>
                                        </p:tgtEl>
                                        <p:attrNameLst>
                                          <p:attrName>ppt_y</p:attrName>
                                        </p:attrNameLst>
                                      </p:cBhvr>
                                      <p:tavLst>
                                        <p:tav tm="0">
                                          <p:val>
                                            <p:strVal val="#ppt_y+0.05"/>
                                          </p:val>
                                        </p:tav>
                                        <p:tav tm="100000">
                                          <p:val>
                                            <p:strVal val="#ppt_y"/>
                                          </p:val>
                                        </p:tav>
                                      </p:tavLst>
                                    </p:anim>
                                  </p:childTnLst>
                                </p:cTn>
                              </p:par>
                              <p:par>
                                <p:cTn id="16" presetID="42"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additive="base">
                                        <p:cTn id="1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2" presetID="42" presetClass="entr" presetSubtype="0" fill="hold" grpId="0"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anim calcmode="lin" valueType="num">
                                      <p:cBhvr additive="base">
                                        <p:cTn id="21" dur="500" fill="hold"/>
                                        <p:tgtEl>
                                          <p:spTgt spid="14"/>
                                        </p:tgtEl>
                                        <p:attrNameLst>
                                          <p:attrName>ppt_y</p:attrName>
                                        </p:attrNameLst>
                                      </p:cBhvr>
                                      <p:tavLst>
                                        <p:tav tm="0">
                                          <p:val>
                                            <p:strVal val="#ppt_y+0.05"/>
                                          </p:val>
                                        </p:tav>
                                        <p:tav tm="100000">
                                          <p:val>
                                            <p:strVal val="#ppt_y"/>
                                          </p:val>
                                        </p:tav>
                                      </p:tavLst>
                                    </p:anim>
                                  </p:childTnLst>
                                </p:cTn>
                              </p:par>
                              <p:par>
                                <p:cTn id="26" presetID="42"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anim calcmode="lin" valueType="num">
                                      <p:cBhvr additive="base">
                                        <p:cTn id="25"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2" presetID="42"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500"/>
                                        <p:tgtEl>
                                          <p:spTgt spid="18"/>
                                        </p:tgtEl>
                                      </p:cBhvr>
                                    </p:animEffect>
                                    <p:anim calcmode="lin" valueType="num">
                                      <p:cBhvr additive="base">
                                        <p:cTn id="31" dur="500" fill="hold"/>
                                        <p:tgtEl>
                                          <p:spTgt spid="18"/>
                                        </p:tgtEl>
                                        <p:attrNameLst>
                                          <p:attrName>ppt_y</p:attrName>
                                        </p:attrNameLst>
                                      </p:cBhvr>
                                      <p:tavLst>
                                        <p:tav tm="0">
                                          <p:val>
                                            <p:strVal val="#ppt_y+0.05"/>
                                          </p:val>
                                        </p:tav>
                                        <p:tav tm="100000">
                                          <p:val>
                                            <p:strVal val="#ppt_y"/>
                                          </p:val>
                                        </p:tav>
                                      </p:tavLst>
                                    </p:anim>
                                  </p:childTnLst>
                                </p:cTn>
                              </p:par>
                              <p:par>
                                <p:cTn id="36" presetID="42"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anim calcmode="lin" valueType="num">
                                      <p:cBhvr additive="base">
                                        <p:cTn id="35" dur="500" fill="hold"/>
                                        <p:tgtEl>
                                          <p:spTgt spid="15"/>
                                        </p:tgtEl>
                                        <p:attrNameLst>
                                          <p:attrName>ppt_y</p:attrName>
                                        </p:attrNameLst>
                                      </p:cBhvr>
                                      <p:tavLst>
                                        <p:tav tm="0">
                                          <p:val>
                                            <p:strVal val="#ppt_y+0.05"/>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2" presetID="42" presetClass="entr" presetSubtype="0" fill="hold" grpId="0" nodeType="click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500"/>
                                        <p:tgtEl>
                                          <p:spTgt spid="22"/>
                                        </p:tgtEl>
                                      </p:cBhvr>
                                    </p:animEffect>
                                    <p:anim calcmode="lin" valueType="num">
                                      <p:cBhvr additive="base">
                                        <p:cTn id="41" dur="500" fill="hold"/>
                                        <p:tgtEl>
                                          <p:spTgt spid="22"/>
                                        </p:tgtEl>
                                        <p:attrNameLst>
                                          <p:attrName>ppt_y</p:attrName>
                                        </p:attrNameLst>
                                      </p:cBhvr>
                                      <p:tavLst>
                                        <p:tav tm="0">
                                          <p:val>
                                            <p:strVal val="#ppt_y+0.05"/>
                                          </p:val>
                                        </p:tav>
                                        <p:tav tm="100000">
                                          <p:val>
                                            <p:strVal val="#ppt_y"/>
                                          </p:val>
                                        </p:tav>
                                      </p:tavLst>
                                    </p:anim>
                                  </p:childTnLst>
                                </p:cTn>
                              </p:par>
                              <p:par>
                                <p:cTn id="46" presetID="42" presetClass="entr" presetSubtype="0" fill="hold" grpId="0"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anim calcmode="lin" valueType="num">
                                      <p:cBhvr additive="base">
                                        <p:cTn id="45" dur="500" fill="hold"/>
                                        <p:tgtEl>
                                          <p:spTgt spid="19"/>
                                        </p:tgtEl>
                                        <p:attrNameLst>
                                          <p:attrName>ppt_y</p:attrName>
                                        </p:attrNameLst>
                                      </p:cBhvr>
                                      <p:tavLst>
                                        <p:tav tm="0">
                                          <p:val>
                                            <p:strVal val="#ppt_y+0.05"/>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2" presetID="42" presetClass="entr" presetSubtype="0" fill="hold" grpId="0" nodeType="click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fade">
                                      <p:cBhvr>
                                        <p:cTn id="50" dur="500"/>
                                        <p:tgtEl>
                                          <p:spTgt spid="26"/>
                                        </p:tgtEl>
                                      </p:cBhvr>
                                    </p:animEffect>
                                    <p:anim calcmode="lin" valueType="num">
                                      <p:cBhvr additive="base">
                                        <p:cTn id="51" dur="500" fill="hold"/>
                                        <p:tgtEl>
                                          <p:spTgt spid="26"/>
                                        </p:tgtEl>
                                        <p:attrNameLst>
                                          <p:attrName>ppt_y</p:attrName>
                                        </p:attrNameLst>
                                      </p:cBhvr>
                                      <p:tavLst>
                                        <p:tav tm="0">
                                          <p:val>
                                            <p:strVal val="#ppt_y+0.05"/>
                                          </p:val>
                                        </p:tav>
                                        <p:tav tm="100000">
                                          <p:val>
                                            <p:strVal val="#ppt_y"/>
                                          </p:val>
                                        </p:tav>
                                      </p:tavLst>
                                    </p:anim>
                                  </p:childTnLst>
                                </p:cTn>
                              </p:par>
                              <p:par>
                                <p:cTn id="56" presetID="42" presetClass="entr" presetSubtype="0" fill="hold" grpId="0" nodeType="with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500"/>
                                        <p:tgtEl>
                                          <p:spTgt spid="23"/>
                                        </p:tgtEl>
                                      </p:cBhvr>
                                    </p:animEffect>
                                    <p:anim calcmode="lin" valueType="num">
                                      <p:cBhvr additive="base">
                                        <p:cTn id="55" dur="500" fill="hold"/>
                                        <p:tgtEl>
                                          <p:spTgt spid="23"/>
                                        </p:tgtEl>
                                        <p:attrNameLst>
                                          <p:attrName>ppt_y</p:attrName>
                                        </p:attrNameLst>
                                      </p:cBhvr>
                                      <p:tavLst>
                                        <p:tav tm="0">
                                          <p:val>
                                            <p:strVal val="#ppt_y+0.05"/>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2" presetID="42" presetClass="entr" presetSubtype="0" fill="hold" grpId="0" nodeType="clickEffect">
                                  <p:stCondLst>
                                    <p:cond delay="0"/>
                                  </p:stCondLst>
                                  <p:childTnLst>
                                    <p:set>
                                      <p:cBhvr>
                                        <p:cTn id="59" dur="1" fill="hold">
                                          <p:stCondLst>
                                            <p:cond delay="0"/>
                                          </p:stCondLst>
                                        </p:cTn>
                                        <p:tgtEl>
                                          <p:spTgt spid="30"/>
                                        </p:tgtEl>
                                        <p:attrNameLst>
                                          <p:attrName>style.visibility</p:attrName>
                                        </p:attrNameLst>
                                      </p:cBhvr>
                                      <p:to>
                                        <p:strVal val="visible"/>
                                      </p:to>
                                    </p:set>
                                    <p:animEffect transition="in" filter="fade">
                                      <p:cBhvr>
                                        <p:cTn id="60" dur="500"/>
                                        <p:tgtEl>
                                          <p:spTgt spid="30"/>
                                        </p:tgtEl>
                                      </p:cBhvr>
                                    </p:animEffect>
                                    <p:anim calcmode="lin" valueType="num">
                                      <p:cBhvr additive="base">
                                        <p:cTn id="61" dur="500" fill="hold"/>
                                        <p:tgtEl>
                                          <p:spTgt spid="30"/>
                                        </p:tgtEl>
                                        <p:attrNameLst>
                                          <p:attrName>ppt_y</p:attrName>
                                        </p:attrNameLst>
                                      </p:cBhvr>
                                      <p:tavLst>
                                        <p:tav tm="0">
                                          <p:val>
                                            <p:strVal val="#ppt_y+0.05"/>
                                          </p:val>
                                        </p:tav>
                                        <p:tav tm="100000">
                                          <p:val>
                                            <p:strVal val="#ppt_y"/>
                                          </p:val>
                                        </p:tav>
                                      </p:tavLst>
                                    </p:anim>
                                  </p:childTnLst>
                                </p:cTn>
                              </p:par>
                              <p:par>
                                <p:cTn id="66" presetID="42" presetClass="entr" presetSubtype="0" fill="hold" grpId="0" nodeType="with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500"/>
                                        <p:tgtEl>
                                          <p:spTgt spid="27"/>
                                        </p:tgtEl>
                                      </p:cBhvr>
                                    </p:animEffect>
                                    <p:anim calcmode="lin" valueType="num">
                                      <p:cBhvr additive="base">
                                        <p:cTn id="65" dur="500" fill="hold"/>
                                        <p:tgtEl>
                                          <p:spTgt spid="27"/>
                                        </p:tgtEl>
                                        <p:attrNameLst>
                                          <p:attrName>ppt_y</p:attrName>
                                        </p:attrNameLst>
                                      </p:cBhvr>
                                      <p:tavLst>
                                        <p:tav tm="0">
                                          <p:val>
                                            <p:strVal val="#ppt_y+0.05"/>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1" presetID="10" presetClass="entr" presetSubtype="0" fill="hold" grpId="0" nodeType="clickEffect">
                                  <p:stCondLst>
                                    <p:cond delay="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500"/>
                                        <p:tgtEl>
                                          <p:spTgt spid="31"/>
                                        </p:tgtEl>
                                      </p:cBhvr>
                                    </p:animEffect>
                                  </p:childTnLst>
                                </p:cTn>
                              </p:par>
                              <p:par>
                                <p:cTn id="74" presetID="10" presetClass="entr" presetSubtype="0" fill="hold" grpId="0" nodeType="withEffect">
                                  <p:stCondLst>
                                    <p:cond delay="250"/>
                                  </p:stCondLst>
                                  <p:childTnLst>
                                    <p:set>
                                      <p:cBhvr>
                                        <p:cTn id="72" dur="1" fill="hold">
                                          <p:stCondLst>
                                            <p:cond delay="0"/>
                                          </p:stCondLst>
                                        </p:cTn>
                                        <p:tgtEl>
                                          <p:spTgt spid="34"/>
                                        </p:tgtEl>
                                        <p:attrNameLst>
                                          <p:attrName>style.visibility</p:attrName>
                                        </p:attrNameLst>
                                      </p:cBhvr>
                                      <p:to>
                                        <p:strVal val="visible"/>
                                      </p:to>
                                    </p:set>
                                    <p:animEffect transition="in" filter="fade">
                                      <p:cBhvr>
                                        <p:cTn id="73" dur="500"/>
                                        <p:tgtEl>
                                          <p:spTgt spid="34"/>
                                        </p:tgtEl>
                                      </p:cBhvr>
                                    </p:animEffect>
                                  </p:childTnLst>
                                </p:cTn>
                              </p:par>
                              <p:par>
                                <p:cTn id="77" presetID="10" presetClass="entr" presetSubtype="0" fill="hold" grpId="0" nodeType="withEffect">
                                  <p:stCondLst>
                                    <p:cond delay="50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500"/>
                                        <p:tgtEl>
                                          <p:spTgt spid="37"/>
                                        </p:tgtEl>
                                      </p:cBhvr>
                                    </p:animEffect>
                                  </p:childTnLst>
                                </p:cTn>
                              </p:par>
                            </p:childTnLst>
                          </p:cTn>
                        </p:par>
                      </p:childTnLst>
                    </p:cTn>
                  </p:par>
                  <p:par>
                    <p:cTn id="83" fill="hold">
                      <p:stCondLst>
                        <p:cond delay="indefinite"/>
                      </p:stCondLst>
                      <p:childTnLst>
                        <p:par>
                          <p:cTn id="84" fill="hold">
                            <p:stCondLst>
                              <p:cond delay="0"/>
                            </p:stCondLst>
                            <p:childTnLst>
                              <p:par>
                                <p:cTn id="82" presetID="10" presetClass="entr" presetSubtype="0" fill="hold" grpId="0" nodeType="click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fade">
                                      <p:cBhvr>
                                        <p:cTn id="81"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P spid="18" grpId="0"/>
      <p:bldP spid="22" grpId="0"/>
      <p:bldP spid="26" grpId="0"/>
      <p:bldP spid="30" grpId="0"/>
      <p:bldP spid="40" grpId="0"/>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DATASET · VIRTUAL CLINICAL TRIAL</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Real patient CT, simulated low-dose DTS</a:t>
            </a:r>
          </a:p>
        </p:txBody>
      </p:sp>
      <p:sp>
        <p:nvSpPr>
          <p:cNvPr id="4" name="Rounded Rectangle 3"/>
          <p:cNvSpPr/>
          <p:nvPr/>
        </p:nvSpPr>
        <p:spPr>
          <a:xfrm>
            <a:off x="812800" y="1841500"/>
            <a:ext cx="5588000" cy="3784600"/>
          </a:xfrm>
          <a:prstGeom prst="roundRect">
            <a:avLst>
              <a:gd name="adj" fmla="val 2013"/>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ts_views.png"/>
          <p:cNvPicPr>
            <a:picLocks noChangeAspect="1"/>
          </p:cNvPicPr>
          <p:nvPr/>
        </p:nvPicPr>
        <p:blipFill>
          <a:blip r:embed="rId2"/>
          <a:stretch>
            <a:fillRect/>
          </a:stretch>
        </p:blipFill>
        <p:spPr>
          <a:xfrm>
            <a:off x="815287" y="1841500"/>
            <a:ext cx="5583026" cy="3784600"/>
          </a:xfrm>
          <a:prstGeom prst="rect">
            <a:avLst/>
          </a:prstGeom>
        </p:spPr>
      </p:pic>
      <p:sp>
        <p:nvSpPr>
          <p:cNvPr id="6" name="TextBox 5"/>
          <p:cNvSpPr txBox="1"/>
          <p:nvPr/>
        </p:nvSpPr>
        <p:spPr>
          <a:xfrm>
            <a:off x="6807200" y="19050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583</a:t>
            </a:r>
          </a:p>
          <a:p>
            <a:pPr algn="l">
              <a:lnSpc>
                <a:spcPct val="120000"/>
              </a:lnSpc>
              <a:spcBef>
                <a:spcPts val="400"/>
              </a:spcBef>
            </a:pPr>
            <a:r>
              <a:rPr sz="1300" b="0" i="0">
                <a:solidFill>
                  <a:srgbClr val="4A5568"/>
                </a:solidFill>
                <a:latin typeface="Calibri"/>
              </a:rPr>
              <a:t>LIDC-IDRI patients (TCIA, CC BY 3.0)</a:t>
            </a:r>
          </a:p>
        </p:txBody>
      </p:sp>
      <p:sp>
        <p:nvSpPr>
          <p:cNvPr id="7" name="TextBox 6"/>
          <p:cNvSpPr txBox="1"/>
          <p:nvPr/>
        </p:nvSpPr>
        <p:spPr>
          <a:xfrm>
            <a:off x="6807200" y="28575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1,144</a:t>
            </a:r>
          </a:p>
          <a:p>
            <a:pPr algn="l">
              <a:lnSpc>
                <a:spcPct val="120000"/>
              </a:lnSpc>
              <a:spcBef>
                <a:spcPts val="400"/>
              </a:spcBef>
            </a:pPr>
            <a:r>
              <a:rPr sz="1300" b="0" i="0">
                <a:solidFill>
                  <a:srgbClr val="4A5568"/>
                </a:solidFill>
                <a:latin typeface="Calibri"/>
              </a:rPr>
              <a:t>nodules of 4–30 mm marked by ≥3 of 4 radiologists</a:t>
            </a:r>
          </a:p>
        </p:txBody>
      </p:sp>
      <p:sp>
        <p:nvSpPr>
          <p:cNvPr id="8" name="TextBox 7"/>
          <p:cNvSpPr txBox="1"/>
          <p:nvPr/>
        </p:nvSpPr>
        <p:spPr>
          <a:xfrm>
            <a:off x="6807200" y="38100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60 / 20 / 20</a:t>
            </a:r>
          </a:p>
          <a:p>
            <a:pPr algn="l">
              <a:lnSpc>
                <a:spcPct val="120000"/>
              </a:lnSpc>
              <a:spcBef>
                <a:spcPts val="400"/>
              </a:spcBef>
            </a:pPr>
            <a:r>
              <a:rPr sz="1300" b="0" i="0">
                <a:solidFill>
                  <a:srgbClr val="4A5568"/>
                </a:solidFill>
                <a:latin typeface="Calibri"/>
              </a:rPr>
              <a:t>train / calibration / test, split by patient</a:t>
            </a:r>
          </a:p>
        </p:txBody>
      </p:sp>
      <p:sp>
        <p:nvSpPr>
          <p:cNvPr id="9" name="TextBox 8"/>
          <p:cNvSpPr txBox="1"/>
          <p:nvPr/>
        </p:nvSpPr>
        <p:spPr>
          <a:xfrm>
            <a:off x="6807200" y="47625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2,522</a:t>
            </a:r>
          </a:p>
          <a:p>
            <a:pPr algn="l">
              <a:lnSpc>
                <a:spcPct val="120000"/>
              </a:lnSpc>
              <a:spcBef>
                <a:spcPts val="400"/>
              </a:spcBef>
            </a:pPr>
            <a:r>
              <a:rPr sz="1300" b="0" i="0">
                <a:solidFill>
                  <a:srgbClr val="4A5568"/>
                </a:solidFill>
                <a:latin typeface="Calibri"/>
              </a:rPr>
              <a:t>training pairs (265 held out); 150 nodules measured: 76 cal, 74 test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additive="base">
                                        <p:cTn id="5" dur="500" fill="hold"/>
                                        <p:tgtEl>
                                          <p:spTgt spid="6"/>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anim calcmode="lin" valueType="num">
                                      <p:cBhvr additive="base">
                                        <p:cTn id="11"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anim calcmode="lin" valueType="num">
                                      <p:cBhvr additive="base">
                                        <p:cTn id="17"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anim calcmode="lin" valueType="num">
                                      <p:cBhvr additive="base">
                                        <p:cTn id="23" dur="500" fill="hold"/>
                                        <p:tgtEl>
                                          <p:spTgt spid="9"/>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LEARNED PRIOR</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A conditional 3D diffusion model fills the missing wedge</a:t>
            </a:r>
          </a:p>
        </p:txBody>
      </p:sp>
      <p:pic>
        <p:nvPicPr>
          <p:cNvPr id="4" name="Picture 3" descr="diff_strip.png"/>
          <p:cNvPicPr>
            <a:picLocks noChangeAspect="1"/>
          </p:cNvPicPr>
          <p:nvPr/>
        </p:nvPicPr>
        <p:blipFill>
          <a:blip r:embed="rId2"/>
          <a:stretch>
            <a:fillRect/>
          </a:stretch>
        </p:blipFill>
        <p:spPr>
          <a:xfrm>
            <a:off x="2681255" y="2032000"/>
            <a:ext cx="6829490" cy="2159000"/>
          </a:xfrm>
          <a:prstGeom prst="rect">
            <a:avLst/>
          </a:prstGeom>
        </p:spPr>
      </p:pic>
      <p:sp>
        <p:nvSpPr>
          <p:cNvPr id="5" name="TextBox 4"/>
          <p:cNvSpPr txBox="1"/>
          <p:nvPr/>
        </p:nvSpPr>
        <p:spPr>
          <a:xfrm>
            <a:off x="2681255" y="4267200"/>
            <a:ext cx="2276497" cy="254000"/>
          </a:xfrm>
          <a:prstGeom prst="rect">
            <a:avLst/>
          </a:prstGeom>
          <a:noFill/>
        </p:spPr>
        <p:txBody>
          <a:bodyPr wrap="square" lIns="0" rIns="0" tIns="0" bIns="0" anchor="t">
            <a:spAutoFit/>
          </a:bodyPr>
          <a:lstStyle/>
          <a:p>
            <a:pPr algn="ctr">
              <a:lnSpc>
                <a:spcPct val="120000"/>
              </a:lnSpc>
            </a:pPr>
            <a:r>
              <a:rPr sz="1300" b="0" i="0">
                <a:solidFill>
                  <a:srgbClr val="4A5568"/>
                </a:solidFill>
                <a:latin typeface="Calibri"/>
              </a:rPr>
              <a:t>DTS input (condition)</a:t>
            </a:r>
          </a:p>
        </p:txBody>
      </p:sp>
      <p:sp>
        <p:nvSpPr>
          <p:cNvPr id="6" name="TextBox 5"/>
          <p:cNvSpPr txBox="1"/>
          <p:nvPr/>
        </p:nvSpPr>
        <p:spPr>
          <a:xfrm>
            <a:off x="4957752" y="4267200"/>
            <a:ext cx="2276497" cy="254000"/>
          </a:xfrm>
          <a:prstGeom prst="rect">
            <a:avLst/>
          </a:prstGeom>
          <a:noFill/>
        </p:spPr>
        <p:txBody>
          <a:bodyPr wrap="square" lIns="0" rIns="0" tIns="0" bIns="0" anchor="t">
            <a:spAutoFit/>
          </a:bodyPr>
          <a:lstStyle/>
          <a:p>
            <a:pPr algn="ctr">
              <a:lnSpc>
                <a:spcPct val="120000"/>
              </a:lnSpc>
            </a:pPr>
            <a:r>
              <a:rPr sz="1300" b="1" i="0">
                <a:solidFill>
                  <a:srgbClr val="1F5FA8"/>
                </a:solidFill>
                <a:latin typeface="Calibri"/>
              </a:rPr>
              <a:t>Diffusion sample</a:t>
            </a:r>
          </a:p>
        </p:txBody>
      </p:sp>
      <p:sp>
        <p:nvSpPr>
          <p:cNvPr id="7" name="TextBox 6"/>
          <p:cNvSpPr txBox="1"/>
          <p:nvPr/>
        </p:nvSpPr>
        <p:spPr>
          <a:xfrm>
            <a:off x="7234248" y="4267200"/>
            <a:ext cx="2276497" cy="254000"/>
          </a:xfrm>
          <a:prstGeom prst="rect">
            <a:avLst/>
          </a:prstGeom>
          <a:noFill/>
        </p:spPr>
        <p:txBody>
          <a:bodyPr wrap="square" lIns="0" rIns="0" tIns="0" bIns="0" anchor="t">
            <a:spAutoFit/>
          </a:bodyPr>
          <a:lstStyle/>
          <a:p>
            <a:pPr algn="ctr">
              <a:lnSpc>
                <a:spcPct val="120000"/>
              </a:lnSpc>
            </a:pPr>
            <a:r>
              <a:rPr sz="1300" b="0" i="0">
                <a:solidFill>
                  <a:srgbClr val="4A5568"/>
                </a:solidFill>
                <a:latin typeface="Calibri"/>
              </a:rPr>
              <a:t>CT truth</a:t>
            </a:r>
          </a:p>
        </p:txBody>
      </p:sp>
      <p:grpSp>
        <p:nvGrpSpPr>
          <p:cNvPr id="8" name="Group 7"/>
          <p:cNvGrpSpPr/>
          <p:nvPr/>
        </p:nvGrpSpPr>
        <p:grpSpPr>
          <a:xfrm>
            <a:off x="812800" y="4762500"/>
            <a:ext cx="2527300" cy="952500"/>
            <a:chOff x="812800" y="4762500"/>
            <a:chExt cx="2527300" cy="952500"/>
          </a:xfrm>
        </p:grpSpPr>
        <p:sp>
          <p:nvSpPr>
            <p:cNvPr id="9" name="Rounded Rectangle 8"/>
            <p:cNvSpPr/>
            <p:nvPr/>
          </p:nvSpPr>
          <p:spPr>
            <a:xfrm>
              <a:off x="812800" y="4762500"/>
              <a:ext cx="2527300" cy="952500"/>
            </a:xfrm>
            <a:prstGeom prst="roundRect">
              <a:avLst>
                <a:gd name="adj" fmla="val 10666"/>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5200" y="4884420"/>
              <a:ext cx="2222500" cy="708660"/>
            </a:xfrm>
            <a:prstGeom prst="rect">
              <a:avLst/>
            </a:prstGeom>
            <a:noFill/>
          </p:spPr>
          <p:txBody>
            <a:bodyPr wrap="square" lIns="0" rIns="0" tIns="0" bIns="0" anchor="t">
              <a:spAutoFit/>
            </a:bodyPr>
            <a:lstStyle/>
            <a:p>
              <a:pPr algn="l">
                <a:lnSpc>
                  <a:spcPct val="120000"/>
                </a:lnSpc>
              </a:pPr>
              <a:r>
                <a:rPr sz="1300" b="1" i="0">
                  <a:solidFill>
                    <a:srgbClr val="14213D"/>
                  </a:solidFill>
                  <a:latin typeface="Calibri"/>
                </a:rPr>
                <a:t>17.4 M</a:t>
              </a:r>
              <a:r>
                <a:rPr sz="1300" b="0" i="0">
                  <a:solidFill>
                    <a:srgbClr val="14213D"/>
                  </a:solidFill>
                  <a:latin typeface="Calibri"/>
                </a:rPr>
                <a:t>-parameter 3D U-Net, v-prediction, DDIM</a:t>
              </a:r>
            </a:p>
          </p:txBody>
        </p:sp>
      </p:grpSp>
      <p:grpSp>
        <p:nvGrpSpPr>
          <p:cNvPr id="11" name="Group 10"/>
          <p:cNvGrpSpPr/>
          <p:nvPr/>
        </p:nvGrpSpPr>
        <p:grpSpPr>
          <a:xfrm>
            <a:off x="3492500" y="4762500"/>
            <a:ext cx="2527300" cy="952500"/>
            <a:chOff x="3492500" y="4762500"/>
            <a:chExt cx="2527300" cy="952500"/>
          </a:xfrm>
        </p:grpSpPr>
        <p:sp>
          <p:nvSpPr>
            <p:cNvPr id="12" name="Rounded Rectangle 11"/>
            <p:cNvSpPr/>
            <p:nvPr/>
          </p:nvSpPr>
          <p:spPr>
            <a:xfrm>
              <a:off x="3492500" y="4762500"/>
              <a:ext cx="2527300" cy="952500"/>
            </a:xfrm>
            <a:prstGeom prst="roundRect">
              <a:avLst>
                <a:gd name="adj" fmla="val 10666"/>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44900" y="4884420"/>
              <a:ext cx="2222500" cy="708660"/>
            </a:xfrm>
            <a:prstGeom prst="rect">
              <a:avLst/>
            </a:prstGeom>
            <a:noFill/>
          </p:spPr>
          <p:txBody>
            <a:bodyPr wrap="square" lIns="0" rIns="0" tIns="0" bIns="0" anchor="t">
              <a:spAutoFit/>
            </a:bodyPr>
            <a:lstStyle/>
            <a:p>
              <a:pPr algn="l">
                <a:lnSpc>
                  <a:spcPct val="120000"/>
                </a:lnSpc>
              </a:pPr>
              <a:r>
                <a:rPr sz="1300" b="1" i="0">
                  <a:solidFill>
                    <a:srgbClr val="14213D"/>
                  </a:solidFill>
                  <a:latin typeface="Calibri"/>
                </a:rPr>
                <a:t>SIRT steps</a:t>
              </a:r>
              <a:r>
                <a:rPr sz="1300" b="0" i="0">
                  <a:solidFill>
                    <a:srgbClr val="14213D"/>
                  </a:solidFill>
                  <a:latin typeface="Calibri"/>
                </a:rPr>
                <a:t> inside the sampler keep it X-ray consistent</a:t>
              </a:r>
            </a:p>
          </p:txBody>
        </p:sp>
      </p:grpSp>
      <p:grpSp>
        <p:nvGrpSpPr>
          <p:cNvPr id="14" name="Group 13"/>
          <p:cNvGrpSpPr/>
          <p:nvPr/>
        </p:nvGrpSpPr>
        <p:grpSpPr>
          <a:xfrm>
            <a:off x="6172200" y="4762500"/>
            <a:ext cx="2527300" cy="952500"/>
            <a:chOff x="6172200" y="4762500"/>
            <a:chExt cx="2527300" cy="952500"/>
          </a:xfrm>
        </p:grpSpPr>
        <p:sp>
          <p:nvSpPr>
            <p:cNvPr id="15" name="Rounded Rectangle 14"/>
            <p:cNvSpPr/>
            <p:nvPr/>
          </p:nvSpPr>
          <p:spPr>
            <a:xfrm>
              <a:off x="6172200" y="4762500"/>
              <a:ext cx="2527300" cy="952500"/>
            </a:xfrm>
            <a:prstGeom prst="roundRect">
              <a:avLst>
                <a:gd name="adj" fmla="val 10666"/>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4600" y="4884420"/>
              <a:ext cx="2222500" cy="708660"/>
            </a:xfrm>
            <a:prstGeom prst="rect">
              <a:avLst/>
            </a:prstGeom>
            <a:noFill/>
          </p:spPr>
          <p:txBody>
            <a:bodyPr wrap="square" lIns="0" rIns="0" tIns="0" bIns="0" anchor="t">
              <a:spAutoFit/>
            </a:bodyPr>
            <a:lstStyle/>
            <a:p>
              <a:pPr algn="l">
                <a:lnSpc>
                  <a:spcPct val="120000"/>
                </a:lnSpc>
              </a:pPr>
              <a:r>
                <a:rPr sz="1300" b="1" i="0">
                  <a:solidFill>
                    <a:srgbClr val="14213D"/>
                  </a:solidFill>
                  <a:latin typeface="Calibri"/>
                </a:rPr>
                <a:t>27,610</a:t>
              </a:r>
              <a:r>
                <a:rPr sz="1300" b="0" i="0">
                  <a:solidFill>
                    <a:srgbClr val="14213D"/>
                  </a:solidFill>
                  <a:latin typeface="Calibri"/>
                </a:rPr>
                <a:t> steps in 6 h on 2,522 pairs</a:t>
              </a:r>
            </a:p>
          </p:txBody>
        </p:sp>
      </p:grpSp>
      <p:grpSp>
        <p:nvGrpSpPr>
          <p:cNvPr id="17" name="Group 16"/>
          <p:cNvGrpSpPr/>
          <p:nvPr/>
        </p:nvGrpSpPr>
        <p:grpSpPr>
          <a:xfrm>
            <a:off x="8851900" y="4762500"/>
            <a:ext cx="2527300" cy="952500"/>
            <a:chOff x="8851900" y="4762500"/>
            <a:chExt cx="2527300" cy="952500"/>
          </a:xfrm>
        </p:grpSpPr>
        <p:sp>
          <p:nvSpPr>
            <p:cNvPr id="18" name="Rounded Rectangle 17"/>
            <p:cNvSpPr/>
            <p:nvPr/>
          </p:nvSpPr>
          <p:spPr>
            <a:xfrm>
              <a:off x="8851900" y="4762500"/>
              <a:ext cx="2527300" cy="952500"/>
            </a:xfrm>
            <a:prstGeom prst="roundRect">
              <a:avLst>
                <a:gd name="adj" fmla="val 10666"/>
              </a:avLst>
            </a:prstGeom>
            <a:solidFill>
              <a:srgbClr val="E3ECF7"/>
            </a:solidFill>
            <a:ln w="12700">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04300" y="4884420"/>
              <a:ext cx="2222500" cy="708660"/>
            </a:xfrm>
            <a:prstGeom prst="rect">
              <a:avLst/>
            </a:prstGeom>
            <a:noFill/>
          </p:spPr>
          <p:txBody>
            <a:bodyPr wrap="square" lIns="0" rIns="0" tIns="0" bIns="0" anchor="t">
              <a:spAutoFit/>
            </a:bodyPr>
            <a:lstStyle/>
            <a:p>
              <a:pPr algn="l">
                <a:lnSpc>
                  <a:spcPct val="120000"/>
                </a:lnSpc>
              </a:pPr>
              <a:r>
                <a:rPr sz="1300" b="0" i="0">
                  <a:solidFill>
                    <a:srgbClr val="14213D"/>
                  </a:solidFill>
                  <a:latin typeface="Calibri"/>
                </a:rPr>
                <a:t>Held-out nodule PSNR </a:t>
              </a:r>
              <a:r>
                <a:rPr sz="1300" b="1" i="0">
                  <a:solidFill>
                    <a:srgbClr val="14213D"/>
                  </a:solidFill>
                  <a:latin typeface="Calibri"/>
                </a:rPr>
                <a:t>11.88 → 15.23 dB</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additive="base">
                                        <p:cTn id="5" dur="500" fill="hold"/>
                                        <p:tgtEl>
                                          <p:spTgt spid="8"/>
                                        </p:tgtEl>
                                        <p:attrNameLst>
                                          <p:attrName>ppt_y</p:attrName>
                                        </p:attrNameLst>
                                      </p:cBhvr>
                                      <p:tavLst>
                                        <p:tav tm="0">
                                          <p:val>
                                            <p:strVal val="#ppt_y+0.05"/>
                                          </p:val>
                                        </p:tav>
                                        <p:tav tm="100000">
                                          <p:val>
                                            <p:strVal val="#ppt_y"/>
                                          </p:val>
                                        </p:tav>
                                      </p:tavLst>
                                    </p:anim>
                                  </p:childTnLst>
                                </p:cTn>
                              </p:par>
                              <p:par>
                                <p:cTn id="10" presetID="42" presetClass="entr" presetSubtype="0" fill="hold" grpId="0" nodeType="withEffect">
                                  <p:stCondLst>
                                    <p:cond delay="2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500"/>
                                        <p:tgtEl>
                                          <p:spTgt spid="11"/>
                                        </p:tgtEl>
                                      </p:cBhvr>
                                    </p:animEffect>
                                    <p:anim calcmode="lin" valueType="num">
                                      <p:cBhvr additive="base">
                                        <p:cTn id="9" dur="500" fill="hold"/>
                                        <p:tgtEl>
                                          <p:spTgt spid="11"/>
                                        </p:tgtEl>
                                        <p:attrNameLst>
                                          <p:attrName>ppt_y</p:attrName>
                                        </p:attrNameLst>
                                      </p:cBhvr>
                                      <p:tavLst>
                                        <p:tav tm="0">
                                          <p:val>
                                            <p:strVal val="#ppt_y+0.05"/>
                                          </p:val>
                                        </p:tav>
                                        <p:tav tm="100000">
                                          <p:val>
                                            <p:strVal val="#ppt_y"/>
                                          </p:val>
                                        </p:tav>
                                      </p:tavLst>
                                    </p:anim>
                                  </p:childTnLst>
                                </p:cTn>
                              </p:par>
                              <p:par>
                                <p:cTn id="14" presetID="42" presetClass="entr" presetSubtype="0" fill="hold" grpId="0" nodeType="withEffect">
                                  <p:stCondLst>
                                    <p:cond delay="40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anim calcmode="lin" valueType="num">
                                      <p:cBhvr additive="base">
                                        <p:cTn id="13" dur="500" fill="hold"/>
                                        <p:tgtEl>
                                          <p:spTgt spid="14"/>
                                        </p:tgtEl>
                                        <p:attrNameLst>
                                          <p:attrName>ppt_y</p:attrName>
                                        </p:attrNameLst>
                                      </p:cBhvr>
                                      <p:tavLst>
                                        <p:tav tm="0">
                                          <p:val>
                                            <p:strVal val="#ppt_y+0.05"/>
                                          </p:val>
                                        </p:tav>
                                        <p:tav tm="100000">
                                          <p:val>
                                            <p:strVal val="#ppt_y"/>
                                          </p:val>
                                        </p:tav>
                                      </p:tavLst>
                                    </p:anim>
                                  </p:childTnLst>
                                </p:cTn>
                              </p:par>
                              <p:par>
                                <p:cTn id="18" presetID="42" presetClass="entr" presetSubtype="0" fill="hold" grpId="0" nodeType="withEffect">
                                  <p:stCondLst>
                                    <p:cond delay="60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anim calcmode="lin" valueType="num">
                                      <p:cBhvr additive="base">
                                        <p:cTn id="17" dur="500" fill="hold"/>
                                        <p:tgtEl>
                                          <p:spTgt spid="17"/>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MEASUREMENT AND TRUST</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Gaussians give the mass; conformal prediction gives honest intervals</a:t>
            </a:r>
          </a:p>
        </p:txBody>
      </p:sp>
      <p:grpSp>
        <p:nvGrpSpPr>
          <p:cNvPr id="4" name="Group 3"/>
          <p:cNvGrpSpPr/>
          <p:nvPr/>
        </p:nvGrpSpPr>
        <p:grpSpPr>
          <a:xfrm>
            <a:off x="812800" y="2159000"/>
            <a:ext cx="5156200" cy="3683000"/>
            <a:chOff x="812800" y="2159000"/>
            <a:chExt cx="5156200" cy="3683000"/>
          </a:xfrm>
        </p:grpSpPr>
        <p:sp>
          <p:nvSpPr>
            <p:cNvPr id="5" name="Rounded Rectangle 4"/>
            <p:cNvSpPr/>
            <p:nvPr/>
          </p:nvSpPr>
          <p:spPr>
            <a:xfrm>
              <a:off x="812800" y="2159000"/>
              <a:ext cx="5156200" cy="3683000"/>
            </a:xfrm>
            <a:prstGeom prst="roundRect">
              <a:avLst>
                <a:gd name="adj" fmla="val 275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5156200" cy="508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778000" y="2857500"/>
              <a:ext cx="1524000" cy="889000"/>
            </a:xfrm>
            <a:prstGeom prst="ellipse">
              <a:avLst/>
            </a:prstGeom>
            <a:solidFill>
              <a:srgbClr val="2E7D4F">
                <a:alpha val="28000"/>
              </a:srgbClr>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476500" y="2889250"/>
              <a:ext cx="889000" cy="698500"/>
            </a:xfrm>
            <a:prstGeom prst="ellipse">
              <a:avLst/>
            </a:prstGeom>
            <a:solidFill>
              <a:srgbClr val="2E7D4F">
                <a:alpha val="28000"/>
              </a:srgbClr>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841500" y="3143250"/>
              <a:ext cx="762000" cy="508000"/>
            </a:xfrm>
            <a:prstGeom prst="ellipse">
              <a:avLst/>
            </a:prstGeom>
            <a:solidFill>
              <a:srgbClr val="2E7D4F">
                <a:alpha val="28000"/>
              </a:srgbClr>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6800" y="2413000"/>
              <a:ext cx="4648200" cy="381000"/>
            </a:xfrm>
            <a:prstGeom prst="rect">
              <a:avLst/>
            </a:prstGeom>
            <a:noFill/>
          </p:spPr>
          <p:txBody>
            <a:bodyPr wrap="square" lIns="0">
              <a:spAutoFit/>
            </a:bodyPr>
            <a:lstStyle/>
            <a:p>
              <a:pPr algn="l">
                <a:lnSpc>
                  <a:spcPct val="120000"/>
                </a:lnSpc>
              </a:pPr>
              <a:r>
                <a:rPr sz="2000" b="1" i="0">
                  <a:solidFill>
                    <a:srgbClr val="14213D"/>
                  </a:solidFill>
                  <a:latin typeface="Georgia"/>
                </a:rPr>
                <a:t>3D Gaussians</a:t>
              </a:r>
            </a:p>
          </p:txBody>
        </p:sp>
        <p:sp>
          <p:nvSpPr>
            <p:cNvPr id="11" name="TextBox 10"/>
            <p:cNvSpPr txBox="1"/>
            <p:nvPr/>
          </p:nvSpPr>
          <p:spPr>
            <a:xfrm>
              <a:off x="1066800" y="4064000"/>
              <a:ext cx="4648200" cy="1651000"/>
            </a:xfrm>
            <a:prstGeom prst="rect">
              <a:avLst/>
            </a:prstGeom>
            <a:noFill/>
          </p:spPr>
          <p:txBody>
            <a:bodyPr wrap="square" lIns="0">
              <a:spAutoFit/>
            </a:bodyPr>
            <a:lstStyle/>
            <a:p>
              <a:pPr algn="l">
                <a:lnSpc>
                  <a:spcPct val="130000"/>
                </a:lnSpc>
              </a:pPr>
              <a:r>
                <a:rPr sz="1500" b="0" i="0">
                  <a:solidFill>
                    <a:srgbClr val="14213D"/>
                  </a:solidFill>
                  <a:latin typeface="Calibri"/>
                </a:rPr>
                <a:t>Each sample is fitted with anisotropic Gaussians. Mass is a sum over them in </a:t>
              </a:r>
              <a:r>
                <a:rPr sz="1500" b="1" i="0">
                  <a:solidFill>
                    <a:srgbClr val="14213D"/>
                  </a:solidFill>
                  <a:latin typeface="Calibri"/>
                </a:rPr>
                <a:t>closed form</a:t>
              </a:r>
              <a:r>
                <a:rPr sz="1500" b="0" i="0">
                  <a:solidFill>
                    <a:srgbClr val="14213D"/>
                  </a:solidFill>
                  <a:latin typeface="Calibri"/>
                </a:rPr>
                <a:t>: amplitude × (2π)^(3/2) × s₁ s₂ s₃.</a:t>
              </a:r>
            </a:p>
          </p:txBody>
        </p:sp>
      </p:grpSp>
      <p:grpSp>
        <p:nvGrpSpPr>
          <p:cNvPr id="12" name="Group 11"/>
          <p:cNvGrpSpPr/>
          <p:nvPr/>
        </p:nvGrpSpPr>
        <p:grpSpPr>
          <a:xfrm>
            <a:off x="6223000" y="2159000"/>
            <a:ext cx="5156200" cy="3683000"/>
            <a:chOff x="6223000" y="2159000"/>
            <a:chExt cx="5156200" cy="3683000"/>
          </a:xfrm>
        </p:grpSpPr>
        <p:sp>
          <p:nvSpPr>
            <p:cNvPr id="13" name="Rounded Rectangle 12"/>
            <p:cNvSpPr/>
            <p:nvPr/>
          </p:nvSpPr>
          <p:spPr>
            <a:xfrm>
              <a:off x="6223000" y="2159000"/>
              <a:ext cx="5156200" cy="3683000"/>
            </a:xfrm>
            <a:prstGeom prst="roundRect">
              <a:avLst>
                <a:gd name="adj" fmla="val 275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23000" y="2159000"/>
              <a:ext cx="5156200" cy="508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7000" y="2413000"/>
              <a:ext cx="4648200" cy="381000"/>
            </a:xfrm>
            <a:prstGeom prst="rect">
              <a:avLst/>
            </a:prstGeom>
            <a:noFill/>
          </p:spPr>
          <p:txBody>
            <a:bodyPr wrap="square" lIns="0">
              <a:spAutoFit/>
            </a:bodyPr>
            <a:lstStyle/>
            <a:p>
              <a:pPr algn="l">
                <a:lnSpc>
                  <a:spcPct val="120000"/>
                </a:lnSpc>
              </a:pPr>
              <a:r>
                <a:rPr sz="2000" b="1" i="0">
                  <a:solidFill>
                    <a:srgbClr val="14213D"/>
                  </a:solidFill>
                  <a:latin typeface="Georgia"/>
                </a:rPr>
                <a:t>Conformal calibration</a:t>
              </a:r>
            </a:p>
          </p:txBody>
        </p:sp>
        <p:sp>
          <p:nvSpPr>
            <p:cNvPr id="16" name="Oval 15"/>
            <p:cNvSpPr/>
            <p:nvPr/>
          </p:nvSpPr>
          <p:spPr>
            <a:xfrm>
              <a:off x="6559550" y="3765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750050" y="37020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908800" y="3765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67550" y="3638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58050" y="373380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448550" y="35750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39050" y="37020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29550" y="3511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51800" y="341630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74050" y="3257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528050" y="3111500"/>
              <a:ext cx="88900" cy="88900"/>
            </a:xfrm>
            <a:prstGeom prst="ellipse">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8445500" y="2921000"/>
              <a:ext cx="0" cy="1016000"/>
            </a:xfrm>
            <a:prstGeom prst="line">
              <a:avLst/>
            </a:prstGeom>
            <a:ln w="25400">
              <a:solidFill>
                <a:srgbClr val="D9661F"/>
              </a:solidFill>
              <a:prstDash val="dash"/>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826500" y="3333750"/>
              <a:ext cx="889000" cy="190500"/>
            </a:xfrm>
            <a:prstGeom prst="roundRect">
              <a:avLst>
                <a:gd name="adj" fmla="val 20000"/>
              </a:avLst>
            </a:prstGeom>
            <a:solidFill>
              <a:srgbClr val="1F5FA8">
                <a:alpha val="20000"/>
              </a:srgbClr>
            </a:solidFill>
            <a:ln w="12700">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220200" y="3378200"/>
              <a:ext cx="101600" cy="1016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7000" y="4064000"/>
              <a:ext cx="4648200" cy="1651000"/>
            </a:xfrm>
            <a:prstGeom prst="rect">
              <a:avLst/>
            </a:prstGeom>
            <a:noFill/>
          </p:spPr>
          <p:txBody>
            <a:bodyPr wrap="square" lIns="0">
              <a:spAutoFit/>
            </a:bodyPr>
            <a:lstStyle/>
            <a:p>
              <a:pPr algn="l">
                <a:lnSpc>
                  <a:spcPct val="130000"/>
                </a:lnSpc>
              </a:pPr>
              <a:r>
                <a:rPr sz="1500" b="0" i="0">
                  <a:solidFill>
                    <a:srgbClr val="14213D"/>
                  </a:solidFill>
                  <a:latin typeface="Calibri"/>
                </a:rPr>
                <a:t>Errors on </a:t>
              </a:r>
              <a:r>
                <a:rPr sz="1500" b="1" i="0">
                  <a:solidFill>
                    <a:srgbClr val="14213D"/>
                  </a:solidFill>
                  <a:latin typeface="Calibri"/>
                </a:rPr>
                <a:t>76 calibration nodules</a:t>
              </a:r>
              <a:r>
                <a:rPr sz="1500" b="0" i="0">
                  <a:solidFill>
                    <a:srgbClr val="14213D"/>
                  </a:solidFill>
                  <a:latin typeface="Calibri"/>
                </a:rPr>
                <a:t> set the 90% quantile; every new estimate gets that interval and calibrated EUPS size-category probabilities.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anim calcmode="lin" valueType="num">
                                      <p:cBhvr additive="base">
                                        <p:cTn id="11"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THE APPLICATION</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Click a nodule, get its 3D measurement in under a minute</a:t>
            </a:r>
          </a:p>
        </p:txBody>
      </p:sp>
      <p:sp>
        <p:nvSpPr>
          <p:cNvPr id="4" name="Rounded Rectangle 3"/>
          <p:cNvSpPr/>
          <p:nvPr/>
        </p:nvSpPr>
        <p:spPr>
          <a:xfrm>
            <a:off x="812800" y="2159000"/>
            <a:ext cx="5588000" cy="2921000"/>
          </a:xfrm>
          <a:prstGeom prst="roundRect">
            <a:avLst>
              <a:gd name="adj" fmla="val 2608"/>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emo_roi_solid.png"/>
          <p:cNvPicPr>
            <a:picLocks noChangeAspect="1"/>
          </p:cNvPicPr>
          <p:nvPr/>
        </p:nvPicPr>
        <p:blipFill>
          <a:blip r:embed="rId2"/>
          <a:stretch>
            <a:fillRect/>
          </a:stretch>
        </p:blipFill>
        <p:spPr>
          <a:xfrm>
            <a:off x="812800" y="2160868"/>
            <a:ext cx="5588000" cy="2917265"/>
          </a:xfrm>
          <a:prstGeom prst="rect">
            <a:avLst/>
          </a:prstGeom>
        </p:spPr>
      </p:pic>
      <p:sp>
        <p:nvSpPr>
          <p:cNvPr id="6" name="TextBox 5"/>
          <p:cNvSpPr txBox="1"/>
          <p:nvPr/>
        </p:nvSpPr>
        <p:spPr>
          <a:xfrm>
            <a:off x="812800" y="5156200"/>
            <a:ext cx="5588000" cy="5080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Prism views: DTS input (top) and reconstruction with segmentation and sample spread (bottom)</a:t>
            </a:r>
          </a:p>
        </p:txBody>
      </p:sp>
      <p:sp>
        <p:nvSpPr>
          <p:cNvPr id="7" name="Rounded Rectangle 6"/>
          <p:cNvSpPr/>
          <p:nvPr/>
        </p:nvSpPr>
        <p:spPr>
          <a:xfrm>
            <a:off x="6604000" y="2159000"/>
            <a:ext cx="4775200" cy="1905000"/>
          </a:xfrm>
          <a:prstGeom prst="roundRect">
            <a:avLst>
              <a:gd name="adj" fmla="val 4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emo_3d_a.png"/>
          <p:cNvPicPr>
            <a:picLocks noChangeAspect="1"/>
          </p:cNvPicPr>
          <p:nvPr/>
        </p:nvPicPr>
        <p:blipFill>
          <a:blip r:embed="rId3"/>
          <a:stretch>
            <a:fillRect/>
          </a:stretch>
        </p:blipFill>
        <p:spPr>
          <a:xfrm>
            <a:off x="6865526" y="2159000"/>
            <a:ext cx="4252148" cy="1905000"/>
          </a:xfrm>
          <a:prstGeom prst="rect">
            <a:avLst/>
          </a:prstGeom>
        </p:spPr>
      </p:pic>
      <p:sp>
        <p:nvSpPr>
          <p:cNvPr id="9" name="TextBox 8"/>
          <p:cNvSpPr txBox="1"/>
          <p:nvPr/>
        </p:nvSpPr>
        <p:spPr>
          <a:xfrm>
            <a:off x="6604000" y="4140200"/>
            <a:ext cx="4775200" cy="4445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3D view: green = samples agree, red = uncertain (mostly depth), grey = radiologists</a:t>
            </a:r>
          </a:p>
        </p:txBody>
      </p:sp>
      <p:grpSp>
        <p:nvGrpSpPr>
          <p:cNvPr id="10" name="Group 9"/>
          <p:cNvGrpSpPr/>
          <p:nvPr/>
        </p:nvGrpSpPr>
        <p:grpSpPr>
          <a:xfrm>
            <a:off x="6604000" y="4762500"/>
            <a:ext cx="4775200" cy="952500"/>
            <a:chOff x="6604000" y="4762500"/>
            <a:chExt cx="4775200" cy="952500"/>
          </a:xfrm>
        </p:grpSpPr>
        <p:sp>
          <p:nvSpPr>
            <p:cNvPr id="11" name="Rounded Rectangle 10"/>
            <p:cNvSpPr/>
            <p:nvPr/>
          </p:nvSpPr>
          <p:spPr>
            <a:xfrm>
              <a:off x="6604000" y="4762500"/>
              <a:ext cx="4775200" cy="952500"/>
            </a:xfrm>
            <a:prstGeom prst="roundRect">
              <a:avLst>
                <a:gd name="adj" fmla="val 10666"/>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56400" y="4884420"/>
              <a:ext cx="4470400" cy="708660"/>
            </a:xfrm>
            <a:prstGeom prst="rect">
              <a:avLst/>
            </a:prstGeom>
            <a:noFill/>
          </p:spPr>
          <p:txBody>
            <a:bodyPr wrap="square" lIns="0" rIns="0" tIns="0" bIns="0" anchor="t">
              <a:spAutoFit/>
            </a:bodyPr>
            <a:lstStyle/>
            <a:p>
              <a:pPr algn="l">
                <a:lnSpc>
                  <a:spcPct val="125000"/>
                </a:lnSpc>
              </a:pPr>
              <a:r>
                <a:rPr sz="1400" b="0" i="0">
                  <a:solidFill>
                    <a:srgbClr val="14213D"/>
                  </a:solidFill>
                  <a:latin typeface="Calibri"/>
                </a:rPr>
                <a:t>Mass, volume and EUPS category with intervals and probabilities, plus a </a:t>
              </a:r>
              <a:r>
                <a:rPr sz="1400" b="1" i="0">
                  <a:solidFill>
                    <a:srgbClr val="14213D"/>
                  </a:solidFill>
                  <a:latin typeface="Calibri"/>
                </a:rPr>
                <a:t>low-confidence flag</a:t>
              </a:r>
              <a:r>
                <a:rPr sz="1400" b="0" i="0">
                  <a:solidFill>
                    <a:srgbClr val="14213D"/>
                  </a:solidFill>
                  <a:latin typeface="Calibri"/>
                </a:rPr>
                <a:t>. Runs on a free Kaggle GPU.</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F5FA8"/>
        </a:solidFill>
        <a:effectLst/>
      </p:bgPr>
    </p:bg>
    <p:spTree>
      <p:nvGrpSpPr>
        <p:cNvPr id="1" name=""/>
        <p:cNvGrpSpPr/>
        <p:nvPr/>
      </p:nvGrpSpPr>
      <p:grpSpPr/>
      <p:sp>
        <p:nvSpPr>
          <p:cNvPr id="2" name="TextBox 1"/>
          <p:cNvSpPr txBox="1"/>
          <p:nvPr/>
        </p:nvSpPr>
        <p:spPr>
          <a:xfrm>
            <a:off x="812800" y="2095500"/>
            <a:ext cx="10566400" cy="254000"/>
          </a:xfrm>
          <a:prstGeom prst="rect">
            <a:avLst/>
          </a:prstGeom>
          <a:noFill/>
        </p:spPr>
        <p:txBody>
          <a:bodyPr wrap="square" lIns="0" rIns="0" tIns="0" bIns="0" anchor="t">
            <a:spAutoFit/>
          </a:bodyPr>
          <a:lstStyle/>
          <a:p>
            <a:pPr algn="l">
              <a:lnSpc>
                <a:spcPct val="120000"/>
              </a:lnSpc>
            </a:pPr>
            <a:r>
              <a:rPr sz="1400" b="1" i="0">
                <a:solidFill>
                  <a:srgbClr val="CFE0F5"/>
                </a:solidFill>
                <a:latin typeface="Calibri"/>
              </a:rPr>
              <a:t>RESULTS · 74 HELD-OUT TEST NODULES</a:t>
            </a:r>
          </a:p>
        </p:txBody>
      </p:sp>
      <p:sp>
        <p:nvSpPr>
          <p:cNvPr id="3" name="TextBox 2"/>
          <p:cNvSpPr txBox="1"/>
          <p:nvPr/>
        </p:nvSpPr>
        <p:spPr>
          <a:xfrm>
            <a:off x="812800" y="2540000"/>
            <a:ext cx="10160000" cy="762000"/>
          </a:xfrm>
          <a:prstGeom prst="rect">
            <a:avLst/>
          </a:prstGeom>
          <a:noFill/>
        </p:spPr>
        <p:txBody>
          <a:bodyPr wrap="square" lIns="0" rIns="0" tIns="0" bIns="0" anchor="t">
            <a:spAutoFit/>
          </a:bodyPr>
          <a:lstStyle/>
          <a:p>
            <a:pPr algn="l">
              <a:lnSpc>
                <a:spcPct val="120000"/>
              </a:lnSpc>
            </a:pPr>
            <a:r>
              <a:rPr sz="4800" b="1" i="0">
                <a:solidFill>
                  <a:srgbClr val="F7F6F2"/>
                </a:solidFill>
                <a:latin typeface="Georgia"/>
              </a:rPr>
              <a:t>The components worked.</a:t>
            </a:r>
          </a:p>
        </p:txBody>
      </p:sp>
      <p:sp>
        <p:nvSpPr>
          <p:cNvPr id="4" name="TextBox 3"/>
          <p:cNvSpPr txBox="1"/>
          <p:nvPr/>
        </p:nvSpPr>
        <p:spPr>
          <a:xfrm>
            <a:off x="812800" y="3270250"/>
            <a:ext cx="10160000" cy="762000"/>
          </a:xfrm>
          <a:prstGeom prst="rect">
            <a:avLst/>
          </a:prstGeom>
          <a:noFill/>
        </p:spPr>
        <p:txBody>
          <a:bodyPr wrap="square" lIns="0" rIns="0" tIns="0" bIns="0" anchor="t">
            <a:spAutoFit/>
          </a:bodyPr>
          <a:lstStyle/>
          <a:p>
            <a:pPr algn="l">
              <a:lnSpc>
                <a:spcPct val="120000"/>
              </a:lnSpc>
            </a:pPr>
            <a:r>
              <a:rPr sz="4800" b="1" i="0">
                <a:solidFill>
                  <a:srgbClr val="F7F6F2"/>
                </a:solidFill>
                <a:latin typeface="Georgia"/>
              </a:rPr>
              <a:t>The measurements did not.</a:t>
            </a:r>
          </a:p>
        </p:txBody>
      </p:sp>
      <p:sp>
        <p:nvSpPr>
          <p:cNvPr id="5" name="TextBox 4"/>
          <p:cNvSpPr txBox="1"/>
          <p:nvPr/>
        </p:nvSpPr>
        <p:spPr>
          <a:xfrm>
            <a:off x="812800" y="4318000"/>
            <a:ext cx="8255000" cy="762000"/>
          </a:xfrm>
          <a:prstGeom prst="rect">
            <a:avLst/>
          </a:prstGeom>
          <a:noFill/>
        </p:spPr>
        <p:txBody>
          <a:bodyPr wrap="square" lIns="0" rIns="0" tIns="0" bIns="0" anchor="t">
            <a:spAutoFit/>
          </a:bodyPr>
          <a:lstStyle/>
          <a:p>
            <a:pPr algn="l">
              <a:lnSpc>
                <a:spcPct val="120000"/>
              </a:lnSpc>
            </a:pPr>
            <a:r>
              <a:rPr sz="1700" b="0" i="0">
                <a:solidFill>
                  <a:srgbClr val="E3ECF7"/>
                </a:solidFill>
                <a:latin typeface="Calibri"/>
              </a:rPr>
              <a:t>We report both, because a negative result with a clear cause is still a research result.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WHAT WORKED</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Every component met its own specification</a:t>
            </a:r>
          </a:p>
        </p:txBody>
      </p:sp>
      <p:grpSp>
        <p:nvGrpSpPr>
          <p:cNvPr id="4" name="Group 3"/>
          <p:cNvGrpSpPr/>
          <p:nvPr/>
        </p:nvGrpSpPr>
        <p:grpSpPr>
          <a:xfrm>
            <a:off x="812800" y="1968500"/>
            <a:ext cx="5130800" cy="1778000"/>
            <a:chOff x="812800" y="1968500"/>
            <a:chExt cx="5130800" cy="1778000"/>
          </a:xfrm>
        </p:grpSpPr>
        <p:sp>
          <p:nvSpPr>
            <p:cNvPr id="5" name="Rounded Rectangle 4"/>
            <p:cNvSpPr/>
            <p:nvPr/>
          </p:nvSpPr>
          <p:spPr>
            <a:xfrm>
              <a:off x="812800" y="19685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1968500"/>
              <a:ext cx="50800" cy="177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2200" y="21513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DIFFUSION PRIOR</a:t>
              </a:r>
            </a:p>
            <a:p>
              <a:pPr algn="l">
                <a:lnSpc>
                  <a:spcPct val="100000"/>
                </a:lnSpc>
                <a:spcBef>
                  <a:spcPts val="600"/>
                </a:spcBef>
              </a:pPr>
              <a:r>
                <a:rPr sz="4000" b="1" i="0">
                  <a:solidFill>
                    <a:srgbClr val="1F5FA8"/>
                  </a:solidFill>
                  <a:latin typeface="Georgia"/>
                </a:rPr>
                <a:t>+3.35 dB</a:t>
              </a:r>
            </a:p>
            <a:p>
              <a:pPr algn="l">
                <a:lnSpc>
                  <a:spcPct val="120000"/>
                </a:lnSpc>
                <a:spcBef>
                  <a:spcPts val="600"/>
                </a:spcBef>
              </a:pPr>
              <a:r>
                <a:rPr sz="1400" b="0" i="0">
                  <a:solidFill>
                    <a:srgbClr val="4A5568"/>
                  </a:solidFill>
                  <a:latin typeface="Calibri"/>
                </a:rPr>
                <a:t>nodule PSNR on held-out data, 11.88 → 15.23 dB</a:t>
              </a:r>
            </a:p>
          </p:txBody>
        </p:sp>
      </p:grpSp>
      <p:grpSp>
        <p:nvGrpSpPr>
          <p:cNvPr id="8" name="Group 7"/>
          <p:cNvGrpSpPr/>
          <p:nvPr/>
        </p:nvGrpSpPr>
        <p:grpSpPr>
          <a:xfrm>
            <a:off x="6248400" y="1968500"/>
            <a:ext cx="5130800" cy="1778000"/>
            <a:chOff x="6248400" y="1968500"/>
            <a:chExt cx="5130800" cy="1778000"/>
          </a:xfrm>
        </p:grpSpPr>
        <p:sp>
          <p:nvSpPr>
            <p:cNvPr id="9" name="Rounded Rectangle 8"/>
            <p:cNvSpPr/>
            <p:nvPr/>
          </p:nvSpPr>
          <p:spPr>
            <a:xfrm>
              <a:off x="6248400" y="19685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8400" y="1968500"/>
              <a:ext cx="50800" cy="177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7800" y="21513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LEARNED DETECTOR</a:t>
              </a:r>
            </a:p>
            <a:p>
              <a:pPr algn="l">
                <a:lnSpc>
                  <a:spcPct val="100000"/>
                </a:lnSpc>
                <a:spcBef>
                  <a:spcPts val="600"/>
                </a:spcBef>
              </a:pPr>
              <a:r>
                <a:rPr sz="4000" b="1" i="0">
                  <a:solidFill>
                    <a:srgbClr val="1F5FA8"/>
                  </a:solidFill>
                  <a:latin typeface="Georgia"/>
                </a:rPr>
                <a:t>17× better</a:t>
              </a:r>
            </a:p>
            <a:p>
              <a:pPr algn="l">
                <a:lnSpc>
                  <a:spcPct val="120000"/>
                </a:lnSpc>
                <a:spcBef>
                  <a:spcPts val="600"/>
                </a:spcBef>
              </a:pPr>
              <a:r>
                <a:rPr sz="1400" b="0" i="0">
                  <a:solidFill>
                    <a:srgbClr val="4A5568"/>
                  </a:solidFill>
                  <a:latin typeface="Calibri"/>
                </a:rPr>
                <a:t>CPM 0.298 vs 0.017 for a training-free baseline</a:t>
              </a:r>
            </a:p>
          </p:txBody>
        </p:sp>
      </p:grpSp>
      <p:grpSp>
        <p:nvGrpSpPr>
          <p:cNvPr id="12" name="Group 11"/>
          <p:cNvGrpSpPr/>
          <p:nvPr/>
        </p:nvGrpSpPr>
        <p:grpSpPr>
          <a:xfrm>
            <a:off x="812800" y="3937000"/>
            <a:ext cx="5130800" cy="1778000"/>
            <a:chOff x="812800" y="3937000"/>
            <a:chExt cx="5130800" cy="1778000"/>
          </a:xfrm>
        </p:grpSpPr>
        <p:sp>
          <p:nvSpPr>
            <p:cNvPr id="13" name="Rounded Rectangle 12"/>
            <p:cNvSpPr/>
            <p:nvPr/>
          </p:nvSpPr>
          <p:spPr>
            <a:xfrm>
              <a:off x="812800" y="39370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800" y="3937000"/>
              <a:ext cx="50800" cy="177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200" y="41198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CONFORMAL INTERVALS</a:t>
              </a:r>
            </a:p>
            <a:p>
              <a:pPr algn="l">
                <a:lnSpc>
                  <a:spcPct val="100000"/>
                </a:lnSpc>
                <a:spcBef>
                  <a:spcPts val="600"/>
                </a:spcBef>
              </a:pPr>
              <a:r>
                <a:rPr sz="4000" b="1" i="0">
                  <a:solidFill>
                    <a:srgbClr val="2E7D4F"/>
                  </a:solidFill>
                  <a:latin typeface="Georgia"/>
                </a:rPr>
                <a:t>95% coverage</a:t>
              </a:r>
            </a:p>
            <a:p>
              <a:pPr algn="l">
                <a:lnSpc>
                  <a:spcPct val="120000"/>
                </a:lnSpc>
                <a:spcBef>
                  <a:spcPts val="600"/>
                </a:spcBef>
              </a:pPr>
              <a:r>
                <a:rPr sz="1400" b="0" i="0">
                  <a:solidFill>
                    <a:srgbClr val="4A5568"/>
                  </a:solidFill>
                  <a:latin typeface="Calibri"/>
                </a:rPr>
                <a:t>target 90%; raw ensemble spread covered only 28%</a:t>
              </a:r>
            </a:p>
          </p:txBody>
        </p:sp>
      </p:grpSp>
      <p:grpSp>
        <p:nvGrpSpPr>
          <p:cNvPr id="16" name="Group 15"/>
          <p:cNvGrpSpPr/>
          <p:nvPr/>
        </p:nvGrpSpPr>
        <p:grpSpPr>
          <a:xfrm>
            <a:off x="6248400" y="3937000"/>
            <a:ext cx="5130800" cy="1778000"/>
            <a:chOff x="6248400" y="3937000"/>
            <a:chExt cx="5130800" cy="1778000"/>
          </a:xfrm>
        </p:grpSpPr>
        <p:sp>
          <p:nvSpPr>
            <p:cNvPr id="17" name="Rounded Rectangle 16"/>
            <p:cNvSpPr/>
            <p:nvPr/>
          </p:nvSpPr>
          <p:spPr>
            <a:xfrm>
              <a:off x="6248400" y="39370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8400" y="3937000"/>
              <a:ext cx="50800" cy="177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7800" y="41198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SIZE-CATEGORY RISK (BRIER)</a:t>
              </a:r>
            </a:p>
            <a:p>
              <a:pPr algn="l">
                <a:lnSpc>
                  <a:spcPct val="100000"/>
                </a:lnSpc>
                <a:spcBef>
                  <a:spcPts val="600"/>
                </a:spcBef>
              </a:pPr>
              <a:r>
                <a:rPr sz="4000" b="1" i="0">
                  <a:solidFill>
                    <a:srgbClr val="2E7D4F"/>
                  </a:solidFill>
                  <a:latin typeface="Georgia"/>
                </a:rPr>
                <a:t>0.54 → 0.17</a:t>
              </a:r>
            </a:p>
            <a:p>
              <a:pPr algn="l">
                <a:lnSpc>
                  <a:spcPct val="120000"/>
                </a:lnSpc>
                <a:spcBef>
                  <a:spcPts val="600"/>
                </a:spcBef>
              </a:pPr>
              <a:r>
                <a:rPr sz="1400" b="0" i="0">
                  <a:solidFill>
                    <a:srgbClr val="4A5568"/>
                  </a:solidFill>
                  <a:latin typeface="Calibri"/>
                </a:rPr>
                <a:t>for P(volume ≥ 100 mm³) after calibration</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anim calcmode="lin" valueType="num">
                                      <p:cBhvr additive="base">
                                        <p:cTn id="11"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anim calcmode="lin" valueType="num">
                                      <p:cBhvr additive="base">
                                        <p:cTn id="17"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anim calcmode="lin" valueType="num">
                                      <p:cBhvr additive="base">
                                        <p:cTn id="23" dur="500" fill="hold"/>
                                        <p:tgtEl>
                                          <p:spTgt spid="1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B4521A"/>
                </a:solidFill>
                <a:latin typeface="Calibri"/>
              </a:rPr>
              <a:t>WHAT DID NOT WORK · H1, H2</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Our full method did not beat physics-only volume</a:t>
            </a:r>
          </a:p>
        </p:txBody>
      </p:sp>
      <p:sp>
        <p:nvSpPr>
          <p:cNvPr id="4" name="TextBox 3"/>
          <p:cNvSpPr txBox="1"/>
          <p:nvPr/>
        </p:nvSpPr>
        <p:spPr>
          <a:xfrm>
            <a:off x="812800" y="1905000"/>
            <a:ext cx="6985000" cy="254000"/>
          </a:xfrm>
          <a:prstGeom prst="rect">
            <a:avLst/>
          </a:prstGeom>
          <a:noFill/>
        </p:spPr>
        <p:txBody>
          <a:bodyPr wrap="square" lIns="0" rIns="0" tIns="0" bIns="0" anchor="t">
            <a:spAutoFit/>
          </a:bodyPr>
          <a:lstStyle/>
          <a:p>
            <a:pPr algn="l">
              <a:lnSpc>
                <a:spcPct val="120000"/>
              </a:lnSpc>
            </a:pPr>
            <a:r>
              <a:rPr sz="1200" b="1" i="0">
                <a:solidFill>
                  <a:srgbClr val="4A5568"/>
                </a:solidFill>
                <a:latin typeface="Calibri"/>
              </a:rPr>
              <a:t>Volume error, median absolute % (lower is better; a failure counts as 100%)</a:t>
            </a:r>
          </a:p>
        </p:txBody>
      </p:sp>
      <p:sp>
        <p:nvSpPr>
          <p:cNvPr id="5" name="TextBox 4"/>
          <p:cNvSpPr txBox="1"/>
          <p:nvPr/>
        </p:nvSpPr>
        <p:spPr>
          <a:xfrm>
            <a:off x="812800" y="22860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2D diameter → sphere</a:t>
            </a:r>
          </a:p>
        </p:txBody>
      </p:sp>
      <p:sp>
        <p:nvSpPr>
          <p:cNvPr id="6" name="Rounded Rectangle 5"/>
          <p:cNvSpPr/>
          <p:nvPr/>
        </p:nvSpPr>
        <p:spPr>
          <a:xfrm>
            <a:off x="3200400" y="2324100"/>
            <a:ext cx="335280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54800" y="22860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88.0</a:t>
            </a:r>
            <a:r>
              <a:rPr sz="1300" b="0" i="0">
                <a:solidFill>
                  <a:srgbClr val="B4521A"/>
                </a:solidFill>
                <a:latin typeface="Calibri"/>
              </a:rPr>
              <a:t/>
            </a:r>
          </a:p>
        </p:txBody>
      </p:sp>
      <p:sp>
        <p:nvSpPr>
          <p:cNvPr id="8" name="TextBox 7"/>
          <p:cNvSpPr txBox="1"/>
          <p:nvPr/>
        </p:nvSpPr>
        <p:spPr>
          <a:xfrm>
            <a:off x="812800" y="28067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Coarse DTS SIRT</a:t>
            </a:r>
          </a:p>
        </p:txBody>
      </p:sp>
      <p:sp>
        <p:nvSpPr>
          <p:cNvPr id="9" name="Rounded Rectangle 8"/>
          <p:cNvSpPr/>
          <p:nvPr/>
        </p:nvSpPr>
        <p:spPr>
          <a:xfrm>
            <a:off x="3200400" y="2844800"/>
            <a:ext cx="381000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12000" y="28067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100</a:t>
            </a:r>
            <a:r>
              <a:rPr sz="1300" b="0" i="0">
                <a:solidFill>
                  <a:srgbClr val="B4521A"/>
                </a:solidFill>
                <a:latin typeface="Calibri"/>
              </a:rPr>
              <a:t/>
            </a:r>
          </a:p>
        </p:txBody>
      </p:sp>
      <p:sp>
        <p:nvSpPr>
          <p:cNvPr id="11" name="TextBox 10"/>
          <p:cNvSpPr txBox="1"/>
          <p:nvPr/>
        </p:nvSpPr>
        <p:spPr>
          <a:xfrm>
            <a:off x="812800" y="33274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Prism ROI-SIRT</a:t>
            </a:r>
          </a:p>
        </p:txBody>
      </p:sp>
      <p:sp>
        <p:nvSpPr>
          <p:cNvPr id="12" name="Rounded Rectangle 11"/>
          <p:cNvSpPr/>
          <p:nvPr/>
        </p:nvSpPr>
        <p:spPr>
          <a:xfrm>
            <a:off x="3200400" y="3365500"/>
            <a:ext cx="347472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76720" y="33274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91.2</a:t>
            </a:r>
            <a:r>
              <a:rPr sz="1300" b="0" i="0">
                <a:solidFill>
                  <a:srgbClr val="B4521A"/>
                </a:solidFill>
                <a:latin typeface="Calibri"/>
              </a:rPr>
              <a:t/>
            </a:r>
          </a:p>
        </p:txBody>
      </p:sp>
      <p:sp>
        <p:nvSpPr>
          <p:cNvPr id="14" name="TextBox 13"/>
          <p:cNvSpPr txBox="1"/>
          <p:nvPr/>
        </p:nvSpPr>
        <p:spPr>
          <a:xfrm>
            <a:off x="812800" y="38481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Physics-only Gaussians</a:t>
            </a:r>
          </a:p>
        </p:txBody>
      </p:sp>
      <p:sp>
        <p:nvSpPr>
          <p:cNvPr id="15" name="Rounded Rectangle 14"/>
          <p:cNvSpPr/>
          <p:nvPr/>
        </p:nvSpPr>
        <p:spPr>
          <a:xfrm>
            <a:off x="3200400" y="3886200"/>
            <a:ext cx="334137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43370" y="38481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87.7</a:t>
            </a:r>
            <a:r>
              <a:rPr sz="1300" b="0" i="0">
                <a:solidFill>
                  <a:srgbClr val="B4521A"/>
                </a:solidFill>
                <a:latin typeface="Calibri"/>
              </a:rPr>
              <a:t/>
            </a:r>
          </a:p>
        </p:txBody>
      </p:sp>
      <p:sp>
        <p:nvSpPr>
          <p:cNvPr id="17" name="TextBox 16"/>
          <p:cNvSpPr txBox="1"/>
          <p:nvPr/>
        </p:nvSpPr>
        <p:spPr>
          <a:xfrm>
            <a:off x="812800" y="43688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Diffusion only</a:t>
            </a:r>
          </a:p>
        </p:txBody>
      </p:sp>
      <p:sp>
        <p:nvSpPr>
          <p:cNvPr id="18" name="Rounded Rectangle 17"/>
          <p:cNvSpPr/>
          <p:nvPr/>
        </p:nvSpPr>
        <p:spPr>
          <a:xfrm>
            <a:off x="3200400" y="4406900"/>
            <a:ext cx="2838450" cy="279400"/>
          </a:xfrm>
          <a:prstGeom prst="roundRect">
            <a:avLst>
              <a:gd name="adj" fmla="val 909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40450" y="43688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74.5</a:t>
            </a:r>
            <a:r>
              <a:rPr sz="1300" b="0" i="0">
                <a:solidFill>
                  <a:srgbClr val="B4521A"/>
                </a:solidFill>
                <a:latin typeface="Calibri"/>
              </a:rPr>
              <a:t> (bias −58%)</a:t>
            </a:r>
          </a:p>
        </p:txBody>
      </p:sp>
      <p:sp>
        <p:nvSpPr>
          <p:cNvPr id="20" name="TextBox 19"/>
          <p:cNvSpPr txBox="1"/>
          <p:nvPr/>
        </p:nvSpPr>
        <p:spPr>
          <a:xfrm>
            <a:off x="812800" y="4889500"/>
            <a:ext cx="2286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Diffusion + Gaussians (ours)</a:t>
            </a:r>
          </a:p>
        </p:txBody>
      </p:sp>
      <p:sp>
        <p:nvSpPr>
          <p:cNvPr id="21" name="Rounded Rectangle 20"/>
          <p:cNvSpPr/>
          <p:nvPr/>
        </p:nvSpPr>
        <p:spPr>
          <a:xfrm>
            <a:off x="3200400" y="4927600"/>
            <a:ext cx="3604260" cy="279400"/>
          </a:xfrm>
          <a:prstGeom prst="roundRect">
            <a:avLst>
              <a:gd name="adj" fmla="val 9090"/>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6260" y="48895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94.6</a:t>
            </a:r>
            <a:r>
              <a:rPr sz="1300" b="0" i="0">
                <a:solidFill>
                  <a:srgbClr val="B4521A"/>
                </a:solidFill>
                <a:latin typeface="Calibri"/>
              </a:rPr>
              <a:t/>
            </a:r>
          </a:p>
        </p:txBody>
      </p:sp>
      <p:grpSp>
        <p:nvGrpSpPr>
          <p:cNvPr id="23" name="Group 22"/>
          <p:cNvGrpSpPr/>
          <p:nvPr/>
        </p:nvGrpSpPr>
        <p:grpSpPr>
          <a:xfrm>
            <a:off x="8077200" y="1905000"/>
            <a:ext cx="3302000" cy="1174750"/>
            <a:chOff x="8077200" y="1905000"/>
            <a:chExt cx="3302000" cy="1174750"/>
          </a:xfrm>
        </p:grpSpPr>
        <p:sp>
          <p:nvSpPr>
            <p:cNvPr id="24" name="Rounded Rectangle 23"/>
            <p:cNvSpPr/>
            <p:nvPr/>
          </p:nvSpPr>
          <p:spPr>
            <a:xfrm>
              <a:off x="8077200" y="1905000"/>
              <a:ext cx="3302000" cy="1174750"/>
            </a:xfrm>
            <a:prstGeom prst="roundRect">
              <a:avLst>
                <a:gd name="adj" fmla="val 8648"/>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77200" y="1905000"/>
              <a:ext cx="50800" cy="117475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80400" y="2026920"/>
              <a:ext cx="2946400" cy="93091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H1 not supported. </a:t>
              </a:r>
              <a:r>
                <a:rPr sz="1400" b="0" i="0">
                  <a:solidFill>
                    <a:srgbClr val="14213D"/>
                  </a:solidFill>
                  <a:latin typeface="Calibri"/>
                </a:rPr>
                <a:t>Mass beat volume only for physics-only Gaussians (78.0% vs 87.7%).</a:t>
              </a:r>
            </a:p>
          </p:txBody>
        </p:sp>
      </p:grpSp>
      <p:grpSp>
        <p:nvGrpSpPr>
          <p:cNvPr id="27" name="Group 26"/>
          <p:cNvGrpSpPr/>
          <p:nvPr/>
        </p:nvGrpSpPr>
        <p:grpSpPr>
          <a:xfrm>
            <a:off x="8077200" y="3206750"/>
            <a:ext cx="3302000" cy="1174750"/>
            <a:chOff x="8077200" y="3206750"/>
            <a:chExt cx="3302000" cy="1174750"/>
          </a:xfrm>
        </p:grpSpPr>
        <p:sp>
          <p:nvSpPr>
            <p:cNvPr id="28" name="Rounded Rectangle 27"/>
            <p:cNvSpPr/>
            <p:nvPr/>
          </p:nvSpPr>
          <p:spPr>
            <a:xfrm>
              <a:off x="8077200" y="3206750"/>
              <a:ext cx="3302000" cy="1174750"/>
            </a:xfrm>
            <a:prstGeom prst="roundRect">
              <a:avLst>
                <a:gd name="adj" fmla="val 8648"/>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7200" y="3206750"/>
              <a:ext cx="50800" cy="117475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80400" y="3328670"/>
              <a:ext cx="2946400" cy="93091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H2 not supported. </a:t>
              </a:r>
              <a:r>
                <a:rPr sz="1400" b="0" i="0">
                  <a:solidFill>
                    <a:srgbClr val="14213D"/>
                  </a:solidFill>
                  <a:latin typeface="Calibri"/>
                </a:rPr>
                <a:t>Ours under-estimates (bias −91%) and fails on 22% of nodules.</a:t>
              </a:r>
            </a:p>
          </p:txBody>
        </p:sp>
      </p:grpSp>
      <p:grpSp>
        <p:nvGrpSpPr>
          <p:cNvPr id="31" name="Group 30"/>
          <p:cNvGrpSpPr/>
          <p:nvPr/>
        </p:nvGrpSpPr>
        <p:grpSpPr>
          <a:xfrm>
            <a:off x="8077200" y="4508500"/>
            <a:ext cx="3302000" cy="1174750"/>
            <a:chOff x="8077200" y="4508500"/>
            <a:chExt cx="3302000" cy="1174750"/>
          </a:xfrm>
        </p:grpSpPr>
        <p:sp>
          <p:nvSpPr>
            <p:cNvPr id="32" name="Rounded Rectangle 31"/>
            <p:cNvSpPr/>
            <p:nvPr/>
          </p:nvSpPr>
          <p:spPr>
            <a:xfrm>
              <a:off x="8077200" y="4508500"/>
              <a:ext cx="3302000" cy="1174750"/>
            </a:xfrm>
            <a:prstGeom prst="roundRect">
              <a:avLst>
                <a:gd name="adj" fmla="val 8648"/>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7200" y="4508500"/>
              <a:ext cx="50800" cy="117475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80400" y="4630420"/>
              <a:ext cx="2946400" cy="93091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Lesson: </a:t>
              </a:r>
              <a:r>
                <a:rPr sz="1400" b="0" i="0">
                  <a:solidFill>
                    <a:srgbClr val="14213D"/>
                  </a:solidFill>
                  <a:latin typeface="Calibri"/>
                </a:rPr>
                <a:t>the sharpest images (diffusion only, 17.49 dB) still under-estimated volume by 58%.</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600"/>
                                        <p:tgtEl>
                                          <p:spTgt spid="6"/>
                                        </p:tgtEl>
                                      </p:cBhvr>
                                    </p:animEffect>
                                  </p:childTnLst>
                                </p:cTn>
                              </p:par>
                              <p:par>
                                <p:cTn id="8" presetID="22" presetClass="entr" presetSubtype="8" fill="hold" grpId="0" nodeType="withEffect">
                                  <p:stCondLst>
                                    <p:cond delay="15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600"/>
                                        <p:tgtEl>
                                          <p:spTgt spid="7"/>
                                        </p:tgtEl>
                                      </p:cBhvr>
                                    </p:animEffect>
                                  </p:childTnLst>
                                </p:cTn>
                              </p:par>
                              <p:par>
                                <p:cTn id="11" presetID="22" presetClass="entr" presetSubtype="8" fill="hold" grpId="0" nodeType="withEffect">
                                  <p:stCondLst>
                                    <p:cond delay="30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600"/>
                                        <p:tgtEl>
                                          <p:spTgt spid="9"/>
                                        </p:tgtEl>
                                      </p:cBhvr>
                                    </p:animEffect>
                                  </p:childTnLst>
                                </p:cTn>
                              </p:par>
                              <p:par>
                                <p:cTn id="14" presetID="22" presetClass="entr" presetSubtype="8" fill="hold" grpId="0" nodeType="withEffect">
                                  <p:stCondLst>
                                    <p:cond delay="450"/>
                                  </p:stCondLst>
                                  <p:childTnLst>
                                    <p:set>
                                      <p:cBhvr>
                                        <p:cTn id="12" dur="1" fill="hold">
                                          <p:stCondLst>
                                            <p:cond delay="0"/>
                                          </p:stCondLst>
                                        </p:cTn>
                                        <p:tgtEl>
                                          <p:spTgt spid="10"/>
                                        </p:tgtEl>
                                        <p:attrNameLst>
                                          <p:attrName>style.visibility</p:attrName>
                                        </p:attrNameLst>
                                      </p:cBhvr>
                                      <p:to>
                                        <p:strVal val="visible"/>
                                      </p:to>
                                    </p:set>
                                    <p:animEffect transition="in" filter="wipe(left)">
                                      <p:cBhvr>
                                        <p:cTn id="13" dur="600"/>
                                        <p:tgtEl>
                                          <p:spTgt spid="10"/>
                                        </p:tgtEl>
                                      </p:cBhvr>
                                    </p:animEffect>
                                  </p:childTnLst>
                                </p:cTn>
                              </p:par>
                              <p:par>
                                <p:cTn id="17" presetID="22" presetClass="entr" presetSubtype="8" fill="hold" grpId="0" nodeType="withEffect">
                                  <p:stCondLst>
                                    <p:cond delay="60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600"/>
                                        <p:tgtEl>
                                          <p:spTgt spid="12"/>
                                        </p:tgtEl>
                                      </p:cBhvr>
                                    </p:animEffect>
                                  </p:childTnLst>
                                </p:cTn>
                              </p:par>
                              <p:par>
                                <p:cTn id="20" presetID="22" presetClass="entr" presetSubtype="8" fill="hold" grpId="0" nodeType="withEffect">
                                  <p:stCondLst>
                                    <p:cond delay="750"/>
                                  </p:stCondLst>
                                  <p:childTnLst>
                                    <p:set>
                                      <p:cBhvr>
                                        <p:cTn id="18" dur="1" fill="hold">
                                          <p:stCondLst>
                                            <p:cond delay="0"/>
                                          </p:stCondLst>
                                        </p:cTn>
                                        <p:tgtEl>
                                          <p:spTgt spid="13"/>
                                        </p:tgtEl>
                                        <p:attrNameLst>
                                          <p:attrName>style.visibility</p:attrName>
                                        </p:attrNameLst>
                                      </p:cBhvr>
                                      <p:to>
                                        <p:strVal val="visible"/>
                                      </p:to>
                                    </p:set>
                                    <p:animEffect transition="in" filter="wipe(left)">
                                      <p:cBhvr>
                                        <p:cTn id="19" dur="600"/>
                                        <p:tgtEl>
                                          <p:spTgt spid="13"/>
                                        </p:tgtEl>
                                      </p:cBhvr>
                                    </p:animEffect>
                                  </p:childTnLst>
                                </p:cTn>
                              </p:par>
                              <p:par>
                                <p:cTn id="23" presetID="22" presetClass="entr" presetSubtype="8" fill="hold" grpId="0" nodeType="withEffect">
                                  <p:stCondLst>
                                    <p:cond delay="90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600"/>
                                        <p:tgtEl>
                                          <p:spTgt spid="15"/>
                                        </p:tgtEl>
                                      </p:cBhvr>
                                    </p:animEffect>
                                  </p:childTnLst>
                                </p:cTn>
                              </p:par>
                              <p:par>
                                <p:cTn id="26" presetID="22" presetClass="entr" presetSubtype="8" fill="hold" grpId="0" nodeType="withEffect">
                                  <p:stCondLst>
                                    <p:cond delay="1050"/>
                                  </p:stCondLst>
                                  <p:childTnLst>
                                    <p:set>
                                      <p:cBhvr>
                                        <p:cTn id="24" dur="1" fill="hold">
                                          <p:stCondLst>
                                            <p:cond delay="0"/>
                                          </p:stCondLst>
                                        </p:cTn>
                                        <p:tgtEl>
                                          <p:spTgt spid="16"/>
                                        </p:tgtEl>
                                        <p:attrNameLst>
                                          <p:attrName>style.visibility</p:attrName>
                                        </p:attrNameLst>
                                      </p:cBhvr>
                                      <p:to>
                                        <p:strVal val="visible"/>
                                      </p:to>
                                    </p:set>
                                    <p:animEffect transition="in" filter="wipe(left)">
                                      <p:cBhvr>
                                        <p:cTn id="25" dur="600"/>
                                        <p:tgtEl>
                                          <p:spTgt spid="16"/>
                                        </p:tgtEl>
                                      </p:cBhvr>
                                    </p:animEffect>
                                  </p:childTnLst>
                                </p:cTn>
                              </p:par>
                              <p:par>
                                <p:cTn id="29" presetID="22" presetClass="entr" presetSubtype="8" fill="hold" grpId="0" nodeType="withEffect">
                                  <p:stCondLst>
                                    <p:cond delay="1200"/>
                                  </p:stCondLst>
                                  <p:childTnLst>
                                    <p:set>
                                      <p:cBhvr>
                                        <p:cTn id="27" dur="1" fill="hold">
                                          <p:stCondLst>
                                            <p:cond delay="0"/>
                                          </p:stCondLst>
                                        </p:cTn>
                                        <p:tgtEl>
                                          <p:spTgt spid="18"/>
                                        </p:tgtEl>
                                        <p:attrNameLst>
                                          <p:attrName>style.visibility</p:attrName>
                                        </p:attrNameLst>
                                      </p:cBhvr>
                                      <p:to>
                                        <p:strVal val="visible"/>
                                      </p:to>
                                    </p:set>
                                    <p:animEffect transition="in" filter="wipe(left)">
                                      <p:cBhvr>
                                        <p:cTn id="28" dur="600"/>
                                        <p:tgtEl>
                                          <p:spTgt spid="18"/>
                                        </p:tgtEl>
                                      </p:cBhvr>
                                    </p:animEffect>
                                  </p:childTnLst>
                                </p:cTn>
                              </p:par>
                              <p:par>
                                <p:cTn id="32" presetID="22" presetClass="entr" presetSubtype="8" fill="hold" grpId="0" nodeType="withEffect">
                                  <p:stCondLst>
                                    <p:cond delay="1350"/>
                                  </p:stCondLst>
                                  <p:childTnLst>
                                    <p:set>
                                      <p:cBhvr>
                                        <p:cTn id="30" dur="1" fill="hold">
                                          <p:stCondLst>
                                            <p:cond delay="0"/>
                                          </p:stCondLst>
                                        </p:cTn>
                                        <p:tgtEl>
                                          <p:spTgt spid="19"/>
                                        </p:tgtEl>
                                        <p:attrNameLst>
                                          <p:attrName>style.visibility</p:attrName>
                                        </p:attrNameLst>
                                      </p:cBhvr>
                                      <p:to>
                                        <p:strVal val="visible"/>
                                      </p:to>
                                    </p:set>
                                    <p:animEffect transition="in" filter="wipe(left)">
                                      <p:cBhvr>
                                        <p:cTn id="31" dur="600"/>
                                        <p:tgtEl>
                                          <p:spTgt spid="19"/>
                                        </p:tgtEl>
                                      </p:cBhvr>
                                    </p:animEffect>
                                  </p:childTnLst>
                                </p:cTn>
                              </p:par>
                              <p:par>
                                <p:cTn id="35" presetID="22" presetClass="entr" presetSubtype="8" fill="hold" grpId="0" nodeType="withEffect">
                                  <p:stCondLst>
                                    <p:cond delay="1500"/>
                                  </p:stCondLst>
                                  <p:childTnLst>
                                    <p:set>
                                      <p:cBhvr>
                                        <p:cTn id="33" dur="1" fill="hold">
                                          <p:stCondLst>
                                            <p:cond delay="0"/>
                                          </p:stCondLst>
                                        </p:cTn>
                                        <p:tgtEl>
                                          <p:spTgt spid="21"/>
                                        </p:tgtEl>
                                        <p:attrNameLst>
                                          <p:attrName>style.visibility</p:attrName>
                                        </p:attrNameLst>
                                      </p:cBhvr>
                                      <p:to>
                                        <p:strVal val="visible"/>
                                      </p:to>
                                    </p:set>
                                    <p:animEffect transition="in" filter="wipe(left)">
                                      <p:cBhvr>
                                        <p:cTn id="34" dur="600"/>
                                        <p:tgtEl>
                                          <p:spTgt spid="21"/>
                                        </p:tgtEl>
                                      </p:cBhvr>
                                    </p:animEffect>
                                  </p:childTnLst>
                                </p:cTn>
                              </p:par>
                              <p:par>
                                <p:cTn id="38" presetID="22" presetClass="entr" presetSubtype="8" fill="hold" grpId="0" nodeType="withEffect">
                                  <p:stCondLst>
                                    <p:cond delay="1650"/>
                                  </p:stCondLst>
                                  <p:childTnLst>
                                    <p:set>
                                      <p:cBhvr>
                                        <p:cTn id="36" dur="1" fill="hold">
                                          <p:stCondLst>
                                            <p:cond delay="0"/>
                                          </p:stCondLst>
                                        </p:cTn>
                                        <p:tgtEl>
                                          <p:spTgt spid="22"/>
                                        </p:tgtEl>
                                        <p:attrNameLst>
                                          <p:attrName>style.visibility</p:attrName>
                                        </p:attrNameLst>
                                      </p:cBhvr>
                                      <p:to>
                                        <p:strVal val="visible"/>
                                      </p:to>
                                    </p:set>
                                    <p:animEffect transition="in" filter="wipe(left)">
                                      <p:cBhvr>
                                        <p:cTn id="37" dur="600"/>
                                        <p:tgtEl>
                                          <p:spTgt spid="22"/>
                                        </p:tgtEl>
                                      </p:cBhvr>
                                    </p:animEffect>
                                  </p:childTnLst>
                                </p:cTn>
                              </p:par>
                            </p:childTnLst>
                          </p:cTn>
                        </p:par>
                      </p:childTnLst>
                    </p:cTn>
                  </p:par>
                  <p:par>
                    <p:cTn id="45" fill="hold">
                      <p:stCondLst>
                        <p:cond delay="indefinite"/>
                      </p:stCondLst>
                      <p:childTnLst>
                        <p:par>
                          <p:cTn id="46" fill="hold">
                            <p:stCondLst>
                              <p:cond delay="0"/>
                            </p:stCondLst>
                            <p:childTnLst>
                              <p:par>
                                <p:cTn id="44" presetID="42" presetClass="entr" presetSubtype="0" fill="hold" grpId="0" nodeType="click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anim calcmode="lin" valueType="num">
                                      <p:cBhvr additive="base">
                                        <p:cTn id="43" dur="500" fill="hold"/>
                                        <p:tgtEl>
                                          <p:spTgt spid="23"/>
                                        </p:tgtEl>
                                        <p:attrNameLst>
                                          <p:attrName>ppt_y</p:attrName>
                                        </p:attrNameLst>
                                      </p:cBhvr>
                                      <p:tavLst>
                                        <p:tav tm="0">
                                          <p:val>
                                            <p:strVal val="#ppt_y+0.05"/>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grpId="0" nodeType="clickEffect">
                                  <p:stCondLst>
                                    <p:cond delay="0"/>
                                  </p:stCondLst>
                                  <p:childTnLst>
                                    <p:set>
                                      <p:cBhvr>
                                        <p:cTn id="47" dur="1" fill="hold">
                                          <p:stCondLst>
                                            <p:cond delay="0"/>
                                          </p:stCondLst>
                                        </p:cTn>
                                        <p:tgtEl>
                                          <p:spTgt spid="27"/>
                                        </p:tgtEl>
                                        <p:attrNameLst>
                                          <p:attrName>style.visibility</p:attrName>
                                        </p:attrNameLst>
                                      </p:cBhvr>
                                      <p:to>
                                        <p:strVal val="visible"/>
                                      </p:to>
                                    </p:set>
                                    <p:animEffect transition="in" filter="fade">
                                      <p:cBhvr>
                                        <p:cTn id="48" dur="500"/>
                                        <p:tgtEl>
                                          <p:spTgt spid="27"/>
                                        </p:tgtEl>
                                      </p:cBhvr>
                                    </p:animEffect>
                                    <p:anim calcmode="lin" valueType="num">
                                      <p:cBhvr additive="base">
                                        <p:cTn id="49" dur="500" fill="hold"/>
                                        <p:tgtEl>
                                          <p:spTgt spid="27"/>
                                        </p:tgtEl>
                                        <p:attrNameLst>
                                          <p:attrName>ppt_y</p:attrName>
                                        </p:attrNameLst>
                                      </p:cBhvr>
                                      <p:tavLst>
                                        <p:tav tm="0">
                                          <p:val>
                                            <p:strVal val="#ppt_y+0.05"/>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grpId="0" nodeType="clickEffect">
                                  <p:stCondLst>
                                    <p:cond delay="0"/>
                                  </p:stCondLst>
                                  <p:childTnLst>
                                    <p:set>
                                      <p:cBhvr>
                                        <p:cTn id="53" dur="1" fill="hold">
                                          <p:stCondLst>
                                            <p:cond delay="0"/>
                                          </p:stCondLst>
                                        </p:cTn>
                                        <p:tgtEl>
                                          <p:spTgt spid="31"/>
                                        </p:tgtEl>
                                        <p:attrNameLst>
                                          <p:attrName>style.visibility</p:attrName>
                                        </p:attrNameLst>
                                      </p:cBhvr>
                                      <p:to>
                                        <p:strVal val="visible"/>
                                      </p:to>
                                    </p:set>
                                    <p:animEffect transition="in" filter="fade">
                                      <p:cBhvr>
                                        <p:cTn id="54" dur="500"/>
                                        <p:tgtEl>
                                          <p:spTgt spid="31"/>
                                        </p:tgtEl>
                                      </p:cBhvr>
                                    </p:animEffect>
                                    <p:anim calcmode="lin" valueType="num">
                                      <p:cBhvr additive="base">
                                        <p:cTn id="55" dur="500" fill="hold"/>
                                        <p:tgtEl>
                                          <p:spTgt spid="31"/>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10" grpId="0"/>
      <p:bldP spid="12" grpId="0"/>
      <p:bldP spid="13" grpId="0"/>
      <p:bldP spid="15" grpId="0"/>
      <p:bldP spid="16" grpId="0"/>
      <p:bldP spid="18" grpId="0"/>
      <p:bldP spid="19" grpId="0"/>
      <p:bldP spid="21" grpId="0"/>
      <p:bldP spid="22" grpId="0"/>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UNCERTAINTY · H3, H5</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The intervals were valid, but too wide to be useful</a:t>
            </a:r>
          </a:p>
        </p:txBody>
      </p:sp>
      <p:sp>
        <p:nvSpPr>
          <p:cNvPr id="4" name="Rounded Rectangle 3"/>
          <p:cNvSpPr/>
          <p:nvPr/>
        </p:nvSpPr>
        <p:spPr>
          <a:xfrm>
            <a:off x="812800" y="1841500"/>
            <a:ext cx="6350000" cy="2794000"/>
          </a:xfrm>
          <a:prstGeom prst="roundRect">
            <a:avLst>
              <a:gd name="adj" fmla="val 2727"/>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liability.png"/>
          <p:cNvPicPr>
            <a:picLocks noChangeAspect="1"/>
          </p:cNvPicPr>
          <p:nvPr/>
        </p:nvPicPr>
        <p:blipFill>
          <a:blip r:embed="rId2"/>
          <a:stretch>
            <a:fillRect/>
          </a:stretch>
        </p:blipFill>
        <p:spPr>
          <a:xfrm>
            <a:off x="812800" y="1841500"/>
            <a:ext cx="6350000" cy="2794000"/>
          </a:xfrm>
          <a:prstGeom prst="rect">
            <a:avLst/>
          </a:prstGeom>
        </p:spPr>
      </p:pic>
      <p:sp>
        <p:nvSpPr>
          <p:cNvPr id="6" name="TextBox 5"/>
          <p:cNvSpPr txBox="1"/>
          <p:nvPr/>
        </p:nvSpPr>
        <p:spPr>
          <a:xfrm>
            <a:off x="812800" y="4711700"/>
            <a:ext cx="6350000" cy="2540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Reliability of the size-category probabilities (closer to the diagonal is better)</a:t>
            </a:r>
          </a:p>
        </p:txBody>
      </p:sp>
      <p:grpSp>
        <p:nvGrpSpPr>
          <p:cNvPr id="7" name="Group 6"/>
          <p:cNvGrpSpPr/>
          <p:nvPr/>
        </p:nvGrpSpPr>
        <p:grpSpPr>
          <a:xfrm>
            <a:off x="7467600" y="1841500"/>
            <a:ext cx="3911600" cy="889000"/>
            <a:chOff x="7467600" y="1841500"/>
            <a:chExt cx="3911600" cy="889000"/>
          </a:xfrm>
        </p:grpSpPr>
        <p:sp>
          <p:nvSpPr>
            <p:cNvPr id="8" name="Rounded Rectangle 7"/>
            <p:cNvSpPr/>
            <p:nvPr/>
          </p:nvSpPr>
          <p:spPr>
            <a:xfrm>
              <a:off x="7467600" y="1841500"/>
              <a:ext cx="3911600" cy="889000"/>
            </a:xfrm>
            <a:prstGeom prst="roundRect">
              <a:avLst>
                <a:gd name="adj" fmla="val 11428"/>
              </a:avLst>
            </a:prstGeom>
            <a:solidFill>
              <a:srgbClr val="E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67600" y="1841500"/>
              <a:ext cx="50800" cy="889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58100" y="1953260"/>
              <a:ext cx="3581400" cy="665480"/>
            </a:xfrm>
            <a:prstGeom prst="rect">
              <a:avLst/>
            </a:prstGeom>
            <a:noFill/>
          </p:spPr>
          <p:txBody>
            <a:bodyPr wrap="square" lIns="0" rIns="0" tIns="0" bIns="0" anchor="ctr">
              <a:spAutoFit/>
            </a:bodyPr>
            <a:lstStyle/>
            <a:p>
              <a:pPr algn="l">
                <a:lnSpc>
                  <a:spcPct val="120000"/>
                </a:lnSpc>
              </a:pPr>
              <a:r>
                <a:rPr sz="1400" b="1" i="0">
                  <a:solidFill>
                    <a:srgbClr val="14213D"/>
                  </a:solidFill>
                  <a:latin typeface="Calibri"/>
                </a:rPr>
                <a:t>Valid: </a:t>
              </a:r>
              <a:r>
                <a:rPr sz="1400" b="0" i="0">
                  <a:solidFill>
                    <a:srgbClr val="14213D"/>
                  </a:solidFill>
                  <a:latin typeface="Calibri"/>
                </a:rPr>
                <a:t>95–96% coverage for the 90% target.</a:t>
              </a:r>
            </a:p>
          </p:txBody>
        </p:sp>
      </p:grpSp>
      <p:grpSp>
        <p:nvGrpSpPr>
          <p:cNvPr id="11" name="Group 10"/>
          <p:cNvGrpSpPr/>
          <p:nvPr/>
        </p:nvGrpSpPr>
        <p:grpSpPr>
          <a:xfrm>
            <a:off x="7467600" y="2857500"/>
            <a:ext cx="3911600" cy="889000"/>
            <a:chOff x="7467600" y="2857500"/>
            <a:chExt cx="3911600" cy="889000"/>
          </a:xfrm>
        </p:grpSpPr>
        <p:sp>
          <p:nvSpPr>
            <p:cNvPr id="12" name="Rounded Rectangle 11"/>
            <p:cNvSpPr/>
            <p:nvPr/>
          </p:nvSpPr>
          <p:spPr>
            <a:xfrm>
              <a:off x="7467600" y="2857500"/>
              <a:ext cx="3911600" cy="889000"/>
            </a:xfrm>
            <a:prstGeom prst="roundRect">
              <a:avLst>
                <a:gd name="adj" fmla="val 11428"/>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67600" y="2857500"/>
              <a:ext cx="50800" cy="88900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58100" y="2969260"/>
              <a:ext cx="3581400" cy="665480"/>
            </a:xfrm>
            <a:prstGeom prst="rect">
              <a:avLst/>
            </a:prstGeom>
            <a:noFill/>
          </p:spPr>
          <p:txBody>
            <a:bodyPr wrap="square" lIns="0" rIns="0" tIns="0" bIns="0" anchor="ctr">
              <a:spAutoFit/>
            </a:bodyPr>
            <a:lstStyle/>
            <a:p>
              <a:pPr algn="l">
                <a:lnSpc>
                  <a:spcPct val="120000"/>
                </a:lnSpc>
              </a:pPr>
              <a:r>
                <a:rPr sz="1400" b="1" i="0">
                  <a:solidFill>
                    <a:srgbClr val="14213D"/>
                  </a:solidFill>
                  <a:latin typeface="Calibri"/>
                </a:rPr>
                <a:t>Not useful: </a:t>
              </a:r>
              <a:r>
                <a:rPr sz="1400" b="0" i="0">
                  <a:solidFill>
                    <a:srgbClr val="14213D"/>
                  </a:solidFill>
                  <a:latin typeface="Calibri"/>
                </a:rPr>
                <a:t>failed (zero) measurements make the intervals unbounded.</a:t>
              </a:r>
            </a:p>
          </p:txBody>
        </p:sp>
      </p:grpSp>
      <p:grpSp>
        <p:nvGrpSpPr>
          <p:cNvPr id="15" name="Group 14"/>
          <p:cNvGrpSpPr/>
          <p:nvPr/>
        </p:nvGrpSpPr>
        <p:grpSpPr>
          <a:xfrm>
            <a:off x="7467600" y="3873500"/>
            <a:ext cx="3911600" cy="889000"/>
            <a:chOff x="7467600" y="3873500"/>
            <a:chExt cx="3911600" cy="889000"/>
          </a:xfrm>
        </p:grpSpPr>
        <p:sp>
          <p:nvSpPr>
            <p:cNvPr id="16" name="Rounded Rectangle 15"/>
            <p:cNvSpPr/>
            <p:nvPr/>
          </p:nvSpPr>
          <p:spPr>
            <a:xfrm>
              <a:off x="7467600" y="3873500"/>
              <a:ext cx="3911600" cy="889000"/>
            </a:xfrm>
            <a:prstGeom prst="roundRect">
              <a:avLst>
                <a:gd name="adj" fmla="val 11428"/>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67600" y="3873500"/>
              <a:ext cx="50800" cy="889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58100" y="3985260"/>
              <a:ext cx="3581400" cy="665480"/>
            </a:xfrm>
            <a:prstGeom prst="rect">
              <a:avLst/>
            </a:prstGeom>
            <a:noFill/>
          </p:spPr>
          <p:txBody>
            <a:bodyPr wrap="square" lIns="0" rIns="0" tIns="0" bIns="0" anchor="ctr">
              <a:spAutoFit/>
            </a:bodyPr>
            <a:lstStyle/>
            <a:p>
              <a:pPr algn="l">
                <a:lnSpc>
                  <a:spcPct val="120000"/>
                </a:lnSpc>
              </a:pPr>
              <a:r>
                <a:rPr sz="1400" b="1" i="0">
                  <a:solidFill>
                    <a:srgbClr val="14213D"/>
                  </a:solidFill>
                  <a:latin typeface="Calibri"/>
                </a:rPr>
                <a:t>H5 partly: </a:t>
              </a:r>
              <a:r>
                <a:rPr sz="1400" b="0" i="0">
                  <a:solidFill>
                    <a:srgbClr val="14213D"/>
                  </a:solidFill>
                  <a:latin typeface="Calibri"/>
                </a:rPr>
                <a:t>Brier 0.54 → 0.17 at 100 mm³, no gain at 300 mm³.</a:t>
              </a:r>
            </a:p>
          </p:txBody>
        </p:sp>
      </p:grpSp>
      <p:sp>
        <p:nvSpPr>
          <p:cNvPr id="19" name="TextBox 18"/>
          <p:cNvSpPr txBox="1"/>
          <p:nvPr/>
        </p:nvSpPr>
        <p:spPr>
          <a:xfrm>
            <a:off x="812800" y="5207000"/>
            <a:ext cx="10566400" cy="635000"/>
          </a:xfrm>
          <a:prstGeom prst="rect">
            <a:avLst/>
          </a:prstGeom>
          <a:noFill/>
        </p:spPr>
        <p:txBody>
          <a:bodyPr wrap="square" lIns="0" rIns="0" tIns="0" bIns="0" anchor="t">
            <a:spAutoFit/>
          </a:bodyPr>
          <a:lstStyle/>
          <a:p>
            <a:pPr algn="l">
              <a:lnSpc>
                <a:spcPct val="130000"/>
              </a:lnSpc>
            </a:pPr>
            <a:r>
              <a:rPr sz="1400" b="0" i="0">
                <a:solidFill>
                  <a:srgbClr val="14213D"/>
                </a:solidFill>
                <a:latin typeface="Calibri"/>
              </a:rPr>
              <a:t>Surprise: the 8 samples agree most when they are most wrong (spread vs error ρ = </a:t>
            </a:r>
            <a:r>
              <a:rPr sz="1400" b="1" i="0">
                <a:solidFill>
                  <a:srgbClr val="14213D"/>
                </a:solidFill>
                <a:latin typeface="Calibri"/>
              </a:rPr>
              <a:t>−0.52</a:t>
            </a:r>
            <a:r>
              <a:rPr sz="1400" b="0" i="0">
                <a:solidFill>
                  <a:srgbClr val="14213D"/>
                </a:solidFill>
                <a:latin typeface="Calibri"/>
              </a:rPr>
              <a:t>), because they all erase the same faint nodule.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anim calcmode="lin" valueType="num">
                                      <p:cBhvr additive="base">
                                        <p:cTn id="11"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anim calcmode="lin" valueType="num">
                                      <p:cBhvr additive="base">
                                        <p:cTn id="17" dur="500" fill="hold"/>
                                        <p:tgtEl>
                                          <p:spTgt spid="15"/>
                                        </p:tgtEl>
                                        <p:attrNameLst>
                                          <p:attrName>ppt_y</p:attrName>
                                        </p:attrNameLst>
                                      </p:cBhvr>
                                      <p:tavLst>
                                        <p:tav tm="0">
                                          <p:val>
                                            <p:strVal val="#ppt_y+0.05"/>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2E7D4F"/>
                </a:solidFill>
                <a:latin typeface="Calibri"/>
              </a:rPr>
              <a:t>EXPLAINABILITY · H6 SUPPORTED</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We can show what the X-rays saw and what the AI filled in</a:t>
            </a:r>
          </a:p>
        </p:txBody>
      </p:sp>
      <p:sp>
        <p:nvSpPr>
          <p:cNvPr id="4" name="Rounded Rectangle 3"/>
          <p:cNvSpPr/>
          <p:nvPr/>
        </p:nvSpPr>
        <p:spPr>
          <a:xfrm>
            <a:off x="812800" y="2095500"/>
            <a:ext cx="5969000" cy="3365500"/>
          </a:xfrm>
          <a:prstGeom prst="roundRect">
            <a:avLst>
              <a:gd name="adj" fmla="val 226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en_unseen.png"/>
          <p:cNvPicPr>
            <a:picLocks noChangeAspect="1"/>
          </p:cNvPicPr>
          <p:nvPr/>
        </p:nvPicPr>
        <p:blipFill>
          <a:blip r:embed="rId2"/>
          <a:stretch>
            <a:fillRect/>
          </a:stretch>
        </p:blipFill>
        <p:spPr>
          <a:xfrm>
            <a:off x="812800" y="2159000"/>
            <a:ext cx="5969000" cy="3238500"/>
          </a:xfrm>
          <a:prstGeom prst="rect">
            <a:avLst/>
          </a:prstGeom>
        </p:spPr>
      </p:pic>
      <p:sp>
        <p:nvSpPr>
          <p:cNvPr id="6" name="TextBox 5"/>
          <p:cNvSpPr txBox="1"/>
          <p:nvPr/>
        </p:nvSpPr>
        <p:spPr>
          <a:xfrm>
            <a:off x="812800" y="5537200"/>
            <a:ext cx="5969000" cy="2540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Null-space split, one test nodule (depth view): top CT truth, bottom diffusion prior</a:t>
            </a:r>
          </a:p>
        </p:txBody>
      </p:sp>
      <p:sp>
        <p:nvSpPr>
          <p:cNvPr id="7" name="TextBox 6"/>
          <p:cNvSpPr txBox="1"/>
          <p:nvPr/>
        </p:nvSpPr>
        <p:spPr>
          <a:xfrm>
            <a:off x="7086600" y="2095500"/>
            <a:ext cx="4292600" cy="1143000"/>
          </a:xfrm>
          <a:prstGeom prst="rect">
            <a:avLst/>
          </a:prstGeom>
          <a:noFill/>
        </p:spPr>
        <p:txBody>
          <a:bodyPr wrap="square" lIns="0" rIns="0" tIns="0" bIns="0" anchor="t">
            <a:spAutoFit/>
          </a:bodyPr>
          <a:lstStyle/>
          <a:p>
            <a:pPr algn="l">
              <a:lnSpc>
                <a:spcPct val="100000"/>
              </a:lnSpc>
            </a:pPr>
            <a:r>
              <a:rPr sz="3600" b="1" i="0">
                <a:solidFill>
                  <a:srgbClr val="1F5FA8"/>
                </a:solidFill>
                <a:latin typeface="Georgia"/>
              </a:rPr>
              <a:t>0.3%</a:t>
            </a:r>
          </a:p>
          <a:p>
            <a:pPr algn="l">
              <a:lnSpc>
                <a:spcPct val="120000"/>
              </a:lnSpc>
              <a:spcBef>
                <a:spcPts val="400"/>
              </a:spcBef>
            </a:pPr>
            <a:r>
              <a:rPr sz="1300" b="0" i="0">
                <a:solidFill>
                  <a:srgbClr val="4A5568"/>
                </a:solidFill>
                <a:latin typeface="Calibri"/>
              </a:rPr>
              <a:t>of nodule mass is unseen: the X-rays measure mass (confirms the physics)</a:t>
            </a:r>
          </a:p>
        </p:txBody>
      </p:sp>
      <p:sp>
        <p:nvSpPr>
          <p:cNvPr id="8" name="TextBox 7"/>
          <p:cNvSpPr txBox="1"/>
          <p:nvPr/>
        </p:nvSpPr>
        <p:spPr>
          <a:xfrm>
            <a:off x="7086600" y="3302000"/>
            <a:ext cx="4292600" cy="1143000"/>
          </a:xfrm>
          <a:prstGeom prst="rect">
            <a:avLst/>
          </a:prstGeom>
          <a:noFill/>
        </p:spPr>
        <p:txBody>
          <a:bodyPr wrap="square" lIns="0" rIns="0" tIns="0" bIns="0" anchor="t">
            <a:spAutoFit/>
          </a:bodyPr>
          <a:lstStyle/>
          <a:p>
            <a:pPr algn="l">
              <a:lnSpc>
                <a:spcPct val="100000"/>
              </a:lnSpc>
            </a:pPr>
            <a:r>
              <a:rPr sz="3600" b="1" i="0">
                <a:solidFill>
                  <a:srgbClr val="2E7D4F"/>
                </a:solidFill>
                <a:latin typeface="Georgia"/>
              </a:rPr>
              <a:t>+0.22</a:t>
            </a:r>
          </a:p>
          <a:p>
            <a:pPr algn="l">
              <a:lnSpc>
                <a:spcPct val="120000"/>
              </a:lnSpc>
              <a:spcBef>
                <a:spcPts val="400"/>
              </a:spcBef>
            </a:pPr>
            <a:r>
              <a:rPr sz="1300" b="0" i="0">
                <a:solidFill>
                  <a:srgbClr val="4A5568"/>
                </a:solidFill>
                <a:latin typeface="Calibri"/>
              </a:rPr>
              <a:t>unseen skill of the prior vs truth [0.14, 0.36]: it recovers, not invents</a:t>
            </a:r>
          </a:p>
        </p:txBody>
      </p:sp>
      <p:sp>
        <p:nvSpPr>
          <p:cNvPr id="9" name="TextBox 8"/>
          <p:cNvSpPr txBox="1"/>
          <p:nvPr/>
        </p:nvSpPr>
        <p:spPr>
          <a:xfrm>
            <a:off x="7086600" y="4508500"/>
            <a:ext cx="4292600" cy="1143000"/>
          </a:xfrm>
          <a:prstGeom prst="rect">
            <a:avLst/>
          </a:prstGeom>
          <a:noFill/>
        </p:spPr>
        <p:txBody>
          <a:bodyPr wrap="square" lIns="0" rIns="0" tIns="0" bIns="0" anchor="t">
            <a:spAutoFit/>
          </a:bodyPr>
          <a:lstStyle/>
          <a:p>
            <a:pPr algn="l">
              <a:lnSpc>
                <a:spcPct val="100000"/>
              </a:lnSpc>
            </a:pPr>
            <a:r>
              <a:rPr sz="3600" b="1" i="0">
                <a:solidFill>
                  <a:srgbClr val="D9661F"/>
                </a:solidFill>
                <a:latin typeface="Georgia"/>
              </a:rPr>
              <a:t>0.09</a:t>
            </a:r>
          </a:p>
          <a:p>
            <a:pPr algn="l">
              <a:lnSpc>
                <a:spcPct val="120000"/>
              </a:lnSpc>
              <a:spcBef>
                <a:spcPts val="400"/>
              </a:spcBef>
            </a:pPr>
            <a:r>
              <a:rPr sz="1300" b="0" i="0">
                <a:solidFill>
                  <a:srgbClr val="4A5568"/>
                </a:solidFill>
                <a:latin typeface="Calibri"/>
              </a:rPr>
              <a:t>skill left after Gaussian fitting: that step discards what the prior found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anim calcmode="lin" valueType="num">
                                      <p:cBhvr additive="base">
                                        <p:cTn id="11"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anim calcmode="lin" valueType="num">
                                      <p:cBhvr additive="base">
                                        <p:cTn id="17" dur="500" fill="hold"/>
                                        <p:tgtEl>
                                          <p:spTgt spid="9"/>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HYPOTHESIS SCORECARD</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Two supported, one partly, three not</a:t>
            </a:r>
          </a:p>
        </p:txBody>
      </p:sp>
      <p:grpSp>
        <p:nvGrpSpPr>
          <p:cNvPr id="4" name="Group 3"/>
          <p:cNvGrpSpPr/>
          <p:nvPr/>
        </p:nvGrpSpPr>
        <p:grpSpPr>
          <a:xfrm>
            <a:off x="812800" y="1841500"/>
            <a:ext cx="10566400" cy="558800"/>
            <a:chOff x="812800" y="1841500"/>
            <a:chExt cx="10566400" cy="558800"/>
          </a:xfrm>
        </p:grpSpPr>
        <p:sp>
          <p:nvSpPr>
            <p:cNvPr id="5" name="Rounded Rectangle 4"/>
            <p:cNvSpPr/>
            <p:nvPr/>
          </p:nvSpPr>
          <p:spPr>
            <a:xfrm>
              <a:off x="812800" y="18415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1841500"/>
              <a:ext cx="50800" cy="55880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18415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H1</a:t>
              </a:r>
            </a:p>
          </p:txBody>
        </p:sp>
        <p:sp>
          <p:nvSpPr>
            <p:cNvPr id="8" name="TextBox 7"/>
            <p:cNvSpPr txBox="1"/>
            <p:nvPr/>
          </p:nvSpPr>
          <p:spPr>
            <a:xfrm>
              <a:off x="1714500" y="18415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Mass more accurate than volume</a:t>
              </a:r>
            </a:p>
          </p:txBody>
        </p:sp>
        <p:sp>
          <p:nvSpPr>
            <p:cNvPr id="9" name="TextBox 8"/>
            <p:cNvSpPr txBox="1"/>
            <p:nvPr/>
          </p:nvSpPr>
          <p:spPr>
            <a:xfrm>
              <a:off x="5080000" y="1841500"/>
              <a:ext cx="2032000" cy="558800"/>
            </a:xfrm>
            <a:prstGeom prst="rect">
              <a:avLst/>
            </a:prstGeom>
            <a:noFill/>
          </p:spPr>
          <p:txBody>
            <a:bodyPr wrap="square" lIns="0" tIns="0" bIns="0" anchor="ctr">
              <a:spAutoFit/>
            </a:bodyPr>
            <a:lstStyle/>
            <a:p>
              <a:pPr algn="l">
                <a:lnSpc>
                  <a:spcPct val="120000"/>
                </a:lnSpc>
              </a:pPr>
              <a:r>
                <a:rPr sz="1400" b="1" i="0">
                  <a:solidFill>
                    <a:srgbClr val="B4521A"/>
                  </a:solidFill>
                  <a:latin typeface="Calibri"/>
                </a:rPr>
                <a:t>Not supported</a:t>
              </a:r>
            </a:p>
          </p:txBody>
        </p:sp>
        <p:sp>
          <p:nvSpPr>
            <p:cNvPr id="10" name="TextBox 9"/>
            <p:cNvSpPr txBox="1"/>
            <p:nvPr/>
          </p:nvSpPr>
          <p:spPr>
            <a:xfrm>
              <a:off x="7175500" y="18415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only for physics-only Gaussians (78% vs 88%)</a:t>
              </a:r>
            </a:p>
          </p:txBody>
        </p:sp>
      </p:grpSp>
      <p:grpSp>
        <p:nvGrpSpPr>
          <p:cNvPr id="11" name="Group 10"/>
          <p:cNvGrpSpPr/>
          <p:nvPr/>
        </p:nvGrpSpPr>
        <p:grpSpPr>
          <a:xfrm>
            <a:off x="812800" y="2501900"/>
            <a:ext cx="10566400" cy="558800"/>
            <a:chOff x="812800" y="2501900"/>
            <a:chExt cx="10566400" cy="558800"/>
          </a:xfrm>
        </p:grpSpPr>
        <p:sp>
          <p:nvSpPr>
            <p:cNvPr id="12" name="Rounded Rectangle 11"/>
            <p:cNvSpPr/>
            <p:nvPr/>
          </p:nvSpPr>
          <p:spPr>
            <a:xfrm>
              <a:off x="812800" y="25019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2800" y="2501900"/>
              <a:ext cx="50800" cy="55880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6800" y="25019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H2</a:t>
              </a:r>
            </a:p>
          </p:txBody>
        </p:sp>
        <p:sp>
          <p:nvSpPr>
            <p:cNvPr id="15" name="TextBox 14"/>
            <p:cNvSpPr txBox="1"/>
            <p:nvPr/>
          </p:nvSpPr>
          <p:spPr>
            <a:xfrm>
              <a:off x="1714500" y="25019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Prior lowers volume error</a:t>
              </a:r>
            </a:p>
          </p:txBody>
        </p:sp>
        <p:sp>
          <p:nvSpPr>
            <p:cNvPr id="16" name="TextBox 15"/>
            <p:cNvSpPr txBox="1"/>
            <p:nvPr/>
          </p:nvSpPr>
          <p:spPr>
            <a:xfrm>
              <a:off x="5080000" y="2501900"/>
              <a:ext cx="2032000" cy="558800"/>
            </a:xfrm>
            <a:prstGeom prst="rect">
              <a:avLst/>
            </a:prstGeom>
            <a:noFill/>
          </p:spPr>
          <p:txBody>
            <a:bodyPr wrap="square" lIns="0" tIns="0" bIns="0" anchor="ctr">
              <a:spAutoFit/>
            </a:bodyPr>
            <a:lstStyle/>
            <a:p>
              <a:pPr algn="l">
                <a:lnSpc>
                  <a:spcPct val="120000"/>
                </a:lnSpc>
              </a:pPr>
              <a:r>
                <a:rPr sz="1400" b="1" i="0">
                  <a:solidFill>
                    <a:srgbClr val="B4521A"/>
                  </a:solidFill>
                  <a:latin typeface="Calibri"/>
                </a:rPr>
                <a:t>Not supported</a:t>
              </a:r>
            </a:p>
          </p:txBody>
        </p:sp>
        <p:sp>
          <p:nvSpPr>
            <p:cNvPr id="17" name="TextBox 16"/>
            <p:cNvSpPr txBox="1"/>
            <p:nvPr/>
          </p:nvSpPr>
          <p:spPr>
            <a:xfrm>
              <a:off x="7175500" y="25019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94.6% vs 87.7–91.2% physics-only</a:t>
              </a:r>
            </a:p>
          </p:txBody>
        </p:sp>
      </p:grpSp>
      <p:grpSp>
        <p:nvGrpSpPr>
          <p:cNvPr id="18" name="Group 17"/>
          <p:cNvGrpSpPr/>
          <p:nvPr/>
        </p:nvGrpSpPr>
        <p:grpSpPr>
          <a:xfrm>
            <a:off x="812800" y="3162300"/>
            <a:ext cx="10566400" cy="558800"/>
            <a:chOff x="812800" y="3162300"/>
            <a:chExt cx="10566400" cy="558800"/>
          </a:xfrm>
        </p:grpSpPr>
        <p:sp>
          <p:nvSpPr>
            <p:cNvPr id="19" name="Rounded Rectangle 18"/>
            <p:cNvSpPr/>
            <p:nvPr/>
          </p:nvSpPr>
          <p:spPr>
            <a:xfrm>
              <a:off x="812800" y="31623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800" y="3162300"/>
              <a:ext cx="50800" cy="5588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6800" y="31623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H3</a:t>
              </a:r>
            </a:p>
          </p:txBody>
        </p:sp>
        <p:sp>
          <p:nvSpPr>
            <p:cNvPr id="22" name="TextBox 21"/>
            <p:cNvSpPr txBox="1"/>
            <p:nvPr/>
          </p:nvSpPr>
          <p:spPr>
            <a:xfrm>
              <a:off x="1714500" y="31623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Valid conformal intervals</a:t>
              </a:r>
            </a:p>
          </p:txBody>
        </p:sp>
        <p:sp>
          <p:nvSpPr>
            <p:cNvPr id="23" name="TextBox 22"/>
            <p:cNvSpPr txBox="1"/>
            <p:nvPr/>
          </p:nvSpPr>
          <p:spPr>
            <a:xfrm>
              <a:off x="5080000" y="3162300"/>
              <a:ext cx="2032000" cy="558800"/>
            </a:xfrm>
            <a:prstGeom prst="rect">
              <a:avLst/>
            </a:prstGeom>
            <a:noFill/>
          </p:spPr>
          <p:txBody>
            <a:bodyPr wrap="square" lIns="0" tIns="0" bIns="0" anchor="ctr">
              <a:spAutoFit/>
            </a:bodyPr>
            <a:lstStyle/>
            <a:p>
              <a:pPr algn="l">
                <a:lnSpc>
                  <a:spcPct val="120000"/>
                </a:lnSpc>
              </a:pPr>
              <a:r>
                <a:rPr sz="1400" b="1" i="0">
                  <a:solidFill>
                    <a:srgbClr val="1F5FA8"/>
                  </a:solidFill>
                  <a:latin typeface="Calibri"/>
                </a:rPr>
                <a:t>Valid, not useful</a:t>
              </a:r>
            </a:p>
          </p:txBody>
        </p:sp>
        <p:sp>
          <p:nvSpPr>
            <p:cNvPr id="24" name="TextBox 23"/>
            <p:cNvSpPr txBox="1"/>
            <p:nvPr/>
          </p:nvSpPr>
          <p:spPr>
            <a:xfrm>
              <a:off x="7175500" y="31623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95% coverage, unbounded widths</a:t>
              </a:r>
            </a:p>
          </p:txBody>
        </p:sp>
      </p:grpSp>
      <p:grpSp>
        <p:nvGrpSpPr>
          <p:cNvPr id="25" name="Group 24"/>
          <p:cNvGrpSpPr/>
          <p:nvPr/>
        </p:nvGrpSpPr>
        <p:grpSpPr>
          <a:xfrm>
            <a:off x="812800" y="3822700"/>
            <a:ext cx="10566400" cy="558800"/>
            <a:chOff x="812800" y="3822700"/>
            <a:chExt cx="10566400" cy="558800"/>
          </a:xfrm>
        </p:grpSpPr>
        <p:sp>
          <p:nvSpPr>
            <p:cNvPr id="26" name="Rounded Rectangle 25"/>
            <p:cNvSpPr/>
            <p:nvPr/>
          </p:nvSpPr>
          <p:spPr>
            <a:xfrm>
              <a:off x="812800" y="38227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2800" y="3822700"/>
              <a:ext cx="50800" cy="55880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6800" y="38227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H4</a:t>
              </a:r>
            </a:p>
          </p:txBody>
        </p:sp>
        <p:sp>
          <p:nvSpPr>
            <p:cNvPr id="29" name="TextBox 28"/>
            <p:cNvSpPr txBox="1"/>
            <p:nvPr/>
          </p:nvSpPr>
          <p:spPr>
            <a:xfrm>
              <a:off x="1714500" y="38227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MDT beats VDT for growth</a:t>
              </a:r>
            </a:p>
          </p:txBody>
        </p:sp>
        <p:sp>
          <p:nvSpPr>
            <p:cNvPr id="30" name="TextBox 29"/>
            <p:cNvSpPr txBox="1"/>
            <p:nvPr/>
          </p:nvSpPr>
          <p:spPr>
            <a:xfrm>
              <a:off x="5080000" y="3822700"/>
              <a:ext cx="2032000" cy="558800"/>
            </a:xfrm>
            <a:prstGeom prst="rect">
              <a:avLst/>
            </a:prstGeom>
            <a:noFill/>
          </p:spPr>
          <p:txBody>
            <a:bodyPr wrap="square" lIns="0" tIns="0" bIns="0" anchor="ctr">
              <a:spAutoFit/>
            </a:bodyPr>
            <a:lstStyle/>
            <a:p>
              <a:pPr algn="l">
                <a:lnSpc>
                  <a:spcPct val="120000"/>
                </a:lnSpc>
              </a:pPr>
              <a:r>
                <a:rPr sz="1400" b="1" i="0">
                  <a:solidFill>
                    <a:srgbClr val="B4521A"/>
                  </a:solidFill>
                  <a:latin typeface="Calibri"/>
                </a:rPr>
                <a:t>Not supported</a:t>
              </a:r>
            </a:p>
          </p:txBody>
        </p:sp>
        <p:sp>
          <p:nvSpPr>
            <p:cNvPr id="31" name="TextBox 30"/>
            <p:cNvSpPr txBox="1"/>
            <p:nvPr/>
          </p:nvSpPr>
          <p:spPr>
            <a:xfrm>
              <a:off x="7175500" y="38227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30% vs 30% for ours; 50% vs 48% physics-only</a:t>
              </a:r>
            </a:p>
          </p:txBody>
        </p:sp>
      </p:grpSp>
      <p:grpSp>
        <p:nvGrpSpPr>
          <p:cNvPr id="32" name="Group 31"/>
          <p:cNvGrpSpPr/>
          <p:nvPr/>
        </p:nvGrpSpPr>
        <p:grpSpPr>
          <a:xfrm>
            <a:off x="812800" y="4483100"/>
            <a:ext cx="10566400" cy="558800"/>
            <a:chOff x="812800" y="4483100"/>
            <a:chExt cx="10566400" cy="558800"/>
          </a:xfrm>
        </p:grpSpPr>
        <p:sp>
          <p:nvSpPr>
            <p:cNvPr id="33" name="Rounded Rectangle 32"/>
            <p:cNvSpPr/>
            <p:nvPr/>
          </p:nvSpPr>
          <p:spPr>
            <a:xfrm>
              <a:off x="812800" y="44831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2800" y="4483100"/>
              <a:ext cx="50800" cy="5588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6800" y="44831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H5</a:t>
              </a:r>
            </a:p>
          </p:txBody>
        </p:sp>
        <p:sp>
          <p:nvSpPr>
            <p:cNvPr id="36" name="TextBox 35"/>
            <p:cNvSpPr txBox="1"/>
            <p:nvPr/>
          </p:nvSpPr>
          <p:spPr>
            <a:xfrm>
              <a:off x="1714500" y="44831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Calibrated category risk</a:t>
              </a:r>
            </a:p>
          </p:txBody>
        </p:sp>
        <p:sp>
          <p:nvSpPr>
            <p:cNvPr id="37" name="TextBox 36"/>
            <p:cNvSpPr txBox="1"/>
            <p:nvPr/>
          </p:nvSpPr>
          <p:spPr>
            <a:xfrm>
              <a:off x="5080000" y="4483100"/>
              <a:ext cx="2032000" cy="558800"/>
            </a:xfrm>
            <a:prstGeom prst="rect">
              <a:avLst/>
            </a:prstGeom>
            <a:noFill/>
          </p:spPr>
          <p:txBody>
            <a:bodyPr wrap="square" lIns="0" tIns="0" bIns="0" anchor="ctr">
              <a:spAutoFit/>
            </a:bodyPr>
            <a:lstStyle/>
            <a:p>
              <a:pPr algn="l">
                <a:lnSpc>
                  <a:spcPct val="120000"/>
                </a:lnSpc>
              </a:pPr>
              <a:r>
                <a:rPr sz="1400" b="1" i="0">
                  <a:solidFill>
                    <a:srgbClr val="1F5FA8"/>
                  </a:solidFill>
                  <a:latin typeface="Calibri"/>
                </a:rPr>
                <a:t>Partly supported</a:t>
              </a:r>
            </a:p>
          </p:txBody>
        </p:sp>
        <p:sp>
          <p:nvSpPr>
            <p:cNvPr id="38" name="TextBox 37"/>
            <p:cNvSpPr txBox="1"/>
            <p:nvPr/>
          </p:nvSpPr>
          <p:spPr>
            <a:xfrm>
              <a:off x="7175500" y="44831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Brier 0.54 → 0.17 at 100 mm³</a:t>
              </a:r>
            </a:p>
          </p:txBody>
        </p:sp>
      </p:grpSp>
      <p:grpSp>
        <p:nvGrpSpPr>
          <p:cNvPr id="39" name="Group 38"/>
          <p:cNvGrpSpPr/>
          <p:nvPr/>
        </p:nvGrpSpPr>
        <p:grpSpPr>
          <a:xfrm>
            <a:off x="812800" y="5143500"/>
            <a:ext cx="10566400" cy="558800"/>
            <a:chOff x="812800" y="5143500"/>
            <a:chExt cx="10566400" cy="558800"/>
          </a:xfrm>
        </p:grpSpPr>
        <p:sp>
          <p:nvSpPr>
            <p:cNvPr id="40" name="Rounded Rectangle 39"/>
            <p:cNvSpPr/>
            <p:nvPr/>
          </p:nvSpPr>
          <p:spPr>
            <a:xfrm>
              <a:off x="812800" y="51435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12800" y="5143500"/>
              <a:ext cx="50800" cy="5588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66800" y="51435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H6</a:t>
              </a:r>
            </a:p>
          </p:txBody>
        </p:sp>
        <p:sp>
          <p:nvSpPr>
            <p:cNvPr id="43" name="TextBox 42"/>
            <p:cNvSpPr txBox="1"/>
            <p:nvPr/>
          </p:nvSpPr>
          <p:spPr>
            <a:xfrm>
              <a:off x="1714500" y="51435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Prior recovers unseen depth</a:t>
              </a:r>
            </a:p>
          </p:txBody>
        </p:sp>
        <p:sp>
          <p:nvSpPr>
            <p:cNvPr id="44" name="TextBox 43"/>
            <p:cNvSpPr txBox="1"/>
            <p:nvPr/>
          </p:nvSpPr>
          <p:spPr>
            <a:xfrm>
              <a:off x="5080000" y="5143500"/>
              <a:ext cx="2032000" cy="558800"/>
            </a:xfrm>
            <a:prstGeom prst="rect">
              <a:avLst/>
            </a:prstGeom>
            <a:noFill/>
          </p:spPr>
          <p:txBody>
            <a:bodyPr wrap="square" lIns="0" tIns="0" bIns="0" anchor="ctr">
              <a:spAutoFit/>
            </a:bodyPr>
            <a:lstStyle/>
            <a:p>
              <a:pPr algn="l">
                <a:lnSpc>
                  <a:spcPct val="120000"/>
                </a:lnSpc>
              </a:pPr>
              <a:r>
                <a:rPr sz="1400" b="1" i="0">
                  <a:solidFill>
                    <a:srgbClr val="2E7D4F"/>
                  </a:solidFill>
                  <a:latin typeface="Calibri"/>
                </a:rPr>
                <a:t>Supported</a:t>
              </a:r>
            </a:p>
          </p:txBody>
        </p:sp>
        <p:sp>
          <p:nvSpPr>
            <p:cNvPr id="45" name="TextBox 44"/>
            <p:cNvSpPr txBox="1"/>
            <p:nvPr/>
          </p:nvSpPr>
          <p:spPr>
            <a:xfrm>
              <a:off x="7175500" y="51435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unseen skill 0.22 [0.14, 0.36]</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2" presetClass="entr" presetSubtype="8"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ppt_x</p:attrName>
                                        </p:attrNameLst>
                                      </p:cBhvr>
                                      <p:tavLst>
                                        <p:tav tm="0">
                                          <p:val>
                                            <p:strVal val="#ppt_x-0.08"/>
                                          </p:val>
                                        </p:tav>
                                        <p:tav tm="100000">
                                          <p:val>
                                            <p:strVal val="#ppt_x"/>
                                          </p:val>
                                        </p:tav>
                                      </p:tavLst>
                                    </p:anim>
                                  </p:childTnLst>
                                </p:cTn>
                              </p:par>
                            </p:childTnLst>
                          </p:cTn>
                        </p:par>
                      </p:childTnLst>
                    </p:cTn>
                  </p:par>
                  <p:par>
                    <p:cTn id="13" fill="hold">
                      <p:stCondLst>
                        <p:cond delay="indefinite"/>
                      </p:stCondLst>
                      <p:childTnLst>
                        <p:par>
                          <p:cTn id="14" fill="hold">
                            <p:stCondLst>
                              <p:cond delay="0"/>
                            </p:stCondLst>
                            <p:childTnLst>
                              <p:par>
                                <p:cTn id="12" presetID="2" presetClass="entr" presetSubtype="8" fill="hold" grpId="0" nodeType="click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anim calcmode="lin" valueType="num">
                                      <p:cBhvr additive="base">
                                        <p:cTn id="11" dur="500" fill="hold"/>
                                        <p:tgtEl>
                                          <p:spTgt spid="11"/>
                                        </p:tgtEl>
                                        <p:attrNameLst>
                                          <p:attrName>ppt_x</p:attrName>
                                        </p:attrNameLst>
                                      </p:cBhvr>
                                      <p:tavLst>
                                        <p:tav tm="0">
                                          <p:val>
                                            <p:strVal val="#ppt_x-0.08"/>
                                          </p:val>
                                        </p:tav>
                                        <p:tav tm="100000">
                                          <p:val>
                                            <p:strVal val="#ppt_x"/>
                                          </p:val>
                                        </p:tav>
                                      </p:tavLst>
                                    </p:anim>
                                  </p:childTnLst>
                                </p:cTn>
                              </p:par>
                            </p:childTnLst>
                          </p:cTn>
                        </p:par>
                      </p:childTnLst>
                    </p:cTn>
                  </p:par>
                  <p:par>
                    <p:cTn id="19" fill="hold">
                      <p:stCondLst>
                        <p:cond delay="indefinite"/>
                      </p:stCondLst>
                      <p:childTnLst>
                        <p:par>
                          <p:cTn id="20" fill="hold">
                            <p:stCondLst>
                              <p:cond delay="0"/>
                            </p:stCondLst>
                            <p:childTnLst>
                              <p:par>
                                <p:cTn id="18" presetID="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anim calcmode="lin" valueType="num">
                                      <p:cBhvr additive="base">
                                        <p:cTn id="17" dur="500" fill="hold"/>
                                        <p:tgtEl>
                                          <p:spTgt spid="18"/>
                                        </p:tgtEl>
                                        <p:attrNameLst>
                                          <p:attrName>ppt_x</p:attrName>
                                        </p:attrNameLst>
                                      </p:cBhvr>
                                      <p:tavLst>
                                        <p:tav tm="0">
                                          <p:val>
                                            <p:strVal val="#ppt_x-0.08"/>
                                          </p:val>
                                        </p:tav>
                                        <p:tav tm="100000">
                                          <p:val>
                                            <p:strVal val="#ppt_x"/>
                                          </p:val>
                                        </p:tav>
                                      </p:tavLst>
                                    </p:anim>
                                  </p:childTnLst>
                                </p:cTn>
                              </p:par>
                            </p:childTnLst>
                          </p:cTn>
                        </p:par>
                      </p:childTnLst>
                    </p:cTn>
                  </p:par>
                  <p:par>
                    <p:cTn id="25" fill="hold">
                      <p:stCondLst>
                        <p:cond delay="indefinite"/>
                      </p:stCondLst>
                      <p:childTnLst>
                        <p:par>
                          <p:cTn id="26" fill="hold">
                            <p:stCondLst>
                              <p:cond delay="0"/>
                            </p:stCondLst>
                            <p:childTnLst>
                              <p:par>
                                <p:cTn id="24" presetID="2" presetClass="entr" presetSubtype="8" fill="hold" grpId="0"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anim calcmode="lin" valueType="num">
                                      <p:cBhvr additive="base">
                                        <p:cTn id="23" dur="500" fill="hold"/>
                                        <p:tgtEl>
                                          <p:spTgt spid="25"/>
                                        </p:tgtEl>
                                        <p:attrNameLst>
                                          <p:attrName>ppt_x</p:attrName>
                                        </p:attrNameLst>
                                      </p:cBhvr>
                                      <p:tavLst>
                                        <p:tav tm="0">
                                          <p:val>
                                            <p:strVal val="#ppt_x-0.08"/>
                                          </p:val>
                                        </p:tav>
                                        <p:tav tm="100000">
                                          <p:val>
                                            <p:strVal val="#ppt_x"/>
                                          </p:val>
                                        </p:tav>
                                      </p:tavLst>
                                    </p:anim>
                                  </p:childTnLst>
                                </p:cTn>
                              </p:par>
                            </p:childTnLst>
                          </p:cTn>
                        </p:par>
                      </p:childTnLst>
                    </p:cTn>
                  </p:par>
                  <p:par>
                    <p:cTn id="31" fill="hold">
                      <p:stCondLst>
                        <p:cond delay="indefinite"/>
                      </p:stCondLst>
                      <p:childTnLst>
                        <p:par>
                          <p:cTn id="32" fill="hold">
                            <p:stCondLst>
                              <p:cond delay="0"/>
                            </p:stCondLst>
                            <p:childTnLst>
                              <p:par>
                                <p:cTn id="30" presetID="2" presetClass="entr" presetSubtype="8" fill="hold" grpId="0" nodeType="click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500"/>
                                        <p:tgtEl>
                                          <p:spTgt spid="32"/>
                                        </p:tgtEl>
                                      </p:cBhvr>
                                    </p:animEffect>
                                    <p:anim calcmode="lin" valueType="num">
                                      <p:cBhvr additive="base">
                                        <p:cTn id="29" dur="500" fill="hold"/>
                                        <p:tgtEl>
                                          <p:spTgt spid="32"/>
                                        </p:tgtEl>
                                        <p:attrNameLst>
                                          <p:attrName>ppt_x</p:attrName>
                                        </p:attrNameLst>
                                      </p:cBhvr>
                                      <p:tavLst>
                                        <p:tav tm="0">
                                          <p:val>
                                            <p:strVal val="#ppt_x-0.08"/>
                                          </p:val>
                                        </p:tav>
                                        <p:tav tm="100000">
                                          <p:val>
                                            <p:strVal val="#ppt_x"/>
                                          </p:val>
                                        </p:tav>
                                      </p:tavLst>
                                    </p:anim>
                                  </p:childTnLst>
                                </p:cTn>
                              </p:par>
                            </p:childTnLst>
                          </p:cTn>
                        </p:par>
                      </p:childTnLst>
                    </p:cTn>
                  </p:par>
                  <p:par>
                    <p:cTn id="37" fill="hold">
                      <p:stCondLst>
                        <p:cond delay="indefinite"/>
                      </p:stCondLst>
                      <p:childTnLst>
                        <p:par>
                          <p:cTn id="38" fill="hold">
                            <p:stCondLst>
                              <p:cond delay="0"/>
                            </p:stCondLst>
                            <p:childTnLst>
                              <p:par>
                                <p:cTn id="36" presetID="2" presetClass="entr" presetSubtype="8" fill="hold" grpId="0" nodeType="clickEffect">
                                  <p:stCondLst>
                                    <p:cond delay="0"/>
                                  </p:stCondLst>
                                  <p:childTnLst>
                                    <p:set>
                                      <p:cBhvr>
                                        <p:cTn id="33" dur="1" fill="hold">
                                          <p:stCondLst>
                                            <p:cond delay="0"/>
                                          </p:stCondLst>
                                        </p:cTn>
                                        <p:tgtEl>
                                          <p:spTgt spid="39"/>
                                        </p:tgtEl>
                                        <p:attrNameLst>
                                          <p:attrName>style.visibility</p:attrName>
                                        </p:attrNameLst>
                                      </p:cBhvr>
                                      <p:to>
                                        <p:strVal val="visible"/>
                                      </p:to>
                                    </p:set>
                                    <p:animEffect transition="in" filter="fade">
                                      <p:cBhvr>
                                        <p:cTn id="34" dur="500"/>
                                        <p:tgtEl>
                                          <p:spTgt spid="39"/>
                                        </p:tgtEl>
                                      </p:cBhvr>
                                    </p:animEffect>
                                    <p:anim calcmode="lin" valueType="num">
                                      <p:cBhvr additive="base">
                                        <p:cTn id="35" dur="500" fill="hold"/>
                                        <p:tgtEl>
                                          <p:spTgt spid="39"/>
                                        </p:tgtEl>
                                        <p:attrNameLst>
                                          <p:attrName>ppt_x</p:attrName>
                                        </p:attrNameLst>
                                      </p:cBhvr>
                                      <p:tavLst>
                                        <p:tav tm="0">
                                          <p:val>
                                            <p:strVal val="#ppt_x-0.08"/>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WHY THE MEASUREMENTS FAILED</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Three causes, each with a concrete fix</a:t>
            </a:r>
          </a:p>
        </p:txBody>
      </p:sp>
      <p:sp>
        <p:nvSpPr>
          <p:cNvPr id="4" name="Rounded Rectangle 3"/>
          <p:cNvSpPr/>
          <p:nvPr/>
        </p:nvSpPr>
        <p:spPr>
          <a:xfrm>
            <a:off x="812800" y="1905000"/>
            <a:ext cx="4318000" cy="2070100"/>
          </a:xfrm>
          <a:prstGeom prst="roundRect">
            <a:avLst>
              <a:gd name="adj" fmla="val 368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rink.png"/>
          <p:cNvPicPr>
            <a:picLocks noChangeAspect="1"/>
          </p:cNvPicPr>
          <p:nvPr/>
        </p:nvPicPr>
        <p:blipFill>
          <a:blip r:embed="rId2"/>
          <a:stretch>
            <a:fillRect/>
          </a:stretch>
        </p:blipFill>
        <p:spPr>
          <a:xfrm>
            <a:off x="814538" y="1905000"/>
            <a:ext cx="4314524" cy="2070100"/>
          </a:xfrm>
          <a:prstGeom prst="rect">
            <a:avLst/>
          </a:prstGeom>
        </p:spPr>
      </p:pic>
      <p:sp>
        <p:nvSpPr>
          <p:cNvPr id="6" name="TextBox 5"/>
          <p:cNvSpPr txBox="1"/>
          <p:nvPr/>
        </p:nvSpPr>
        <p:spPr>
          <a:xfrm>
            <a:off x="812800" y="4051300"/>
            <a:ext cx="2159000" cy="254000"/>
          </a:xfrm>
          <a:prstGeom prst="rect">
            <a:avLst/>
          </a:prstGeom>
          <a:noFill/>
        </p:spPr>
        <p:txBody>
          <a:bodyPr wrap="square" lIns="0" rIns="0" tIns="0" bIns="0" anchor="t">
            <a:spAutoFit/>
          </a:bodyPr>
          <a:lstStyle/>
          <a:p>
            <a:pPr algn="ctr">
              <a:lnSpc>
                <a:spcPct val="120000"/>
              </a:lnSpc>
            </a:pPr>
            <a:r>
              <a:rPr sz="1200" b="0" i="0">
                <a:solidFill>
                  <a:srgbClr val="4A5568"/>
                </a:solidFill>
                <a:latin typeface="Calibri"/>
              </a:rPr>
              <a:t>CT truth, 6.8 mm</a:t>
            </a:r>
          </a:p>
        </p:txBody>
      </p:sp>
      <p:sp>
        <p:nvSpPr>
          <p:cNvPr id="7" name="TextBox 6"/>
          <p:cNvSpPr txBox="1"/>
          <p:nvPr/>
        </p:nvSpPr>
        <p:spPr>
          <a:xfrm>
            <a:off x="2971800" y="4051300"/>
            <a:ext cx="2159000" cy="254000"/>
          </a:xfrm>
          <a:prstGeom prst="rect">
            <a:avLst/>
          </a:prstGeom>
          <a:noFill/>
        </p:spPr>
        <p:txBody>
          <a:bodyPr wrap="square" lIns="0" rIns="0" tIns="0" bIns="0" anchor="t">
            <a:spAutoFit/>
          </a:bodyPr>
          <a:lstStyle/>
          <a:p>
            <a:pPr algn="ctr">
              <a:lnSpc>
                <a:spcPct val="120000"/>
              </a:lnSpc>
            </a:pPr>
            <a:r>
              <a:rPr sz="1200" b="1" i="0">
                <a:solidFill>
                  <a:srgbClr val="B4521A"/>
                </a:solidFill>
                <a:latin typeface="Calibri"/>
              </a:rPr>
              <a:t>Ours: nodule shrunk</a:t>
            </a:r>
          </a:p>
        </p:txBody>
      </p:sp>
      <p:grpSp>
        <p:nvGrpSpPr>
          <p:cNvPr id="8" name="Group 7"/>
          <p:cNvGrpSpPr/>
          <p:nvPr/>
        </p:nvGrpSpPr>
        <p:grpSpPr>
          <a:xfrm>
            <a:off x="5435600" y="1905000"/>
            <a:ext cx="5943600" cy="1143000"/>
            <a:chOff x="5435600" y="1905000"/>
            <a:chExt cx="5943600" cy="1143000"/>
          </a:xfrm>
        </p:grpSpPr>
        <p:sp>
          <p:nvSpPr>
            <p:cNvPr id="9" name="Rounded Rectangle 8"/>
            <p:cNvSpPr/>
            <p:nvPr/>
          </p:nvSpPr>
          <p:spPr>
            <a:xfrm>
              <a:off x="5435600" y="1905000"/>
              <a:ext cx="5943600" cy="1143000"/>
            </a:xfrm>
            <a:prstGeom prst="roundRect">
              <a:avLst>
                <a:gd name="adj" fmla="val 8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5600" y="1905000"/>
              <a:ext cx="50800" cy="114300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51500" y="2037080"/>
              <a:ext cx="5562600" cy="87884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1. The prior shrinks faint nodules</a:t>
              </a:r>
            </a:p>
            <a:p>
              <a:pPr algn="l">
                <a:lnSpc>
                  <a:spcPct val="125000"/>
                </a:lnSpc>
                <a:spcBef>
                  <a:spcPts val="400"/>
                </a:spcBef>
              </a:pPr>
              <a:r>
                <a:rPr sz="1300" b="0" i="0">
                  <a:solidFill>
                    <a:srgbClr val="4A5568"/>
                  </a:solidFill>
                  <a:latin typeface="Calibri"/>
                </a:rPr>
                <a:t>Fix: condition it on the click and oversample nodule pairs.</a:t>
              </a:r>
            </a:p>
          </p:txBody>
        </p:sp>
      </p:grpSp>
      <p:grpSp>
        <p:nvGrpSpPr>
          <p:cNvPr id="12" name="Group 11"/>
          <p:cNvGrpSpPr/>
          <p:nvPr/>
        </p:nvGrpSpPr>
        <p:grpSpPr>
          <a:xfrm>
            <a:off x="5435600" y="3175000"/>
            <a:ext cx="5943600" cy="1143000"/>
            <a:chOff x="5435600" y="3175000"/>
            <a:chExt cx="5943600" cy="1143000"/>
          </a:xfrm>
        </p:grpSpPr>
        <p:sp>
          <p:nvSpPr>
            <p:cNvPr id="13" name="Rounded Rectangle 12"/>
            <p:cNvSpPr/>
            <p:nvPr/>
          </p:nvSpPr>
          <p:spPr>
            <a:xfrm>
              <a:off x="5435600" y="3175000"/>
              <a:ext cx="5943600" cy="1143000"/>
            </a:xfrm>
            <a:prstGeom prst="roundRect">
              <a:avLst>
                <a:gd name="adj" fmla="val 8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600" y="3175000"/>
              <a:ext cx="50800" cy="114300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51500" y="3307080"/>
              <a:ext cx="5562600" cy="87884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2. Mass was measured in image space</a:t>
              </a:r>
            </a:p>
            <a:p>
              <a:pPr algn="l">
                <a:lnSpc>
                  <a:spcPct val="125000"/>
                </a:lnSpc>
                <a:spcBef>
                  <a:spcPts val="400"/>
                </a:spcBef>
              </a:pPr>
              <a:r>
                <a:rPr sz="1300" b="0" i="0">
                  <a:solidFill>
                    <a:srgbClr val="4A5568"/>
                  </a:solidFill>
                  <a:latin typeface="Calibri"/>
                </a:rPr>
                <a:t>Fix: integrate the detector signal directly, where mass is 99.7% seen.</a:t>
              </a:r>
            </a:p>
          </p:txBody>
        </p:sp>
      </p:grpSp>
      <p:grpSp>
        <p:nvGrpSpPr>
          <p:cNvPr id="16" name="Group 15"/>
          <p:cNvGrpSpPr/>
          <p:nvPr/>
        </p:nvGrpSpPr>
        <p:grpSpPr>
          <a:xfrm>
            <a:off x="5435600" y="4445000"/>
            <a:ext cx="5943600" cy="1143000"/>
            <a:chOff x="5435600" y="4445000"/>
            <a:chExt cx="5943600" cy="1143000"/>
          </a:xfrm>
        </p:grpSpPr>
        <p:sp>
          <p:nvSpPr>
            <p:cNvPr id="17" name="Rounded Rectangle 16"/>
            <p:cNvSpPr/>
            <p:nvPr/>
          </p:nvSpPr>
          <p:spPr>
            <a:xfrm>
              <a:off x="5435600" y="4445000"/>
              <a:ext cx="5943600" cy="1143000"/>
            </a:xfrm>
            <a:prstGeom prst="roundRect">
              <a:avLst>
                <a:gd name="adj" fmla="val 8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35600" y="4445000"/>
              <a:ext cx="50800" cy="114300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51500" y="4577080"/>
              <a:ext cx="5562600" cy="87884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3. Failures broke the calibration</a:t>
              </a:r>
            </a:p>
            <a:p>
              <a:pPr algn="l">
                <a:lnSpc>
                  <a:spcPct val="125000"/>
                </a:lnSpc>
                <a:spcBef>
                  <a:spcPts val="400"/>
                </a:spcBef>
              </a:pPr>
              <a:r>
                <a:rPr sz="1300" b="0" i="0">
                  <a:solidFill>
                    <a:srgbClr val="4A5568"/>
                  </a:solidFill>
                  <a:latin typeface="Calibri"/>
                </a:rPr>
                <a:t>Fix: report “not measurable” separately, calibrate the rest.</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additive="base">
                                        <p:cTn id="5"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anim calcmode="lin" valueType="num">
                                      <p:cBhvr additive="base">
                                        <p:cTn id="11"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500"/>
                                        <p:tgtEl>
                                          <p:spTgt spid="16"/>
                                        </p:tgtEl>
                                      </p:cBhvr>
                                    </p:animEffect>
                                    <p:anim calcmode="lin" valueType="num">
                                      <p:cBhvr additive="base">
                                        <p:cTn id="17" dur="500" fill="hold"/>
                                        <p:tgtEl>
                                          <p:spTgt spid="1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COST, STANDARDS AND LAW</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A 583-patient study for about US$22</a:t>
            </a:r>
          </a:p>
        </p:txBody>
      </p:sp>
      <p:grpSp>
        <p:nvGrpSpPr>
          <p:cNvPr id="4" name="Group 3"/>
          <p:cNvGrpSpPr/>
          <p:nvPr/>
        </p:nvGrpSpPr>
        <p:grpSpPr>
          <a:xfrm>
            <a:off x="812800" y="1905000"/>
            <a:ext cx="5156200" cy="3810000"/>
            <a:chOff x="812800" y="1905000"/>
            <a:chExt cx="5156200" cy="3810000"/>
          </a:xfrm>
        </p:grpSpPr>
        <p:sp>
          <p:nvSpPr>
            <p:cNvPr id="5" name="Rounded Rectangle 4"/>
            <p:cNvSpPr/>
            <p:nvPr/>
          </p:nvSpPr>
          <p:spPr>
            <a:xfrm>
              <a:off x="812800" y="1905000"/>
              <a:ext cx="5156200" cy="3810000"/>
            </a:xfrm>
            <a:prstGeom prst="roundRect">
              <a:avLst>
                <a:gd name="adj" fmla="val 26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 y="2108200"/>
              <a:ext cx="4648200" cy="3403600"/>
            </a:xfrm>
            <a:prstGeom prst="rect">
              <a:avLst/>
            </a:prstGeom>
            <a:noFill/>
          </p:spPr>
          <p:txBody>
            <a:bodyPr wrap="square" lIns="0" rIns="0" tIns="0" bIns="0" anchor="t">
              <a:spAutoFit/>
            </a:bodyPr>
            <a:lstStyle/>
            <a:p>
              <a:pPr algn="l">
                <a:lnSpc>
                  <a:spcPct val="100000"/>
                </a:lnSpc>
              </a:pPr>
              <a:r>
                <a:rPr sz="4800" b="1" i="0">
                  <a:solidFill>
                    <a:srgbClr val="1F5FA8"/>
                  </a:solidFill>
                  <a:latin typeface="Georgia"/>
                </a:rPr>
                <a:t>≈ $20</a:t>
              </a:r>
            </a:p>
            <a:p>
              <a:pPr algn="l">
                <a:lnSpc>
                  <a:spcPct val="130000"/>
                </a:lnSpc>
                <a:spcBef>
                  <a:spcPts val="1000"/>
                </a:spcBef>
              </a:pPr>
              <a:r>
                <a:rPr sz="1400" b="0" i="0">
                  <a:solidFill>
                    <a:srgbClr val="14213D"/>
                  </a:solidFill>
                  <a:latin typeface="Calibri"/>
                </a:rPr>
                <a:t>RunPod L40S GPU (48 GB), </a:t>
              </a:r>
              <a:r>
                <a:rPr sz="1400" b="1" i="0">
                  <a:solidFill>
                    <a:srgbClr val="14213D"/>
                  </a:solidFill>
                  <a:latin typeface="Calibri"/>
                </a:rPr>
                <a:t>15 h × US$1.33/h</a:t>
              </a:r>
              <a:r>
                <a:rPr sz="1400" b="0" i="0">
                  <a:solidFill>
                    <a:srgbClr val="14213D"/>
                  </a:solidFill>
                  <a:latin typeface="Calibri"/>
                </a:rPr>
                <a:t>, plus &lt;$2 CPU; total ≈ BDT 2,640.</a:t>
              </a:r>
            </a:p>
            <a:p>
              <a:pPr algn="l">
                <a:lnSpc>
                  <a:spcPct val="130000"/>
                </a:lnSpc>
                <a:spcBef>
                  <a:spcPts val="800"/>
                </a:spcBef>
              </a:pPr>
              <a:r>
                <a:rPr sz="1300" b="0" i="0">
                  <a:solidFill>
                    <a:srgbClr val="4A5568"/>
                  </a:solidFill>
                  <a:latin typeface="Calibri"/>
                </a:rPr>
                <a:t>Buying an RTX 4090 workstation: BDT 4–5 lakh. Renting cost under 1% of buying.</a:t>
              </a:r>
            </a:p>
            <a:p>
              <a:pPr algn="l">
                <a:lnSpc>
                  <a:spcPct val="130000"/>
                </a:lnSpc>
                <a:spcBef>
                  <a:spcPts val="800"/>
                </a:spcBef>
              </a:pPr>
              <a:r>
                <a:rPr sz="1300" b="0" i="0">
                  <a:solidFill>
                    <a:srgbClr val="4A5568"/>
                  </a:solidFill>
                  <a:latin typeface="Calibri"/>
                </a:rPr>
                <a:t>Demo: free Kaggle GPU, 45.5 s per nodule (all methods).</a:t>
              </a:r>
            </a:p>
          </p:txBody>
        </p:sp>
      </p:grpSp>
      <p:grpSp>
        <p:nvGrpSpPr>
          <p:cNvPr id="7" name="Group 6"/>
          <p:cNvGrpSpPr/>
          <p:nvPr/>
        </p:nvGrpSpPr>
        <p:grpSpPr>
          <a:xfrm>
            <a:off x="6223000" y="1905000"/>
            <a:ext cx="5156200" cy="3810000"/>
            <a:chOff x="6223000" y="1905000"/>
            <a:chExt cx="5156200" cy="3810000"/>
          </a:xfrm>
        </p:grpSpPr>
        <p:sp>
          <p:nvSpPr>
            <p:cNvPr id="8" name="Rounded Rectangle 7"/>
            <p:cNvSpPr/>
            <p:nvPr/>
          </p:nvSpPr>
          <p:spPr>
            <a:xfrm>
              <a:off x="6223000" y="1905000"/>
              <a:ext cx="5156200" cy="3810000"/>
            </a:xfrm>
            <a:prstGeom prst="roundRect">
              <a:avLst>
                <a:gd name="adj" fmla="val 26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7000" y="2108200"/>
              <a:ext cx="4648200" cy="3403600"/>
            </a:xfrm>
            <a:prstGeom prst="rect">
              <a:avLst/>
            </a:prstGeom>
            <a:noFill/>
          </p:spPr>
          <p:txBody>
            <a:bodyPr wrap="square" lIns="0" rIns="0" tIns="0" bIns="0" anchor="t">
              <a:spAutoFit/>
            </a:bodyPr>
            <a:lstStyle/>
            <a:p>
              <a:pPr algn="l">
                <a:lnSpc>
                  <a:spcPct val="130000"/>
                </a:lnSpc>
              </a:pPr>
              <a:r>
                <a:rPr sz="1800" b="1" i="0">
                  <a:solidFill>
                    <a:srgbClr val="14213D"/>
                  </a:solidFill>
                  <a:latin typeface="Georgia"/>
                </a:rPr>
                <a:t>Legal and ethical</a:t>
              </a:r>
            </a:p>
            <a:p>
              <a:pPr algn="l">
                <a:lnSpc>
                  <a:spcPct val="130000"/>
                </a:lnSpc>
                <a:spcBef>
                  <a:spcPts val="900"/>
                </a:spcBef>
              </a:pPr>
              <a:r>
                <a:rPr sz="1300" b="1" i="0">
                  <a:solidFill>
                    <a:srgbClr val="14213D"/>
                  </a:solidFill>
                  <a:latin typeface="Calibri"/>
                </a:rPr>
                <a:t>Data: </a:t>
              </a:r>
              <a:r>
                <a:rPr sz="1300" b="0" i="0">
                  <a:solidFill>
                    <a:srgbClr val="4A5568"/>
                  </a:solidFill>
                  <a:latin typeface="Calibri"/>
                </a:rPr>
                <a:t>LIDC-IDRI under CC BY 3.0, cited; no re-identification.</a:t>
              </a:r>
            </a:p>
            <a:p>
              <a:pPr algn="l">
                <a:lnSpc>
                  <a:spcPct val="130000"/>
                </a:lnSpc>
                <a:spcBef>
                  <a:spcPts val="700"/>
                </a:spcBef>
              </a:pPr>
              <a:r>
                <a:rPr sz="1300" b="1" i="0">
                  <a:solidFill>
                    <a:srgbClr val="14213D"/>
                  </a:solidFill>
                  <a:latin typeface="Calibri"/>
                </a:rPr>
                <a:t>Device: </a:t>
              </a:r>
              <a:r>
                <a:rPr sz="1300" b="0" i="0">
                  <a:solidFill>
                    <a:srgbClr val="4A5568"/>
                  </a:solidFill>
                  <a:latin typeface="Calibri"/>
                </a:rPr>
                <a:t>diagnostic software is a medical device under DGDA guidelines and the Drugs and Cosmetics Act 2023.</a:t>
              </a:r>
            </a:p>
            <a:p>
              <a:pPr algn="l">
                <a:lnSpc>
                  <a:spcPct val="130000"/>
                </a:lnSpc>
                <a:spcBef>
                  <a:spcPts val="700"/>
                </a:spcBef>
              </a:pPr>
              <a:r>
                <a:rPr sz="1300" b="1" i="0">
                  <a:solidFill>
                    <a:srgbClr val="14213D"/>
                  </a:solidFill>
                  <a:latin typeface="Calibri"/>
                </a:rPr>
                <a:t>Privacy: </a:t>
              </a:r>
              <a:r>
                <a:rPr sz="1300" b="0" i="0">
                  <a:solidFill>
                    <a:srgbClr val="4A5568"/>
                  </a:solidFill>
                  <a:latin typeface="Calibri"/>
                </a:rPr>
                <a:t>Personal Data Protection Ordinance 2025: consent required, health data sensitive.</a:t>
              </a:r>
            </a:p>
            <a:p>
              <a:pPr algn="l">
                <a:lnSpc>
                  <a:spcPct val="130000"/>
                </a:lnSpc>
                <a:spcBef>
                  <a:spcPts val="700"/>
                </a:spcBef>
              </a:pPr>
              <a:r>
                <a:rPr sz="1300" b="1" i="0">
                  <a:solidFill>
                    <a:srgbClr val="14213D"/>
                  </a:solidFill>
                  <a:latin typeface="Calibri"/>
                </a:rPr>
                <a:t>Standards: </a:t>
              </a:r>
              <a:r>
                <a:rPr sz="1300" b="0" i="0">
                  <a:solidFill>
                    <a:srgbClr val="4A5568"/>
                  </a:solidFill>
                  <a:latin typeface="Calibri"/>
                </a:rPr>
                <a:t>ISO 14971, IEC 62304, DICOM.</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CONCLUSION</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What we contribute, and what comes next</a:t>
            </a:r>
          </a:p>
        </p:txBody>
      </p:sp>
      <p:sp>
        <p:nvSpPr>
          <p:cNvPr id="4" name="TextBox 3"/>
          <p:cNvSpPr txBox="1"/>
          <p:nvPr/>
        </p:nvSpPr>
        <p:spPr>
          <a:xfrm>
            <a:off x="812800" y="1905000"/>
            <a:ext cx="5080000" cy="2921000"/>
          </a:xfrm>
          <a:prstGeom prst="rect">
            <a:avLst/>
          </a:prstGeom>
          <a:noFill/>
        </p:spPr>
        <p:txBody>
          <a:bodyPr wrap="square" lIns="0" rIns="0" tIns="0" bIns="0" anchor="t">
            <a:spAutoFit/>
          </a:bodyPr>
          <a:lstStyle/>
          <a:p>
            <a:pPr algn="l">
              <a:lnSpc>
                <a:spcPct val="120000"/>
              </a:lnSpc>
            </a:pPr>
            <a:r>
              <a:rPr sz="1600" b="1" i="0">
                <a:solidFill>
                  <a:srgbClr val="1F5FA8"/>
                </a:solidFill>
                <a:latin typeface="Calibri"/>
              </a:rPr>
              <a:t>Contributions</a:t>
            </a:r>
          </a:p>
          <a:p>
            <a:pPr algn="l">
              <a:lnSpc>
                <a:spcPct val="125000"/>
              </a:lnSpc>
              <a:spcBef>
                <a:spcPts val="700"/>
              </a:spcBef>
            </a:pPr>
            <a:r>
              <a:rPr sz="1300" b="0" i="0">
                <a:solidFill>
                  <a:srgbClr val="14213D"/>
                </a:solidFill>
                <a:latin typeface="Calibri"/>
              </a:rPr>
              <a:t>•  Projection-moment proof: DTS measures mass, not depth extent</a:t>
            </a:r>
          </a:p>
          <a:p>
            <a:pPr algn="l">
              <a:lnSpc>
                <a:spcPct val="125000"/>
              </a:lnSpc>
              <a:spcBef>
                <a:spcPts val="700"/>
              </a:spcBef>
            </a:pPr>
            <a:r>
              <a:rPr sz="1300" b="0" i="0">
                <a:solidFill>
                  <a:srgbClr val="14213D"/>
                </a:solidFill>
                <a:latin typeface="Calibri"/>
              </a:rPr>
              <a:t>•  X-ray-consistent diffusion prior in a DTS prism with Gaussian mass</a:t>
            </a:r>
          </a:p>
          <a:p>
            <a:pPr algn="l">
              <a:lnSpc>
                <a:spcPct val="125000"/>
              </a:lnSpc>
              <a:spcBef>
                <a:spcPts val="700"/>
              </a:spcBef>
            </a:pPr>
            <a:r>
              <a:rPr sz="1300" b="0" i="0">
                <a:solidFill>
                  <a:srgbClr val="14213D"/>
                </a:solidFill>
                <a:latin typeface="Calibri"/>
              </a:rPr>
              <a:t>•  Calibrated, decision-level uncertainty for DTS volumetry</a:t>
            </a:r>
          </a:p>
          <a:p>
            <a:pPr algn="l">
              <a:lnSpc>
                <a:spcPct val="125000"/>
              </a:lnSpc>
              <a:spcBef>
                <a:spcPts val="700"/>
              </a:spcBef>
            </a:pPr>
            <a:r>
              <a:rPr sz="1300" b="0" i="0">
                <a:solidFill>
                  <a:srgbClr val="14213D"/>
                </a:solidFill>
                <a:latin typeface="Calibri"/>
              </a:rPr>
              <a:t>•  Truth-referenced test of what a generative prior adds</a:t>
            </a:r>
          </a:p>
          <a:p>
            <a:pPr algn="l">
              <a:lnSpc>
                <a:spcPct val="125000"/>
              </a:lnSpc>
              <a:spcBef>
                <a:spcPts val="700"/>
              </a:spcBef>
            </a:pPr>
            <a:r>
              <a:rPr sz="1300" b="0" i="0">
                <a:solidFill>
                  <a:srgbClr val="14213D"/>
                </a:solidFill>
                <a:latin typeface="Calibri"/>
              </a:rPr>
              <a:t>•  Verified, open 18-step pipeline and click-to-3D application</a:t>
            </a:r>
          </a:p>
        </p:txBody>
      </p:sp>
      <p:sp>
        <p:nvSpPr>
          <p:cNvPr id="5" name="TextBox 4"/>
          <p:cNvSpPr txBox="1"/>
          <p:nvPr/>
        </p:nvSpPr>
        <p:spPr>
          <a:xfrm>
            <a:off x="6299200" y="1905000"/>
            <a:ext cx="5080000" cy="2921000"/>
          </a:xfrm>
          <a:prstGeom prst="rect">
            <a:avLst/>
          </a:prstGeom>
          <a:noFill/>
        </p:spPr>
        <p:txBody>
          <a:bodyPr wrap="square" lIns="0" rIns="0" tIns="0" bIns="0" anchor="t">
            <a:spAutoFit/>
          </a:bodyPr>
          <a:lstStyle/>
          <a:p>
            <a:pPr algn="l">
              <a:lnSpc>
                <a:spcPct val="120000"/>
              </a:lnSpc>
            </a:pPr>
            <a:r>
              <a:rPr sz="1600" b="1" i="0">
                <a:solidFill>
                  <a:srgbClr val="2E7D4F"/>
                </a:solidFill>
                <a:latin typeface="Calibri"/>
              </a:rPr>
              <a:t>Future work</a:t>
            </a:r>
          </a:p>
          <a:p>
            <a:pPr algn="l">
              <a:lnSpc>
                <a:spcPct val="125000"/>
              </a:lnSpc>
              <a:spcBef>
                <a:spcPts val="700"/>
              </a:spcBef>
            </a:pPr>
            <a:r>
              <a:rPr sz="1300" b="0" i="0">
                <a:solidFill>
                  <a:srgbClr val="14213D"/>
                </a:solidFill>
                <a:latin typeface="Calibri"/>
              </a:rPr>
              <a:t>•  Click-conditioned, nodule-preserving prior</a:t>
            </a:r>
          </a:p>
          <a:p>
            <a:pPr algn="l">
              <a:lnSpc>
                <a:spcPct val="125000"/>
              </a:lnSpc>
              <a:spcBef>
                <a:spcPts val="700"/>
              </a:spcBef>
            </a:pPr>
            <a:r>
              <a:rPr sz="1300" b="0" i="0">
                <a:solidFill>
                  <a:srgbClr val="14213D"/>
                </a:solidFill>
                <a:latin typeface="Calibri"/>
              </a:rPr>
              <a:t>•  Projection-domain mass measurement</a:t>
            </a:r>
          </a:p>
          <a:p>
            <a:pPr algn="l">
              <a:lnSpc>
                <a:spcPct val="125000"/>
              </a:lnSpc>
              <a:spcBef>
                <a:spcPts val="700"/>
              </a:spcBef>
            </a:pPr>
            <a:r>
              <a:rPr sz="1300" b="0" i="0">
                <a:solidFill>
                  <a:srgbClr val="14213D"/>
                </a:solidFill>
                <a:latin typeface="Calibri"/>
              </a:rPr>
              <a:t>•  Failure-aware calibration</a:t>
            </a:r>
          </a:p>
          <a:p>
            <a:pPr algn="l">
              <a:lnSpc>
                <a:spcPct val="125000"/>
              </a:lnSpc>
              <a:spcBef>
                <a:spcPts val="700"/>
              </a:spcBef>
            </a:pPr>
            <a:r>
              <a:rPr sz="1300" b="0" i="0">
                <a:solidFill>
                  <a:srgbClr val="14213D"/>
                </a:solidFill>
                <a:latin typeface="Calibri"/>
              </a:rPr>
              <a:t>•  Real DTS + CT data with a hospital partner</a:t>
            </a:r>
          </a:p>
          <a:p>
            <a:pPr algn="l">
              <a:lnSpc>
                <a:spcPct val="125000"/>
              </a:lnSpc>
              <a:spcBef>
                <a:spcPts val="700"/>
              </a:spcBef>
            </a:pPr>
            <a:r>
              <a:rPr sz="1300" b="0" i="0">
                <a:solidFill>
                  <a:srgbClr val="14213D"/>
                </a:solidFill>
                <a:latin typeface="Calibri"/>
              </a:rPr>
              <a:t>•  Bangla interface and PACS integration</a:t>
            </a:r>
          </a:p>
        </p:txBody>
      </p:sp>
      <p:grpSp>
        <p:nvGrpSpPr>
          <p:cNvPr id="6" name="Group 5"/>
          <p:cNvGrpSpPr/>
          <p:nvPr/>
        </p:nvGrpSpPr>
        <p:grpSpPr>
          <a:xfrm>
            <a:off x="812800" y="5016500"/>
            <a:ext cx="10566400" cy="762000"/>
            <a:chOff x="812800" y="5016500"/>
            <a:chExt cx="10566400" cy="762000"/>
          </a:xfrm>
        </p:grpSpPr>
        <p:sp>
          <p:nvSpPr>
            <p:cNvPr id="7" name="Rounded Rectangle 6"/>
            <p:cNvSpPr/>
            <p:nvPr/>
          </p:nvSpPr>
          <p:spPr>
            <a:xfrm>
              <a:off x="812800" y="5016500"/>
              <a:ext cx="10566400" cy="762000"/>
            </a:xfrm>
            <a:prstGeom prst="roundRect">
              <a:avLst>
                <a:gd name="adj" fmla="val 13333"/>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2800" y="5016500"/>
              <a:ext cx="50800" cy="762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8700" y="5148580"/>
              <a:ext cx="10185400" cy="497840"/>
            </a:xfrm>
            <a:prstGeom prst="rect">
              <a:avLst/>
            </a:prstGeom>
            <a:noFill/>
          </p:spPr>
          <p:txBody>
            <a:bodyPr wrap="square" lIns="0" rIns="0" tIns="0" bIns="0" anchor="ctr">
              <a:spAutoFit/>
            </a:bodyPr>
            <a:lstStyle/>
            <a:p>
              <a:pPr algn="l">
                <a:lnSpc>
                  <a:spcPct val="120000"/>
                </a:lnSpc>
              </a:pPr>
              <a:r>
                <a:rPr sz="1600" b="1" i="0">
                  <a:solidFill>
                    <a:srgbClr val="14213D"/>
                  </a:solidFill>
                  <a:latin typeface="Calibri"/>
                </a:rPr>
                <a:t>Take-away: </a:t>
              </a:r>
              <a:r>
                <a:rPr sz="1600" b="0" i="0">
                  <a:solidFill>
                    <a:srgbClr val="14213D"/>
                  </a:solidFill>
                  <a:latin typeface="Calibri"/>
                </a:rPr>
                <a:t>in medical generative AI, better images do not guarantee better measurements; measure and calibrate the number that matters.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childTnLst>
                                </p:cTn>
                              </p:par>
                            </p:childTnLst>
                          </p:cTn>
                        </p:par>
                      </p:childTnLst>
                    </p:cTn>
                  </p:par>
                  <p:par>
                    <p:cTn id="12" fill="hold">
                      <p:stCondLst>
                        <p:cond delay="indefinite"/>
                      </p:stCondLst>
                      <p:childTnLst>
                        <p:par>
                          <p:cTn id="13" fill="hold">
                            <p:stCondLst>
                              <p:cond delay="0"/>
                            </p:stCondLst>
                            <p:childTnLst>
                              <p:par>
                                <p:cTn id="11" presetID="42" presetClass="entr" presetSubtype="0" fill="hold" grpId="0"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additive="base">
                                        <p:cTn id="10" dur="500" fill="hold"/>
                                        <p:tgtEl>
                                          <p:spTgt spid="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0.xml><?xml version="1.0" encoding="utf-8"?>
<p:sld xmlns:a="http://schemas.openxmlformats.org/drawingml/2006/main" xmlns:p="http://schemas.openxmlformats.org/presentationml/2006/main" xmlns:r="http://schemas.openxmlformats.org/officeDocument/2006/relationships">
  <p:cSld>
    <p:bg>
      <p:bgPr>
        <a:gradFill rotWithShape="1">
          <a:gsLst>
            <a:gs pos="0">
              <a:srgbClr val="14213D"/>
            </a:gs>
            <a:gs pos="100000">
              <a:srgbClr val="1B2E52"/>
            </a:gs>
          </a:gsLst>
          <a:lin scaled="0" ang="13500000"/>
        </a:gradFill>
        <a:effectLst/>
      </p:bgPr>
    </p:bg>
    <p:spTree>
      <p:nvGrpSpPr>
        <p:cNvPr id="1" name=""/>
        <p:cNvGrpSpPr/>
        <p:nvPr/>
      </p:nvGrpSpPr>
      <p:grpSpPr/>
      <p:sp>
        <p:nvSpPr>
          <p:cNvPr id="2" name="TextBox 1"/>
          <p:cNvSpPr txBox="1"/>
          <p:nvPr/>
        </p:nvSpPr>
        <p:spPr>
          <a:xfrm>
            <a:off x="812800" y="2095500"/>
            <a:ext cx="10566400" cy="889000"/>
          </a:xfrm>
          <a:prstGeom prst="rect">
            <a:avLst/>
          </a:prstGeom>
          <a:noFill/>
        </p:spPr>
        <p:txBody>
          <a:bodyPr wrap="square" lIns="0" rIns="0" tIns="0" bIns="0" anchor="t">
            <a:spAutoFit/>
          </a:bodyPr>
          <a:lstStyle/>
          <a:p>
            <a:pPr algn="l">
              <a:lnSpc>
                <a:spcPct val="120000"/>
              </a:lnSpc>
            </a:pPr>
            <a:r>
              <a:rPr sz="6000" b="1" i="0">
                <a:solidFill>
                  <a:srgbClr val="F7F6F2"/>
                </a:solidFill>
                <a:latin typeface="Georgia"/>
              </a:rPr>
              <a:t>Thank you</a:t>
            </a:r>
          </a:p>
        </p:txBody>
      </p:sp>
      <p:sp>
        <p:nvSpPr>
          <p:cNvPr id="3" name="TextBox 2"/>
          <p:cNvSpPr txBox="1"/>
          <p:nvPr/>
        </p:nvSpPr>
        <p:spPr>
          <a:xfrm>
            <a:off x="812800" y="3111500"/>
            <a:ext cx="10566400" cy="381000"/>
          </a:xfrm>
          <a:prstGeom prst="rect">
            <a:avLst/>
          </a:prstGeom>
          <a:noFill/>
        </p:spPr>
        <p:txBody>
          <a:bodyPr wrap="square" lIns="0" rIns="0" tIns="0" bIns="0" anchor="t">
            <a:spAutoFit/>
          </a:bodyPr>
          <a:lstStyle/>
          <a:p>
            <a:pPr algn="l">
              <a:lnSpc>
                <a:spcPct val="120000"/>
              </a:lnSpc>
            </a:pPr>
            <a:r>
              <a:rPr sz="2000" b="0" i="0">
                <a:solidFill>
                  <a:srgbClr val="DCE5F1"/>
                </a:solidFill>
                <a:latin typeface="Calibri"/>
              </a:rPr>
              <a:t>Questions and answers</a:t>
            </a:r>
          </a:p>
        </p:txBody>
      </p:sp>
      <p:cxnSp>
        <p:nvCxnSpPr>
          <p:cNvPr id="4" name="Connector 3"/>
          <p:cNvCxnSpPr/>
          <p:nvPr/>
        </p:nvCxnSpPr>
        <p:spPr>
          <a:xfrm>
            <a:off x="812800" y="3810000"/>
            <a:ext cx="10566400" cy="0"/>
          </a:xfrm>
          <a:prstGeom prst="line">
            <a:avLst/>
          </a:prstGeom>
          <a:ln w="12700">
            <a:solidFill>
              <a:srgbClr val="3A548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12800" y="4000500"/>
            <a:ext cx="10566400" cy="317500"/>
          </a:xfrm>
          <a:prstGeom prst="rect">
            <a:avLst/>
          </a:prstGeom>
          <a:noFill/>
        </p:spPr>
        <p:txBody>
          <a:bodyPr wrap="square" lIns="0" rIns="0" tIns="0" bIns="0" anchor="t">
            <a:spAutoFit/>
          </a:bodyPr>
          <a:lstStyle/>
          <a:p>
            <a:pPr algn="l">
              <a:lnSpc>
                <a:spcPct val="120000"/>
              </a:lnSpc>
            </a:pPr>
            <a:r>
              <a:rPr sz="1400" b="0" i="0">
                <a:solidFill>
                  <a:srgbClr val="A9BCD6"/>
                </a:solidFill>
                <a:latin typeface="Calibri"/>
              </a:rPr>
              <a:t>Jubair Ahmed · Foyez Ahammed Naeem · Md Motasim Billah</a:t>
            </a:r>
          </a:p>
        </p:txBody>
      </p:sp>
      <p:sp>
        <p:nvSpPr>
          <p:cNvPr id="6" name="TextBox 5"/>
          <p:cNvSpPr txBox="1"/>
          <p:nvPr/>
        </p:nvSpPr>
        <p:spPr>
          <a:xfrm>
            <a:off x="812800" y="4445000"/>
            <a:ext cx="10566400" cy="317500"/>
          </a:xfrm>
          <a:prstGeom prst="rect">
            <a:avLst/>
          </a:prstGeom>
          <a:noFill/>
        </p:spPr>
        <p:txBody>
          <a:bodyPr wrap="square" lIns="0" rIns="0" tIns="0" bIns="0" anchor="t">
            <a:spAutoFit/>
          </a:bodyPr>
          <a:lstStyle/>
          <a:p>
            <a:pPr algn="l">
              <a:lnSpc>
                <a:spcPct val="120000"/>
              </a:lnSpc>
            </a:pPr>
            <a:r>
              <a:rPr sz="1300" b="0" i="0">
                <a:solidFill>
                  <a:srgbClr val="A9BCD6"/>
                </a:solidFill>
                <a:latin typeface="Calibri"/>
              </a:rPr>
              <a:t>Department of Computer Science and Engineering, United International University</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