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Good morning. We are presenting MedLift-3D. In one sentence: a doctor clicks on a nodule in a low-dose chest tomosynthesis image, and our system returns the nodule's 3D mass and volume, each with an honest, calibrated uncertainty. In the next fifteen minutes we explain the problem, the physics insight behind our design, what we built, what we found (including what did not work),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Lung cancer kills about 1.8 million people a year. Caught early at stage one, 70 to 90 percent survive; at stage four only 15 to 19 percent. Early cancer shows up as a nodule, but most nodules are benign, so doctors follow them over months and measure growth. Today that means a CT every time: several millisieverts of radiation, cost, and in Bangladesh, CT is concentrated in big cities. Tomosynthesis is a cheap, low-dose alternative at about 0.1 mSv, but it cannot see depth, so it gives no trustworthy 3D measurement. Our problem statement: one DTS scan plus one click, return mass, volume and growth with an honest uncertainty.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animation shows how tomosynthesis works. On the left, the X-ray tube sweeps over plus or minus 15 degrees. Watch the nodule's shadow on the detector move as the tube moves; that small shift is the only depth information we get. On the right is the same thing in Fourier space: each view measures one line, so fifteen views fill only a thin fan. The orange region, the depth frequencies, is never measured: the missing wedge. In practice a nodule reconstructed from DTS is smeared three to five times longer in depth than in-plane.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the idea our design is built on. We asked what DTS can measure, not just what it can show. If we take moments of each projection: the zeroth moment, the total signal on the detector, equals the nodule's mass in every single view, no matter how deep it is. We verified this numerically to 0.03 percent. But the depth extent, which you need for volume, enters through sine squared of the tube angle; at 15 degrees that is about 15 times worse conditioned. So: mass first, a learned prior for depth that must agree with the X-rays, and calibrated uncertainty on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(0:35) We set six objectives. Measure mass first, because that is what tomosynthesis captures best. Fill the missing depth with a learned diffusion prior and 3D Gaussians. Give every number a calibrated 90 percent interval. Measure growth as mass and volume doubling time. Give calibrated probabilities of the clinical size categories. And explain every result by showing what the X-rays saw and what the prior filled in. All of this inside a usable click-to-3D application with a learned detector, running on low-cost cloud hardware.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Here is the full pipeline, which I'll build up step by step. One: we simulate the DTS scan, 15 low-dose views, reconstructed with SIRT. Two: the clinician clicks, helped by a learned 3D detector. Three: we reconstruct a 64 millimetre prism, a column through the whole chest around the click. Four: a conditional 3D diffusion model generates eight CT-like hypotheses of that prism, and inside the sampler we keep pulling each one back to agree with the X-rays. Five: we fit 3D Gaussians, which give the mass in closed form. Six: conformal prediction turns the spread into calibrated intervals and size-category probabilities. Seven: we split every result into what the X-rays saw and what the prior filled in. Grey is physics, blue is learned, green is measurement and trust. Everything runs as 18 verified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No public dataset has chest DTS together with CT ground truth, so we ran a virtual clinical trial. We took 583 real patients from LIDC-IDRI, 1,144 nodules between 4 and 30 millimetres that at least three of four radiologists marked, and simulated 15-view low-dose DTS from each CT with realistic Poisson noise. On the left are the fifteen simulated views of one patient; the red circle marks the nodule. We split by patient, 60/20/20, so no test patient is ever seen in training or calibration. The diffusion prior trained on 2,522 pairs; 150 nodules were measured with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The core learned component is a conditional 3D diffusion model with 17.4 million parameters. It is conditioned on the blurry DTS reconstruction of the prism and generates CT-like volumes. To stop it from inventing anatomy, we insert SIRT data-consistency steps inside the sampler, so every sample must still reproduce the measured X-rays. Here is a held-out example: left the DTS input, middle our sample, right the real CT; the sample recovers sharp ribs and vessels. It trained for 27,610 steps in six hours, and on held-out patients raised nodule-region PSNR from 11.88 to 15.23 dB. Fit checks showed no memorisation of inputs, but it is still under-trained.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Each diffusion sample is fitted with anisotropic 3D Gaussians. The nice property is that the integral of a Gaussian is known exactly, so the nodule's mass is a closed-form sum, no voxel counting. For trust, we use split conformal prediction: we measure the errors on 76 calibration nodules from patients never used in training, take the 90 percent quantile, and that becomes the interval for every new nodule. This gives a coverage guarantee without assuming any error distribution. We also produce calibrated probabilities of the clinical size categories, below 100, 100 to 300, and above 300 cubic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This is the working application. The clinician picks a patient, the detector suggests nodules, and one click runs the whole pipeline. On the left are the prism views: the blurry DTS input on top, and below our reconstruction with its segmentation in red and the spread of the eight samples. The spread is highest in the depth view, exactly as the physics predicts. On the right, the interactive 3D view: green where the samples agree, red where they disagree, and the radiologists' nodule in grey for comparison. It returns mass, volume, the EUPS category with probabilities, and a low-confidence flag that tells the doctor when to order a CT instead. It runs on a free Kaggle notebook.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Here is what the reconstruction looks like in 3D, from the application on two test nodules. The surface is our reconstructed nodule, coloured by how much the eight diffusion samples disagree: green where they agree, red where they do not. The grey shell is the radiologists' nodule, the ground truth. On the left the reconstruction fills the true nodule well, and the uncertainty sits at the front and back, the depth direction, exactly where tomosynthesis is blind. On the right the reconstruction is smaller than the truth; this under-estimation is the gap our root-cause analysis addresses later.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Now the results. Everything we show is measured on held-out patients that the models never saw during training. In short: the whole system works end to end, every component met its own target, our physics insight was confirmed on real data, and where accuracy still falls short, we found exactly why and how to fix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Our achievements. The diffusion prior improved nodule-region image quality on held-out patients by 3.35 dB. The learned detector is 17 times better than a training-free detector by the standard CPM score. Our conformal intervals reached 95 percent coverage on new patients, above the 90 percent target, while the raw spread of the samples covered only 28 percent; so calibration is what makes our uncertainty trustworthy. And calibrated probabilities cut the Brier score for "is this nodule at least 100 cubic millimetres" from 0.54 to 0.17, a 68 percent reduction.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Uncertainty is where MedLift-3D differs from typical generative imaging. Our conformal intervals kept their guarantee on new patients: 95 to 96 percent coverage for a 90 percent target. The calibrated size-category probabilities are reliable too: at the 100 cubic millimetre threshold the calibration error fell from 0.58 to 0.12, and the most likely category was right 38 percent of the time instead of 26. The next step is width: when a reconstruction finds nothing at the click, that zero measurement widens the intervals a lot, so we will report those cases separately. And one insight for the field: the raw spread of generated samples correlates negatively with the error, so uncalibrated spread is not a safe uncertainty. Calibration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 Explainability. Using a conjugate-gradient null-space decomposition we split every 3D result into the part the fifteen X-rays actually measured, the seen part, and the part they cannot see, which only the prior can supply. The table of numbers on the right is the result over 30 test nodules. Only 0.3 percent of a nodule's mass is in the unseen part, which confirms our physics argument: the X-rays do measure mass. The prior's unseen content has a positive skill of 0.22 against the real CT, so it recovers missing depth rather than inventing structure. But after Gaussian fitting the skill falls to 0.09, so the Gaussian step throws away much of what the prior recovered. That points directly to a fix.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This is our accuracy benchmark: six methods on 74 test nodules, median volume error, lower is better, and a failed reading counts as 100 percent. Volume from tomosynthesis is hard for every method: even the clinical standard, the 2D diameter, is off by 88 percent. Our diffusion prior, in green, had the lowest error of all six methods, 74.5 percent, and the fewest failures, 3 percent. Adding the Gaussian step raised the error to 94.6, so the full pipeline did not yet beat physics-only reconstruction. The learned methods under-estimate size, and we traced exactly why, which I will show shortly. The lesson: sharper images alone are not enough; the measurement step must preserve the nodule.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Beyond the research results, this is a complete engineering system. We processed 583 patients and 1,144 nodules end to end. The pipeline has 18 scripted steps, each ending in automatic PASS/FAIL checks, and 69 unit tests cover the physics, the models and the measurement. The full study ran in about 15 hours on one rented L40S GPU for about 20 US dollars. The diffusion model has 17.4 million parameters and trained in 6 hours. And measuring one nodule with all five reconstruction methods takes a median of 45.5 seconds; the application itself runs on a free Kaggle GPU.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strength of our pipeline is that it tells us why. Our analysis traced every gap to a specific cause, each with a concrete fix. First, faint nodules get shrunk: the prior was not told a nodule is present at the click, so for faint ones it draws normal lung. Here is a 6.8 millimetre nodule, clear in CT and almost erased in the reconstruction. The fix is to condition the prior on the click. Second, we read mass from the reconstructed image, so segmentation errors leaked in, even though our explainability analysis shows the X-rays themselves measure 99.7 percent of the mass. The fix is to read mass directly from the projections. Third, failed readings widen the intervals; the fix is to report them as their own outcome. All three fixes are within reach of the existing system.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Where does MedLift-3D stand against the closest published work? We compared seven elements: built for tomosynthesis geometry, a learned prior, data consistency with the X-rays, closed-form Gaussian mass, a clinical biomarker as output, calibrated uncertainty, and a seen-versus-unseen explanation. Gaussian tomography methods such as Li and Zha have data consistency but no learned prior. Diffusion methods such as Chung and Zhang have a prior, but are not built for tomosynthesis and do not output a clinical number. Bhadra defined the null-space analysis of hallucinations, and de Hoop established nodule mass as a biomarker in CT. Of these, only MedLift-3D brings all seven together for low-dose tomosynthesis nodule measurement. To be precise about our claim: each element exists on its own; our contribution is the combination, the mass-first design, and a calibrated, truth-checked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To conclude. We delivered a physics result, that tomosynthesis measures mass but not depth extent; a diffusion prior kept consistent with the X-rays, with closed-form Gaussian mass; calibrated, decision-level uncertainty; a truth-referenced test of what a generative prior adds; and a verified 18-step pipeline with a working click-to-3D application. The next steps follow directly from our root-cause analysis: a click-conditioned prior, mass read from the projections, failure-aware calibration, and real DTS data with a hospital partner. MedLift-3D shows that low-dose, click-to-3D nodule assessment with calibrated and explainable uncertainty is buildable, for about 22 US dollars.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and short answers. Why simulated DTS? No public chest DTS dataset with CT ground truth exists; simulation from real CT gives exact ground truth. Why only 15 views? Same dose as clinical units; our geometry study showed view count barely changes the depth smear at equal dose, a 40 degree sweep helps about 9 percent. Is the prior hallucinating? The seen/unseen test shows positive unseen skill of 0.22, and data-consistency keeps every sample faithful to the X-rays. Overfitting? Denoising loss train vs held-out ratio 0.97, but sample gain +7.00 vs +4.22 dB, so some patient-level advantage, and still under-trained. Why is mass not yet more accurate if the X-rays measure it exactly? Because we measured mass from the reconstruction inside a segmentation, not from the projections. Clinical use? Not yet; decision support only, a low-confidence flag tells the doctor to order 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1460500"/>
            <a:ext cx="10566400" cy="254000"/>
          </a:xfrm>
          <a:prstGeom prst="rect">
            <a:avLst/>
          </a:prstGeom>
          <a:noFill/>
        </p:spPr>
        <p:txBody>
          <a:bodyPr wrap="square" lIns="0" rIns="0" tIns="0" bIns="0" anchor="t">
            <a:spAutoFit/>
          </a:bodyPr>
          <a:lstStyle/>
          <a:p>
            <a:pPr algn="l">
              <a:lnSpc>
                <a:spcPct val="120000"/>
              </a:lnSpc>
            </a:pPr>
            <a:r>
              <a:rPr sz="1400" b="1" i="0">
                <a:solidFill>
                  <a:srgbClr val="8FB3E3"/>
                </a:solidFill>
                <a:latin typeface="Calibri"/>
              </a:rPr>
              <a:t>FINAL YEAR DESIGN PROJECT · CSE · UNITED INTERNATIONAL UNIVERSITY</a:t>
            </a:r>
          </a:p>
        </p:txBody>
      </p:sp>
      <p:sp>
        <p:nvSpPr>
          <p:cNvPr id="3" name="TextBox 2"/>
          <p:cNvSpPr txBox="1"/>
          <p:nvPr/>
        </p:nvSpPr>
        <p:spPr>
          <a:xfrm>
            <a:off x="812800" y="19050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MedLift-3D</a:t>
            </a:r>
          </a:p>
        </p:txBody>
      </p:sp>
      <p:sp>
        <p:nvSpPr>
          <p:cNvPr id="4" name="TextBox 3"/>
          <p:cNvSpPr txBox="1"/>
          <p:nvPr/>
        </p:nvSpPr>
        <p:spPr>
          <a:xfrm>
            <a:off x="812800" y="2921000"/>
            <a:ext cx="8890000" cy="825500"/>
          </a:xfrm>
          <a:prstGeom prst="rect">
            <a:avLst/>
          </a:prstGeom>
          <a:noFill/>
        </p:spPr>
        <p:txBody>
          <a:bodyPr wrap="square" lIns="0" rIns="0" tIns="0" bIns="0" anchor="t">
            <a:spAutoFit/>
          </a:bodyPr>
          <a:lstStyle/>
          <a:p>
            <a:pPr algn="l">
              <a:lnSpc>
                <a:spcPct val="115000"/>
              </a:lnSpc>
            </a:pPr>
            <a:r>
              <a:rPr sz="2200" b="0" i="0">
                <a:solidFill>
                  <a:srgbClr val="DCE5F1"/>
                </a:solidFill>
                <a:latin typeface="Georgia"/>
              </a:rPr>
              <a:t>Click-to-3D lung nodule mass and growth assessment from low-dose chest tomosynthesis, with calibrated uncertainty</a:t>
            </a:r>
          </a:p>
        </p:txBody>
      </p:sp>
      <p:cxnSp>
        <p:nvCxnSpPr>
          <p:cNvPr id="5" name="Connector 4"/>
          <p:cNvCxnSpPr/>
          <p:nvPr/>
        </p:nvCxnSpPr>
        <p:spPr>
          <a:xfrm>
            <a:off x="812800" y="4191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12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Jubair Ahmed</a:t>
            </a:r>
          </a:p>
          <a:p>
            <a:pPr algn="l">
              <a:lnSpc>
                <a:spcPct val="120000"/>
              </a:lnSpc>
              <a:spcBef>
                <a:spcPts val="300"/>
              </a:spcBef>
            </a:pPr>
            <a:r>
              <a:rPr sz="1200" b="0" i="0">
                <a:solidFill>
                  <a:srgbClr val="A9BCD6"/>
                </a:solidFill>
                <a:latin typeface="Calibri"/>
              </a:rPr>
              <a:t>011222136</a:t>
            </a:r>
          </a:p>
        </p:txBody>
      </p:sp>
      <p:sp>
        <p:nvSpPr>
          <p:cNvPr id="7" name="TextBox 6"/>
          <p:cNvSpPr txBox="1"/>
          <p:nvPr/>
        </p:nvSpPr>
        <p:spPr>
          <a:xfrm>
            <a:off x="4368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Foyez Ahammed Naeem</a:t>
            </a:r>
          </a:p>
          <a:p>
            <a:pPr algn="l">
              <a:lnSpc>
                <a:spcPct val="120000"/>
              </a:lnSpc>
              <a:spcBef>
                <a:spcPts val="300"/>
              </a:spcBef>
            </a:pPr>
            <a:r>
              <a:rPr sz="1200" b="0" i="0">
                <a:solidFill>
                  <a:srgbClr val="A9BCD6"/>
                </a:solidFill>
                <a:latin typeface="Calibri"/>
              </a:rPr>
              <a:t>011222011</a:t>
            </a:r>
          </a:p>
        </p:txBody>
      </p:sp>
      <p:sp>
        <p:nvSpPr>
          <p:cNvPr id="8" name="TextBox 7"/>
          <p:cNvSpPr txBox="1"/>
          <p:nvPr/>
        </p:nvSpPr>
        <p:spPr>
          <a:xfrm>
            <a:off x="7924800" y="4381500"/>
            <a:ext cx="3302000" cy="635000"/>
          </a:xfrm>
          <a:prstGeom prst="rect">
            <a:avLst/>
          </a:prstGeom>
          <a:noFill/>
        </p:spPr>
        <p:txBody>
          <a:bodyPr wrap="square" lIns="0" rIns="0" tIns="0" bIns="0" anchor="t">
            <a:spAutoFit/>
          </a:bodyPr>
          <a:lstStyle/>
          <a:p>
            <a:pPr algn="l">
              <a:lnSpc>
                <a:spcPct val="120000"/>
              </a:lnSpc>
            </a:pPr>
            <a:r>
              <a:rPr sz="1600" b="1" i="0">
                <a:solidFill>
                  <a:srgbClr val="F7F6F2"/>
                </a:solidFill>
                <a:latin typeface="Calibri"/>
              </a:rPr>
              <a:t>Md Motasim Billah</a:t>
            </a:r>
          </a:p>
          <a:p>
            <a:pPr algn="l">
              <a:lnSpc>
                <a:spcPct val="120000"/>
              </a:lnSpc>
              <a:spcBef>
                <a:spcPts val="300"/>
              </a:spcBef>
            </a:pPr>
            <a:r>
              <a:rPr sz="1200" b="0" i="0">
                <a:solidFill>
                  <a:srgbClr val="A9BCD6"/>
                </a:solidFill>
                <a:latin typeface="Calibri"/>
              </a:rPr>
              <a:t>011222016</a:t>
            </a:r>
          </a:p>
        </p:txBody>
      </p:sp>
      <p:sp>
        <p:nvSpPr>
          <p:cNvPr id="9" name="TextBox 8"/>
          <p:cNvSpPr txBox="1"/>
          <p:nvPr/>
        </p:nvSpPr>
        <p:spPr>
          <a:xfrm>
            <a:off x="7569200" y="6096000"/>
            <a:ext cx="3810000" cy="254000"/>
          </a:xfrm>
          <a:prstGeom prst="rect">
            <a:avLst/>
          </a:prstGeom>
          <a:noFill/>
        </p:spPr>
        <p:txBody>
          <a:bodyPr wrap="square" lIns="0" rIns="0" tIns="0" bIns="0" anchor="t">
            <a:spAutoFit/>
          </a:bodyPr>
          <a:lstStyle/>
          <a:p>
            <a:pPr algn="r">
              <a:lnSpc>
                <a:spcPct val="120000"/>
              </a:lnSpc>
            </a:pPr>
            <a:r>
              <a:rPr sz="1200" b="0" i="0">
                <a:solidFill>
                  <a:srgbClr val="A9BCD6"/>
                </a:solidFill>
                <a:latin typeface="Calibri"/>
              </a:rPr>
              <a:t>Defense · 2 November 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PROBLEM</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Lung nodules are followed by measuring growth, and today every follow-up means another CT</a:t>
            </a:r>
          </a:p>
        </p:txBody>
      </p:sp>
      <p:grpSp>
        <p:nvGrpSpPr>
          <p:cNvPr id="4" name="Group 3"/>
          <p:cNvGrpSpPr/>
          <p:nvPr/>
        </p:nvGrpSpPr>
        <p:grpSpPr>
          <a:xfrm>
            <a:off x="812800" y="2222500"/>
            <a:ext cx="3384550" cy="2286000"/>
            <a:chOff x="812800" y="2222500"/>
            <a:chExt cx="3384550" cy="2286000"/>
          </a:xfrm>
        </p:grpSpPr>
        <p:sp>
          <p:nvSpPr>
            <p:cNvPr id="5" name="Rounded Rectangle 4"/>
            <p:cNvSpPr/>
            <p:nvPr/>
          </p:nvSpPr>
          <p:spPr>
            <a:xfrm>
              <a:off x="8128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1.8 M</a:t>
              </a:r>
            </a:p>
            <a:p>
              <a:pPr algn="l">
                <a:lnSpc>
                  <a:spcPct val="120000"/>
                </a:lnSpc>
                <a:spcBef>
                  <a:spcPts val="400"/>
                </a:spcBef>
              </a:pPr>
              <a:r>
                <a:rPr sz="1400" b="0" i="0">
                  <a:solidFill>
                    <a:srgbClr val="4A5568"/>
                  </a:solidFill>
                  <a:latin typeface="Calibri"/>
                </a:rPr>
                <a:t>lung cancer deaths in 2022, the leading cause of cancer death. Survival is 70–90% at stage I but 15–19% at stage IV.</a:t>
              </a:r>
            </a:p>
          </p:txBody>
        </p:sp>
      </p:grpSp>
      <p:grpSp>
        <p:nvGrpSpPr>
          <p:cNvPr id="7" name="Group 6"/>
          <p:cNvGrpSpPr/>
          <p:nvPr/>
        </p:nvGrpSpPr>
        <p:grpSpPr>
          <a:xfrm>
            <a:off x="4400550" y="2222500"/>
            <a:ext cx="3384550" cy="2286000"/>
            <a:chOff x="4400550" y="2222500"/>
            <a:chExt cx="3384550" cy="2286000"/>
          </a:xfrm>
        </p:grpSpPr>
        <p:sp>
          <p:nvSpPr>
            <p:cNvPr id="8" name="Rounded Rectangle 7"/>
            <p:cNvSpPr/>
            <p:nvPr/>
          </p:nvSpPr>
          <p:spPr>
            <a:xfrm>
              <a:off x="440055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29150" y="2405380"/>
              <a:ext cx="2927350" cy="1920240"/>
            </a:xfrm>
            <a:prstGeom prst="rect">
              <a:avLst/>
            </a:prstGeom>
            <a:noFill/>
          </p:spPr>
          <p:txBody>
            <a:bodyPr wrap="square" lIns="0" rIns="0" tIns="0" bIns="0" anchor="t">
              <a:spAutoFit/>
            </a:bodyPr>
            <a:lstStyle/>
            <a:p>
              <a:pPr algn="l">
                <a:lnSpc>
                  <a:spcPct val="100000"/>
                </a:lnSpc>
              </a:pPr>
              <a:r>
                <a:rPr sz="4400" b="1" i="0">
                  <a:solidFill>
                    <a:srgbClr val="D9661F"/>
                  </a:solidFill>
                  <a:latin typeface="Georgia"/>
                </a:rPr>
                <a:t>CT</a:t>
              </a:r>
            </a:p>
            <a:p>
              <a:pPr algn="l">
                <a:lnSpc>
                  <a:spcPct val="120000"/>
                </a:lnSpc>
                <a:spcBef>
                  <a:spcPts val="400"/>
                </a:spcBef>
              </a:pPr>
              <a:r>
                <a:rPr sz="1400" b="0" i="0">
                  <a:solidFill>
                    <a:srgbClr val="4A5568"/>
                  </a:solidFill>
                  <a:latin typeface="Calibri"/>
                </a:rPr>
                <a:t>gives several mSv per scan, costs money and is scarce outside Bangladesh’s divisional cities.</a:t>
              </a:r>
            </a:p>
          </p:txBody>
        </p:sp>
      </p:grpSp>
      <p:grpSp>
        <p:nvGrpSpPr>
          <p:cNvPr id="10" name="Group 9"/>
          <p:cNvGrpSpPr/>
          <p:nvPr/>
        </p:nvGrpSpPr>
        <p:grpSpPr>
          <a:xfrm>
            <a:off x="7988300" y="2222500"/>
            <a:ext cx="3384550" cy="2286000"/>
            <a:chOff x="7988300" y="2222500"/>
            <a:chExt cx="3384550" cy="2286000"/>
          </a:xfrm>
        </p:grpSpPr>
        <p:sp>
          <p:nvSpPr>
            <p:cNvPr id="11" name="Rounded Rectangle 10"/>
            <p:cNvSpPr/>
            <p:nvPr/>
          </p:nvSpPr>
          <p:spPr>
            <a:xfrm>
              <a:off x="7988300" y="2222500"/>
              <a:ext cx="3384550" cy="2286000"/>
            </a:xfrm>
            <a:prstGeom prst="roundRect">
              <a:avLst>
                <a:gd name="adj" fmla="val 444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16900" y="2405380"/>
              <a:ext cx="2927350" cy="1920240"/>
            </a:xfrm>
            <a:prstGeom prst="rect">
              <a:avLst/>
            </a:prstGeom>
            <a:noFill/>
          </p:spPr>
          <p:txBody>
            <a:bodyPr wrap="square" lIns="0" rIns="0" tIns="0" bIns="0" anchor="t">
              <a:spAutoFit/>
            </a:bodyPr>
            <a:lstStyle/>
            <a:p>
              <a:pPr algn="l">
                <a:lnSpc>
                  <a:spcPct val="100000"/>
                </a:lnSpc>
              </a:pPr>
              <a:r>
                <a:rPr sz="4400" b="1" i="0">
                  <a:solidFill>
                    <a:srgbClr val="1F5FA8"/>
                  </a:solidFill>
                  <a:latin typeface="Georgia"/>
                </a:rPr>
                <a:t>0.1 mSv</a:t>
              </a:r>
            </a:p>
            <a:p>
              <a:pPr algn="l">
                <a:lnSpc>
                  <a:spcPct val="120000"/>
                </a:lnSpc>
                <a:spcBef>
                  <a:spcPts val="400"/>
                </a:spcBef>
              </a:pPr>
              <a:r>
                <a:rPr sz="1400" b="0" i="0">
                  <a:solidFill>
                    <a:srgbClr val="4A5568"/>
                  </a:solidFill>
                  <a:latin typeface="Calibri"/>
                </a:rPr>
                <a:t>for chest tomosynthesis (DTS): cheap and low-dose, but it cannot resolve depth, so it gives no trustworthy 3D size.</a:t>
              </a:r>
            </a:p>
          </p:txBody>
        </p:sp>
      </p:grpSp>
      <p:grpSp>
        <p:nvGrpSpPr>
          <p:cNvPr id="13" name="Group 12"/>
          <p:cNvGrpSpPr/>
          <p:nvPr/>
        </p:nvGrpSpPr>
        <p:grpSpPr>
          <a:xfrm>
            <a:off x="812800" y="4826000"/>
            <a:ext cx="10566400" cy="825500"/>
            <a:chOff x="812800" y="4826000"/>
            <a:chExt cx="10566400" cy="825500"/>
          </a:xfrm>
        </p:grpSpPr>
        <p:sp>
          <p:nvSpPr>
            <p:cNvPr id="14" name="Rounded Rectangle 13"/>
            <p:cNvSpPr/>
            <p:nvPr/>
          </p:nvSpPr>
          <p:spPr>
            <a:xfrm>
              <a:off x="812800" y="4826000"/>
              <a:ext cx="10566400" cy="825500"/>
            </a:xfrm>
            <a:prstGeom prst="roundRect">
              <a:avLst>
                <a:gd name="adj" fmla="val 12307"/>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2800" y="4826000"/>
              <a:ext cx="50800" cy="8255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1400" y="4968240"/>
              <a:ext cx="10160000" cy="54102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Our question: </a:t>
              </a:r>
              <a:r>
                <a:rPr sz="1600" b="0" i="0">
                  <a:solidFill>
                    <a:srgbClr val="14213D"/>
                  </a:solidFill>
                  <a:latin typeface="Calibri"/>
                </a:rPr>
                <a:t>from one low-dose DTS scan and one click, can we give a nodule’s 3D mass, volume and growth with an honest uncertainty?</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anim calcmode="lin" valueType="num">
                                      <p:cBhvr additive="base">
                                        <p:cTn id="17" dur="500" fill="hold"/>
                                        <p:tgtEl>
                                          <p:spTgt spid="10"/>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BACKGROUND · DIGITAL TOMOSYNTHESIS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±15° sweep leaves a “missing wedge” of depth information</a:t>
            </a:r>
          </a:p>
        </p:txBody>
      </p:sp>
      <p:pic>
        <p:nvPicPr>
          <p:cNvPr id="4" name="Picture 3" descr="dts_anim.gif"/>
          <p:cNvPicPr>
            <a:picLocks noChangeAspect="1"/>
          </p:cNvPicPr>
          <p:nvPr/>
        </p:nvPicPr>
        <p:blipFill>
          <a:blip r:embed="rId2"/>
          <a:stretch>
            <a:fillRect/>
          </a:stretch>
        </p:blipFill>
        <p:spPr>
          <a:xfrm>
            <a:off x="812800" y="1905000"/>
            <a:ext cx="6604000" cy="3810000"/>
          </a:xfrm>
          <a:prstGeom prst="rect">
            <a:avLst/>
          </a:prstGeom>
        </p:spPr>
      </p:pic>
      <p:sp>
        <p:nvSpPr>
          <p:cNvPr id="5" name="TextBox 4"/>
          <p:cNvSpPr txBox="1"/>
          <p:nvPr/>
        </p:nvSpPr>
        <p:spPr>
          <a:xfrm>
            <a:off x="7823200" y="2032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The tube moves along a short track. The nodule’s shadow (orange) shifts on the detector: that shift is the only depth information.</a:t>
            </a:r>
          </a:p>
        </p:txBody>
      </p:sp>
      <p:sp>
        <p:nvSpPr>
          <p:cNvPr id="6" name="TextBox 5"/>
          <p:cNvSpPr txBox="1"/>
          <p:nvPr/>
        </p:nvSpPr>
        <p:spPr>
          <a:xfrm>
            <a:off x="7823200" y="3429000"/>
            <a:ext cx="3556000" cy="1270000"/>
          </a:xfrm>
          <a:prstGeom prst="rect">
            <a:avLst/>
          </a:prstGeom>
          <a:noFill/>
        </p:spPr>
        <p:txBody>
          <a:bodyPr wrap="square" lIns="0" rIns="0" tIns="0" bIns="0" anchor="t">
            <a:spAutoFit/>
          </a:bodyPr>
          <a:lstStyle/>
          <a:p>
            <a:pPr algn="l">
              <a:lnSpc>
                <a:spcPct val="130000"/>
              </a:lnSpc>
            </a:pPr>
            <a:r>
              <a:rPr sz="1500" b="0" i="0">
                <a:solidFill>
                  <a:srgbClr val="14213D"/>
                </a:solidFill>
                <a:latin typeface="Calibri"/>
              </a:rPr>
              <a:t>Each view measures one line in Fourier space. Fifteen views fill a thin blue fan; the depth directions are never measured.</a:t>
            </a:r>
          </a:p>
        </p:txBody>
      </p:sp>
      <p:sp>
        <p:nvSpPr>
          <p:cNvPr id="7" name="TextBox 6"/>
          <p:cNvSpPr txBox="1"/>
          <p:nvPr/>
        </p:nvSpPr>
        <p:spPr>
          <a:xfrm>
            <a:off x="7823200" y="4826000"/>
            <a:ext cx="3556000" cy="825500"/>
          </a:xfrm>
          <a:prstGeom prst="rect">
            <a:avLst/>
          </a:prstGeom>
          <a:noFill/>
        </p:spPr>
        <p:txBody>
          <a:bodyPr wrap="square" lIns="0" rIns="0" tIns="0" bIns="0" anchor="t">
            <a:spAutoFit/>
          </a:bodyPr>
          <a:lstStyle/>
          <a:p>
            <a:pPr algn="l">
              <a:lnSpc>
                <a:spcPct val="130000"/>
              </a:lnSpc>
            </a:pPr>
            <a:r>
              <a:rPr sz="1500" b="1" i="0">
                <a:solidFill>
                  <a:srgbClr val="B4521A"/>
                </a:solidFill>
                <a:latin typeface="Calibri"/>
              </a:rPr>
              <a:t>So a nodule smears 3–5× longer in depth (median 3.5 on LIDC).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KEY INSIGHT · PROJECTION MOMENTS</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F7F6F2"/>
                </a:solidFill>
                <a:latin typeface="Georgia"/>
              </a:rPr>
              <a:t>DTS cannot see depth, but every view measures the nodule’s mass exactly</a:t>
            </a:r>
          </a:p>
        </p:txBody>
      </p:sp>
      <p:grpSp>
        <p:nvGrpSpPr>
          <p:cNvPr id="4" name="Group 3"/>
          <p:cNvGrpSpPr/>
          <p:nvPr/>
        </p:nvGrpSpPr>
        <p:grpSpPr>
          <a:xfrm>
            <a:off x="812800" y="2413000"/>
            <a:ext cx="5080000" cy="2413000"/>
            <a:chOff x="812800" y="2413000"/>
            <a:chExt cx="5080000" cy="2413000"/>
          </a:xfrm>
        </p:grpSpPr>
        <p:sp>
          <p:nvSpPr>
            <p:cNvPr id="5" name="Rounded Rectangle 4"/>
            <p:cNvSpPr/>
            <p:nvPr/>
          </p:nvSpPr>
          <p:spPr>
            <a:xfrm>
              <a:off x="812800" y="2413000"/>
              <a:ext cx="5080000" cy="2413000"/>
            </a:xfrm>
            <a:prstGeom prst="roundRect">
              <a:avLst>
                <a:gd name="adj" fmla="val 4210"/>
              </a:avLst>
            </a:prstGeom>
            <a:solidFill>
              <a:srgbClr val="1E32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7600" y="2656840"/>
              <a:ext cx="4470400" cy="1925320"/>
            </a:xfrm>
            <a:prstGeom prst="rect">
              <a:avLst/>
            </a:prstGeom>
            <a:noFill/>
          </p:spPr>
          <p:txBody>
            <a:bodyPr wrap="square" lIns="0" rIns="0" tIns="0" bIns="0" anchor="t">
              <a:spAutoFit/>
            </a:bodyPr>
            <a:lstStyle/>
            <a:p>
              <a:pPr algn="l">
                <a:lnSpc>
                  <a:spcPct val="120000"/>
                </a:lnSpc>
              </a:pPr>
              <a:r>
                <a:rPr sz="1300" b="1" i="0">
                  <a:solidFill>
                    <a:srgbClr val="8FB3E3"/>
                  </a:solidFill>
                  <a:latin typeface="Calibri"/>
                </a:rPr>
                <a:t>0TH MOMENT: MASS</a:t>
              </a:r>
            </a:p>
            <a:p>
              <a:pPr algn="l">
                <a:lnSpc>
                  <a:spcPct val="120000"/>
                </a:lnSpc>
                <a:spcBef>
                  <a:spcPts val="1000"/>
                </a:spcBef>
              </a:pPr>
              <a:r>
                <a:rPr sz="2800" b="0" i="0">
                  <a:solidFill>
                    <a:srgbClr val="F7F6F2"/>
                  </a:solidFill>
                  <a:latin typeface="Georgia"/>
                </a:rPr>
                <a:t>∬ pθ(x, v) dx dv = M</a:t>
              </a:r>
            </a:p>
            <a:p>
              <a:pPr algn="l">
                <a:lnSpc>
                  <a:spcPct val="120000"/>
                </a:lnSpc>
                <a:spcBef>
                  <a:spcPts val="1000"/>
                </a:spcBef>
              </a:pPr>
              <a:r>
                <a:rPr sz="1500" b="0" i="0">
                  <a:solidFill>
                    <a:srgbClr val="DCE5F1"/>
                  </a:solidFill>
                  <a:latin typeface="Calibri"/>
                </a:rPr>
                <a:t>Same in all 15 views, independent of depth. Verified to </a:t>
              </a:r>
              <a:r>
                <a:rPr sz="1500" b="1" i="0">
                  <a:solidFill>
                    <a:srgbClr val="DCE5F1"/>
                  </a:solidFill>
                  <a:latin typeface="Calibri"/>
                </a:rPr>
                <a:t>0.03%</a:t>
              </a:r>
              <a:r>
                <a:rPr sz="1500" b="0" i="0">
                  <a:solidFill>
                    <a:srgbClr val="DCE5F1"/>
                  </a:solidFill>
                  <a:latin typeface="Calibri"/>
                </a:rPr>
                <a:t> in every view.</a:t>
              </a:r>
            </a:p>
          </p:txBody>
        </p:sp>
      </p:grpSp>
      <p:grpSp>
        <p:nvGrpSpPr>
          <p:cNvPr id="7" name="Group 6"/>
          <p:cNvGrpSpPr/>
          <p:nvPr/>
        </p:nvGrpSpPr>
        <p:grpSpPr>
          <a:xfrm>
            <a:off x="6299200" y="2413000"/>
            <a:ext cx="5080000" cy="2413000"/>
            <a:chOff x="6299200" y="2413000"/>
            <a:chExt cx="5080000" cy="2413000"/>
          </a:xfrm>
        </p:grpSpPr>
        <p:sp>
          <p:nvSpPr>
            <p:cNvPr id="8" name="Rounded Rectangle 7"/>
            <p:cNvSpPr/>
            <p:nvPr/>
          </p:nvSpPr>
          <p:spPr>
            <a:xfrm>
              <a:off x="6299200" y="2413000"/>
              <a:ext cx="5080000" cy="2413000"/>
            </a:xfrm>
            <a:prstGeom prst="roundRect">
              <a:avLst>
                <a:gd name="adj" fmla="val 4210"/>
              </a:avLst>
            </a:prstGeom>
            <a:solidFill>
              <a:srgbClr val="3A2418"/>
            </a:solidFill>
            <a:ln w="12700">
              <a:solidFill>
                <a:srgbClr val="D966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04000" y="2656840"/>
              <a:ext cx="4470400" cy="1925320"/>
            </a:xfrm>
            <a:prstGeom prst="rect">
              <a:avLst/>
            </a:prstGeom>
            <a:noFill/>
          </p:spPr>
          <p:txBody>
            <a:bodyPr wrap="square" lIns="0" rIns="0" tIns="0" bIns="0" anchor="t">
              <a:spAutoFit/>
            </a:bodyPr>
            <a:lstStyle/>
            <a:p>
              <a:pPr algn="l">
                <a:lnSpc>
                  <a:spcPct val="120000"/>
                </a:lnSpc>
              </a:pPr>
              <a:r>
                <a:rPr sz="1300" b="1" i="0">
                  <a:solidFill>
                    <a:srgbClr val="F2A46B"/>
                  </a:solidFill>
                  <a:latin typeface="Calibri"/>
                </a:rPr>
                <a:t>2ND MOMENT: DEPTH EXTENT</a:t>
              </a:r>
            </a:p>
            <a:p>
              <a:pPr algn="l">
                <a:lnSpc>
                  <a:spcPct val="120000"/>
                </a:lnSpc>
                <a:spcBef>
                  <a:spcPts val="1000"/>
                </a:spcBef>
              </a:pPr>
              <a:r>
                <a:rPr sz="2800" b="0" i="0">
                  <a:solidFill>
                    <a:srgbClr val="F7F6F2"/>
                  </a:solidFill>
                  <a:latin typeface="Georgia"/>
                </a:rPr>
                <a:t>enters as sin²θ</a:t>
              </a:r>
            </a:p>
            <a:p>
              <a:pPr algn="l">
                <a:lnSpc>
                  <a:spcPct val="120000"/>
                </a:lnSpc>
                <a:spcBef>
                  <a:spcPts val="1000"/>
                </a:spcBef>
              </a:pPr>
              <a:r>
                <a:rPr sz="1500" b="0" i="0">
                  <a:solidFill>
                    <a:srgbClr val="F4DCCB"/>
                  </a:solidFill>
                  <a:latin typeface="Calibri"/>
                </a:rPr>
                <a:t>1 / sin²15° ≈ </a:t>
              </a:r>
              <a:r>
                <a:rPr sz="1500" b="1" i="0">
                  <a:solidFill>
                    <a:srgbClr val="F4DCCB"/>
                  </a:solidFill>
                  <a:latin typeface="Calibri"/>
                </a:rPr>
                <a:t>15× worse</a:t>
              </a:r>
              <a:r>
                <a:rPr sz="1500" b="0" i="0">
                  <a:solidFill>
                    <a:srgbClr val="F4DCCB"/>
                  </a:solidFill>
                  <a:latin typeface="Calibri"/>
                </a:rPr>
                <a:t> conditioned. Volume needs depth extent; mass does not.</a:t>
              </a:r>
            </a:p>
          </p:txBody>
        </p:sp>
      </p:grpSp>
      <p:sp>
        <p:nvSpPr>
          <p:cNvPr id="10" name="TextBox 9"/>
          <p:cNvSpPr txBox="1"/>
          <p:nvPr/>
        </p:nvSpPr>
        <p:spPr>
          <a:xfrm>
            <a:off x="812800" y="5143500"/>
            <a:ext cx="10566400" cy="762000"/>
          </a:xfrm>
          <a:prstGeom prst="rect">
            <a:avLst/>
          </a:prstGeom>
          <a:noFill/>
        </p:spPr>
        <p:txBody>
          <a:bodyPr wrap="square" lIns="0" rIns="0" tIns="0" bIns="0" anchor="t">
            <a:spAutoFit/>
          </a:bodyPr>
          <a:lstStyle/>
          <a:p>
            <a:pPr algn="l">
              <a:lnSpc>
                <a:spcPct val="130000"/>
              </a:lnSpc>
            </a:pPr>
            <a:r>
              <a:rPr sz="1700" b="1" i="0">
                <a:solidFill>
                  <a:srgbClr val="8FB3E3"/>
                </a:solidFill>
                <a:latin typeface="Calibri"/>
              </a:rPr>
              <a:t>Design consequence: </a:t>
            </a:r>
            <a:r>
              <a:rPr sz="1700" b="0" i="0">
                <a:solidFill>
                  <a:srgbClr val="F7F6F2"/>
                </a:solidFill>
                <a:latin typeface="Calibri"/>
              </a:rPr>
              <a:t>report </a:t>
            </a:r>
            <a:r>
              <a:rPr sz="1700" b="1" i="0">
                <a:solidFill>
                  <a:srgbClr val="F7F6F2"/>
                </a:solidFill>
                <a:latin typeface="Calibri"/>
              </a:rPr>
              <a:t>mass</a:t>
            </a:r>
            <a:r>
              <a:rPr sz="1700" b="0" i="0">
                <a:solidFill>
                  <a:srgbClr val="F7F6F2"/>
                </a:solidFill>
                <a:latin typeface="Calibri"/>
              </a:rPr>
              <a:t> and mass doubling time first, fill depth with a learned prior kept consistent with the X-rays, and say how uncertain every number 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OBJECTIVES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Six objectives for a trustworthy low-dose measurement</a:t>
            </a:r>
          </a:p>
        </p:txBody>
      </p:sp>
      <p:graphicFrame>
        <p:nvGraphicFramePr>
          <p:cNvPr id="4" name="Table 3"/>
          <p:cNvGraphicFramePr>
            <a:graphicFrameLocks noGrp="1"/>
          </p:cNvGraphicFramePr>
          <p:nvPr/>
        </p:nvGraphicFramePr>
        <p:xfrm>
          <a:off x="812800" y="1841500"/>
          <a:ext cx="10566400" cy="3289300"/>
        </p:xfrm>
        <a:graphic>
          <a:graphicData uri="http://schemas.openxmlformats.org/drawingml/2006/table">
            <a:tbl>
              <a:tblPr firstRow="1" bandRow="1">
                <a:tableStyleId>{5C22544A-7EE6-4342-B048-85BDC9FD1C3A}</a:tableStyleId>
              </a:tblPr>
              <a:tblGrid>
                <a:gridCol w="3175000"/>
                <a:gridCol w="7391400"/>
              </a:tblGrid>
              <a:tr h="469900">
                <a:tc>
                  <a:txBody>
                    <a:bodyPr wrap="square"/>
                    <a:lstStyle/>
                    <a:p>
                      <a:pPr algn="l">
                        <a:lnSpc>
                          <a:spcPct val="120000"/>
                        </a:lnSpc>
                      </a:pPr>
                      <a:r>
                        <a:rPr sz="1500" b="1" i="0">
                          <a:solidFill>
                            <a:srgbClr val="14213D"/>
                          </a:solidFill>
                          <a:latin typeface="Calibri"/>
                        </a:rPr>
                        <a:t>Area</a:t>
                      </a:r>
                    </a:p>
                  </a:txBody>
                  <a:tcPr anchor="ctr" marL="127000">
                    <a:solidFill>
                      <a:srgbClr val="E3ECF7"/>
                    </a:solidFill>
                  </a:tcPr>
                </a:tc>
                <a:tc>
                  <a:txBody>
                    <a:bodyPr wrap="square"/>
                    <a:lstStyle/>
                    <a:p>
                      <a:pPr algn="l">
                        <a:lnSpc>
                          <a:spcPct val="120000"/>
                        </a:lnSpc>
                      </a:pPr>
                      <a:r>
                        <a:rPr sz="1500" b="1" i="0">
                          <a:solidFill>
                            <a:srgbClr val="14213D"/>
                          </a:solidFill>
                          <a:latin typeface="Calibri"/>
                        </a:rPr>
                        <a:t>Objective</a:t>
                      </a:r>
                    </a:p>
                  </a:txBody>
                  <a:tcPr anchor="ctr" marL="127000">
                    <a:solidFill>
                      <a:srgbClr val="E3ECF7"/>
                    </a:solidFill>
                  </a:tcPr>
                </a:tc>
              </a:tr>
              <a:tr h="469900">
                <a:tc>
                  <a:txBody>
                    <a:bodyPr wrap="square"/>
                    <a:lstStyle/>
                    <a:p>
                      <a:pPr algn="l">
                        <a:lnSpc>
                          <a:spcPct val="120000"/>
                        </a:lnSpc>
                      </a:pPr>
                      <a:r>
                        <a:rPr sz="1500" b="1" i="0">
                          <a:solidFill>
                            <a:srgbClr val="14213D"/>
                          </a:solidFill>
                          <a:latin typeface="Calibri"/>
                        </a:rPr>
                        <a:t>Mass first</a:t>
                      </a:r>
                    </a:p>
                  </a:txBody>
                  <a:tcPr anchor="ctr" marL="127000">
                    <a:solidFill>
                      <a:srgbClr val="FFFFFF"/>
                    </a:solidFill>
                  </a:tcPr>
                </a:tc>
                <a:tc>
                  <a:txBody>
                    <a:bodyPr wrap="square"/>
                    <a:lstStyle/>
                    <a:p>
                      <a:pPr algn="l">
                        <a:lnSpc>
                          <a:spcPct val="120000"/>
                        </a:lnSpc>
                      </a:pPr>
                      <a:r>
                        <a:rPr sz="1500" b="0" i="0">
                          <a:solidFill>
                            <a:srgbClr val="14213D"/>
                          </a:solidFill>
                          <a:latin typeface="Calibri"/>
                        </a:rPr>
                        <a:t>Measure nodule mass, the quantity DTS captures best</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Learned prior</a:t>
                      </a:r>
                    </a:p>
                  </a:txBody>
                  <a:tcPr anchor="ctr" marL="127000">
                    <a:solidFill>
                      <a:srgbClr val="F2F4F7"/>
                    </a:solidFill>
                  </a:tcPr>
                </a:tc>
                <a:tc>
                  <a:txBody>
                    <a:bodyPr wrap="square"/>
                    <a:lstStyle/>
                    <a:p>
                      <a:pPr algn="l">
                        <a:lnSpc>
                          <a:spcPct val="120000"/>
                        </a:lnSpc>
                      </a:pPr>
                      <a:r>
                        <a:rPr sz="1500" b="0" i="0">
                          <a:solidFill>
                            <a:srgbClr val="14213D"/>
                          </a:solidFill>
                          <a:latin typeface="Calibri"/>
                        </a:rPr>
                        <a:t>Fill the missing depth with a diffusion model and 3D Gaussians</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Uncertainty</a:t>
                      </a:r>
                    </a:p>
                  </a:txBody>
                  <a:tcPr anchor="ctr" marL="127000">
                    <a:solidFill>
                      <a:srgbClr val="FFFFFF"/>
                    </a:solidFill>
                  </a:tcPr>
                </a:tc>
                <a:tc>
                  <a:txBody>
                    <a:bodyPr wrap="square"/>
                    <a:lstStyle/>
                    <a:p>
                      <a:pPr algn="l">
                        <a:lnSpc>
                          <a:spcPct val="120000"/>
                        </a:lnSpc>
                      </a:pPr>
                      <a:r>
                        <a:rPr sz="1500" b="0" i="0">
                          <a:solidFill>
                            <a:srgbClr val="14213D"/>
                          </a:solidFill>
                          <a:latin typeface="Calibri"/>
                        </a:rPr>
                        <a:t>Give every number a calibrated 90% interval</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Growth</a:t>
                      </a:r>
                    </a:p>
                  </a:txBody>
                  <a:tcPr anchor="ctr" marL="127000">
                    <a:solidFill>
                      <a:srgbClr val="F2F4F7"/>
                    </a:solidFill>
                  </a:tcPr>
                </a:tc>
                <a:tc>
                  <a:txBody>
                    <a:bodyPr wrap="square"/>
                    <a:lstStyle/>
                    <a:p>
                      <a:pPr algn="l">
                        <a:lnSpc>
                          <a:spcPct val="120000"/>
                        </a:lnSpc>
                      </a:pPr>
                      <a:r>
                        <a:rPr sz="1500" b="0" i="0">
                          <a:solidFill>
                            <a:srgbClr val="14213D"/>
                          </a:solidFill>
                          <a:latin typeface="Calibri"/>
                        </a:rPr>
                        <a:t>Measure growth as mass and volume doubling time</a:t>
                      </a:r>
                    </a:p>
                  </a:txBody>
                  <a:tcPr anchor="ctr" marL="127000">
                    <a:solidFill>
                      <a:srgbClr val="F2F4F7"/>
                    </a:solidFill>
                  </a:tcPr>
                </a:tc>
              </a:tr>
              <a:tr h="469900">
                <a:tc>
                  <a:txBody>
                    <a:bodyPr wrap="square"/>
                    <a:lstStyle/>
                    <a:p>
                      <a:pPr algn="l">
                        <a:lnSpc>
                          <a:spcPct val="120000"/>
                        </a:lnSpc>
                      </a:pPr>
                      <a:r>
                        <a:rPr sz="1500" b="1" i="0">
                          <a:solidFill>
                            <a:srgbClr val="14213D"/>
                          </a:solidFill>
                          <a:latin typeface="Calibri"/>
                        </a:rPr>
                        <a:t>Risk</a:t>
                      </a:r>
                    </a:p>
                  </a:txBody>
                  <a:tcPr anchor="ctr" marL="127000">
                    <a:solidFill>
                      <a:srgbClr val="FFFFFF"/>
                    </a:solidFill>
                  </a:tcPr>
                </a:tc>
                <a:tc>
                  <a:txBody>
                    <a:bodyPr wrap="square"/>
                    <a:lstStyle/>
                    <a:p>
                      <a:pPr algn="l">
                        <a:lnSpc>
                          <a:spcPct val="120000"/>
                        </a:lnSpc>
                      </a:pPr>
                      <a:r>
                        <a:rPr sz="1500" b="0" i="0">
                          <a:solidFill>
                            <a:srgbClr val="14213D"/>
                          </a:solidFill>
                          <a:latin typeface="Calibri"/>
                        </a:rPr>
                        <a:t>Give calibrated probabilities of the clinical size categories</a:t>
                      </a:r>
                    </a:p>
                  </a:txBody>
                  <a:tcPr anchor="ctr" marL="127000">
                    <a:solidFill>
                      <a:srgbClr val="FFFFFF"/>
                    </a:solidFill>
                  </a:tcPr>
                </a:tc>
              </a:tr>
              <a:tr h="469900">
                <a:tc>
                  <a:txBody>
                    <a:bodyPr wrap="square"/>
                    <a:lstStyle/>
                    <a:p>
                      <a:pPr algn="l">
                        <a:lnSpc>
                          <a:spcPct val="120000"/>
                        </a:lnSpc>
                      </a:pPr>
                      <a:r>
                        <a:rPr sz="1500" b="1" i="0">
                          <a:solidFill>
                            <a:srgbClr val="14213D"/>
                          </a:solidFill>
                          <a:latin typeface="Calibri"/>
                        </a:rPr>
                        <a:t>Explainability</a:t>
                      </a:r>
                    </a:p>
                  </a:txBody>
                  <a:tcPr anchor="ctr" marL="127000">
                    <a:solidFill>
                      <a:srgbClr val="F2F4F7"/>
                    </a:solidFill>
                  </a:tcPr>
                </a:tc>
                <a:tc>
                  <a:txBody>
                    <a:bodyPr wrap="square"/>
                    <a:lstStyle/>
                    <a:p>
                      <a:pPr algn="l">
                        <a:lnSpc>
                          <a:spcPct val="120000"/>
                        </a:lnSpc>
                      </a:pPr>
                      <a:r>
                        <a:rPr sz="1500" b="0" i="0">
                          <a:solidFill>
                            <a:srgbClr val="14213D"/>
                          </a:solidFill>
                          <a:latin typeface="Calibri"/>
                        </a:rPr>
                        <a:t>Show what the X-rays saw and what the prior filled in</a:t>
                      </a:r>
                    </a:p>
                  </a:txBody>
                  <a:tcPr anchor="ctr" marL="127000">
                    <a:solidFill>
                      <a:srgbClr val="F2F4F7"/>
                    </a:solidFill>
                  </a:tcPr>
                </a:tc>
              </a:tr>
            </a:tbl>
          </a:graphicData>
        </a:graphic>
      </p:graphicFrame>
      <p:sp>
        <p:nvSpPr>
          <p:cNvPr id="5" name="TextBox 4"/>
          <p:cNvSpPr txBox="1"/>
          <p:nvPr/>
        </p:nvSpPr>
        <p:spPr>
          <a:xfrm>
            <a:off x="812800" y="5334000"/>
            <a:ext cx="10566400" cy="381000"/>
          </a:xfrm>
          <a:prstGeom prst="rect">
            <a:avLst/>
          </a:prstGeom>
          <a:noFill/>
        </p:spPr>
        <p:txBody>
          <a:bodyPr wrap="square" lIns="0" rIns="0" tIns="0" bIns="0" anchor="t">
            <a:spAutoFit/>
          </a:bodyPr>
          <a:lstStyle/>
          <a:p>
            <a:pPr algn="l">
              <a:lnSpc>
                <a:spcPct val="120000"/>
              </a:lnSpc>
            </a:pPr>
            <a:r>
              <a:rPr sz="1400" b="0" i="0">
                <a:solidFill>
                  <a:srgbClr val="4A5568"/>
                </a:solidFill>
                <a:latin typeface="Calibri"/>
              </a:rPr>
              <a:t>Plus a usable system: click-to-3D application with a learned detector, on free or low-cost cloud hardware.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METHODOLOGY</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From one click to a 3D measurement with uncertainty</a:t>
            </a:r>
          </a:p>
        </p:txBody>
      </p:sp>
      <p:grpSp>
        <p:nvGrpSpPr>
          <p:cNvPr id="4" name="Group 3"/>
          <p:cNvGrpSpPr/>
          <p:nvPr/>
        </p:nvGrpSpPr>
        <p:grpSpPr>
          <a:xfrm>
            <a:off x="812800" y="2095500"/>
            <a:ext cx="1308100" cy="2159000"/>
            <a:chOff x="812800" y="2095500"/>
            <a:chExt cx="1308100" cy="2159000"/>
          </a:xfrm>
        </p:grpSpPr>
        <p:sp>
          <p:nvSpPr>
            <p:cNvPr id="5" name="Rounded Rectangle 4"/>
            <p:cNvSpPr/>
            <p:nvPr/>
          </p:nvSpPr>
          <p:spPr>
            <a:xfrm>
              <a:off x="8128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25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1</a:t>
              </a:r>
            </a:p>
            <a:p>
              <a:pPr algn="l">
                <a:lnSpc>
                  <a:spcPct val="120000"/>
                </a:lnSpc>
                <a:spcBef>
                  <a:spcPts val="600"/>
                </a:spcBef>
              </a:pPr>
              <a:r>
                <a:rPr sz="1500" b="1" i="0">
                  <a:solidFill>
                    <a:srgbClr val="14213D"/>
                  </a:solidFill>
                  <a:latin typeface="Calibri"/>
                </a:rPr>
                <a:t>DTS scan</a:t>
              </a:r>
            </a:p>
            <a:p>
              <a:pPr algn="l">
                <a:lnSpc>
                  <a:spcPct val="115000"/>
                </a:lnSpc>
                <a:spcBef>
                  <a:spcPts val="500"/>
                </a:spcBef>
              </a:pPr>
              <a:r>
                <a:rPr sz="1200" b="0" i="0">
                  <a:solidFill>
                    <a:srgbClr val="4A5568"/>
                  </a:solidFill>
                  <a:latin typeface="Calibri"/>
                </a:rPr>
                <a:t>15 low-dose views, ±15°, SIRT</a:t>
              </a:r>
            </a:p>
          </p:txBody>
        </p:sp>
      </p:grpSp>
      <p:grpSp>
        <p:nvGrpSpPr>
          <p:cNvPr id="7" name="Group 6"/>
          <p:cNvGrpSpPr/>
          <p:nvPr/>
        </p:nvGrpSpPr>
        <p:grpSpPr>
          <a:xfrm>
            <a:off x="2324100" y="2095500"/>
            <a:ext cx="1308100" cy="2159000"/>
            <a:chOff x="2324100" y="2095500"/>
            <a:chExt cx="1308100" cy="2159000"/>
          </a:xfrm>
        </p:grpSpPr>
        <p:sp>
          <p:nvSpPr>
            <p:cNvPr id="8" name="Rounded Rectangle 7"/>
            <p:cNvSpPr/>
            <p:nvPr/>
          </p:nvSpPr>
          <p:spPr>
            <a:xfrm>
              <a:off x="23241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638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2</a:t>
              </a:r>
            </a:p>
            <a:p>
              <a:pPr algn="l">
                <a:lnSpc>
                  <a:spcPct val="120000"/>
                </a:lnSpc>
                <a:spcBef>
                  <a:spcPts val="600"/>
                </a:spcBef>
              </a:pPr>
              <a:r>
                <a:rPr sz="1500" b="1" i="0">
                  <a:solidFill>
                    <a:srgbClr val="14213D"/>
                  </a:solidFill>
                  <a:latin typeface="Calibri"/>
                </a:rPr>
                <a:t>Click</a:t>
              </a:r>
            </a:p>
            <a:p>
              <a:pPr algn="l">
                <a:lnSpc>
                  <a:spcPct val="115000"/>
                </a:lnSpc>
                <a:spcBef>
                  <a:spcPts val="500"/>
                </a:spcBef>
              </a:pPr>
              <a:r>
                <a:rPr sz="1200" b="0" i="0">
                  <a:solidFill>
                    <a:srgbClr val="4A5568"/>
                  </a:solidFill>
                  <a:latin typeface="Calibri"/>
                </a:rPr>
                <a:t>3D U-Net detector suggests nodules</a:t>
              </a:r>
            </a:p>
          </p:txBody>
        </p:sp>
      </p:grpSp>
      <p:sp>
        <p:nvSpPr>
          <p:cNvPr id="10" name="Rectangle 9"/>
          <p:cNvSpPr/>
          <p:nvPr/>
        </p:nvSpPr>
        <p:spPr>
          <a:xfrm>
            <a:off x="21336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 name="Group 10"/>
          <p:cNvGrpSpPr/>
          <p:nvPr/>
        </p:nvGrpSpPr>
        <p:grpSpPr>
          <a:xfrm>
            <a:off x="3835400" y="2095500"/>
            <a:ext cx="1308100" cy="2159000"/>
            <a:chOff x="3835400" y="2095500"/>
            <a:chExt cx="1308100" cy="2159000"/>
          </a:xfrm>
        </p:grpSpPr>
        <p:sp>
          <p:nvSpPr>
            <p:cNvPr id="12" name="Rounded Rectangle 11"/>
            <p:cNvSpPr/>
            <p:nvPr/>
          </p:nvSpPr>
          <p:spPr>
            <a:xfrm>
              <a:off x="3835400" y="2095500"/>
              <a:ext cx="1308100" cy="2159000"/>
            </a:xfrm>
            <a:prstGeom prst="roundRect">
              <a:avLst>
                <a:gd name="adj" fmla="val 7766"/>
              </a:avLst>
            </a:prstGeom>
            <a:solidFill>
              <a:srgbClr val="FFFFFF"/>
            </a:solidFill>
            <a:ln w="12700">
              <a:solidFill>
                <a:srgbClr val="9AA7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75100" y="2207260"/>
              <a:ext cx="1028700" cy="1935480"/>
            </a:xfrm>
            <a:prstGeom prst="rect">
              <a:avLst/>
            </a:prstGeom>
            <a:noFill/>
          </p:spPr>
          <p:txBody>
            <a:bodyPr wrap="square" lIns="0" rIns="0" tIns="0" bIns="0" anchor="t">
              <a:spAutoFit/>
            </a:bodyPr>
            <a:lstStyle/>
            <a:p>
              <a:pPr algn="l">
                <a:lnSpc>
                  <a:spcPct val="120000"/>
                </a:lnSpc>
              </a:pPr>
              <a:r>
                <a:rPr sz="2200" b="1" i="0">
                  <a:solidFill>
                    <a:srgbClr val="4A5568"/>
                  </a:solidFill>
                  <a:latin typeface="Georgia"/>
                </a:rPr>
                <a:t>3</a:t>
              </a:r>
            </a:p>
            <a:p>
              <a:pPr algn="l">
                <a:lnSpc>
                  <a:spcPct val="120000"/>
                </a:lnSpc>
                <a:spcBef>
                  <a:spcPts val="600"/>
                </a:spcBef>
              </a:pPr>
              <a:r>
                <a:rPr sz="1500" b="1" i="0">
                  <a:solidFill>
                    <a:srgbClr val="14213D"/>
                  </a:solidFill>
                  <a:latin typeface="Calibri"/>
                </a:rPr>
                <a:t>Prism</a:t>
              </a:r>
            </a:p>
            <a:p>
              <a:pPr algn="l">
                <a:lnSpc>
                  <a:spcPct val="115000"/>
                </a:lnSpc>
                <a:spcBef>
                  <a:spcPts val="500"/>
                </a:spcBef>
              </a:pPr>
              <a:r>
                <a:rPr sz="1200" b="0" i="0">
                  <a:solidFill>
                    <a:srgbClr val="4A5568"/>
                  </a:solidFill>
                  <a:latin typeface="Calibri"/>
                </a:rPr>
                <a:t>64 mm column through the chest</a:t>
              </a:r>
            </a:p>
          </p:txBody>
        </p:sp>
      </p:grpSp>
      <p:sp>
        <p:nvSpPr>
          <p:cNvPr id="14" name="Rectangle 13"/>
          <p:cNvSpPr/>
          <p:nvPr/>
        </p:nvSpPr>
        <p:spPr>
          <a:xfrm>
            <a:off x="36449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5" name="Group 14"/>
          <p:cNvGrpSpPr/>
          <p:nvPr/>
        </p:nvGrpSpPr>
        <p:grpSpPr>
          <a:xfrm>
            <a:off x="5346700" y="2095500"/>
            <a:ext cx="1308100" cy="2159000"/>
            <a:chOff x="5346700" y="2095500"/>
            <a:chExt cx="1308100" cy="2159000"/>
          </a:xfrm>
        </p:grpSpPr>
        <p:sp>
          <p:nvSpPr>
            <p:cNvPr id="16" name="Rounded Rectangle 15"/>
            <p:cNvSpPr/>
            <p:nvPr/>
          </p:nvSpPr>
          <p:spPr>
            <a:xfrm>
              <a:off x="5346700" y="2095500"/>
              <a:ext cx="1308100" cy="2159000"/>
            </a:xfrm>
            <a:prstGeom prst="roundRect">
              <a:avLst>
                <a:gd name="adj" fmla="val 77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0" y="2207260"/>
              <a:ext cx="1028700" cy="1935480"/>
            </a:xfrm>
            <a:prstGeom prst="rect">
              <a:avLst/>
            </a:prstGeom>
            <a:noFill/>
          </p:spPr>
          <p:txBody>
            <a:bodyPr wrap="square" lIns="0" rIns="0" tIns="0" bIns="0" anchor="t">
              <a:spAutoFit/>
            </a:bodyPr>
            <a:lstStyle/>
            <a:p>
              <a:pPr algn="l">
                <a:lnSpc>
                  <a:spcPct val="120000"/>
                </a:lnSpc>
              </a:pPr>
              <a:r>
                <a:rPr sz="2200" b="1" i="0">
                  <a:solidFill>
                    <a:srgbClr val="1F5FA8"/>
                  </a:solidFill>
                  <a:latin typeface="Georgia"/>
                </a:rPr>
                <a:t>4</a:t>
              </a:r>
            </a:p>
            <a:p>
              <a:pPr algn="l">
                <a:lnSpc>
                  <a:spcPct val="120000"/>
                </a:lnSpc>
                <a:spcBef>
                  <a:spcPts val="600"/>
                </a:spcBef>
              </a:pPr>
              <a:r>
                <a:rPr sz="1500" b="1" i="0">
                  <a:solidFill>
                    <a:srgbClr val="14213D"/>
                  </a:solidFill>
                  <a:latin typeface="Calibri"/>
                </a:rPr>
                <a:t>Diffusion</a:t>
              </a:r>
            </a:p>
            <a:p>
              <a:pPr algn="l">
                <a:lnSpc>
                  <a:spcPct val="115000"/>
                </a:lnSpc>
                <a:spcBef>
                  <a:spcPts val="500"/>
                </a:spcBef>
              </a:pPr>
              <a:r>
                <a:rPr sz="1200" b="0" i="0">
                  <a:solidFill>
                    <a:srgbClr val="4A5568"/>
                  </a:solidFill>
                  <a:latin typeface="Calibri"/>
                </a:rPr>
                <a:t>8 CT-like samples, kept X-ray consistent</a:t>
              </a:r>
            </a:p>
          </p:txBody>
        </p:sp>
      </p:grpSp>
      <p:sp>
        <p:nvSpPr>
          <p:cNvPr id="18" name="Rectangle 17"/>
          <p:cNvSpPr/>
          <p:nvPr/>
        </p:nvSpPr>
        <p:spPr>
          <a:xfrm>
            <a:off x="51562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9" name="Group 18"/>
          <p:cNvGrpSpPr/>
          <p:nvPr/>
        </p:nvGrpSpPr>
        <p:grpSpPr>
          <a:xfrm>
            <a:off x="6858000" y="2095500"/>
            <a:ext cx="1308100" cy="2159000"/>
            <a:chOff x="6858000" y="2095500"/>
            <a:chExt cx="1308100" cy="2159000"/>
          </a:xfrm>
        </p:grpSpPr>
        <p:sp>
          <p:nvSpPr>
            <p:cNvPr id="20" name="Rounded Rectangle 19"/>
            <p:cNvSpPr/>
            <p:nvPr/>
          </p:nvSpPr>
          <p:spPr>
            <a:xfrm>
              <a:off x="68580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77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5</a:t>
              </a:r>
            </a:p>
            <a:p>
              <a:pPr algn="l">
                <a:lnSpc>
                  <a:spcPct val="120000"/>
                </a:lnSpc>
                <a:spcBef>
                  <a:spcPts val="600"/>
                </a:spcBef>
              </a:pPr>
              <a:r>
                <a:rPr sz="1500" b="1" i="0">
                  <a:solidFill>
                    <a:srgbClr val="14213D"/>
                  </a:solidFill>
                  <a:latin typeface="Calibri"/>
                </a:rPr>
                <a:t>Gaussians</a:t>
              </a:r>
            </a:p>
            <a:p>
              <a:pPr algn="l">
                <a:lnSpc>
                  <a:spcPct val="115000"/>
                </a:lnSpc>
                <a:spcBef>
                  <a:spcPts val="500"/>
                </a:spcBef>
              </a:pPr>
              <a:r>
                <a:rPr sz="1200" b="0" i="0">
                  <a:solidFill>
                    <a:srgbClr val="4A5568"/>
                  </a:solidFill>
                  <a:latin typeface="Calibri"/>
                </a:rPr>
                <a:t>3D Gaussians give mass in closed form</a:t>
              </a:r>
            </a:p>
          </p:txBody>
        </p:sp>
      </p:grpSp>
      <p:sp>
        <p:nvSpPr>
          <p:cNvPr id="22" name="Rectangle 21"/>
          <p:cNvSpPr/>
          <p:nvPr/>
        </p:nvSpPr>
        <p:spPr>
          <a:xfrm>
            <a:off x="66675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3" name="Group 22"/>
          <p:cNvGrpSpPr/>
          <p:nvPr/>
        </p:nvGrpSpPr>
        <p:grpSpPr>
          <a:xfrm>
            <a:off x="8369300" y="2095500"/>
            <a:ext cx="1308100" cy="2159000"/>
            <a:chOff x="8369300" y="2095500"/>
            <a:chExt cx="1308100" cy="2159000"/>
          </a:xfrm>
        </p:grpSpPr>
        <p:sp>
          <p:nvSpPr>
            <p:cNvPr id="24" name="Rounded Rectangle 23"/>
            <p:cNvSpPr/>
            <p:nvPr/>
          </p:nvSpPr>
          <p:spPr>
            <a:xfrm>
              <a:off x="83693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090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6</a:t>
              </a:r>
            </a:p>
            <a:p>
              <a:pPr algn="l">
                <a:lnSpc>
                  <a:spcPct val="120000"/>
                </a:lnSpc>
                <a:spcBef>
                  <a:spcPts val="600"/>
                </a:spcBef>
              </a:pPr>
              <a:r>
                <a:rPr sz="1500" b="1" i="0">
                  <a:solidFill>
                    <a:srgbClr val="14213D"/>
                  </a:solidFill>
                  <a:latin typeface="Calibri"/>
                </a:rPr>
                <a:t>Conformal</a:t>
              </a:r>
            </a:p>
            <a:p>
              <a:pPr algn="l">
                <a:lnSpc>
                  <a:spcPct val="115000"/>
                </a:lnSpc>
                <a:spcBef>
                  <a:spcPts val="500"/>
                </a:spcBef>
              </a:pPr>
              <a:r>
                <a:rPr sz="1200" b="0" i="0">
                  <a:solidFill>
                    <a:srgbClr val="4A5568"/>
                  </a:solidFill>
                  <a:latin typeface="Calibri"/>
                </a:rPr>
                <a:t>Intervals and size-category odds</a:t>
              </a:r>
            </a:p>
          </p:txBody>
        </p:sp>
      </p:grpSp>
      <p:sp>
        <p:nvSpPr>
          <p:cNvPr id="26" name="Rectangle 25"/>
          <p:cNvSpPr/>
          <p:nvPr/>
        </p:nvSpPr>
        <p:spPr>
          <a:xfrm>
            <a:off x="81788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27" name="Group 26"/>
          <p:cNvGrpSpPr/>
          <p:nvPr/>
        </p:nvGrpSpPr>
        <p:grpSpPr>
          <a:xfrm>
            <a:off x="9880600" y="2095500"/>
            <a:ext cx="1308100" cy="2159000"/>
            <a:chOff x="9880600" y="2095500"/>
            <a:chExt cx="1308100" cy="2159000"/>
          </a:xfrm>
        </p:grpSpPr>
        <p:sp>
          <p:nvSpPr>
            <p:cNvPr id="28" name="Rounded Rectangle 27"/>
            <p:cNvSpPr/>
            <p:nvPr/>
          </p:nvSpPr>
          <p:spPr>
            <a:xfrm>
              <a:off x="9880600" y="2095500"/>
              <a:ext cx="1308100" cy="2159000"/>
            </a:xfrm>
            <a:prstGeom prst="roundRect">
              <a:avLst>
                <a:gd name="adj" fmla="val 7766"/>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020300" y="2207260"/>
              <a:ext cx="1028700" cy="1935480"/>
            </a:xfrm>
            <a:prstGeom prst="rect">
              <a:avLst/>
            </a:prstGeom>
            <a:noFill/>
          </p:spPr>
          <p:txBody>
            <a:bodyPr wrap="square" lIns="0" rIns="0" tIns="0" bIns="0" anchor="t">
              <a:spAutoFit/>
            </a:bodyPr>
            <a:lstStyle/>
            <a:p>
              <a:pPr algn="l">
                <a:lnSpc>
                  <a:spcPct val="120000"/>
                </a:lnSpc>
              </a:pPr>
              <a:r>
                <a:rPr sz="2200" b="1" i="0">
                  <a:solidFill>
                    <a:srgbClr val="2E7D4F"/>
                  </a:solidFill>
                  <a:latin typeface="Georgia"/>
                </a:rPr>
                <a:t>7</a:t>
              </a:r>
            </a:p>
            <a:p>
              <a:pPr algn="l">
                <a:lnSpc>
                  <a:spcPct val="120000"/>
                </a:lnSpc>
                <a:spcBef>
                  <a:spcPts val="600"/>
                </a:spcBef>
              </a:pPr>
              <a:r>
                <a:rPr sz="1500" b="1" i="0">
                  <a:solidFill>
                    <a:srgbClr val="14213D"/>
                  </a:solidFill>
                  <a:latin typeface="Calibri"/>
                </a:rPr>
                <a:t>Explain</a:t>
              </a:r>
            </a:p>
            <a:p>
              <a:pPr algn="l">
                <a:lnSpc>
                  <a:spcPct val="115000"/>
                </a:lnSpc>
                <a:spcBef>
                  <a:spcPts val="500"/>
                </a:spcBef>
              </a:pPr>
              <a:r>
                <a:rPr sz="1200" b="0" i="0">
                  <a:solidFill>
                    <a:srgbClr val="4A5568"/>
                  </a:solidFill>
                  <a:latin typeface="Calibri"/>
                </a:rPr>
                <a:t>Seen vs unseen split, saliency</a:t>
              </a:r>
            </a:p>
          </p:txBody>
        </p:sp>
      </p:grpSp>
      <p:sp>
        <p:nvSpPr>
          <p:cNvPr id="30" name="Rectangle 29"/>
          <p:cNvSpPr/>
          <p:nvPr/>
        </p:nvSpPr>
        <p:spPr>
          <a:xfrm>
            <a:off x="9690100" y="3079750"/>
            <a:ext cx="177800" cy="190500"/>
          </a:xfrm>
          <a:prstGeom prst="rect">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1" name="Group 30"/>
          <p:cNvGrpSpPr/>
          <p:nvPr/>
        </p:nvGrpSpPr>
        <p:grpSpPr>
          <a:xfrm>
            <a:off x="812800" y="4508500"/>
            <a:ext cx="2819400" cy="698500"/>
            <a:chOff x="812800" y="4508500"/>
            <a:chExt cx="2819400" cy="698500"/>
          </a:xfrm>
        </p:grpSpPr>
        <p:sp>
          <p:nvSpPr>
            <p:cNvPr id="32" name="Rectangle 31"/>
            <p:cNvSpPr/>
            <p:nvPr/>
          </p:nvSpPr>
          <p:spPr>
            <a:xfrm>
              <a:off x="812800" y="4508500"/>
              <a:ext cx="2819400" cy="38100"/>
            </a:xfrm>
            <a:prstGeom prst="rect">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2800" y="4635500"/>
              <a:ext cx="2819400" cy="571500"/>
            </a:xfrm>
            <a:prstGeom prst="rect">
              <a:avLst/>
            </a:prstGeom>
            <a:noFill/>
          </p:spPr>
          <p:txBody>
            <a:bodyPr wrap="square" lIns="0" tIns="0">
              <a:spAutoFit/>
            </a:bodyPr>
            <a:lstStyle/>
            <a:p>
              <a:pPr algn="l">
                <a:lnSpc>
                  <a:spcPct val="120000"/>
                </a:lnSpc>
              </a:pPr>
              <a:r>
                <a:rPr sz="1200" b="1" i="0">
                  <a:solidFill>
                    <a:srgbClr val="4A5568"/>
                  </a:solidFill>
                  <a:latin typeface="Calibri"/>
                </a:rPr>
                <a:t>PHYSICS</a:t>
              </a:r>
            </a:p>
            <a:p>
              <a:pPr algn="l">
                <a:lnSpc>
                  <a:spcPct val="120000"/>
                </a:lnSpc>
                <a:spcBef>
                  <a:spcPts val="200"/>
                </a:spcBef>
              </a:pPr>
              <a:r>
                <a:rPr sz="1200" b="0" i="0">
                  <a:solidFill>
                    <a:srgbClr val="4A5568"/>
                  </a:solidFill>
                  <a:latin typeface="Calibri"/>
                </a:rPr>
                <a:t>what the X-rays measure</a:t>
              </a:r>
            </a:p>
          </p:txBody>
        </p:sp>
      </p:grpSp>
      <p:grpSp>
        <p:nvGrpSpPr>
          <p:cNvPr id="34" name="Group 33"/>
          <p:cNvGrpSpPr/>
          <p:nvPr/>
        </p:nvGrpSpPr>
        <p:grpSpPr>
          <a:xfrm>
            <a:off x="3835400" y="4508500"/>
            <a:ext cx="2819400" cy="698500"/>
            <a:chOff x="3835400" y="4508500"/>
            <a:chExt cx="2819400" cy="698500"/>
          </a:xfrm>
        </p:grpSpPr>
        <p:sp>
          <p:nvSpPr>
            <p:cNvPr id="35" name="Rectangle 34"/>
            <p:cNvSpPr/>
            <p:nvPr/>
          </p:nvSpPr>
          <p:spPr>
            <a:xfrm>
              <a:off x="3835400" y="4508500"/>
              <a:ext cx="281940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835400" y="4635500"/>
              <a:ext cx="2819400" cy="571500"/>
            </a:xfrm>
            <a:prstGeom prst="rect">
              <a:avLst/>
            </a:prstGeom>
            <a:noFill/>
          </p:spPr>
          <p:txBody>
            <a:bodyPr wrap="square" lIns="0" tIns="0">
              <a:spAutoFit/>
            </a:bodyPr>
            <a:lstStyle/>
            <a:p>
              <a:pPr algn="l">
                <a:lnSpc>
                  <a:spcPct val="120000"/>
                </a:lnSpc>
              </a:pPr>
              <a:r>
                <a:rPr sz="1200" b="1" i="0">
                  <a:solidFill>
                    <a:srgbClr val="1F5FA8"/>
                  </a:solidFill>
                  <a:latin typeface="Calibri"/>
                </a:rPr>
                <a:t>LEARNED</a:t>
              </a:r>
            </a:p>
            <a:p>
              <a:pPr algn="l">
                <a:lnSpc>
                  <a:spcPct val="120000"/>
                </a:lnSpc>
                <a:spcBef>
                  <a:spcPts val="200"/>
                </a:spcBef>
              </a:pPr>
              <a:r>
                <a:rPr sz="1200" b="0" i="0">
                  <a:solidFill>
                    <a:srgbClr val="4A5568"/>
                  </a:solidFill>
                  <a:latin typeface="Calibri"/>
                </a:rPr>
                <a:t>fills the missing wedge</a:t>
              </a:r>
            </a:p>
          </p:txBody>
        </p:sp>
      </p:grpSp>
      <p:grpSp>
        <p:nvGrpSpPr>
          <p:cNvPr id="37" name="Group 36"/>
          <p:cNvGrpSpPr/>
          <p:nvPr/>
        </p:nvGrpSpPr>
        <p:grpSpPr>
          <a:xfrm>
            <a:off x="6858000" y="4508500"/>
            <a:ext cx="4521200" cy="698500"/>
            <a:chOff x="6858000" y="4508500"/>
            <a:chExt cx="4521200" cy="698500"/>
          </a:xfrm>
        </p:grpSpPr>
        <p:sp>
          <p:nvSpPr>
            <p:cNvPr id="38" name="Rectangle 37"/>
            <p:cNvSpPr/>
            <p:nvPr/>
          </p:nvSpPr>
          <p:spPr>
            <a:xfrm>
              <a:off x="6858000" y="4508500"/>
              <a:ext cx="452120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4635500"/>
              <a:ext cx="4521200" cy="571500"/>
            </a:xfrm>
            <a:prstGeom prst="rect">
              <a:avLst/>
            </a:prstGeom>
            <a:noFill/>
          </p:spPr>
          <p:txBody>
            <a:bodyPr wrap="square" lIns="0" tIns="0">
              <a:spAutoFit/>
            </a:bodyPr>
            <a:lstStyle/>
            <a:p>
              <a:pPr algn="l">
                <a:lnSpc>
                  <a:spcPct val="120000"/>
                </a:lnSpc>
              </a:pPr>
              <a:r>
                <a:rPr sz="1200" b="1" i="0">
                  <a:solidFill>
                    <a:srgbClr val="2E7D4F"/>
                  </a:solidFill>
                  <a:latin typeface="Calibri"/>
                </a:rPr>
                <a:t>MEASURE AND TRUST</a:t>
              </a:r>
            </a:p>
            <a:p>
              <a:pPr algn="l">
                <a:lnSpc>
                  <a:spcPct val="120000"/>
                </a:lnSpc>
                <a:spcBef>
                  <a:spcPts val="200"/>
                </a:spcBef>
              </a:pPr>
              <a:r>
                <a:rPr sz="1200" b="0" i="0">
                  <a:solidFill>
                    <a:srgbClr val="4A5568"/>
                  </a:solidFill>
                  <a:latin typeface="Calibri"/>
                </a:rPr>
                <a:t>numbers, intervals, explanation</a:t>
              </a:r>
            </a:p>
          </p:txBody>
        </p:sp>
      </p:grpSp>
      <p:sp>
        <p:nvSpPr>
          <p:cNvPr id="40" name="TextBox 39"/>
          <p:cNvSpPr txBox="1"/>
          <p:nvPr/>
        </p:nvSpPr>
        <p:spPr>
          <a:xfrm>
            <a:off x="812800" y="5524500"/>
            <a:ext cx="10566400" cy="317500"/>
          </a:xfrm>
          <a:prstGeom prst="rect">
            <a:avLst/>
          </a:prstGeom>
          <a:noFill/>
        </p:spPr>
        <p:txBody>
          <a:bodyPr wrap="square" lIns="0" rIns="0" tIns="0" bIns="0" anchor="t">
            <a:spAutoFit/>
          </a:bodyPr>
          <a:lstStyle/>
          <a:p>
            <a:pPr algn="l">
              <a:lnSpc>
                <a:spcPct val="120000"/>
              </a:lnSpc>
            </a:pPr>
            <a:r>
              <a:rPr sz="1300" b="0" i="0">
                <a:solidFill>
                  <a:srgbClr val="4A5568"/>
                </a:solidFill>
                <a:latin typeface="Calibri"/>
              </a:rPr>
              <a:t>18 scripted steps, each ending in automatic PASS/FAIL checks · 69 unit tests · one rented GPU</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anim calcmode="lin" valueType="num">
                                      <p:cBhvr additive="base">
                                        <p:cTn id="11" dur="500" fill="hold"/>
                                        <p:tgtEl>
                                          <p:spTgt spid="10"/>
                                        </p:tgtEl>
                                        <p:attrNameLst>
                                          <p:attrName>ppt_y</p:attrName>
                                        </p:attrNameLst>
                                      </p:cBhvr>
                                      <p:tavLst>
                                        <p:tav tm="0">
                                          <p:val>
                                            <p:strVal val="#ppt_y+0.05"/>
                                          </p:val>
                                        </p:tav>
                                        <p:tav tm="100000">
                                          <p:val>
                                            <p:strVal val="#ppt_y"/>
                                          </p:val>
                                        </p:tav>
                                      </p:tavLst>
                                    </p:anim>
                                  </p:childTnLst>
                                </p:cTn>
                              </p:par>
                              <p:par>
                                <p:cTn id="16" presetID="42"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additive="base">
                                        <p:cTn id="1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2" presetID="42" presetClass="entr" presetSubtype="0" fill="hold" grpId="0"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anim calcmode="lin" valueType="num">
                                      <p:cBhvr additive="base">
                                        <p:cTn id="21" dur="500" fill="hold"/>
                                        <p:tgtEl>
                                          <p:spTgt spid="14"/>
                                        </p:tgtEl>
                                        <p:attrNameLst>
                                          <p:attrName>ppt_y</p:attrName>
                                        </p:attrNameLst>
                                      </p:cBhvr>
                                      <p:tavLst>
                                        <p:tav tm="0">
                                          <p:val>
                                            <p:strVal val="#ppt_y+0.05"/>
                                          </p:val>
                                        </p:tav>
                                        <p:tav tm="100000">
                                          <p:val>
                                            <p:strVal val="#ppt_y"/>
                                          </p:val>
                                        </p:tav>
                                      </p:tavLst>
                                    </p:anim>
                                  </p:childTnLst>
                                </p:cTn>
                              </p:par>
                              <p:par>
                                <p:cTn id="26" presetID="42"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500"/>
                                        <p:tgtEl>
                                          <p:spTgt spid="11"/>
                                        </p:tgtEl>
                                      </p:cBhvr>
                                    </p:animEffect>
                                    <p:anim calcmode="lin" valueType="num">
                                      <p:cBhvr additive="base">
                                        <p:cTn id="25"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2" presetID="42"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500"/>
                                        <p:tgtEl>
                                          <p:spTgt spid="18"/>
                                        </p:tgtEl>
                                      </p:cBhvr>
                                    </p:animEffect>
                                    <p:anim calcmode="lin" valueType="num">
                                      <p:cBhvr additive="base">
                                        <p:cTn id="31" dur="500" fill="hold"/>
                                        <p:tgtEl>
                                          <p:spTgt spid="18"/>
                                        </p:tgtEl>
                                        <p:attrNameLst>
                                          <p:attrName>ppt_y</p:attrName>
                                        </p:attrNameLst>
                                      </p:cBhvr>
                                      <p:tavLst>
                                        <p:tav tm="0">
                                          <p:val>
                                            <p:strVal val="#ppt_y+0.05"/>
                                          </p:val>
                                        </p:tav>
                                        <p:tav tm="100000">
                                          <p:val>
                                            <p:strVal val="#ppt_y"/>
                                          </p:val>
                                        </p:tav>
                                      </p:tavLst>
                                    </p:anim>
                                  </p:childTnLst>
                                </p:cTn>
                              </p:par>
                              <p:par>
                                <p:cTn id="36" presetID="42"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500"/>
                                        <p:tgtEl>
                                          <p:spTgt spid="15"/>
                                        </p:tgtEl>
                                      </p:cBhvr>
                                    </p:animEffect>
                                    <p:anim calcmode="lin" valueType="num">
                                      <p:cBhvr additive="base">
                                        <p:cTn id="35"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2" presetID="42"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500"/>
                                        <p:tgtEl>
                                          <p:spTgt spid="22"/>
                                        </p:tgtEl>
                                      </p:cBhvr>
                                    </p:animEffect>
                                    <p:anim calcmode="lin" valueType="num">
                                      <p:cBhvr additive="base">
                                        <p:cTn id="41" dur="500" fill="hold"/>
                                        <p:tgtEl>
                                          <p:spTgt spid="22"/>
                                        </p:tgtEl>
                                        <p:attrNameLst>
                                          <p:attrName>ppt_y</p:attrName>
                                        </p:attrNameLst>
                                      </p:cBhvr>
                                      <p:tavLst>
                                        <p:tav tm="0">
                                          <p:val>
                                            <p:strVal val="#ppt_y+0.05"/>
                                          </p:val>
                                        </p:tav>
                                        <p:tav tm="100000">
                                          <p:val>
                                            <p:strVal val="#ppt_y"/>
                                          </p:val>
                                        </p:tav>
                                      </p:tavLst>
                                    </p:anim>
                                  </p:childTnLst>
                                </p:cTn>
                              </p:par>
                              <p:par>
                                <p:cTn id="46" presetID="42" presetClass="entr" presetSubtype="0" fill="hold" grpId="0"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500"/>
                                        <p:tgtEl>
                                          <p:spTgt spid="19"/>
                                        </p:tgtEl>
                                      </p:cBhvr>
                                    </p:animEffect>
                                    <p:anim calcmode="lin" valueType="num">
                                      <p:cBhvr additive="base">
                                        <p:cTn id="45" dur="500" fill="hold"/>
                                        <p:tgtEl>
                                          <p:spTgt spid="19"/>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2" presetID="42" presetClass="entr" presetSubtype="0" fill="hold" grpId="0" nodeType="click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fade">
                                      <p:cBhvr>
                                        <p:cTn id="50" dur="500"/>
                                        <p:tgtEl>
                                          <p:spTgt spid="26"/>
                                        </p:tgtEl>
                                      </p:cBhvr>
                                    </p:animEffect>
                                    <p:anim calcmode="lin" valueType="num">
                                      <p:cBhvr additive="base">
                                        <p:cTn id="51" dur="500" fill="hold"/>
                                        <p:tgtEl>
                                          <p:spTgt spid="26"/>
                                        </p:tgtEl>
                                        <p:attrNameLst>
                                          <p:attrName>ppt_y</p:attrName>
                                        </p:attrNameLst>
                                      </p:cBhvr>
                                      <p:tavLst>
                                        <p:tav tm="0">
                                          <p:val>
                                            <p:strVal val="#ppt_y+0.05"/>
                                          </p:val>
                                        </p:tav>
                                        <p:tav tm="100000">
                                          <p:val>
                                            <p:strVal val="#ppt_y"/>
                                          </p:val>
                                        </p:tav>
                                      </p:tavLst>
                                    </p:anim>
                                  </p:childTnLst>
                                </p:cTn>
                              </p:par>
                              <p:par>
                                <p:cTn id="56" presetID="42"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500"/>
                                        <p:tgtEl>
                                          <p:spTgt spid="23"/>
                                        </p:tgtEl>
                                      </p:cBhvr>
                                    </p:animEffect>
                                    <p:anim calcmode="lin" valueType="num">
                                      <p:cBhvr additive="base">
                                        <p:cTn id="55"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2" presetID="42" presetClass="entr" presetSubtype="0" fill="hold" grpId="0" nodeType="clickEffect">
                                  <p:stCondLst>
                                    <p:cond delay="0"/>
                                  </p:stCondLst>
                                  <p:childTnLst>
                                    <p:set>
                                      <p:cBhvr>
                                        <p:cTn id="59" dur="1" fill="hold">
                                          <p:stCondLst>
                                            <p:cond delay="0"/>
                                          </p:stCondLst>
                                        </p:cTn>
                                        <p:tgtEl>
                                          <p:spTgt spid="30"/>
                                        </p:tgtEl>
                                        <p:attrNameLst>
                                          <p:attrName>style.visibility</p:attrName>
                                        </p:attrNameLst>
                                      </p:cBhvr>
                                      <p:to>
                                        <p:strVal val="visible"/>
                                      </p:to>
                                    </p:set>
                                    <p:animEffect transition="in" filter="fade">
                                      <p:cBhvr>
                                        <p:cTn id="60" dur="500"/>
                                        <p:tgtEl>
                                          <p:spTgt spid="30"/>
                                        </p:tgtEl>
                                      </p:cBhvr>
                                    </p:animEffect>
                                    <p:anim calcmode="lin" valueType="num">
                                      <p:cBhvr additive="base">
                                        <p:cTn id="61" dur="500" fill="hold"/>
                                        <p:tgtEl>
                                          <p:spTgt spid="30"/>
                                        </p:tgtEl>
                                        <p:attrNameLst>
                                          <p:attrName>ppt_y</p:attrName>
                                        </p:attrNameLst>
                                      </p:cBhvr>
                                      <p:tavLst>
                                        <p:tav tm="0">
                                          <p:val>
                                            <p:strVal val="#ppt_y+0.05"/>
                                          </p:val>
                                        </p:tav>
                                        <p:tav tm="100000">
                                          <p:val>
                                            <p:strVal val="#ppt_y"/>
                                          </p:val>
                                        </p:tav>
                                      </p:tavLst>
                                    </p:anim>
                                  </p:childTnLst>
                                </p:cTn>
                              </p:par>
                              <p:par>
                                <p:cTn id="66" presetID="42" presetClass="entr" presetSubtype="0" fill="hold" grpId="0" nodeType="with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500"/>
                                        <p:tgtEl>
                                          <p:spTgt spid="27"/>
                                        </p:tgtEl>
                                      </p:cBhvr>
                                    </p:animEffect>
                                    <p:anim calcmode="lin" valueType="num">
                                      <p:cBhvr additive="base">
                                        <p:cTn id="65"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1" presetID="10" presetClass="entr" presetSubtype="0" fill="hold" grpId="0" nodeType="click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500"/>
                                        <p:tgtEl>
                                          <p:spTgt spid="31"/>
                                        </p:tgtEl>
                                      </p:cBhvr>
                                    </p:animEffect>
                                  </p:childTnLst>
                                </p:cTn>
                              </p:par>
                              <p:par>
                                <p:cTn id="74" presetID="10" presetClass="entr" presetSubtype="0" fill="hold" grpId="0" nodeType="withEffect">
                                  <p:stCondLst>
                                    <p:cond delay="25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500"/>
                                        <p:tgtEl>
                                          <p:spTgt spid="34"/>
                                        </p:tgtEl>
                                      </p:cBhvr>
                                    </p:animEffect>
                                  </p:childTnLst>
                                </p:cTn>
                              </p:par>
                              <p:par>
                                <p:cTn id="77" presetID="10" presetClass="entr" presetSubtype="0" fill="hold" grpId="0" nodeType="withEffect">
                                  <p:stCondLst>
                                    <p:cond delay="50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childTnLst>
                          </p:cTn>
                        </p:par>
                      </p:childTnLst>
                    </p:cTn>
                  </p:par>
                  <p:par>
                    <p:cTn id="83" fill="hold">
                      <p:stCondLst>
                        <p:cond delay="indefinite"/>
                      </p:stCondLst>
                      <p:childTnLst>
                        <p:par>
                          <p:cTn id="84" fill="hold">
                            <p:stCondLst>
                              <p:cond delay="0"/>
                            </p:stCondLst>
                            <p:childTnLst>
                              <p:par>
                                <p:cTn id="82" presetID="10" presetClass="entr" presetSubtype="0"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fade">
                                      <p:cBhvr>
                                        <p:cTn id="8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8" grpId="0"/>
      <p:bldP spid="22" grpId="0"/>
      <p:bldP spid="26" grpId="0"/>
      <p:bldP spid="30" grpId="0"/>
      <p:bldP spid="40" grpId="0"/>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DATASET · VIRTUAL CLINICAL TRIAL</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Real patient CT, simulated low-dose DTS</a:t>
            </a:r>
          </a:p>
        </p:txBody>
      </p:sp>
      <p:sp>
        <p:nvSpPr>
          <p:cNvPr id="4" name="Rounded Rectangle 3"/>
          <p:cNvSpPr/>
          <p:nvPr/>
        </p:nvSpPr>
        <p:spPr>
          <a:xfrm>
            <a:off x="812800" y="1841500"/>
            <a:ext cx="5588000" cy="3784600"/>
          </a:xfrm>
          <a:prstGeom prst="roundRect">
            <a:avLst>
              <a:gd name="adj" fmla="val 201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ts_views.png"/>
          <p:cNvPicPr>
            <a:picLocks noChangeAspect="1"/>
          </p:cNvPicPr>
          <p:nvPr/>
        </p:nvPicPr>
        <p:blipFill>
          <a:blip r:embed="rId2"/>
          <a:stretch>
            <a:fillRect/>
          </a:stretch>
        </p:blipFill>
        <p:spPr>
          <a:xfrm>
            <a:off x="815287" y="1841500"/>
            <a:ext cx="5583026" cy="3784600"/>
          </a:xfrm>
          <a:prstGeom prst="rect">
            <a:avLst/>
          </a:prstGeom>
        </p:spPr>
      </p:pic>
      <p:sp>
        <p:nvSpPr>
          <p:cNvPr id="6" name="TextBox 5"/>
          <p:cNvSpPr txBox="1"/>
          <p:nvPr/>
        </p:nvSpPr>
        <p:spPr>
          <a:xfrm>
            <a:off x="6807200" y="1905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583</a:t>
            </a:r>
          </a:p>
          <a:p>
            <a:pPr algn="l">
              <a:lnSpc>
                <a:spcPct val="120000"/>
              </a:lnSpc>
              <a:spcBef>
                <a:spcPts val="400"/>
              </a:spcBef>
            </a:pPr>
            <a:r>
              <a:rPr sz="1300" b="0" i="0">
                <a:solidFill>
                  <a:srgbClr val="4A5568"/>
                </a:solidFill>
                <a:latin typeface="Calibri"/>
              </a:rPr>
              <a:t>LIDC-IDRI patients (TCIA, CC BY 3.0)</a:t>
            </a:r>
          </a:p>
        </p:txBody>
      </p:sp>
      <p:sp>
        <p:nvSpPr>
          <p:cNvPr id="7" name="TextBox 6"/>
          <p:cNvSpPr txBox="1"/>
          <p:nvPr/>
        </p:nvSpPr>
        <p:spPr>
          <a:xfrm>
            <a:off x="6807200" y="2857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1,144</a:t>
            </a:r>
          </a:p>
          <a:p>
            <a:pPr algn="l">
              <a:lnSpc>
                <a:spcPct val="120000"/>
              </a:lnSpc>
              <a:spcBef>
                <a:spcPts val="400"/>
              </a:spcBef>
            </a:pPr>
            <a:r>
              <a:rPr sz="1300" b="0" i="0">
                <a:solidFill>
                  <a:srgbClr val="4A5568"/>
                </a:solidFill>
                <a:latin typeface="Calibri"/>
              </a:rPr>
              <a:t>nodules of 4–30 mm marked by ≥3 of 4 radiologists</a:t>
            </a:r>
          </a:p>
        </p:txBody>
      </p:sp>
      <p:sp>
        <p:nvSpPr>
          <p:cNvPr id="8" name="TextBox 7"/>
          <p:cNvSpPr txBox="1"/>
          <p:nvPr/>
        </p:nvSpPr>
        <p:spPr>
          <a:xfrm>
            <a:off x="6807200" y="38100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60 / 20 / 20</a:t>
            </a:r>
          </a:p>
          <a:p>
            <a:pPr algn="l">
              <a:lnSpc>
                <a:spcPct val="120000"/>
              </a:lnSpc>
              <a:spcBef>
                <a:spcPts val="400"/>
              </a:spcBef>
            </a:pPr>
            <a:r>
              <a:rPr sz="1300" b="0" i="0">
                <a:solidFill>
                  <a:srgbClr val="4A5568"/>
                </a:solidFill>
                <a:latin typeface="Calibri"/>
              </a:rPr>
              <a:t>train / calibration / test, split by patient</a:t>
            </a:r>
          </a:p>
        </p:txBody>
      </p:sp>
      <p:sp>
        <p:nvSpPr>
          <p:cNvPr id="9" name="TextBox 8"/>
          <p:cNvSpPr txBox="1"/>
          <p:nvPr/>
        </p:nvSpPr>
        <p:spPr>
          <a:xfrm>
            <a:off x="6807200" y="4762500"/>
            <a:ext cx="4572000" cy="889000"/>
          </a:xfrm>
          <a:prstGeom prst="rect">
            <a:avLst/>
          </a:prstGeom>
          <a:noFill/>
        </p:spPr>
        <p:txBody>
          <a:bodyPr wrap="square" lIns="0" rIns="0" tIns="0" bIns="0" anchor="t">
            <a:spAutoFit/>
          </a:bodyPr>
          <a:lstStyle/>
          <a:p>
            <a:pPr algn="l">
              <a:lnSpc>
                <a:spcPct val="100000"/>
              </a:lnSpc>
            </a:pPr>
            <a:r>
              <a:rPr sz="3200" b="1" i="0">
                <a:solidFill>
                  <a:srgbClr val="1F5FA8"/>
                </a:solidFill>
                <a:latin typeface="Georgia"/>
              </a:rPr>
              <a:t>2,522</a:t>
            </a:r>
          </a:p>
          <a:p>
            <a:pPr algn="l">
              <a:lnSpc>
                <a:spcPct val="120000"/>
              </a:lnSpc>
              <a:spcBef>
                <a:spcPts val="400"/>
              </a:spcBef>
            </a:pPr>
            <a:r>
              <a:rPr sz="1300" b="0" i="0">
                <a:solidFill>
                  <a:srgbClr val="4A5568"/>
                </a:solidFill>
                <a:latin typeface="Calibri"/>
              </a:rPr>
              <a:t>training pairs (265 held out); 150 nodules measured: 76 cal, 74 test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additive="base">
                                        <p:cTn id="5"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anim calcmode="lin" valueType="num">
                                      <p:cBhvr additive="base">
                                        <p:cTn id="11"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anim calcmode="lin" valueType="num">
                                      <p:cBhvr additive="base">
                                        <p:cTn id="17"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anim calcmode="lin" valueType="num">
                                      <p:cBhvr additive="base">
                                        <p:cTn id="23"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LEARNED PRIOR</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A conditional 3D diffusion model fills the missing wedge</a:t>
            </a:r>
          </a:p>
        </p:txBody>
      </p:sp>
      <p:pic>
        <p:nvPicPr>
          <p:cNvPr id="4" name="Picture 3" descr="diff_strip.png"/>
          <p:cNvPicPr>
            <a:picLocks noChangeAspect="1"/>
          </p:cNvPicPr>
          <p:nvPr/>
        </p:nvPicPr>
        <p:blipFill>
          <a:blip r:embed="rId2"/>
          <a:stretch>
            <a:fillRect/>
          </a:stretch>
        </p:blipFill>
        <p:spPr>
          <a:xfrm>
            <a:off x="2681255" y="2032000"/>
            <a:ext cx="6829490" cy="2159000"/>
          </a:xfrm>
          <a:prstGeom prst="rect">
            <a:avLst/>
          </a:prstGeom>
        </p:spPr>
      </p:pic>
      <p:sp>
        <p:nvSpPr>
          <p:cNvPr id="5" name="TextBox 4"/>
          <p:cNvSpPr txBox="1"/>
          <p:nvPr/>
        </p:nvSpPr>
        <p:spPr>
          <a:xfrm>
            <a:off x="2681255"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DTS input (condition)</a:t>
            </a:r>
          </a:p>
        </p:txBody>
      </p:sp>
      <p:sp>
        <p:nvSpPr>
          <p:cNvPr id="6" name="TextBox 5"/>
          <p:cNvSpPr txBox="1"/>
          <p:nvPr/>
        </p:nvSpPr>
        <p:spPr>
          <a:xfrm>
            <a:off x="4957752" y="4267200"/>
            <a:ext cx="2276497" cy="254000"/>
          </a:xfrm>
          <a:prstGeom prst="rect">
            <a:avLst/>
          </a:prstGeom>
          <a:noFill/>
        </p:spPr>
        <p:txBody>
          <a:bodyPr wrap="square" lIns="0" rIns="0" tIns="0" bIns="0" anchor="t">
            <a:spAutoFit/>
          </a:bodyPr>
          <a:lstStyle/>
          <a:p>
            <a:pPr algn="ctr">
              <a:lnSpc>
                <a:spcPct val="120000"/>
              </a:lnSpc>
            </a:pPr>
            <a:r>
              <a:rPr sz="1300" b="1" i="0">
                <a:solidFill>
                  <a:srgbClr val="1F5FA8"/>
                </a:solidFill>
                <a:latin typeface="Calibri"/>
              </a:rPr>
              <a:t>Diffusion sample</a:t>
            </a:r>
          </a:p>
        </p:txBody>
      </p:sp>
      <p:sp>
        <p:nvSpPr>
          <p:cNvPr id="7" name="TextBox 6"/>
          <p:cNvSpPr txBox="1"/>
          <p:nvPr/>
        </p:nvSpPr>
        <p:spPr>
          <a:xfrm>
            <a:off x="7234248" y="4267200"/>
            <a:ext cx="2276497" cy="254000"/>
          </a:xfrm>
          <a:prstGeom prst="rect">
            <a:avLst/>
          </a:prstGeom>
          <a:noFill/>
        </p:spPr>
        <p:txBody>
          <a:bodyPr wrap="square" lIns="0" rIns="0" tIns="0" bIns="0" anchor="t">
            <a:spAutoFit/>
          </a:bodyPr>
          <a:lstStyle/>
          <a:p>
            <a:pPr algn="ctr">
              <a:lnSpc>
                <a:spcPct val="120000"/>
              </a:lnSpc>
            </a:pPr>
            <a:r>
              <a:rPr sz="1300" b="0" i="0">
                <a:solidFill>
                  <a:srgbClr val="4A5568"/>
                </a:solidFill>
                <a:latin typeface="Calibri"/>
              </a:rPr>
              <a:t>CT truth</a:t>
            </a:r>
          </a:p>
        </p:txBody>
      </p:sp>
      <p:grpSp>
        <p:nvGrpSpPr>
          <p:cNvPr id="8" name="Group 7"/>
          <p:cNvGrpSpPr/>
          <p:nvPr/>
        </p:nvGrpSpPr>
        <p:grpSpPr>
          <a:xfrm>
            <a:off x="812800" y="4762500"/>
            <a:ext cx="2527300" cy="952500"/>
            <a:chOff x="812800" y="4762500"/>
            <a:chExt cx="2527300" cy="952500"/>
          </a:xfrm>
        </p:grpSpPr>
        <p:sp>
          <p:nvSpPr>
            <p:cNvPr id="9" name="Rounded Rectangle 8"/>
            <p:cNvSpPr/>
            <p:nvPr/>
          </p:nvSpPr>
          <p:spPr>
            <a:xfrm>
              <a:off x="8128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52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17.4 M</a:t>
              </a:r>
              <a:r>
                <a:rPr sz="1300" b="0" i="0">
                  <a:solidFill>
                    <a:srgbClr val="14213D"/>
                  </a:solidFill>
                  <a:latin typeface="Calibri"/>
                </a:rPr>
                <a:t>-parameter 3D U-Net, v-prediction, DDIM</a:t>
              </a:r>
            </a:p>
          </p:txBody>
        </p:sp>
      </p:grpSp>
      <p:grpSp>
        <p:nvGrpSpPr>
          <p:cNvPr id="11" name="Group 10"/>
          <p:cNvGrpSpPr/>
          <p:nvPr/>
        </p:nvGrpSpPr>
        <p:grpSpPr>
          <a:xfrm>
            <a:off x="3492500" y="4762500"/>
            <a:ext cx="2527300" cy="952500"/>
            <a:chOff x="3492500" y="4762500"/>
            <a:chExt cx="2527300" cy="952500"/>
          </a:xfrm>
        </p:grpSpPr>
        <p:sp>
          <p:nvSpPr>
            <p:cNvPr id="12" name="Rounded Rectangle 11"/>
            <p:cNvSpPr/>
            <p:nvPr/>
          </p:nvSpPr>
          <p:spPr>
            <a:xfrm>
              <a:off x="34925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449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SIRT steps</a:t>
              </a:r>
              <a:r>
                <a:rPr sz="1300" b="0" i="0">
                  <a:solidFill>
                    <a:srgbClr val="14213D"/>
                  </a:solidFill>
                  <a:latin typeface="Calibri"/>
                </a:rPr>
                <a:t> inside the sampler keep it X-ray consistent</a:t>
              </a:r>
            </a:p>
          </p:txBody>
        </p:sp>
      </p:grpSp>
      <p:grpSp>
        <p:nvGrpSpPr>
          <p:cNvPr id="14" name="Group 13"/>
          <p:cNvGrpSpPr/>
          <p:nvPr/>
        </p:nvGrpSpPr>
        <p:grpSpPr>
          <a:xfrm>
            <a:off x="6172200" y="4762500"/>
            <a:ext cx="2527300" cy="952500"/>
            <a:chOff x="6172200" y="4762500"/>
            <a:chExt cx="2527300" cy="952500"/>
          </a:xfrm>
        </p:grpSpPr>
        <p:sp>
          <p:nvSpPr>
            <p:cNvPr id="15" name="Rounded Rectangle 14"/>
            <p:cNvSpPr/>
            <p:nvPr/>
          </p:nvSpPr>
          <p:spPr>
            <a:xfrm>
              <a:off x="6172200" y="4762500"/>
              <a:ext cx="2527300" cy="952500"/>
            </a:xfrm>
            <a:prstGeom prst="roundRect">
              <a:avLst>
                <a:gd name="adj" fmla="val 10666"/>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4600" y="4884420"/>
              <a:ext cx="2222500" cy="708660"/>
            </a:xfrm>
            <a:prstGeom prst="rect">
              <a:avLst/>
            </a:prstGeom>
            <a:noFill/>
          </p:spPr>
          <p:txBody>
            <a:bodyPr wrap="square" lIns="0" rIns="0" tIns="0" bIns="0" anchor="t">
              <a:spAutoFit/>
            </a:bodyPr>
            <a:lstStyle/>
            <a:p>
              <a:pPr algn="l">
                <a:lnSpc>
                  <a:spcPct val="120000"/>
                </a:lnSpc>
              </a:pPr>
              <a:r>
                <a:rPr sz="1300" b="1" i="0">
                  <a:solidFill>
                    <a:srgbClr val="14213D"/>
                  </a:solidFill>
                  <a:latin typeface="Calibri"/>
                </a:rPr>
                <a:t>27,610</a:t>
              </a:r>
              <a:r>
                <a:rPr sz="1300" b="0" i="0">
                  <a:solidFill>
                    <a:srgbClr val="14213D"/>
                  </a:solidFill>
                  <a:latin typeface="Calibri"/>
                </a:rPr>
                <a:t> steps in 6 h on 2,522 pairs</a:t>
              </a:r>
            </a:p>
          </p:txBody>
        </p:sp>
      </p:grpSp>
      <p:grpSp>
        <p:nvGrpSpPr>
          <p:cNvPr id="17" name="Group 16"/>
          <p:cNvGrpSpPr/>
          <p:nvPr/>
        </p:nvGrpSpPr>
        <p:grpSpPr>
          <a:xfrm>
            <a:off x="8851900" y="4762500"/>
            <a:ext cx="2527300" cy="952500"/>
            <a:chOff x="8851900" y="4762500"/>
            <a:chExt cx="2527300" cy="952500"/>
          </a:xfrm>
        </p:grpSpPr>
        <p:sp>
          <p:nvSpPr>
            <p:cNvPr id="18" name="Rounded Rectangle 17"/>
            <p:cNvSpPr/>
            <p:nvPr/>
          </p:nvSpPr>
          <p:spPr>
            <a:xfrm>
              <a:off x="8851900" y="4762500"/>
              <a:ext cx="2527300" cy="952500"/>
            </a:xfrm>
            <a:prstGeom prst="roundRect">
              <a:avLst>
                <a:gd name="adj" fmla="val 10666"/>
              </a:avLst>
            </a:prstGeom>
            <a:solidFill>
              <a:srgbClr val="E3ECF7"/>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04300" y="4884420"/>
              <a:ext cx="2222500" cy="708660"/>
            </a:xfrm>
            <a:prstGeom prst="rect">
              <a:avLst/>
            </a:prstGeom>
            <a:noFill/>
          </p:spPr>
          <p:txBody>
            <a:bodyPr wrap="square" lIns="0" rIns="0" tIns="0" bIns="0" anchor="t">
              <a:spAutoFit/>
            </a:bodyPr>
            <a:lstStyle/>
            <a:p>
              <a:pPr algn="l">
                <a:lnSpc>
                  <a:spcPct val="120000"/>
                </a:lnSpc>
              </a:pPr>
              <a:r>
                <a:rPr sz="1300" b="0" i="0">
                  <a:solidFill>
                    <a:srgbClr val="14213D"/>
                  </a:solidFill>
                  <a:latin typeface="Calibri"/>
                </a:rPr>
                <a:t>Held-out nodule PSNR </a:t>
              </a:r>
              <a:r>
                <a:rPr sz="1300" b="1" i="0">
                  <a:solidFill>
                    <a:srgbClr val="14213D"/>
                  </a:solidFill>
                  <a:latin typeface="Calibri"/>
                </a:rPr>
                <a:t>11.88 → 15.23 dB</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par>
                                <p:cTn id="10" presetID="42" presetClass="entr" presetSubtype="0" fill="hold" grpId="0" nodeType="withEffect">
                                  <p:stCondLst>
                                    <p:cond delay="2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500"/>
                                        <p:tgtEl>
                                          <p:spTgt spid="11"/>
                                        </p:tgtEl>
                                      </p:cBhvr>
                                    </p:animEffect>
                                    <p:anim calcmode="lin" valueType="num">
                                      <p:cBhvr additive="base">
                                        <p:cTn id="9" dur="500" fill="hold"/>
                                        <p:tgtEl>
                                          <p:spTgt spid="11"/>
                                        </p:tgtEl>
                                        <p:attrNameLst>
                                          <p:attrName>ppt_y</p:attrName>
                                        </p:attrNameLst>
                                      </p:cBhvr>
                                      <p:tavLst>
                                        <p:tav tm="0">
                                          <p:val>
                                            <p:strVal val="#ppt_y+0.05"/>
                                          </p:val>
                                        </p:tav>
                                        <p:tav tm="100000">
                                          <p:val>
                                            <p:strVal val="#ppt_y"/>
                                          </p:val>
                                        </p:tav>
                                      </p:tavLst>
                                    </p:anim>
                                  </p:childTnLst>
                                </p:cTn>
                              </p:par>
                              <p:par>
                                <p:cTn id="14" presetID="42" presetClass="entr" presetSubtype="0" fill="hold" grpId="0" nodeType="withEffect">
                                  <p:stCondLst>
                                    <p:cond delay="40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anim calcmode="lin" valueType="num">
                                      <p:cBhvr additive="base">
                                        <p:cTn id="13" dur="500" fill="hold"/>
                                        <p:tgtEl>
                                          <p:spTgt spid="14"/>
                                        </p:tgtEl>
                                        <p:attrNameLst>
                                          <p:attrName>ppt_y</p:attrName>
                                        </p:attrNameLst>
                                      </p:cBhvr>
                                      <p:tavLst>
                                        <p:tav tm="0">
                                          <p:val>
                                            <p:strVal val="#ppt_y+0.05"/>
                                          </p:val>
                                        </p:tav>
                                        <p:tav tm="100000">
                                          <p:val>
                                            <p:strVal val="#ppt_y"/>
                                          </p:val>
                                        </p:tav>
                                      </p:tavLst>
                                    </p:anim>
                                  </p:childTnLst>
                                </p:cTn>
                              </p:par>
                              <p:par>
                                <p:cTn id="18" presetID="42" presetClass="entr" presetSubtype="0" fill="hold" grpId="0" nodeType="withEffect">
                                  <p:stCondLst>
                                    <p:cond delay="60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anim calcmode="lin" valueType="num">
                                      <p:cBhvr additive="base">
                                        <p:cTn id="17" dur="500" fill="hold"/>
                                        <p:tgtEl>
                                          <p:spTgt spid="17"/>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MEASUREMENT AND TRUST</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Gaussians give the mass; conformal prediction gives honest intervals</a:t>
            </a:r>
          </a:p>
        </p:txBody>
      </p:sp>
      <p:grpSp>
        <p:nvGrpSpPr>
          <p:cNvPr id="4" name="Group 3"/>
          <p:cNvGrpSpPr/>
          <p:nvPr/>
        </p:nvGrpSpPr>
        <p:grpSpPr>
          <a:xfrm>
            <a:off x="812800" y="2159000"/>
            <a:ext cx="5156200" cy="3683000"/>
            <a:chOff x="812800" y="2159000"/>
            <a:chExt cx="5156200" cy="3683000"/>
          </a:xfrm>
        </p:grpSpPr>
        <p:sp>
          <p:nvSpPr>
            <p:cNvPr id="5" name="Rounded Rectangle 4"/>
            <p:cNvSpPr/>
            <p:nvPr/>
          </p:nvSpPr>
          <p:spPr>
            <a:xfrm>
              <a:off x="8128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2159000"/>
              <a:ext cx="5156200" cy="508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778000" y="2857500"/>
              <a:ext cx="1524000" cy="889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2476500" y="2889250"/>
              <a:ext cx="889000" cy="6985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841500" y="3143250"/>
              <a:ext cx="762000" cy="508000"/>
            </a:xfrm>
            <a:prstGeom prst="ellipse">
              <a:avLst/>
            </a:prstGeom>
            <a:solidFill>
              <a:srgbClr val="2E7D4F">
                <a:alpha val="28000"/>
              </a:srgbClr>
            </a:solidFill>
            <a:ln w="1905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68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3D Gaussians</a:t>
              </a:r>
            </a:p>
          </p:txBody>
        </p:sp>
        <p:sp>
          <p:nvSpPr>
            <p:cNvPr id="11" name="TextBox 10"/>
            <p:cNvSpPr txBox="1"/>
            <p:nvPr/>
          </p:nvSpPr>
          <p:spPr>
            <a:xfrm>
              <a:off x="10668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Each sample is fitted with anisotropic Gaussians. Mass is a sum over them in </a:t>
              </a:r>
              <a:r>
                <a:rPr sz="1500" b="1" i="0">
                  <a:solidFill>
                    <a:srgbClr val="14213D"/>
                  </a:solidFill>
                  <a:latin typeface="Calibri"/>
                </a:rPr>
                <a:t>closed form</a:t>
              </a:r>
              <a:r>
                <a:rPr sz="1500" b="0" i="0">
                  <a:solidFill>
                    <a:srgbClr val="14213D"/>
                  </a:solidFill>
                  <a:latin typeface="Calibri"/>
                </a:rPr>
                <a:t>: amplitude × (2π)^(3/2) × s₁ s₂ s₃.</a:t>
              </a:r>
            </a:p>
          </p:txBody>
        </p:sp>
      </p:grpSp>
      <p:grpSp>
        <p:nvGrpSpPr>
          <p:cNvPr id="12" name="Group 11"/>
          <p:cNvGrpSpPr/>
          <p:nvPr/>
        </p:nvGrpSpPr>
        <p:grpSpPr>
          <a:xfrm>
            <a:off x="6223000" y="2159000"/>
            <a:ext cx="5156200" cy="3683000"/>
            <a:chOff x="6223000" y="2159000"/>
            <a:chExt cx="5156200" cy="3683000"/>
          </a:xfrm>
        </p:grpSpPr>
        <p:sp>
          <p:nvSpPr>
            <p:cNvPr id="13" name="Rounded Rectangle 12"/>
            <p:cNvSpPr/>
            <p:nvPr/>
          </p:nvSpPr>
          <p:spPr>
            <a:xfrm>
              <a:off x="6223000" y="2159000"/>
              <a:ext cx="5156200" cy="3683000"/>
            </a:xfrm>
            <a:prstGeom prst="roundRect">
              <a:avLst>
                <a:gd name="adj" fmla="val 275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23000" y="2159000"/>
              <a:ext cx="5156200" cy="508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7000" y="2413000"/>
              <a:ext cx="4648200" cy="381000"/>
            </a:xfrm>
            <a:prstGeom prst="rect">
              <a:avLst/>
            </a:prstGeom>
            <a:noFill/>
          </p:spPr>
          <p:txBody>
            <a:bodyPr wrap="square" lIns="0">
              <a:spAutoFit/>
            </a:bodyPr>
            <a:lstStyle/>
            <a:p>
              <a:pPr algn="l">
                <a:lnSpc>
                  <a:spcPct val="120000"/>
                </a:lnSpc>
              </a:pPr>
              <a:r>
                <a:rPr sz="2000" b="1" i="0">
                  <a:solidFill>
                    <a:srgbClr val="14213D"/>
                  </a:solidFill>
                  <a:latin typeface="Georgia"/>
                </a:rPr>
                <a:t>Conformal calibration</a:t>
              </a:r>
            </a:p>
          </p:txBody>
        </p:sp>
        <p:sp>
          <p:nvSpPr>
            <p:cNvPr id="16" name="Oval 15"/>
            <p:cNvSpPr/>
            <p:nvPr/>
          </p:nvSpPr>
          <p:spPr>
            <a:xfrm>
              <a:off x="655955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750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908800" y="3765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67550" y="3638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58050" y="37338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48550" y="3575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639050" y="37020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829550" y="3511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51800" y="341630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4050" y="3257550"/>
              <a:ext cx="88900" cy="88900"/>
            </a:xfrm>
            <a:prstGeom prst="ellipse">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528050" y="3111500"/>
              <a:ext cx="88900" cy="88900"/>
            </a:xfrm>
            <a:prstGeom prst="ellipse">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8445500" y="2921000"/>
              <a:ext cx="0" cy="1016000"/>
            </a:xfrm>
            <a:prstGeom prst="line">
              <a:avLst/>
            </a:prstGeom>
            <a:ln w="25400">
              <a:solidFill>
                <a:srgbClr val="D9661F"/>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826500" y="3333750"/>
              <a:ext cx="889000" cy="190500"/>
            </a:xfrm>
            <a:prstGeom prst="roundRect">
              <a:avLst>
                <a:gd name="adj" fmla="val 20000"/>
              </a:avLst>
            </a:prstGeom>
            <a:solidFill>
              <a:srgbClr val="1F5FA8">
                <a:alpha val="20000"/>
              </a:srgbClr>
            </a:solidFill>
            <a:ln w="12700">
              <a:solidFill>
                <a:srgbClr val="1F5F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220200" y="3378200"/>
              <a:ext cx="101600" cy="101600"/>
            </a:xfrm>
            <a:prstGeom prst="ellipse">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0" y="4064000"/>
              <a:ext cx="4648200" cy="1651000"/>
            </a:xfrm>
            <a:prstGeom prst="rect">
              <a:avLst/>
            </a:prstGeom>
            <a:noFill/>
          </p:spPr>
          <p:txBody>
            <a:bodyPr wrap="square" lIns="0">
              <a:spAutoFit/>
            </a:bodyPr>
            <a:lstStyle/>
            <a:p>
              <a:pPr algn="l">
                <a:lnSpc>
                  <a:spcPct val="130000"/>
                </a:lnSpc>
              </a:pPr>
              <a:r>
                <a:rPr sz="1500" b="0" i="0">
                  <a:solidFill>
                    <a:srgbClr val="14213D"/>
                  </a:solidFill>
                  <a:latin typeface="Calibri"/>
                </a:rPr>
                <a:t>Errors on </a:t>
              </a:r>
              <a:r>
                <a:rPr sz="1500" b="1" i="0">
                  <a:solidFill>
                    <a:srgbClr val="14213D"/>
                  </a:solidFill>
                  <a:latin typeface="Calibri"/>
                </a:rPr>
                <a:t>76 calibration nodules</a:t>
              </a:r>
              <a:r>
                <a:rPr sz="1500" b="0" i="0">
                  <a:solidFill>
                    <a:srgbClr val="14213D"/>
                  </a:solidFill>
                  <a:latin typeface="Calibri"/>
                </a:rPr>
                <a:t> set the 90% quantile; every new estimate gets that interval and calibrated EUPS size-category probabilities.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THE APPLICATION</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Click a nodule, get its 3D measurement in under a minute</a:t>
            </a:r>
          </a:p>
        </p:txBody>
      </p:sp>
      <p:sp>
        <p:nvSpPr>
          <p:cNvPr id="4" name="Rounded Rectangle 3"/>
          <p:cNvSpPr/>
          <p:nvPr/>
        </p:nvSpPr>
        <p:spPr>
          <a:xfrm>
            <a:off x="812800" y="2159000"/>
            <a:ext cx="5588000" cy="2921000"/>
          </a:xfrm>
          <a:prstGeom prst="roundRect">
            <a:avLst>
              <a:gd name="adj" fmla="val 2608"/>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mo_roi_solid.png"/>
          <p:cNvPicPr>
            <a:picLocks noChangeAspect="1"/>
          </p:cNvPicPr>
          <p:nvPr/>
        </p:nvPicPr>
        <p:blipFill>
          <a:blip r:embed="rId2"/>
          <a:stretch>
            <a:fillRect/>
          </a:stretch>
        </p:blipFill>
        <p:spPr>
          <a:xfrm>
            <a:off x="812800" y="2160868"/>
            <a:ext cx="5588000" cy="2917265"/>
          </a:xfrm>
          <a:prstGeom prst="rect">
            <a:avLst/>
          </a:prstGeom>
        </p:spPr>
      </p:pic>
      <p:sp>
        <p:nvSpPr>
          <p:cNvPr id="6" name="TextBox 5"/>
          <p:cNvSpPr txBox="1"/>
          <p:nvPr/>
        </p:nvSpPr>
        <p:spPr>
          <a:xfrm>
            <a:off x="812800" y="5156200"/>
            <a:ext cx="5588000" cy="508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Prism views: DTS input (top) and reconstruction with segmentation and sample spread (bottom)</a:t>
            </a:r>
          </a:p>
        </p:txBody>
      </p:sp>
      <p:sp>
        <p:nvSpPr>
          <p:cNvPr id="7" name="Rounded Rectangle 6"/>
          <p:cNvSpPr/>
          <p:nvPr/>
        </p:nvSpPr>
        <p:spPr>
          <a:xfrm>
            <a:off x="6604000" y="2159000"/>
            <a:ext cx="4775200" cy="1905000"/>
          </a:xfrm>
          <a:prstGeom prst="roundRect">
            <a:avLst>
              <a:gd name="adj" fmla="val 4000"/>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emo_3d_a.png"/>
          <p:cNvPicPr>
            <a:picLocks noChangeAspect="1"/>
          </p:cNvPicPr>
          <p:nvPr/>
        </p:nvPicPr>
        <p:blipFill>
          <a:blip r:embed="rId3"/>
          <a:stretch>
            <a:fillRect/>
          </a:stretch>
        </p:blipFill>
        <p:spPr>
          <a:xfrm>
            <a:off x="6865526" y="2159000"/>
            <a:ext cx="4252148" cy="1905000"/>
          </a:xfrm>
          <a:prstGeom prst="rect">
            <a:avLst/>
          </a:prstGeom>
        </p:spPr>
      </p:pic>
      <p:sp>
        <p:nvSpPr>
          <p:cNvPr id="9" name="TextBox 8"/>
          <p:cNvSpPr txBox="1"/>
          <p:nvPr/>
        </p:nvSpPr>
        <p:spPr>
          <a:xfrm>
            <a:off x="6604000" y="4140200"/>
            <a:ext cx="4775200" cy="4445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3D view: green = samples agree, red = uncertain (mostly depth), grey = radiologists</a:t>
            </a:r>
          </a:p>
        </p:txBody>
      </p:sp>
      <p:grpSp>
        <p:nvGrpSpPr>
          <p:cNvPr id="10" name="Group 9"/>
          <p:cNvGrpSpPr/>
          <p:nvPr/>
        </p:nvGrpSpPr>
        <p:grpSpPr>
          <a:xfrm>
            <a:off x="6604000" y="4762500"/>
            <a:ext cx="4775200" cy="952500"/>
            <a:chOff x="6604000" y="4762500"/>
            <a:chExt cx="4775200" cy="952500"/>
          </a:xfrm>
        </p:grpSpPr>
        <p:sp>
          <p:nvSpPr>
            <p:cNvPr id="11" name="Rounded Rectangle 10"/>
            <p:cNvSpPr/>
            <p:nvPr/>
          </p:nvSpPr>
          <p:spPr>
            <a:xfrm>
              <a:off x="6604000" y="4762500"/>
              <a:ext cx="4775200" cy="952500"/>
            </a:xfrm>
            <a:prstGeom prst="roundRect">
              <a:avLst>
                <a:gd name="adj" fmla="val 10666"/>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56400" y="4884420"/>
              <a:ext cx="4470400" cy="708660"/>
            </a:xfrm>
            <a:prstGeom prst="rect">
              <a:avLst/>
            </a:prstGeom>
            <a:noFill/>
          </p:spPr>
          <p:txBody>
            <a:bodyPr wrap="square" lIns="0" rIns="0" tIns="0" bIns="0" anchor="t">
              <a:spAutoFit/>
            </a:bodyPr>
            <a:lstStyle/>
            <a:p>
              <a:pPr algn="l">
                <a:lnSpc>
                  <a:spcPct val="125000"/>
                </a:lnSpc>
              </a:pPr>
              <a:r>
                <a:rPr sz="1400" b="0" i="0">
                  <a:solidFill>
                    <a:srgbClr val="14213D"/>
                  </a:solidFill>
                  <a:latin typeface="Calibri"/>
                </a:rPr>
                <a:t>Mass, volume and EUPS category with intervals and probabilities, plus a </a:t>
              </a:r>
              <a:r>
                <a:rPr sz="1400" b="1" i="0">
                  <a:solidFill>
                    <a:srgbClr val="14213D"/>
                  </a:solidFill>
                  <a:latin typeface="Calibri"/>
                </a:rPr>
                <a:t>low-confidence flag</a:t>
              </a:r>
              <a:r>
                <a:rPr sz="1400" b="0" i="0">
                  <a:solidFill>
                    <a:srgbClr val="14213D"/>
                  </a:solidFill>
                  <a:latin typeface="Calibri"/>
                </a:rPr>
                <a:t>. Runs on a free Kaggle GPU.</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3D NODULE RECONSTRUCTION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Each nodule rebuilt in 3D, coloured by certainty</a:t>
            </a:r>
          </a:p>
        </p:txBody>
      </p:sp>
      <p:grpSp>
        <p:nvGrpSpPr>
          <p:cNvPr id="4" name="Group 3"/>
          <p:cNvGrpSpPr/>
          <p:nvPr/>
        </p:nvGrpSpPr>
        <p:grpSpPr>
          <a:xfrm>
            <a:off x="812800" y="1841500"/>
            <a:ext cx="5130800" cy="3733800"/>
            <a:chOff x="812800" y="1841500"/>
            <a:chExt cx="5130800" cy="3733800"/>
          </a:xfrm>
        </p:grpSpPr>
        <p:sp>
          <p:nvSpPr>
            <p:cNvPr id="5" name="Rounded Rectangle 4"/>
            <p:cNvSpPr/>
            <p:nvPr/>
          </p:nvSpPr>
          <p:spPr>
            <a:xfrm>
              <a:off x="8128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con3d_a.png"/>
            <p:cNvPicPr>
              <a:picLocks noChangeAspect="1"/>
            </p:cNvPicPr>
            <p:nvPr/>
          </p:nvPicPr>
          <p:blipFill>
            <a:blip r:embed="rId2"/>
            <a:stretch>
              <a:fillRect/>
            </a:stretch>
          </p:blipFill>
          <p:spPr>
            <a:xfrm>
              <a:off x="1355969" y="1905000"/>
              <a:ext cx="4044462" cy="2857500"/>
            </a:xfrm>
            <a:prstGeom prst="rect">
              <a:avLst/>
            </a:prstGeom>
          </p:spPr>
        </p:pic>
        <p:sp>
          <p:nvSpPr>
            <p:cNvPr id="7" name="TextBox 6"/>
            <p:cNvSpPr txBox="1"/>
            <p:nvPr/>
          </p:nvSpPr>
          <p:spPr>
            <a:xfrm>
              <a:off x="812800" y="4940300"/>
              <a:ext cx="5130800" cy="635000"/>
            </a:xfrm>
            <a:prstGeom prst="rect">
              <a:avLst/>
            </a:prstGeom>
            <a:noFill/>
          </p:spPr>
          <p:txBody>
            <a:bodyPr wrap="square" lIns="0" tIns="0">
              <a:spAutoFit/>
            </a:bodyPr>
            <a:lstStyle/>
            <a:p>
              <a:pPr algn="l">
                <a:lnSpc>
                  <a:spcPct val="125000"/>
                </a:lnSpc>
              </a:pPr>
              <a:r>
                <a:rPr sz="1400" b="1" i="0">
                  <a:solidFill>
                    <a:srgbClr val="2E7D4F"/>
                  </a:solidFill>
                  <a:latin typeface="Calibri"/>
                </a:rPr>
                <a:t>(a) Match. </a:t>
              </a:r>
              <a:r>
                <a:rPr sz="1400" b="0" i="0">
                  <a:solidFill>
                    <a:srgbClr val="14213D"/>
                  </a:solidFill>
                  <a:latin typeface="Calibri"/>
                </a:rPr>
                <a:t>Our reconstruction fills the radiologists’ nodule; red patches sit at the depth edges.</a:t>
              </a:r>
            </a:p>
          </p:txBody>
        </p:sp>
      </p:grpSp>
      <p:grpSp>
        <p:nvGrpSpPr>
          <p:cNvPr id="8" name="Group 7"/>
          <p:cNvGrpSpPr/>
          <p:nvPr/>
        </p:nvGrpSpPr>
        <p:grpSpPr>
          <a:xfrm>
            <a:off x="6248400" y="1841500"/>
            <a:ext cx="5130800" cy="3733800"/>
            <a:chOff x="6248400" y="1841500"/>
            <a:chExt cx="5130800" cy="3733800"/>
          </a:xfrm>
        </p:grpSpPr>
        <p:sp>
          <p:nvSpPr>
            <p:cNvPr id="9" name="Rounded Rectangle 8"/>
            <p:cNvSpPr/>
            <p:nvPr/>
          </p:nvSpPr>
          <p:spPr>
            <a:xfrm>
              <a:off x="6248400" y="1841500"/>
              <a:ext cx="5130800" cy="2984500"/>
            </a:xfrm>
            <a:prstGeom prst="roundRect">
              <a:avLst>
                <a:gd name="adj" fmla="val 2553"/>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con3d_b.png"/>
            <p:cNvPicPr>
              <a:picLocks noChangeAspect="1"/>
            </p:cNvPicPr>
            <p:nvPr/>
          </p:nvPicPr>
          <p:blipFill>
            <a:blip r:embed="rId3"/>
            <a:stretch>
              <a:fillRect/>
            </a:stretch>
          </p:blipFill>
          <p:spPr>
            <a:xfrm>
              <a:off x="6791569" y="1905000"/>
              <a:ext cx="4044462" cy="2857500"/>
            </a:xfrm>
            <a:prstGeom prst="rect">
              <a:avLst/>
            </a:prstGeom>
          </p:spPr>
        </p:pic>
        <p:sp>
          <p:nvSpPr>
            <p:cNvPr id="11" name="TextBox 10"/>
            <p:cNvSpPr txBox="1"/>
            <p:nvPr/>
          </p:nvSpPr>
          <p:spPr>
            <a:xfrm>
              <a:off x="6248400" y="4940300"/>
              <a:ext cx="5130800" cy="635000"/>
            </a:xfrm>
            <a:prstGeom prst="rect">
              <a:avLst/>
            </a:prstGeom>
            <a:noFill/>
          </p:spPr>
          <p:txBody>
            <a:bodyPr wrap="square" lIns="0" tIns="0">
              <a:spAutoFit/>
            </a:bodyPr>
            <a:lstStyle/>
            <a:p>
              <a:pPr algn="l">
                <a:lnSpc>
                  <a:spcPct val="125000"/>
                </a:lnSpc>
              </a:pPr>
              <a:r>
                <a:rPr sz="1400" b="1" i="0">
                  <a:solidFill>
                    <a:srgbClr val="1F5FA8"/>
                  </a:solidFill>
                  <a:latin typeface="Calibri"/>
                </a:rPr>
                <a:t>(b) Under-estimate. </a:t>
              </a:r>
              <a:r>
                <a:rPr sz="1400" b="0" i="0">
                  <a:solidFill>
                    <a:srgbClr val="14213D"/>
                  </a:solidFill>
                  <a:latin typeface="Calibri"/>
                </a:rPr>
                <a:t>Smaller than the radiologists’ nodule: the gap our next step closes.</a:t>
              </a:r>
            </a:p>
          </p:txBody>
        </p:sp>
      </p:grpSp>
      <p:sp>
        <p:nvSpPr>
          <p:cNvPr id="12" name="TextBox 11"/>
          <p:cNvSpPr txBox="1"/>
          <p:nvPr/>
        </p:nvSpPr>
        <p:spPr>
          <a:xfrm>
            <a:off x="812800" y="5715000"/>
            <a:ext cx="10566400" cy="317500"/>
          </a:xfrm>
          <a:prstGeom prst="rect">
            <a:avLst/>
          </a:prstGeom>
          <a:noFill/>
        </p:spPr>
        <p:txBody>
          <a:bodyPr wrap="square" lIns="0" rIns="0" tIns="0" bIns="0" anchor="t">
            <a:spAutoFit/>
          </a:bodyPr>
          <a:lstStyle/>
          <a:p>
            <a:pPr algn="l">
              <a:lnSpc>
                <a:spcPct val="120000"/>
              </a:lnSpc>
            </a:pPr>
            <a:r>
              <a:rPr sz="1300" b="0" i="0">
                <a:solidFill>
                  <a:srgbClr val="2E7D4F"/>
                </a:solidFill>
                <a:latin typeface="Calibri"/>
              </a:rPr>
              <a:t>■ </a:t>
            </a:r>
            <a:r>
              <a:rPr sz="1300" b="0" i="0">
                <a:solidFill>
                  <a:srgbClr val="4A5568"/>
                </a:solidFill>
                <a:latin typeface="Calibri"/>
              </a:rPr>
              <a:t>green: 8 samples agree      </a:t>
            </a:r>
            <a:r>
              <a:rPr sz="1300" b="0" i="0">
                <a:solidFill>
                  <a:srgbClr val="C0392B"/>
                </a:solidFill>
                <a:latin typeface="Calibri"/>
              </a:rPr>
              <a:t>■ </a:t>
            </a:r>
            <a:r>
              <a:rPr sz="1300" b="0" i="0">
                <a:solidFill>
                  <a:srgbClr val="4A5568"/>
                </a:solidFill>
                <a:latin typeface="Calibri"/>
              </a:rPr>
              <a:t>red: samples disagree (mostly in depth)      </a:t>
            </a:r>
            <a:r>
              <a:rPr sz="1300" b="0" i="0">
                <a:solidFill>
                  <a:srgbClr val="9AA7B8"/>
                </a:solidFill>
                <a:latin typeface="Calibri"/>
              </a:rPr>
              <a:t>■ </a:t>
            </a:r>
            <a:r>
              <a:rPr sz="1300" b="0" i="0">
                <a:solidFill>
                  <a:srgbClr val="4A5568"/>
                </a:solidFill>
                <a:latin typeface="Calibri"/>
              </a:rPr>
              <a:t>grey: radiologists’ nodule (truth)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5FA8"/>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20000"/>
              </a:lnSpc>
            </a:pPr>
            <a:r>
              <a:rPr sz="1400" b="1" i="0">
                <a:solidFill>
                  <a:srgbClr val="CFE0F5"/>
                </a:solidFill>
                <a:latin typeface="Calibri"/>
              </a:rPr>
              <a:t>RESULTS · HELD-OUT PATIENTS NEVER SEEN IN TRAINING</a:t>
            </a:r>
          </a:p>
        </p:txBody>
      </p:sp>
      <p:sp>
        <p:nvSpPr>
          <p:cNvPr id="3" name="TextBox 2"/>
          <p:cNvSpPr txBox="1"/>
          <p:nvPr/>
        </p:nvSpPr>
        <p:spPr>
          <a:xfrm>
            <a:off x="812800" y="2349500"/>
            <a:ext cx="10160000" cy="1524000"/>
          </a:xfrm>
          <a:prstGeom prst="rect">
            <a:avLst/>
          </a:prstGeom>
          <a:noFill/>
        </p:spPr>
        <p:txBody>
          <a:bodyPr wrap="square" lIns="0" rIns="0" tIns="0" bIns="0" anchor="t">
            <a:spAutoFit/>
          </a:bodyPr>
          <a:lstStyle/>
          <a:p>
            <a:pPr algn="l">
              <a:lnSpc>
                <a:spcPct val="105000"/>
              </a:lnSpc>
            </a:pPr>
            <a:r>
              <a:rPr sz="4800" b="1" i="0">
                <a:solidFill>
                  <a:srgbClr val="F7F6F2"/>
                </a:solidFill>
                <a:latin typeface="Georgia"/>
              </a:rPr>
              <a:t>A complete, working system, validated end to end</a:t>
            </a:r>
          </a:p>
        </p:txBody>
      </p:sp>
      <p:sp>
        <p:nvSpPr>
          <p:cNvPr id="4" name="TextBox 3"/>
          <p:cNvSpPr txBox="1"/>
          <p:nvPr/>
        </p:nvSpPr>
        <p:spPr>
          <a:xfrm>
            <a:off x="812800" y="4191000"/>
            <a:ext cx="8890000" cy="889000"/>
          </a:xfrm>
          <a:prstGeom prst="rect">
            <a:avLst/>
          </a:prstGeom>
          <a:noFill/>
        </p:spPr>
        <p:txBody>
          <a:bodyPr wrap="square" lIns="0" rIns="0" tIns="0" bIns="0" anchor="t">
            <a:spAutoFit/>
          </a:bodyPr>
          <a:lstStyle/>
          <a:p>
            <a:pPr algn="l">
              <a:lnSpc>
                <a:spcPct val="130000"/>
              </a:lnSpc>
            </a:pPr>
            <a:r>
              <a:rPr sz="1700" b="0" i="0">
                <a:solidFill>
                  <a:srgbClr val="E3ECF7"/>
                </a:solidFill>
                <a:latin typeface="Calibri"/>
              </a:rPr>
              <a:t>Every component met its target, the physics insight was confirmed on data, and our analysis maps a clear path to clinical accuracy.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ACHIEVEMENTS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component met its own specification</a:t>
            </a:r>
          </a:p>
        </p:txBody>
      </p:sp>
      <p:grpSp>
        <p:nvGrpSpPr>
          <p:cNvPr id="4" name="Group 3"/>
          <p:cNvGrpSpPr/>
          <p:nvPr/>
        </p:nvGrpSpPr>
        <p:grpSpPr>
          <a:xfrm>
            <a:off x="812800" y="1968500"/>
            <a:ext cx="5130800" cy="1778000"/>
            <a:chOff x="812800" y="1968500"/>
            <a:chExt cx="5130800" cy="1778000"/>
          </a:xfrm>
        </p:grpSpPr>
        <p:sp>
          <p:nvSpPr>
            <p:cNvPr id="5" name="Rounded Rectangle 4"/>
            <p:cNvSpPr/>
            <p:nvPr/>
          </p:nvSpPr>
          <p:spPr>
            <a:xfrm>
              <a:off x="8128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22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DIFFUSION PRIOR</a:t>
              </a:r>
            </a:p>
            <a:p>
              <a:pPr algn="l">
                <a:lnSpc>
                  <a:spcPct val="100000"/>
                </a:lnSpc>
                <a:spcBef>
                  <a:spcPts val="600"/>
                </a:spcBef>
              </a:pPr>
              <a:r>
                <a:rPr sz="4000" b="1" i="0">
                  <a:solidFill>
                    <a:srgbClr val="1F5FA8"/>
                  </a:solidFill>
                  <a:latin typeface="Georgia"/>
                </a:rPr>
                <a:t>+3.35 dB</a:t>
              </a:r>
            </a:p>
            <a:p>
              <a:pPr algn="l">
                <a:lnSpc>
                  <a:spcPct val="120000"/>
                </a:lnSpc>
                <a:spcBef>
                  <a:spcPts val="600"/>
                </a:spcBef>
              </a:pPr>
              <a:r>
                <a:rPr sz="1400" b="0" i="0">
                  <a:solidFill>
                    <a:srgbClr val="4A5568"/>
                  </a:solidFill>
                  <a:latin typeface="Calibri"/>
                </a:rPr>
                <a:t>nodule PSNR on held-out data, 11.88 → 15.23 dB</a:t>
              </a:r>
            </a:p>
          </p:txBody>
        </p:sp>
      </p:grpSp>
      <p:grpSp>
        <p:nvGrpSpPr>
          <p:cNvPr id="8" name="Group 7"/>
          <p:cNvGrpSpPr/>
          <p:nvPr/>
        </p:nvGrpSpPr>
        <p:grpSpPr>
          <a:xfrm>
            <a:off x="6248400" y="1968500"/>
            <a:ext cx="5130800" cy="1778000"/>
            <a:chOff x="6248400" y="1968500"/>
            <a:chExt cx="5130800" cy="1778000"/>
          </a:xfrm>
        </p:grpSpPr>
        <p:sp>
          <p:nvSpPr>
            <p:cNvPr id="9" name="Rounded Rectangle 8"/>
            <p:cNvSpPr/>
            <p:nvPr/>
          </p:nvSpPr>
          <p:spPr>
            <a:xfrm>
              <a:off x="6248400" y="19685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8400" y="1968500"/>
              <a:ext cx="50800" cy="1778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7800" y="21513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LEARNED DETECTOR</a:t>
              </a:r>
            </a:p>
            <a:p>
              <a:pPr algn="l">
                <a:lnSpc>
                  <a:spcPct val="100000"/>
                </a:lnSpc>
                <a:spcBef>
                  <a:spcPts val="600"/>
                </a:spcBef>
              </a:pPr>
              <a:r>
                <a:rPr sz="4000" b="1" i="0">
                  <a:solidFill>
                    <a:srgbClr val="1F5FA8"/>
                  </a:solidFill>
                  <a:latin typeface="Georgia"/>
                </a:rPr>
                <a:t>17× better</a:t>
              </a:r>
            </a:p>
            <a:p>
              <a:pPr algn="l">
                <a:lnSpc>
                  <a:spcPct val="120000"/>
                </a:lnSpc>
                <a:spcBef>
                  <a:spcPts val="600"/>
                </a:spcBef>
              </a:pPr>
              <a:r>
                <a:rPr sz="1400" b="0" i="0">
                  <a:solidFill>
                    <a:srgbClr val="4A5568"/>
                  </a:solidFill>
                  <a:latin typeface="Calibri"/>
                </a:rPr>
                <a:t>CPM 0.298 vs 0.017 for a training-free baseline</a:t>
              </a:r>
            </a:p>
          </p:txBody>
        </p:sp>
      </p:grpSp>
      <p:grpSp>
        <p:nvGrpSpPr>
          <p:cNvPr id="12" name="Group 11"/>
          <p:cNvGrpSpPr/>
          <p:nvPr/>
        </p:nvGrpSpPr>
        <p:grpSpPr>
          <a:xfrm>
            <a:off x="812800" y="3937000"/>
            <a:ext cx="5130800" cy="1778000"/>
            <a:chOff x="812800" y="3937000"/>
            <a:chExt cx="5130800" cy="1778000"/>
          </a:xfrm>
        </p:grpSpPr>
        <p:sp>
          <p:nvSpPr>
            <p:cNvPr id="13" name="Rounded Rectangle 12"/>
            <p:cNvSpPr/>
            <p:nvPr/>
          </p:nvSpPr>
          <p:spPr>
            <a:xfrm>
              <a:off x="8128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8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2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CONFORMAL INTERVALS</a:t>
              </a:r>
            </a:p>
            <a:p>
              <a:pPr algn="l">
                <a:lnSpc>
                  <a:spcPct val="100000"/>
                </a:lnSpc>
                <a:spcBef>
                  <a:spcPts val="600"/>
                </a:spcBef>
              </a:pPr>
              <a:r>
                <a:rPr sz="4000" b="1" i="0">
                  <a:solidFill>
                    <a:srgbClr val="2E7D4F"/>
                  </a:solidFill>
                  <a:latin typeface="Georgia"/>
                </a:rPr>
                <a:t>95% coverage</a:t>
              </a:r>
            </a:p>
            <a:p>
              <a:pPr algn="l">
                <a:lnSpc>
                  <a:spcPct val="120000"/>
                </a:lnSpc>
                <a:spcBef>
                  <a:spcPts val="600"/>
                </a:spcBef>
              </a:pPr>
              <a:r>
                <a:rPr sz="1400" b="0" i="0">
                  <a:solidFill>
                    <a:srgbClr val="4A5568"/>
                  </a:solidFill>
                  <a:latin typeface="Calibri"/>
                </a:rPr>
                <a:t>target 90%; raw ensemble spread covered only 28%</a:t>
              </a:r>
            </a:p>
          </p:txBody>
        </p:sp>
      </p:grpSp>
      <p:grpSp>
        <p:nvGrpSpPr>
          <p:cNvPr id="16" name="Group 15"/>
          <p:cNvGrpSpPr/>
          <p:nvPr/>
        </p:nvGrpSpPr>
        <p:grpSpPr>
          <a:xfrm>
            <a:off x="6248400" y="3937000"/>
            <a:ext cx="5130800" cy="1778000"/>
            <a:chOff x="6248400" y="3937000"/>
            <a:chExt cx="5130800" cy="1778000"/>
          </a:xfrm>
        </p:grpSpPr>
        <p:sp>
          <p:nvSpPr>
            <p:cNvPr id="17" name="Rounded Rectangle 16"/>
            <p:cNvSpPr/>
            <p:nvPr/>
          </p:nvSpPr>
          <p:spPr>
            <a:xfrm>
              <a:off x="6248400" y="3937000"/>
              <a:ext cx="5130800" cy="1778000"/>
            </a:xfrm>
            <a:prstGeom prst="roundRect">
              <a:avLst>
                <a:gd name="adj" fmla="val 571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8400" y="3937000"/>
              <a:ext cx="50800" cy="1778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7800" y="4119880"/>
              <a:ext cx="4622800" cy="1412240"/>
            </a:xfrm>
            <a:prstGeom prst="rect">
              <a:avLst/>
            </a:prstGeom>
            <a:noFill/>
          </p:spPr>
          <p:txBody>
            <a:bodyPr wrap="square" lIns="0" rIns="0" tIns="0" bIns="0" anchor="t">
              <a:spAutoFit/>
            </a:bodyPr>
            <a:lstStyle/>
            <a:p>
              <a:pPr algn="l">
                <a:lnSpc>
                  <a:spcPct val="120000"/>
                </a:lnSpc>
              </a:pPr>
              <a:r>
                <a:rPr sz="1300" b="1" i="0">
                  <a:solidFill>
                    <a:srgbClr val="4A5568"/>
                  </a:solidFill>
                  <a:latin typeface="Calibri"/>
                </a:rPr>
                <a:t>SIZE-CATEGORY RISK (BRIER)</a:t>
              </a:r>
            </a:p>
            <a:p>
              <a:pPr algn="l">
                <a:lnSpc>
                  <a:spcPct val="100000"/>
                </a:lnSpc>
                <a:spcBef>
                  <a:spcPts val="600"/>
                </a:spcBef>
              </a:pPr>
              <a:r>
                <a:rPr sz="4000" b="1" i="0">
                  <a:solidFill>
                    <a:srgbClr val="2E7D4F"/>
                  </a:solidFill>
                  <a:latin typeface="Georgia"/>
                </a:rPr>
                <a:t>0.54 → 0.17</a:t>
              </a:r>
            </a:p>
            <a:p>
              <a:pPr algn="l">
                <a:lnSpc>
                  <a:spcPct val="120000"/>
                </a:lnSpc>
                <a:spcBef>
                  <a:spcPts val="600"/>
                </a:spcBef>
              </a:pPr>
              <a:r>
                <a:rPr sz="1400" b="0" i="0">
                  <a:solidFill>
                    <a:srgbClr val="4A5568"/>
                  </a:solidFill>
                  <a:latin typeface="Calibri"/>
                </a:rPr>
                <a:t>for P(volume ≥ 100 mm³), a 68% reduction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anim calcmode="lin" valueType="num">
                                      <p:cBhvr additive="base">
                                        <p:cTn id="17"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CALIBRATED UNCERTAINTY</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Our intervals keep their guarantee on new patients</a:t>
            </a:r>
          </a:p>
        </p:txBody>
      </p:sp>
      <p:sp>
        <p:nvSpPr>
          <p:cNvPr id="4" name="Rounded Rectangle 3"/>
          <p:cNvSpPr/>
          <p:nvPr/>
        </p:nvSpPr>
        <p:spPr>
          <a:xfrm>
            <a:off x="812800" y="1841500"/>
            <a:ext cx="6350000" cy="2794000"/>
          </a:xfrm>
          <a:prstGeom prst="roundRect">
            <a:avLst>
              <a:gd name="adj" fmla="val 2727"/>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liability.png"/>
          <p:cNvPicPr>
            <a:picLocks noChangeAspect="1"/>
          </p:cNvPicPr>
          <p:nvPr/>
        </p:nvPicPr>
        <p:blipFill>
          <a:blip r:embed="rId2"/>
          <a:stretch>
            <a:fillRect/>
          </a:stretch>
        </p:blipFill>
        <p:spPr>
          <a:xfrm>
            <a:off x="812800" y="1841500"/>
            <a:ext cx="6350000" cy="2794000"/>
          </a:xfrm>
          <a:prstGeom prst="rect">
            <a:avLst/>
          </a:prstGeom>
        </p:spPr>
      </p:pic>
      <p:sp>
        <p:nvSpPr>
          <p:cNvPr id="6" name="TextBox 5"/>
          <p:cNvSpPr txBox="1"/>
          <p:nvPr/>
        </p:nvSpPr>
        <p:spPr>
          <a:xfrm>
            <a:off x="812800" y="4711700"/>
            <a:ext cx="6350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Reliability of the size-category probabilities (closer to the diagonal is better)</a:t>
            </a:r>
          </a:p>
        </p:txBody>
      </p:sp>
      <p:grpSp>
        <p:nvGrpSpPr>
          <p:cNvPr id="7" name="Group 6"/>
          <p:cNvGrpSpPr/>
          <p:nvPr/>
        </p:nvGrpSpPr>
        <p:grpSpPr>
          <a:xfrm>
            <a:off x="7467600" y="1841500"/>
            <a:ext cx="3911600" cy="889000"/>
            <a:chOff x="7467600" y="1841500"/>
            <a:chExt cx="3911600" cy="889000"/>
          </a:xfrm>
        </p:grpSpPr>
        <p:sp>
          <p:nvSpPr>
            <p:cNvPr id="8" name="Rounded Rectangle 7"/>
            <p:cNvSpPr/>
            <p:nvPr/>
          </p:nvSpPr>
          <p:spPr>
            <a:xfrm>
              <a:off x="7467600" y="1841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67600" y="1841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8100" y="1953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Coverage met: </a:t>
              </a:r>
              <a:r>
                <a:rPr sz="1400" b="0" i="0">
                  <a:solidFill>
                    <a:srgbClr val="14213D"/>
                  </a:solidFill>
                  <a:latin typeface="Calibri"/>
                </a:rPr>
                <a:t>95–96% for the 90% target.</a:t>
              </a:r>
            </a:p>
          </p:txBody>
        </p:sp>
      </p:grpSp>
      <p:grpSp>
        <p:nvGrpSpPr>
          <p:cNvPr id="11" name="Group 10"/>
          <p:cNvGrpSpPr/>
          <p:nvPr/>
        </p:nvGrpSpPr>
        <p:grpSpPr>
          <a:xfrm>
            <a:off x="7467600" y="2857500"/>
            <a:ext cx="3911600" cy="889000"/>
            <a:chOff x="7467600" y="2857500"/>
            <a:chExt cx="3911600" cy="889000"/>
          </a:xfrm>
        </p:grpSpPr>
        <p:sp>
          <p:nvSpPr>
            <p:cNvPr id="12" name="Rounded Rectangle 11"/>
            <p:cNvSpPr/>
            <p:nvPr/>
          </p:nvSpPr>
          <p:spPr>
            <a:xfrm>
              <a:off x="7467600" y="2857500"/>
              <a:ext cx="3911600" cy="889000"/>
            </a:xfrm>
            <a:prstGeom prst="roundRect">
              <a:avLst>
                <a:gd name="adj" fmla="val 1142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67600" y="2857500"/>
              <a:ext cx="50800" cy="8890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58100" y="2969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Risk calibrated: </a:t>
              </a:r>
              <a:r>
                <a:rPr sz="1400" b="0" i="0">
                  <a:solidFill>
                    <a:srgbClr val="14213D"/>
                  </a:solidFill>
                  <a:latin typeface="Calibri"/>
                </a:rPr>
                <a:t>ECE 0.58 → 0.12; right category 38% vs 26%.</a:t>
              </a:r>
            </a:p>
          </p:txBody>
        </p:sp>
      </p:grpSp>
      <p:grpSp>
        <p:nvGrpSpPr>
          <p:cNvPr id="15" name="Group 14"/>
          <p:cNvGrpSpPr/>
          <p:nvPr/>
        </p:nvGrpSpPr>
        <p:grpSpPr>
          <a:xfrm>
            <a:off x="7467600" y="3873500"/>
            <a:ext cx="3911600" cy="889000"/>
            <a:chOff x="7467600" y="3873500"/>
            <a:chExt cx="3911600" cy="889000"/>
          </a:xfrm>
        </p:grpSpPr>
        <p:sp>
          <p:nvSpPr>
            <p:cNvPr id="16" name="Rounded Rectangle 15"/>
            <p:cNvSpPr/>
            <p:nvPr/>
          </p:nvSpPr>
          <p:spPr>
            <a:xfrm>
              <a:off x="7467600" y="3873500"/>
              <a:ext cx="3911600" cy="889000"/>
            </a:xfrm>
            <a:prstGeom prst="roundRect">
              <a:avLst>
                <a:gd name="adj" fmla="val 1142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67600" y="3873500"/>
              <a:ext cx="50800" cy="889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58100" y="3985260"/>
              <a:ext cx="3581400" cy="665480"/>
            </a:xfrm>
            <a:prstGeom prst="rect">
              <a:avLst/>
            </a:prstGeom>
            <a:noFill/>
          </p:spPr>
          <p:txBody>
            <a:bodyPr wrap="square" lIns="0" rIns="0" tIns="0" bIns="0" anchor="ctr">
              <a:spAutoFit/>
            </a:bodyPr>
            <a:lstStyle/>
            <a:p>
              <a:pPr algn="l">
                <a:lnSpc>
                  <a:spcPct val="120000"/>
                </a:lnSpc>
              </a:pPr>
              <a:r>
                <a:rPr sz="1400" b="1" i="0">
                  <a:solidFill>
                    <a:srgbClr val="14213D"/>
                  </a:solidFill>
                  <a:latin typeface="Calibri"/>
                </a:rPr>
                <a:t>Next step: </a:t>
              </a:r>
              <a:r>
                <a:rPr sz="1400" b="0" i="0">
                  <a:solidFill>
                    <a:srgbClr val="14213D"/>
                  </a:solidFill>
                  <a:latin typeface="Calibri"/>
                </a:rPr>
                <a:t>narrower intervals once failed reads are handled separately.</a:t>
              </a:r>
            </a:p>
          </p:txBody>
        </p:sp>
      </p:grpSp>
      <p:sp>
        <p:nvSpPr>
          <p:cNvPr id="19" name="TextBox 18"/>
          <p:cNvSpPr txBox="1"/>
          <p:nvPr/>
        </p:nvSpPr>
        <p:spPr>
          <a:xfrm>
            <a:off x="812800" y="5207000"/>
            <a:ext cx="10566400" cy="635000"/>
          </a:xfrm>
          <a:prstGeom prst="rect">
            <a:avLst/>
          </a:prstGeom>
          <a:noFill/>
        </p:spPr>
        <p:txBody>
          <a:bodyPr wrap="square" lIns="0" rIns="0" tIns="0" bIns="0" anchor="t">
            <a:spAutoFit/>
          </a:bodyPr>
          <a:lstStyle/>
          <a:p>
            <a:pPr algn="l">
              <a:lnSpc>
                <a:spcPct val="130000"/>
              </a:lnSpc>
            </a:pPr>
            <a:r>
              <a:rPr sz="1400" b="1" i="0">
                <a:solidFill>
                  <a:srgbClr val="14213D"/>
                </a:solidFill>
                <a:latin typeface="Calibri"/>
              </a:rPr>
              <a:t>Insight: </a:t>
            </a:r>
            <a:r>
              <a:rPr sz="1400" b="0" i="0">
                <a:solidFill>
                  <a:srgbClr val="14213D"/>
                </a:solidFill>
                <a:latin typeface="Calibri"/>
              </a:rPr>
              <a:t>raw sample spread is not a safe uncertainty (ρ = −0.52 with error), which is exactly why we calibrate.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anim calcmode="lin" valueType="num">
                                      <p:cBhvr additive="base">
                                        <p:cTn id="11" dur="500" fill="hold"/>
                                        <p:tgtEl>
                                          <p:spTgt spid="11"/>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500"/>
                                        <p:tgtEl>
                                          <p:spTgt spid="15"/>
                                        </p:tgtEl>
                                      </p:cBhvr>
                                    </p:animEffect>
                                    <p:anim calcmode="lin" valueType="num">
                                      <p:cBhvr additive="base">
                                        <p:cTn id="17" dur="500" fill="hold"/>
                                        <p:tgtEl>
                                          <p:spTgt spid="15"/>
                                        </p:tgtEl>
                                        <p:attrNameLst>
                                          <p:attrName>ppt_y</p:attrName>
                                        </p:attrNameLst>
                                      </p:cBhvr>
                                      <p:tavLst>
                                        <p:tav tm="0">
                                          <p:val>
                                            <p:strVal val="#ppt_y+0.05"/>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3"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EXPLAINABILITY · SEEN VS UNSEEN</a:t>
            </a:r>
          </a:p>
        </p:txBody>
      </p:sp>
      <p:sp>
        <p:nvSpPr>
          <p:cNvPr id="3" name="TextBox 2"/>
          <p:cNvSpPr txBox="1"/>
          <p:nvPr/>
        </p:nvSpPr>
        <p:spPr>
          <a:xfrm>
            <a:off x="812800" y="952500"/>
            <a:ext cx="10566400" cy="8890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We can show what the X-rays saw and what the AI filled in</a:t>
            </a:r>
          </a:p>
        </p:txBody>
      </p:sp>
      <p:sp>
        <p:nvSpPr>
          <p:cNvPr id="4" name="Rounded Rectangle 3"/>
          <p:cNvSpPr/>
          <p:nvPr/>
        </p:nvSpPr>
        <p:spPr>
          <a:xfrm>
            <a:off x="812800" y="2095500"/>
            <a:ext cx="5969000" cy="3365500"/>
          </a:xfrm>
          <a:prstGeom prst="roundRect">
            <a:avLst>
              <a:gd name="adj" fmla="val 2264"/>
            </a:avLst>
          </a:prstGeom>
          <a:solidFill>
            <a:srgbClr val="FFFFFF"/>
          </a:solidFill>
          <a:ln w="12700">
            <a:solidFill>
              <a:srgbClr val="DDE3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en_unseen.png"/>
          <p:cNvPicPr>
            <a:picLocks noChangeAspect="1"/>
          </p:cNvPicPr>
          <p:nvPr/>
        </p:nvPicPr>
        <p:blipFill>
          <a:blip r:embed="rId2"/>
          <a:stretch>
            <a:fillRect/>
          </a:stretch>
        </p:blipFill>
        <p:spPr>
          <a:xfrm>
            <a:off x="812800" y="2159000"/>
            <a:ext cx="5969000" cy="3238500"/>
          </a:xfrm>
          <a:prstGeom prst="rect">
            <a:avLst/>
          </a:prstGeom>
        </p:spPr>
      </p:pic>
      <p:sp>
        <p:nvSpPr>
          <p:cNvPr id="6" name="TextBox 5"/>
          <p:cNvSpPr txBox="1"/>
          <p:nvPr/>
        </p:nvSpPr>
        <p:spPr>
          <a:xfrm>
            <a:off x="812800" y="5537200"/>
            <a:ext cx="5969000" cy="254000"/>
          </a:xfrm>
          <a:prstGeom prst="rect">
            <a:avLst/>
          </a:prstGeom>
          <a:noFill/>
        </p:spPr>
        <p:txBody>
          <a:bodyPr wrap="square" lIns="0" rIns="0" tIns="0" bIns="0" anchor="t">
            <a:spAutoFit/>
          </a:bodyPr>
          <a:lstStyle/>
          <a:p>
            <a:pPr algn="l">
              <a:lnSpc>
                <a:spcPct val="120000"/>
              </a:lnSpc>
            </a:pPr>
            <a:r>
              <a:rPr sz="1200" b="0" i="0">
                <a:solidFill>
                  <a:srgbClr val="4A5568"/>
                </a:solidFill>
                <a:latin typeface="Calibri"/>
              </a:rPr>
              <a:t>Null-space split, one test nodule (depth view): top CT truth, bottom diffusion prior</a:t>
            </a:r>
          </a:p>
        </p:txBody>
      </p:sp>
      <p:sp>
        <p:nvSpPr>
          <p:cNvPr id="7" name="TextBox 6"/>
          <p:cNvSpPr txBox="1"/>
          <p:nvPr/>
        </p:nvSpPr>
        <p:spPr>
          <a:xfrm>
            <a:off x="7086600" y="2095500"/>
            <a:ext cx="4292600" cy="1143000"/>
          </a:xfrm>
          <a:prstGeom prst="rect">
            <a:avLst/>
          </a:prstGeom>
          <a:noFill/>
        </p:spPr>
        <p:txBody>
          <a:bodyPr wrap="square" lIns="0" rIns="0" tIns="0" bIns="0" anchor="t">
            <a:spAutoFit/>
          </a:bodyPr>
          <a:lstStyle/>
          <a:p>
            <a:pPr algn="l">
              <a:lnSpc>
                <a:spcPct val="100000"/>
              </a:lnSpc>
            </a:pPr>
            <a:r>
              <a:rPr sz="3600" b="1" i="0">
                <a:solidFill>
                  <a:srgbClr val="1F5FA8"/>
                </a:solidFill>
                <a:latin typeface="Georgia"/>
              </a:rPr>
              <a:t>0.3%</a:t>
            </a:r>
          </a:p>
          <a:p>
            <a:pPr algn="l">
              <a:lnSpc>
                <a:spcPct val="120000"/>
              </a:lnSpc>
              <a:spcBef>
                <a:spcPts val="400"/>
              </a:spcBef>
            </a:pPr>
            <a:r>
              <a:rPr sz="1300" b="0" i="0">
                <a:solidFill>
                  <a:srgbClr val="4A5568"/>
                </a:solidFill>
                <a:latin typeface="Calibri"/>
              </a:rPr>
              <a:t>of nodule mass is unseen: the X-rays measure mass (confirms the physics)</a:t>
            </a:r>
          </a:p>
        </p:txBody>
      </p:sp>
      <p:sp>
        <p:nvSpPr>
          <p:cNvPr id="8" name="TextBox 7"/>
          <p:cNvSpPr txBox="1"/>
          <p:nvPr/>
        </p:nvSpPr>
        <p:spPr>
          <a:xfrm>
            <a:off x="7086600" y="3302000"/>
            <a:ext cx="4292600" cy="1143000"/>
          </a:xfrm>
          <a:prstGeom prst="rect">
            <a:avLst/>
          </a:prstGeom>
          <a:noFill/>
        </p:spPr>
        <p:txBody>
          <a:bodyPr wrap="square" lIns="0" rIns="0" tIns="0" bIns="0" anchor="t">
            <a:spAutoFit/>
          </a:bodyPr>
          <a:lstStyle/>
          <a:p>
            <a:pPr algn="l">
              <a:lnSpc>
                <a:spcPct val="100000"/>
              </a:lnSpc>
            </a:pPr>
            <a:r>
              <a:rPr sz="3600" b="1" i="0">
                <a:solidFill>
                  <a:srgbClr val="2E7D4F"/>
                </a:solidFill>
                <a:latin typeface="Georgia"/>
              </a:rPr>
              <a:t>+0.22</a:t>
            </a:r>
          </a:p>
          <a:p>
            <a:pPr algn="l">
              <a:lnSpc>
                <a:spcPct val="120000"/>
              </a:lnSpc>
              <a:spcBef>
                <a:spcPts val="400"/>
              </a:spcBef>
            </a:pPr>
            <a:r>
              <a:rPr sz="1300" b="0" i="0">
                <a:solidFill>
                  <a:srgbClr val="4A5568"/>
                </a:solidFill>
                <a:latin typeface="Calibri"/>
              </a:rPr>
              <a:t>unseen skill of the prior vs truth [0.14, 0.36]: it recovers, not invents</a:t>
            </a:r>
          </a:p>
        </p:txBody>
      </p:sp>
      <p:sp>
        <p:nvSpPr>
          <p:cNvPr id="9" name="TextBox 8"/>
          <p:cNvSpPr txBox="1"/>
          <p:nvPr/>
        </p:nvSpPr>
        <p:spPr>
          <a:xfrm>
            <a:off x="7086600" y="4508500"/>
            <a:ext cx="4292600" cy="1143000"/>
          </a:xfrm>
          <a:prstGeom prst="rect">
            <a:avLst/>
          </a:prstGeom>
          <a:noFill/>
        </p:spPr>
        <p:txBody>
          <a:bodyPr wrap="square" lIns="0" rIns="0" tIns="0" bIns="0" anchor="t">
            <a:spAutoFit/>
          </a:bodyPr>
          <a:lstStyle/>
          <a:p>
            <a:pPr algn="l">
              <a:lnSpc>
                <a:spcPct val="100000"/>
              </a:lnSpc>
            </a:pPr>
            <a:r>
              <a:rPr sz="3600" b="1" i="0">
                <a:solidFill>
                  <a:srgbClr val="D9661F"/>
                </a:solidFill>
                <a:latin typeface="Georgia"/>
              </a:rPr>
              <a:t>0.09</a:t>
            </a:r>
          </a:p>
          <a:p>
            <a:pPr algn="l">
              <a:lnSpc>
                <a:spcPct val="120000"/>
              </a:lnSpc>
              <a:spcBef>
                <a:spcPts val="400"/>
              </a:spcBef>
            </a:pPr>
            <a:r>
              <a:rPr sz="1300" b="0" i="0">
                <a:solidFill>
                  <a:srgbClr val="4A5568"/>
                </a:solidFill>
                <a:latin typeface="Calibri"/>
              </a:rPr>
              <a:t>skill left after Gaussian fitting: that step discards what the prior found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additive="base">
                                        <p:cTn id="5" dur="500" fill="hold"/>
                                        <p:tgtEl>
                                          <p:spTgt spid="7"/>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anim calcmode="lin" valueType="num">
                                      <p:cBhvr additive="base">
                                        <p:cTn id="17" dur="500" fill="hold"/>
                                        <p:tgtEl>
                                          <p:spTgt spid="9"/>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ACCURACY BENCHMARK · SIX METHODS COMPARED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Volume from DTS is hard for every method</a:t>
            </a:r>
          </a:p>
        </p:txBody>
      </p:sp>
      <p:sp>
        <p:nvSpPr>
          <p:cNvPr id="4" name="TextBox 3"/>
          <p:cNvSpPr txBox="1"/>
          <p:nvPr/>
        </p:nvSpPr>
        <p:spPr>
          <a:xfrm>
            <a:off x="812800" y="1905000"/>
            <a:ext cx="6985000" cy="254000"/>
          </a:xfrm>
          <a:prstGeom prst="rect">
            <a:avLst/>
          </a:prstGeom>
          <a:noFill/>
        </p:spPr>
        <p:txBody>
          <a:bodyPr wrap="square" lIns="0" rIns="0" tIns="0" bIns="0" anchor="t">
            <a:spAutoFit/>
          </a:bodyPr>
          <a:lstStyle/>
          <a:p>
            <a:pPr algn="l">
              <a:lnSpc>
                <a:spcPct val="120000"/>
              </a:lnSpc>
            </a:pPr>
            <a:r>
              <a:rPr sz="1200" b="1" i="0">
                <a:solidFill>
                  <a:srgbClr val="4A5568"/>
                </a:solidFill>
                <a:latin typeface="Calibri"/>
              </a:rPr>
              <a:t>Volume error, median absolute % (lower is better; a failure counts as 100%)</a:t>
            </a:r>
          </a:p>
        </p:txBody>
      </p:sp>
      <p:sp>
        <p:nvSpPr>
          <p:cNvPr id="5" name="TextBox 4"/>
          <p:cNvSpPr txBox="1"/>
          <p:nvPr/>
        </p:nvSpPr>
        <p:spPr>
          <a:xfrm>
            <a:off x="812800" y="22860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2D diameter → sphere</a:t>
            </a:r>
          </a:p>
        </p:txBody>
      </p:sp>
      <p:sp>
        <p:nvSpPr>
          <p:cNvPr id="6" name="Rounded Rectangle 5"/>
          <p:cNvSpPr/>
          <p:nvPr/>
        </p:nvSpPr>
        <p:spPr>
          <a:xfrm>
            <a:off x="3200400" y="2324100"/>
            <a:ext cx="33528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54800" y="22860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88.0</a:t>
            </a:r>
            <a:r>
              <a:rPr sz="1300" b="1" i="0">
                <a:solidFill>
                  <a:srgbClr val="2E7D4F"/>
                </a:solidFill>
                <a:latin typeface="Calibri"/>
              </a:rPr>
              <a:t/>
            </a:r>
          </a:p>
        </p:txBody>
      </p:sp>
      <p:sp>
        <p:nvSpPr>
          <p:cNvPr id="8" name="TextBox 7"/>
          <p:cNvSpPr txBox="1"/>
          <p:nvPr/>
        </p:nvSpPr>
        <p:spPr>
          <a:xfrm>
            <a:off x="812800" y="28067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Coarse DTS SIRT</a:t>
            </a:r>
          </a:p>
        </p:txBody>
      </p:sp>
      <p:sp>
        <p:nvSpPr>
          <p:cNvPr id="9" name="Rounded Rectangle 8"/>
          <p:cNvSpPr/>
          <p:nvPr/>
        </p:nvSpPr>
        <p:spPr>
          <a:xfrm>
            <a:off x="3200400" y="2844800"/>
            <a:ext cx="381000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12000" y="28067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100</a:t>
            </a:r>
            <a:r>
              <a:rPr sz="1300" b="1" i="0">
                <a:solidFill>
                  <a:srgbClr val="2E7D4F"/>
                </a:solidFill>
                <a:latin typeface="Calibri"/>
              </a:rPr>
              <a:t/>
            </a:r>
          </a:p>
        </p:txBody>
      </p:sp>
      <p:sp>
        <p:nvSpPr>
          <p:cNvPr id="11" name="TextBox 10"/>
          <p:cNvSpPr txBox="1"/>
          <p:nvPr/>
        </p:nvSpPr>
        <p:spPr>
          <a:xfrm>
            <a:off x="812800" y="33274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Prism ROI-SIRT</a:t>
            </a:r>
          </a:p>
        </p:txBody>
      </p:sp>
      <p:sp>
        <p:nvSpPr>
          <p:cNvPr id="12" name="Rounded Rectangle 11"/>
          <p:cNvSpPr/>
          <p:nvPr/>
        </p:nvSpPr>
        <p:spPr>
          <a:xfrm>
            <a:off x="3200400" y="3365500"/>
            <a:ext cx="347472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76720" y="33274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91.2</a:t>
            </a:r>
            <a:r>
              <a:rPr sz="1300" b="1" i="0">
                <a:solidFill>
                  <a:srgbClr val="2E7D4F"/>
                </a:solidFill>
                <a:latin typeface="Calibri"/>
              </a:rPr>
              <a:t/>
            </a:r>
          </a:p>
        </p:txBody>
      </p:sp>
      <p:sp>
        <p:nvSpPr>
          <p:cNvPr id="14" name="TextBox 13"/>
          <p:cNvSpPr txBox="1"/>
          <p:nvPr/>
        </p:nvSpPr>
        <p:spPr>
          <a:xfrm>
            <a:off x="812800" y="38481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Physics-only Gaussians</a:t>
            </a:r>
          </a:p>
        </p:txBody>
      </p:sp>
      <p:sp>
        <p:nvSpPr>
          <p:cNvPr id="15" name="Rounded Rectangle 14"/>
          <p:cNvSpPr/>
          <p:nvPr/>
        </p:nvSpPr>
        <p:spPr>
          <a:xfrm>
            <a:off x="3200400" y="3886200"/>
            <a:ext cx="3341370" cy="279400"/>
          </a:xfrm>
          <a:prstGeom prst="roundRect">
            <a:avLst>
              <a:gd name="adj" fmla="val 9090"/>
            </a:avLst>
          </a:prstGeom>
          <a:solidFill>
            <a:srgbClr val="9AA7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3370" y="38481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87.7</a:t>
            </a:r>
            <a:r>
              <a:rPr sz="1300" b="1" i="0">
                <a:solidFill>
                  <a:srgbClr val="2E7D4F"/>
                </a:solidFill>
                <a:latin typeface="Calibri"/>
              </a:rPr>
              <a:t/>
            </a:r>
          </a:p>
        </p:txBody>
      </p:sp>
      <p:sp>
        <p:nvSpPr>
          <p:cNvPr id="17" name="TextBox 16"/>
          <p:cNvSpPr txBox="1"/>
          <p:nvPr/>
        </p:nvSpPr>
        <p:spPr>
          <a:xfrm>
            <a:off x="812800" y="4368800"/>
            <a:ext cx="2286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Our diffusion prior</a:t>
            </a:r>
          </a:p>
        </p:txBody>
      </p:sp>
      <p:sp>
        <p:nvSpPr>
          <p:cNvPr id="18" name="Rounded Rectangle 17"/>
          <p:cNvSpPr/>
          <p:nvPr/>
        </p:nvSpPr>
        <p:spPr>
          <a:xfrm>
            <a:off x="3200400" y="4406900"/>
            <a:ext cx="2838450" cy="279400"/>
          </a:xfrm>
          <a:prstGeom prst="roundRect">
            <a:avLst>
              <a:gd name="adj" fmla="val 9090"/>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40450" y="4368800"/>
            <a:ext cx="1905000" cy="355600"/>
          </a:xfrm>
          <a:prstGeom prst="rect">
            <a:avLst/>
          </a:prstGeom>
          <a:noFill/>
        </p:spPr>
        <p:txBody>
          <a:bodyPr wrap="square" lIns="0" rIns="0" tIns="0" bIns="0" anchor="ctr">
            <a:spAutoFit/>
          </a:bodyPr>
          <a:lstStyle/>
          <a:p>
            <a:pPr algn="l">
              <a:lnSpc>
                <a:spcPct val="120000"/>
              </a:lnSpc>
            </a:pPr>
            <a:r>
              <a:rPr sz="1300" b="1" i="0">
                <a:solidFill>
                  <a:srgbClr val="2E7D4F"/>
                </a:solidFill>
                <a:latin typeface="Calibri"/>
              </a:rPr>
              <a:t>74.5</a:t>
            </a:r>
            <a:r>
              <a:rPr sz="1300" b="1" i="0">
                <a:solidFill>
                  <a:srgbClr val="2E7D4F"/>
                </a:solidFill>
                <a:latin typeface="Calibri"/>
              </a:rPr>
              <a:t> · best</a:t>
            </a:r>
          </a:p>
        </p:txBody>
      </p:sp>
      <p:sp>
        <p:nvSpPr>
          <p:cNvPr id="20" name="TextBox 19"/>
          <p:cNvSpPr txBox="1"/>
          <p:nvPr/>
        </p:nvSpPr>
        <p:spPr>
          <a:xfrm>
            <a:off x="812800" y="4889500"/>
            <a:ext cx="2286000" cy="355600"/>
          </a:xfrm>
          <a:prstGeom prst="rect">
            <a:avLst/>
          </a:prstGeom>
          <a:noFill/>
        </p:spPr>
        <p:txBody>
          <a:bodyPr wrap="square" lIns="0" rIns="0" tIns="0" bIns="0" anchor="ctr">
            <a:spAutoFit/>
          </a:bodyPr>
          <a:lstStyle/>
          <a:p>
            <a:pPr algn="l">
              <a:lnSpc>
                <a:spcPct val="120000"/>
              </a:lnSpc>
            </a:pPr>
            <a:r>
              <a:rPr sz="1300" b="0" i="0">
                <a:solidFill>
                  <a:srgbClr val="4A5568"/>
                </a:solidFill>
                <a:latin typeface="Calibri"/>
              </a:rPr>
              <a:t>Diffusion + Gaussians</a:t>
            </a:r>
          </a:p>
        </p:txBody>
      </p:sp>
      <p:sp>
        <p:nvSpPr>
          <p:cNvPr id="21" name="Rounded Rectangle 20"/>
          <p:cNvSpPr/>
          <p:nvPr/>
        </p:nvSpPr>
        <p:spPr>
          <a:xfrm>
            <a:off x="3200400" y="4927600"/>
            <a:ext cx="3604260" cy="279400"/>
          </a:xfrm>
          <a:prstGeom prst="roundRect">
            <a:avLst>
              <a:gd name="adj" fmla="val 909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6260" y="4889500"/>
            <a:ext cx="1905000" cy="355600"/>
          </a:xfrm>
          <a:prstGeom prst="rect">
            <a:avLst/>
          </a:prstGeom>
          <a:noFill/>
        </p:spPr>
        <p:txBody>
          <a:bodyPr wrap="square" lIns="0" rIns="0" tIns="0" bIns="0" anchor="ctr">
            <a:spAutoFit/>
          </a:bodyPr>
          <a:lstStyle/>
          <a:p>
            <a:pPr algn="l">
              <a:lnSpc>
                <a:spcPct val="120000"/>
              </a:lnSpc>
            </a:pPr>
            <a:r>
              <a:rPr sz="1300" b="1" i="0">
                <a:solidFill>
                  <a:srgbClr val="14213D"/>
                </a:solidFill>
                <a:latin typeface="Calibri"/>
              </a:rPr>
              <a:t>94.6</a:t>
            </a:r>
            <a:r>
              <a:rPr sz="1300" b="1" i="0">
                <a:solidFill>
                  <a:srgbClr val="2E7D4F"/>
                </a:solidFill>
                <a:latin typeface="Calibri"/>
              </a:rPr>
              <a:t/>
            </a:r>
          </a:p>
        </p:txBody>
      </p:sp>
      <p:grpSp>
        <p:nvGrpSpPr>
          <p:cNvPr id="23" name="Group 22"/>
          <p:cNvGrpSpPr/>
          <p:nvPr/>
        </p:nvGrpSpPr>
        <p:grpSpPr>
          <a:xfrm>
            <a:off x="8077200" y="1905000"/>
            <a:ext cx="3302000" cy="1174750"/>
            <a:chOff x="8077200" y="1905000"/>
            <a:chExt cx="3302000" cy="1174750"/>
          </a:xfrm>
        </p:grpSpPr>
        <p:sp>
          <p:nvSpPr>
            <p:cNvPr id="24" name="Rounded Rectangle 23"/>
            <p:cNvSpPr/>
            <p:nvPr/>
          </p:nvSpPr>
          <p:spPr>
            <a:xfrm>
              <a:off x="8077200" y="1905000"/>
              <a:ext cx="3302000" cy="1174750"/>
            </a:xfrm>
            <a:prstGeom prst="roundRect">
              <a:avLst>
                <a:gd name="adj" fmla="val 8648"/>
              </a:avLst>
            </a:prstGeom>
            <a:solidFill>
              <a:srgbClr val="EA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77200" y="1905000"/>
              <a:ext cx="50800" cy="117475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80400" y="20269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Best of six: </a:t>
              </a:r>
              <a:r>
                <a:rPr sz="1400" b="0" i="0">
                  <a:solidFill>
                    <a:srgbClr val="14213D"/>
                  </a:solidFill>
                  <a:latin typeface="Calibri"/>
                </a:rPr>
                <a:t>our diffusion prior had the lowest error and the fewest failures (3%).</a:t>
              </a:r>
            </a:p>
          </p:txBody>
        </p:sp>
      </p:grpSp>
      <p:grpSp>
        <p:nvGrpSpPr>
          <p:cNvPr id="27" name="Group 26"/>
          <p:cNvGrpSpPr/>
          <p:nvPr/>
        </p:nvGrpSpPr>
        <p:grpSpPr>
          <a:xfrm>
            <a:off x="8077200" y="3206750"/>
            <a:ext cx="3302000" cy="1174750"/>
            <a:chOff x="8077200" y="3206750"/>
            <a:chExt cx="3302000" cy="1174750"/>
          </a:xfrm>
        </p:grpSpPr>
        <p:sp>
          <p:nvSpPr>
            <p:cNvPr id="28" name="Rounded Rectangle 27"/>
            <p:cNvSpPr/>
            <p:nvPr/>
          </p:nvSpPr>
          <p:spPr>
            <a:xfrm>
              <a:off x="8077200" y="3206750"/>
              <a:ext cx="3302000" cy="1174750"/>
            </a:xfrm>
            <a:prstGeom prst="roundRect">
              <a:avLst>
                <a:gd name="adj" fmla="val 8648"/>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7200" y="3206750"/>
              <a:ext cx="50800" cy="117475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80400" y="332867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Hard for all: </a:t>
              </a:r>
              <a:r>
                <a:rPr sz="1400" b="0" i="0">
                  <a:solidFill>
                    <a:srgbClr val="14213D"/>
                  </a:solidFill>
                  <a:latin typeface="Calibri"/>
                </a:rPr>
                <a:t>even the clinical 2D standard errs by 88%.</a:t>
              </a:r>
            </a:p>
          </p:txBody>
        </p:sp>
      </p:grpSp>
      <p:grpSp>
        <p:nvGrpSpPr>
          <p:cNvPr id="31" name="Group 30"/>
          <p:cNvGrpSpPr/>
          <p:nvPr/>
        </p:nvGrpSpPr>
        <p:grpSpPr>
          <a:xfrm>
            <a:off x="8077200" y="4508500"/>
            <a:ext cx="3302000" cy="1174750"/>
            <a:chOff x="8077200" y="4508500"/>
            <a:chExt cx="3302000" cy="1174750"/>
          </a:xfrm>
        </p:grpSpPr>
        <p:sp>
          <p:nvSpPr>
            <p:cNvPr id="32" name="Rounded Rectangle 31"/>
            <p:cNvSpPr/>
            <p:nvPr/>
          </p:nvSpPr>
          <p:spPr>
            <a:xfrm>
              <a:off x="8077200" y="4508500"/>
              <a:ext cx="3302000" cy="1174750"/>
            </a:xfrm>
            <a:prstGeom prst="roundRect">
              <a:avLst>
                <a:gd name="adj" fmla="val 8648"/>
              </a:avLst>
            </a:prstGeom>
            <a:solidFill>
              <a:srgbClr val="FBED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7200" y="4508500"/>
              <a:ext cx="50800" cy="1174750"/>
            </a:xfrm>
            <a:prstGeom prst="rect">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0400" y="4630420"/>
              <a:ext cx="2946400" cy="93091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Open challenge: </a:t>
              </a:r>
              <a:r>
                <a:rPr sz="1400" b="0" i="0">
                  <a:solidFill>
                    <a:srgbClr val="14213D"/>
                  </a:solidFill>
                  <a:latin typeface="Calibri"/>
                </a:rPr>
                <a:t>learned methods under-estimate size; the cause is found (next slides).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600"/>
                                        <p:tgtEl>
                                          <p:spTgt spid="6"/>
                                        </p:tgtEl>
                                      </p:cBhvr>
                                    </p:animEffect>
                                  </p:childTnLst>
                                </p:cTn>
                              </p:par>
                              <p:par>
                                <p:cTn id="8" presetID="22" presetClass="entr" presetSubtype="8" fill="hold" grpId="0" nodeType="withEffect">
                                  <p:stCondLst>
                                    <p:cond delay="15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600"/>
                                        <p:tgtEl>
                                          <p:spTgt spid="7"/>
                                        </p:tgtEl>
                                      </p:cBhvr>
                                    </p:animEffect>
                                  </p:childTnLst>
                                </p:cTn>
                              </p:par>
                              <p:par>
                                <p:cTn id="11" presetID="22" presetClass="entr" presetSubtype="8" fill="hold" grpId="0" nodeType="withEffect">
                                  <p:stCondLst>
                                    <p:cond delay="30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600"/>
                                        <p:tgtEl>
                                          <p:spTgt spid="9"/>
                                        </p:tgtEl>
                                      </p:cBhvr>
                                    </p:animEffect>
                                  </p:childTnLst>
                                </p:cTn>
                              </p:par>
                              <p:par>
                                <p:cTn id="14" presetID="22" presetClass="entr" presetSubtype="8" fill="hold" grpId="0" nodeType="withEffect">
                                  <p:stCondLst>
                                    <p:cond delay="45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600"/>
                                        <p:tgtEl>
                                          <p:spTgt spid="10"/>
                                        </p:tgtEl>
                                      </p:cBhvr>
                                    </p:animEffect>
                                  </p:childTnLst>
                                </p:cTn>
                              </p:par>
                              <p:par>
                                <p:cTn id="17" presetID="22" presetClass="entr" presetSubtype="8" fill="hold" grpId="0" nodeType="withEffect">
                                  <p:stCondLst>
                                    <p:cond delay="6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600"/>
                                        <p:tgtEl>
                                          <p:spTgt spid="12"/>
                                        </p:tgtEl>
                                      </p:cBhvr>
                                    </p:animEffect>
                                  </p:childTnLst>
                                </p:cTn>
                              </p:par>
                              <p:par>
                                <p:cTn id="20" presetID="22" presetClass="entr" presetSubtype="8" fill="hold" grpId="0" nodeType="withEffect">
                                  <p:stCondLst>
                                    <p:cond delay="750"/>
                                  </p:stCondLst>
                                  <p:childTnLst>
                                    <p:set>
                                      <p:cBhvr>
                                        <p:cTn id="18" dur="1" fill="hold">
                                          <p:stCondLst>
                                            <p:cond delay="0"/>
                                          </p:stCondLst>
                                        </p:cTn>
                                        <p:tgtEl>
                                          <p:spTgt spid="13"/>
                                        </p:tgtEl>
                                        <p:attrNameLst>
                                          <p:attrName>style.visibility</p:attrName>
                                        </p:attrNameLst>
                                      </p:cBhvr>
                                      <p:to>
                                        <p:strVal val="visible"/>
                                      </p:to>
                                    </p:set>
                                    <p:animEffect transition="in" filter="wipe(left)">
                                      <p:cBhvr>
                                        <p:cTn id="19" dur="600"/>
                                        <p:tgtEl>
                                          <p:spTgt spid="13"/>
                                        </p:tgtEl>
                                      </p:cBhvr>
                                    </p:animEffect>
                                  </p:childTnLst>
                                </p:cTn>
                              </p:par>
                              <p:par>
                                <p:cTn id="23" presetID="22" presetClass="entr" presetSubtype="8" fill="hold" grpId="0" nodeType="withEffect">
                                  <p:stCondLst>
                                    <p:cond delay="90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600"/>
                                        <p:tgtEl>
                                          <p:spTgt spid="15"/>
                                        </p:tgtEl>
                                      </p:cBhvr>
                                    </p:animEffect>
                                  </p:childTnLst>
                                </p:cTn>
                              </p:par>
                              <p:par>
                                <p:cTn id="26" presetID="22" presetClass="entr" presetSubtype="8" fill="hold" grpId="0" nodeType="withEffect">
                                  <p:stCondLst>
                                    <p:cond delay="1050"/>
                                  </p:stCondLst>
                                  <p:childTnLst>
                                    <p:set>
                                      <p:cBhvr>
                                        <p:cTn id="24" dur="1" fill="hold">
                                          <p:stCondLst>
                                            <p:cond delay="0"/>
                                          </p:stCondLst>
                                        </p:cTn>
                                        <p:tgtEl>
                                          <p:spTgt spid="16"/>
                                        </p:tgtEl>
                                        <p:attrNameLst>
                                          <p:attrName>style.visibility</p:attrName>
                                        </p:attrNameLst>
                                      </p:cBhvr>
                                      <p:to>
                                        <p:strVal val="visible"/>
                                      </p:to>
                                    </p:set>
                                    <p:animEffect transition="in" filter="wipe(left)">
                                      <p:cBhvr>
                                        <p:cTn id="25" dur="600"/>
                                        <p:tgtEl>
                                          <p:spTgt spid="16"/>
                                        </p:tgtEl>
                                      </p:cBhvr>
                                    </p:animEffect>
                                  </p:childTnLst>
                                </p:cTn>
                              </p:par>
                              <p:par>
                                <p:cTn id="29" presetID="22" presetClass="entr" presetSubtype="8" fill="hold" grpId="0" nodeType="withEffect">
                                  <p:stCondLst>
                                    <p:cond delay="1200"/>
                                  </p:stCondLst>
                                  <p:childTnLst>
                                    <p:set>
                                      <p:cBhvr>
                                        <p:cTn id="27" dur="1" fill="hold">
                                          <p:stCondLst>
                                            <p:cond delay="0"/>
                                          </p:stCondLst>
                                        </p:cTn>
                                        <p:tgtEl>
                                          <p:spTgt spid="18"/>
                                        </p:tgtEl>
                                        <p:attrNameLst>
                                          <p:attrName>style.visibility</p:attrName>
                                        </p:attrNameLst>
                                      </p:cBhvr>
                                      <p:to>
                                        <p:strVal val="visible"/>
                                      </p:to>
                                    </p:set>
                                    <p:animEffect transition="in" filter="wipe(left)">
                                      <p:cBhvr>
                                        <p:cTn id="28" dur="600"/>
                                        <p:tgtEl>
                                          <p:spTgt spid="18"/>
                                        </p:tgtEl>
                                      </p:cBhvr>
                                    </p:animEffect>
                                  </p:childTnLst>
                                </p:cTn>
                              </p:par>
                              <p:par>
                                <p:cTn id="32" presetID="22" presetClass="entr" presetSubtype="8" fill="hold" grpId="0" nodeType="withEffect">
                                  <p:stCondLst>
                                    <p:cond delay="1350"/>
                                  </p:stCondLst>
                                  <p:childTnLst>
                                    <p:set>
                                      <p:cBhvr>
                                        <p:cTn id="30" dur="1" fill="hold">
                                          <p:stCondLst>
                                            <p:cond delay="0"/>
                                          </p:stCondLst>
                                        </p:cTn>
                                        <p:tgtEl>
                                          <p:spTgt spid="19"/>
                                        </p:tgtEl>
                                        <p:attrNameLst>
                                          <p:attrName>style.visibility</p:attrName>
                                        </p:attrNameLst>
                                      </p:cBhvr>
                                      <p:to>
                                        <p:strVal val="visible"/>
                                      </p:to>
                                    </p:set>
                                    <p:animEffect transition="in" filter="wipe(left)">
                                      <p:cBhvr>
                                        <p:cTn id="31" dur="600"/>
                                        <p:tgtEl>
                                          <p:spTgt spid="19"/>
                                        </p:tgtEl>
                                      </p:cBhvr>
                                    </p:animEffect>
                                  </p:childTnLst>
                                </p:cTn>
                              </p:par>
                              <p:par>
                                <p:cTn id="35" presetID="22" presetClass="entr" presetSubtype="8" fill="hold" grpId="0" nodeType="withEffect">
                                  <p:stCondLst>
                                    <p:cond delay="1500"/>
                                  </p:stCondLst>
                                  <p:childTnLst>
                                    <p:set>
                                      <p:cBhvr>
                                        <p:cTn id="33" dur="1" fill="hold">
                                          <p:stCondLst>
                                            <p:cond delay="0"/>
                                          </p:stCondLst>
                                        </p:cTn>
                                        <p:tgtEl>
                                          <p:spTgt spid="21"/>
                                        </p:tgtEl>
                                        <p:attrNameLst>
                                          <p:attrName>style.visibility</p:attrName>
                                        </p:attrNameLst>
                                      </p:cBhvr>
                                      <p:to>
                                        <p:strVal val="visible"/>
                                      </p:to>
                                    </p:set>
                                    <p:animEffect transition="in" filter="wipe(left)">
                                      <p:cBhvr>
                                        <p:cTn id="34" dur="600"/>
                                        <p:tgtEl>
                                          <p:spTgt spid="21"/>
                                        </p:tgtEl>
                                      </p:cBhvr>
                                    </p:animEffect>
                                  </p:childTnLst>
                                </p:cTn>
                              </p:par>
                              <p:par>
                                <p:cTn id="38" presetID="22" presetClass="entr" presetSubtype="8" fill="hold" grpId="0" nodeType="withEffect">
                                  <p:stCondLst>
                                    <p:cond delay="1650"/>
                                  </p:stCondLst>
                                  <p:childTnLst>
                                    <p:set>
                                      <p:cBhvr>
                                        <p:cTn id="36" dur="1" fill="hold">
                                          <p:stCondLst>
                                            <p:cond delay="0"/>
                                          </p:stCondLst>
                                        </p:cTn>
                                        <p:tgtEl>
                                          <p:spTgt spid="22"/>
                                        </p:tgtEl>
                                        <p:attrNameLst>
                                          <p:attrName>style.visibility</p:attrName>
                                        </p:attrNameLst>
                                      </p:cBhvr>
                                      <p:to>
                                        <p:strVal val="visible"/>
                                      </p:to>
                                    </p:set>
                                    <p:animEffect transition="in" filter="wipe(left)">
                                      <p:cBhvr>
                                        <p:cTn id="37" dur="600"/>
                                        <p:tgtEl>
                                          <p:spTgt spid="22"/>
                                        </p:tgtEl>
                                      </p:cBhvr>
                                    </p:animEffect>
                                  </p:childTnLst>
                                </p:cTn>
                              </p:par>
                            </p:childTnLst>
                          </p:cTn>
                        </p:par>
                      </p:childTnLst>
                    </p:cTn>
                  </p:par>
                  <p:par>
                    <p:cTn id="45" fill="hold">
                      <p:stCondLst>
                        <p:cond delay="indefinite"/>
                      </p:stCondLst>
                      <p:childTnLst>
                        <p:par>
                          <p:cTn id="46" fill="hold">
                            <p:stCondLst>
                              <p:cond delay="0"/>
                            </p:stCondLst>
                            <p:childTnLst>
                              <p:par>
                                <p:cTn id="44" presetID="42" presetClass="entr" presetSubtype="0" fill="hold" grpId="0" nodeType="clickEffect">
                                  <p:stCondLst>
                                    <p:cond delay="0"/>
                                  </p:stCondLst>
                                  <p:childTnLst>
                                    <p:set>
                                      <p:cBhvr>
                                        <p:cTn id="41" dur="1" fill="hold">
                                          <p:stCondLst>
                                            <p:cond delay="0"/>
                                          </p:stCondLst>
                                        </p:cTn>
                                        <p:tgtEl>
                                          <p:spTgt spid="23"/>
                                        </p:tgtEl>
                                        <p:attrNameLst>
                                          <p:attrName>style.visibility</p:attrName>
                                        </p:attrNameLst>
                                      </p:cBhvr>
                                      <p:to>
                                        <p:strVal val="visible"/>
                                      </p:to>
                                    </p:set>
                                    <p:animEffect transition="in" filter="fade">
                                      <p:cBhvr>
                                        <p:cTn id="42" dur="500"/>
                                        <p:tgtEl>
                                          <p:spTgt spid="23"/>
                                        </p:tgtEl>
                                      </p:cBhvr>
                                    </p:animEffect>
                                    <p:anim calcmode="lin" valueType="num">
                                      <p:cBhvr additive="base">
                                        <p:cTn id="43" dur="500" fill="hold"/>
                                        <p:tgtEl>
                                          <p:spTgt spid="23"/>
                                        </p:tgtEl>
                                        <p:attrNameLst>
                                          <p:attrName>ppt_y</p:attrName>
                                        </p:attrNameLst>
                                      </p:cBhvr>
                                      <p:tavLst>
                                        <p:tav tm="0">
                                          <p:val>
                                            <p:strVal val="#ppt_y+0.05"/>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animEffect transition="in" filter="fade">
                                      <p:cBhvr>
                                        <p:cTn id="48" dur="500"/>
                                        <p:tgtEl>
                                          <p:spTgt spid="27"/>
                                        </p:tgtEl>
                                      </p:cBhvr>
                                    </p:animEffect>
                                    <p:anim calcmode="lin" valueType="num">
                                      <p:cBhvr additive="base">
                                        <p:cTn id="49" dur="500" fill="hold"/>
                                        <p:tgtEl>
                                          <p:spTgt spid="27"/>
                                        </p:tgtEl>
                                        <p:attrNameLst>
                                          <p:attrName>ppt_y</p:attrName>
                                        </p:attrNameLst>
                                      </p:cBhvr>
                                      <p:tavLst>
                                        <p:tav tm="0">
                                          <p:val>
                                            <p:strVal val="#ppt_y+0.05"/>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grpId="0" nodeType="clickEffect">
                                  <p:stCondLst>
                                    <p:cond delay="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500"/>
                                        <p:tgtEl>
                                          <p:spTgt spid="31"/>
                                        </p:tgtEl>
                                      </p:cBhvr>
                                    </p:animEffect>
                                    <p:anim calcmode="lin" valueType="num">
                                      <p:cBhvr additive="base">
                                        <p:cTn id="55" dur="500" fill="hold"/>
                                        <p:tgtEl>
                                          <p:spTgt spid="31"/>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p:bldP spid="10" grpId="0"/>
      <p:bldP spid="12" grpId="0"/>
      <p:bldP spid="13" grpId="0"/>
      <p:bldP spid="15" grpId="0"/>
      <p:bldP spid="16" grpId="0"/>
      <p:bldP spid="18" grpId="0"/>
      <p:bldP spid="19" grpId="0"/>
      <p:bldP spid="21" grpId="0"/>
      <p:bldP spid="22" grpId="0"/>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2E7D4F"/>
                </a:solidFill>
                <a:latin typeface="Calibri"/>
              </a:rPr>
              <a:t>ENGINEERING DELIVERED</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The complete system at a glance</a:t>
            </a:r>
          </a:p>
        </p:txBody>
      </p:sp>
      <p:grpSp>
        <p:nvGrpSpPr>
          <p:cNvPr id="4" name="Group 3"/>
          <p:cNvGrpSpPr/>
          <p:nvPr/>
        </p:nvGrpSpPr>
        <p:grpSpPr>
          <a:xfrm>
            <a:off x="812800" y="1905000"/>
            <a:ext cx="3384550" cy="1714500"/>
            <a:chOff x="812800" y="1905000"/>
            <a:chExt cx="3384550" cy="1714500"/>
          </a:xfrm>
        </p:grpSpPr>
        <p:sp>
          <p:nvSpPr>
            <p:cNvPr id="5" name="Rounded Rectangle 4"/>
            <p:cNvSpPr/>
            <p:nvPr/>
          </p:nvSpPr>
          <p:spPr>
            <a:xfrm>
              <a:off x="812800" y="1905000"/>
              <a:ext cx="3384550" cy="1714500"/>
            </a:xfrm>
            <a:prstGeom prst="roundRect">
              <a:avLst>
                <a:gd name="adj" fmla="val 592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2800" y="1905000"/>
              <a:ext cx="338455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2133600"/>
              <a:ext cx="2927350" cy="1333500"/>
            </a:xfrm>
            <a:prstGeom prst="rect">
              <a:avLst/>
            </a:prstGeom>
            <a:noFill/>
          </p:spPr>
          <p:txBody>
            <a:bodyPr wrap="square" lIns="0" tIns="0">
              <a:spAutoFit/>
            </a:bodyPr>
            <a:lstStyle/>
            <a:p>
              <a:pPr algn="l">
                <a:lnSpc>
                  <a:spcPct val="100000"/>
                </a:lnSpc>
              </a:pPr>
              <a:r>
                <a:rPr sz="4400" b="1" i="0">
                  <a:solidFill>
                    <a:srgbClr val="1F5FA8"/>
                  </a:solidFill>
                  <a:latin typeface="Georgia"/>
                </a:rPr>
                <a:t>583</a:t>
              </a:r>
            </a:p>
            <a:p>
              <a:pPr algn="l">
                <a:lnSpc>
                  <a:spcPct val="120000"/>
                </a:lnSpc>
                <a:spcBef>
                  <a:spcPts val="400"/>
                </a:spcBef>
              </a:pPr>
              <a:r>
                <a:rPr sz="1400" b="0" i="0">
                  <a:solidFill>
                    <a:srgbClr val="4A5568"/>
                  </a:solidFill>
                  <a:latin typeface="Calibri"/>
                </a:rPr>
                <a:t>patients processed end to end, 1,144 nodules</a:t>
              </a:r>
            </a:p>
          </p:txBody>
        </p:sp>
      </p:grpSp>
      <p:grpSp>
        <p:nvGrpSpPr>
          <p:cNvPr id="8" name="Group 7"/>
          <p:cNvGrpSpPr/>
          <p:nvPr/>
        </p:nvGrpSpPr>
        <p:grpSpPr>
          <a:xfrm>
            <a:off x="4400550" y="1905000"/>
            <a:ext cx="3384550" cy="1714500"/>
            <a:chOff x="4400550" y="1905000"/>
            <a:chExt cx="3384550" cy="1714500"/>
          </a:xfrm>
        </p:grpSpPr>
        <p:sp>
          <p:nvSpPr>
            <p:cNvPr id="9" name="Rounded Rectangle 8"/>
            <p:cNvSpPr/>
            <p:nvPr/>
          </p:nvSpPr>
          <p:spPr>
            <a:xfrm>
              <a:off x="4400550" y="1905000"/>
              <a:ext cx="3384550" cy="1714500"/>
            </a:xfrm>
            <a:prstGeom prst="roundRect">
              <a:avLst>
                <a:gd name="adj" fmla="val 592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00550" y="1905000"/>
              <a:ext cx="338455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29150" y="2133600"/>
              <a:ext cx="2927350" cy="1333500"/>
            </a:xfrm>
            <a:prstGeom prst="rect">
              <a:avLst/>
            </a:prstGeom>
            <a:noFill/>
          </p:spPr>
          <p:txBody>
            <a:bodyPr wrap="square" lIns="0" tIns="0">
              <a:spAutoFit/>
            </a:bodyPr>
            <a:lstStyle/>
            <a:p>
              <a:pPr algn="l">
                <a:lnSpc>
                  <a:spcPct val="100000"/>
                </a:lnSpc>
              </a:pPr>
              <a:r>
                <a:rPr sz="4400" b="1" i="0">
                  <a:solidFill>
                    <a:srgbClr val="1F5FA8"/>
                  </a:solidFill>
                  <a:latin typeface="Georgia"/>
                </a:rPr>
                <a:t>18 steps</a:t>
              </a:r>
            </a:p>
            <a:p>
              <a:pPr algn="l">
                <a:lnSpc>
                  <a:spcPct val="120000"/>
                </a:lnSpc>
                <a:spcBef>
                  <a:spcPts val="400"/>
                </a:spcBef>
              </a:pPr>
              <a:r>
                <a:rPr sz="1400" b="0" i="0">
                  <a:solidFill>
                    <a:srgbClr val="4A5568"/>
                  </a:solidFill>
                  <a:latin typeface="Calibri"/>
                </a:rPr>
                <a:t>scripted pipeline, each ending in automatic PASS/FAIL checks</a:t>
              </a:r>
            </a:p>
          </p:txBody>
        </p:sp>
      </p:grpSp>
      <p:grpSp>
        <p:nvGrpSpPr>
          <p:cNvPr id="12" name="Group 11"/>
          <p:cNvGrpSpPr/>
          <p:nvPr/>
        </p:nvGrpSpPr>
        <p:grpSpPr>
          <a:xfrm>
            <a:off x="7988300" y="1905000"/>
            <a:ext cx="3384550" cy="1714500"/>
            <a:chOff x="7988300" y="1905000"/>
            <a:chExt cx="3384550" cy="1714500"/>
          </a:xfrm>
        </p:grpSpPr>
        <p:sp>
          <p:nvSpPr>
            <p:cNvPr id="13" name="Rounded Rectangle 12"/>
            <p:cNvSpPr/>
            <p:nvPr/>
          </p:nvSpPr>
          <p:spPr>
            <a:xfrm>
              <a:off x="7988300" y="1905000"/>
              <a:ext cx="3384550" cy="1714500"/>
            </a:xfrm>
            <a:prstGeom prst="roundRect">
              <a:avLst>
                <a:gd name="adj" fmla="val 592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88300" y="1905000"/>
              <a:ext cx="3384550" cy="381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16900" y="2133600"/>
              <a:ext cx="2927350" cy="1333500"/>
            </a:xfrm>
            <a:prstGeom prst="rect">
              <a:avLst/>
            </a:prstGeom>
            <a:noFill/>
          </p:spPr>
          <p:txBody>
            <a:bodyPr wrap="square" lIns="0" tIns="0">
              <a:spAutoFit/>
            </a:bodyPr>
            <a:lstStyle/>
            <a:p>
              <a:pPr algn="l">
                <a:lnSpc>
                  <a:spcPct val="100000"/>
                </a:lnSpc>
              </a:pPr>
              <a:r>
                <a:rPr sz="4400" b="1" i="0">
                  <a:solidFill>
                    <a:srgbClr val="1F5FA8"/>
                  </a:solidFill>
                  <a:latin typeface="Georgia"/>
                </a:rPr>
                <a:t>69</a:t>
              </a:r>
            </a:p>
            <a:p>
              <a:pPr algn="l">
                <a:lnSpc>
                  <a:spcPct val="120000"/>
                </a:lnSpc>
                <a:spcBef>
                  <a:spcPts val="400"/>
                </a:spcBef>
              </a:pPr>
              <a:r>
                <a:rPr sz="1400" b="0" i="0">
                  <a:solidFill>
                    <a:srgbClr val="4A5568"/>
                  </a:solidFill>
                  <a:latin typeface="Calibri"/>
                </a:rPr>
                <a:t>unit tests covering physics, models and measurement</a:t>
              </a:r>
            </a:p>
          </p:txBody>
        </p:sp>
      </p:grpSp>
      <p:grpSp>
        <p:nvGrpSpPr>
          <p:cNvPr id="16" name="Group 15"/>
          <p:cNvGrpSpPr/>
          <p:nvPr/>
        </p:nvGrpSpPr>
        <p:grpSpPr>
          <a:xfrm>
            <a:off x="812800" y="3873500"/>
            <a:ext cx="3384550" cy="1714500"/>
            <a:chOff x="812800" y="3873500"/>
            <a:chExt cx="3384550" cy="1714500"/>
          </a:xfrm>
        </p:grpSpPr>
        <p:sp>
          <p:nvSpPr>
            <p:cNvPr id="17" name="Rounded Rectangle 16"/>
            <p:cNvSpPr/>
            <p:nvPr/>
          </p:nvSpPr>
          <p:spPr>
            <a:xfrm>
              <a:off x="812800" y="3873500"/>
              <a:ext cx="3384550" cy="1714500"/>
            </a:xfrm>
            <a:prstGeom prst="roundRect">
              <a:avLst>
                <a:gd name="adj" fmla="val 592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2800" y="3873500"/>
              <a:ext cx="338455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1400" y="4102100"/>
              <a:ext cx="2927350" cy="1333500"/>
            </a:xfrm>
            <a:prstGeom prst="rect">
              <a:avLst/>
            </a:prstGeom>
            <a:noFill/>
          </p:spPr>
          <p:txBody>
            <a:bodyPr wrap="square" lIns="0" tIns="0">
              <a:spAutoFit/>
            </a:bodyPr>
            <a:lstStyle/>
            <a:p>
              <a:pPr algn="l">
                <a:lnSpc>
                  <a:spcPct val="100000"/>
                </a:lnSpc>
              </a:pPr>
              <a:r>
                <a:rPr sz="4400" b="1" i="0">
                  <a:solidFill>
                    <a:srgbClr val="2E7D4F"/>
                  </a:solidFill>
                  <a:latin typeface="Georgia"/>
                </a:rPr>
                <a:t>15 h</a:t>
              </a:r>
            </a:p>
            <a:p>
              <a:pPr algn="l">
                <a:lnSpc>
                  <a:spcPct val="120000"/>
                </a:lnSpc>
                <a:spcBef>
                  <a:spcPts val="400"/>
                </a:spcBef>
              </a:pPr>
              <a:r>
                <a:rPr sz="1400" b="0" i="0">
                  <a:solidFill>
                    <a:srgbClr val="4A5568"/>
                  </a:solidFill>
                  <a:latin typeface="Calibri"/>
                </a:rPr>
                <a:t>full study on one rented L40S GPU, about US$20</a:t>
              </a:r>
            </a:p>
          </p:txBody>
        </p:sp>
      </p:grpSp>
      <p:grpSp>
        <p:nvGrpSpPr>
          <p:cNvPr id="20" name="Group 19"/>
          <p:cNvGrpSpPr/>
          <p:nvPr/>
        </p:nvGrpSpPr>
        <p:grpSpPr>
          <a:xfrm>
            <a:off x="4400550" y="3873500"/>
            <a:ext cx="3384550" cy="1714500"/>
            <a:chOff x="4400550" y="3873500"/>
            <a:chExt cx="3384550" cy="1714500"/>
          </a:xfrm>
        </p:grpSpPr>
        <p:sp>
          <p:nvSpPr>
            <p:cNvPr id="21" name="Rounded Rectangle 20"/>
            <p:cNvSpPr/>
            <p:nvPr/>
          </p:nvSpPr>
          <p:spPr>
            <a:xfrm>
              <a:off x="4400550" y="3873500"/>
              <a:ext cx="3384550" cy="1714500"/>
            </a:xfrm>
            <a:prstGeom prst="roundRect">
              <a:avLst>
                <a:gd name="adj" fmla="val 592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00550" y="3873500"/>
              <a:ext cx="338455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29150" y="4102100"/>
              <a:ext cx="2927350" cy="1333500"/>
            </a:xfrm>
            <a:prstGeom prst="rect">
              <a:avLst/>
            </a:prstGeom>
            <a:noFill/>
          </p:spPr>
          <p:txBody>
            <a:bodyPr wrap="square" lIns="0" tIns="0">
              <a:spAutoFit/>
            </a:bodyPr>
            <a:lstStyle/>
            <a:p>
              <a:pPr algn="l">
                <a:lnSpc>
                  <a:spcPct val="100000"/>
                </a:lnSpc>
              </a:pPr>
              <a:r>
                <a:rPr sz="4400" b="1" i="0">
                  <a:solidFill>
                    <a:srgbClr val="2E7D4F"/>
                  </a:solidFill>
                  <a:latin typeface="Georgia"/>
                </a:rPr>
                <a:t>17.4 M</a:t>
              </a:r>
            </a:p>
            <a:p>
              <a:pPr algn="l">
                <a:lnSpc>
                  <a:spcPct val="120000"/>
                </a:lnSpc>
                <a:spcBef>
                  <a:spcPts val="400"/>
                </a:spcBef>
              </a:pPr>
              <a:r>
                <a:rPr sz="1400" b="0" i="0">
                  <a:solidFill>
                    <a:srgbClr val="4A5568"/>
                  </a:solidFill>
                  <a:latin typeface="Calibri"/>
                </a:rPr>
                <a:t>parameter 3D diffusion model, trained in 6 hours</a:t>
              </a:r>
            </a:p>
          </p:txBody>
        </p:sp>
      </p:grpSp>
      <p:grpSp>
        <p:nvGrpSpPr>
          <p:cNvPr id="24" name="Group 23"/>
          <p:cNvGrpSpPr/>
          <p:nvPr/>
        </p:nvGrpSpPr>
        <p:grpSpPr>
          <a:xfrm>
            <a:off x="7988300" y="3873500"/>
            <a:ext cx="3384550" cy="1714500"/>
            <a:chOff x="7988300" y="3873500"/>
            <a:chExt cx="3384550" cy="1714500"/>
          </a:xfrm>
        </p:grpSpPr>
        <p:sp>
          <p:nvSpPr>
            <p:cNvPr id="25" name="Rounded Rectangle 24"/>
            <p:cNvSpPr/>
            <p:nvPr/>
          </p:nvSpPr>
          <p:spPr>
            <a:xfrm>
              <a:off x="7988300" y="3873500"/>
              <a:ext cx="3384550" cy="1714500"/>
            </a:xfrm>
            <a:prstGeom prst="roundRect">
              <a:avLst>
                <a:gd name="adj" fmla="val 592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88300" y="3873500"/>
              <a:ext cx="3384550" cy="38100"/>
            </a:xfrm>
            <a:prstGeom prst="rect">
              <a:avLst/>
            </a:prstGeom>
            <a:solidFill>
              <a:srgbClr val="2E7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16900" y="4102100"/>
              <a:ext cx="2927350" cy="1333500"/>
            </a:xfrm>
            <a:prstGeom prst="rect">
              <a:avLst/>
            </a:prstGeom>
            <a:noFill/>
          </p:spPr>
          <p:txBody>
            <a:bodyPr wrap="square" lIns="0" tIns="0">
              <a:spAutoFit/>
            </a:bodyPr>
            <a:lstStyle/>
            <a:p>
              <a:pPr algn="l">
                <a:lnSpc>
                  <a:spcPct val="100000"/>
                </a:lnSpc>
              </a:pPr>
              <a:r>
                <a:rPr sz="4400" b="1" i="0">
                  <a:solidFill>
                    <a:srgbClr val="2E7D4F"/>
                  </a:solidFill>
                  <a:latin typeface="Georgia"/>
                </a:rPr>
                <a:t>45.5 s</a:t>
              </a:r>
            </a:p>
            <a:p>
              <a:pPr algn="l">
                <a:lnSpc>
                  <a:spcPct val="120000"/>
                </a:lnSpc>
                <a:spcBef>
                  <a:spcPts val="400"/>
                </a:spcBef>
              </a:pPr>
              <a:r>
                <a:rPr sz="1400" b="0" i="0">
                  <a:solidFill>
                    <a:srgbClr val="4A5568"/>
                  </a:solidFill>
                  <a:latin typeface="Calibri"/>
                </a:rPr>
                <a:t>median per nodule for all five reconstruction methods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additive="base">
                                        <p:cTn id="5" dur="500" fill="hold"/>
                                        <p:tgtEl>
                                          <p:spTgt spid="4"/>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anim calcmode="lin" valueType="num">
                                      <p:cBhvr additive="base">
                                        <p:cTn id="11"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anim calcmode="lin" valueType="num">
                                      <p:cBhvr additive="base">
                                        <p:cTn id="17"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anim calcmode="lin" valueType="num">
                                      <p:cBhvr additive="base">
                                        <p:cTn id="23"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0" presetID="42"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anim calcmode="lin" valueType="num">
                                      <p:cBhvr additive="base">
                                        <p:cTn id="29" dur="500" fill="hold"/>
                                        <p:tgtEl>
                                          <p:spTgt spid="20"/>
                                        </p:tgtEl>
                                        <p:attrNameLst>
                                          <p:attrName>ppt_y</p:attrName>
                                        </p:attrNameLst>
                                      </p:cBhvr>
                                      <p:tavLst>
                                        <p:tav tm="0">
                                          <p:val>
                                            <p:strVal val="#ppt_y+0.05"/>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grpId="0" nodeType="click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500"/>
                                        <p:tgtEl>
                                          <p:spTgt spid="24"/>
                                        </p:tgtEl>
                                      </p:cBhvr>
                                    </p:animEffect>
                                    <p:anim calcmode="lin" valueType="num">
                                      <p:cBhvr additive="base">
                                        <p:cTn id="35" dur="500" fill="hold"/>
                                        <p:tgtEl>
                                          <p:spTgt spid="24"/>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ROOT-CAUSE ANALYSIS</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Every gap traced to a cause and a concrete fix</a:t>
            </a:r>
          </a:p>
        </p:txBody>
      </p:sp>
      <p:sp>
        <p:nvSpPr>
          <p:cNvPr id="4" name="Rounded Rectangle 3"/>
          <p:cNvSpPr/>
          <p:nvPr/>
        </p:nvSpPr>
        <p:spPr>
          <a:xfrm>
            <a:off x="812800" y="1905000"/>
            <a:ext cx="4318000" cy="2070100"/>
          </a:xfrm>
          <a:prstGeom prst="roundRect">
            <a:avLst>
              <a:gd name="adj" fmla="val 3680"/>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rink.png"/>
          <p:cNvPicPr>
            <a:picLocks noChangeAspect="1"/>
          </p:cNvPicPr>
          <p:nvPr/>
        </p:nvPicPr>
        <p:blipFill>
          <a:blip r:embed="rId2"/>
          <a:stretch>
            <a:fillRect/>
          </a:stretch>
        </p:blipFill>
        <p:spPr>
          <a:xfrm>
            <a:off x="814538" y="1905000"/>
            <a:ext cx="4314524" cy="2070100"/>
          </a:xfrm>
          <a:prstGeom prst="rect">
            <a:avLst/>
          </a:prstGeom>
        </p:spPr>
      </p:pic>
      <p:sp>
        <p:nvSpPr>
          <p:cNvPr id="6" name="TextBox 5"/>
          <p:cNvSpPr txBox="1"/>
          <p:nvPr/>
        </p:nvSpPr>
        <p:spPr>
          <a:xfrm>
            <a:off x="812800" y="4051300"/>
            <a:ext cx="2159000" cy="254000"/>
          </a:xfrm>
          <a:prstGeom prst="rect">
            <a:avLst/>
          </a:prstGeom>
          <a:noFill/>
        </p:spPr>
        <p:txBody>
          <a:bodyPr wrap="square" lIns="0" rIns="0" tIns="0" bIns="0" anchor="t">
            <a:spAutoFit/>
          </a:bodyPr>
          <a:lstStyle/>
          <a:p>
            <a:pPr algn="ctr">
              <a:lnSpc>
                <a:spcPct val="120000"/>
              </a:lnSpc>
            </a:pPr>
            <a:r>
              <a:rPr sz="1200" b="0" i="0">
                <a:solidFill>
                  <a:srgbClr val="4A5568"/>
                </a:solidFill>
                <a:latin typeface="Calibri"/>
              </a:rPr>
              <a:t>CT truth, 6.8 mm</a:t>
            </a:r>
          </a:p>
        </p:txBody>
      </p:sp>
      <p:sp>
        <p:nvSpPr>
          <p:cNvPr id="7" name="TextBox 6"/>
          <p:cNvSpPr txBox="1"/>
          <p:nvPr/>
        </p:nvSpPr>
        <p:spPr>
          <a:xfrm>
            <a:off x="2971800" y="4051300"/>
            <a:ext cx="2159000" cy="254000"/>
          </a:xfrm>
          <a:prstGeom prst="rect">
            <a:avLst/>
          </a:prstGeom>
          <a:noFill/>
        </p:spPr>
        <p:txBody>
          <a:bodyPr wrap="square" lIns="0" rIns="0" tIns="0" bIns="0" anchor="t">
            <a:spAutoFit/>
          </a:bodyPr>
          <a:lstStyle/>
          <a:p>
            <a:pPr algn="ctr">
              <a:lnSpc>
                <a:spcPct val="120000"/>
              </a:lnSpc>
            </a:pPr>
            <a:r>
              <a:rPr sz="1200" b="1" i="0">
                <a:solidFill>
                  <a:srgbClr val="B4521A"/>
                </a:solidFill>
                <a:latin typeface="Calibri"/>
              </a:rPr>
              <a:t>Reconstruction: shrunk</a:t>
            </a:r>
          </a:p>
        </p:txBody>
      </p:sp>
      <p:grpSp>
        <p:nvGrpSpPr>
          <p:cNvPr id="8" name="Group 7"/>
          <p:cNvGrpSpPr/>
          <p:nvPr/>
        </p:nvGrpSpPr>
        <p:grpSpPr>
          <a:xfrm>
            <a:off x="5435600" y="1905000"/>
            <a:ext cx="5943600" cy="1143000"/>
            <a:chOff x="5435600" y="1905000"/>
            <a:chExt cx="5943600" cy="1143000"/>
          </a:xfrm>
        </p:grpSpPr>
        <p:sp>
          <p:nvSpPr>
            <p:cNvPr id="9" name="Rounded Rectangle 8"/>
            <p:cNvSpPr/>
            <p:nvPr/>
          </p:nvSpPr>
          <p:spPr>
            <a:xfrm>
              <a:off x="5435600" y="190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5600" y="190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1500" y="203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1. Faint nodules get shrunk</a:t>
              </a:r>
            </a:p>
            <a:p>
              <a:pPr algn="l">
                <a:lnSpc>
                  <a:spcPct val="125000"/>
                </a:lnSpc>
                <a:spcBef>
                  <a:spcPts val="400"/>
                </a:spcBef>
              </a:pPr>
              <a:r>
                <a:rPr sz="1300" b="0" i="0">
                  <a:solidFill>
                    <a:srgbClr val="4A5568"/>
                  </a:solidFill>
                  <a:latin typeface="Calibri"/>
                </a:rPr>
                <a:t>Fix: condition the prior on the click and oversample nodule pairs.</a:t>
              </a:r>
            </a:p>
          </p:txBody>
        </p:sp>
      </p:grpSp>
      <p:grpSp>
        <p:nvGrpSpPr>
          <p:cNvPr id="12" name="Group 11"/>
          <p:cNvGrpSpPr/>
          <p:nvPr/>
        </p:nvGrpSpPr>
        <p:grpSpPr>
          <a:xfrm>
            <a:off x="5435600" y="3175000"/>
            <a:ext cx="5943600" cy="1143000"/>
            <a:chOff x="5435600" y="3175000"/>
            <a:chExt cx="5943600" cy="1143000"/>
          </a:xfrm>
        </p:grpSpPr>
        <p:sp>
          <p:nvSpPr>
            <p:cNvPr id="13" name="Rounded Rectangle 12"/>
            <p:cNvSpPr/>
            <p:nvPr/>
          </p:nvSpPr>
          <p:spPr>
            <a:xfrm>
              <a:off x="5435600" y="317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600" y="317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51500" y="330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2. Mass read from the image</a:t>
              </a:r>
            </a:p>
            <a:p>
              <a:pPr algn="l">
                <a:lnSpc>
                  <a:spcPct val="125000"/>
                </a:lnSpc>
                <a:spcBef>
                  <a:spcPts val="400"/>
                </a:spcBef>
              </a:pPr>
              <a:r>
                <a:rPr sz="1300" b="0" i="0">
                  <a:solidFill>
                    <a:srgbClr val="4A5568"/>
                  </a:solidFill>
                  <a:latin typeface="Calibri"/>
                </a:rPr>
                <a:t>Fix: read it from the projections, where 99.7% of mass is measured.</a:t>
              </a:r>
            </a:p>
          </p:txBody>
        </p:sp>
      </p:grpSp>
      <p:grpSp>
        <p:nvGrpSpPr>
          <p:cNvPr id="16" name="Group 15"/>
          <p:cNvGrpSpPr/>
          <p:nvPr/>
        </p:nvGrpSpPr>
        <p:grpSpPr>
          <a:xfrm>
            <a:off x="5435600" y="4445000"/>
            <a:ext cx="5943600" cy="1143000"/>
            <a:chOff x="5435600" y="4445000"/>
            <a:chExt cx="5943600" cy="1143000"/>
          </a:xfrm>
        </p:grpSpPr>
        <p:sp>
          <p:nvSpPr>
            <p:cNvPr id="17" name="Rounded Rectangle 16"/>
            <p:cNvSpPr/>
            <p:nvPr/>
          </p:nvSpPr>
          <p:spPr>
            <a:xfrm>
              <a:off x="5435600" y="4445000"/>
              <a:ext cx="5943600" cy="1143000"/>
            </a:xfrm>
            <a:prstGeom prst="roundRect">
              <a:avLst>
                <a:gd name="adj" fmla="val 8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35600" y="4445000"/>
              <a:ext cx="50800" cy="1143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51500" y="4577080"/>
              <a:ext cx="5562600" cy="878840"/>
            </a:xfrm>
            <a:prstGeom prst="rect">
              <a:avLst/>
            </a:prstGeom>
            <a:noFill/>
          </p:spPr>
          <p:txBody>
            <a:bodyPr wrap="square" lIns="0" rIns="0" tIns="0" bIns="0" anchor="t">
              <a:spAutoFit/>
            </a:bodyPr>
            <a:lstStyle/>
            <a:p>
              <a:pPr algn="l">
                <a:lnSpc>
                  <a:spcPct val="125000"/>
                </a:lnSpc>
              </a:pPr>
              <a:r>
                <a:rPr sz="1400" b="1" i="0">
                  <a:solidFill>
                    <a:srgbClr val="14213D"/>
                  </a:solidFill>
                  <a:latin typeface="Calibri"/>
                </a:rPr>
                <a:t>3. Failed reads widen intervals</a:t>
              </a:r>
            </a:p>
            <a:p>
              <a:pPr algn="l">
                <a:lnSpc>
                  <a:spcPct val="125000"/>
                </a:lnSpc>
                <a:spcBef>
                  <a:spcPts val="400"/>
                </a:spcBef>
              </a:pPr>
              <a:r>
                <a:rPr sz="1300" b="0" i="0">
                  <a:solidFill>
                    <a:srgbClr val="4A5568"/>
                  </a:solidFill>
                  <a:latin typeface="Calibri"/>
                </a:rPr>
                <a:t>Fix: report “not measurable” separately, calibrate the rest.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additive="base">
                                        <p:cTn id="5" dur="500" fill="hold"/>
                                        <p:tgtEl>
                                          <p:spTgt spid="8"/>
                                        </p:tgtEl>
                                        <p:attrNameLst>
                                          <p:attrName>ppt_y</p:attrName>
                                        </p:attrNameLst>
                                      </p:cBhvr>
                                      <p:tavLst>
                                        <p:tav tm="0">
                                          <p:val>
                                            <p:strVal val="#ppt_y+0.05"/>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anim calcmode="lin" valueType="num">
                                      <p:cBhvr additive="base">
                                        <p:cTn id="11" dur="500" fill="hold"/>
                                        <p:tgtEl>
                                          <p:spTgt spid="12"/>
                                        </p:tgtEl>
                                        <p:attrNameLst>
                                          <p:attrName>ppt_y</p:attrName>
                                        </p:attrNameLst>
                                      </p:cBhvr>
                                      <p:tavLst>
                                        <p:tav tm="0">
                                          <p:val>
                                            <p:strVal val="#ppt_y+0.05"/>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8" presetID="42"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500"/>
                                        <p:tgtEl>
                                          <p:spTgt spid="16"/>
                                        </p:tgtEl>
                                      </p:cBhvr>
                                    </p:animEffect>
                                    <p:anim calcmode="lin" valueType="num">
                                      <p:cBhvr additive="base">
                                        <p:cTn id="17" dur="500" fill="hold"/>
                                        <p:tgtEl>
                                          <p:spTgt spid="1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AEEF3"/>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NOVELTY · COMPARISON WITH CLOSEST WORK</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Only MedLift-3D combines all seven elements</a:t>
            </a:r>
          </a:p>
        </p:txBody>
      </p:sp>
      <p:graphicFrame>
        <p:nvGraphicFramePr>
          <p:cNvPr id="4" name="Table 3"/>
          <p:cNvGraphicFramePr>
            <a:graphicFrameLocks noGrp="1"/>
          </p:cNvGraphicFramePr>
          <p:nvPr/>
        </p:nvGraphicFramePr>
        <p:xfrm>
          <a:off x="812800" y="1778000"/>
          <a:ext cx="10547350" cy="2933700"/>
        </p:xfrm>
        <a:graphic>
          <a:graphicData uri="http://schemas.openxmlformats.org/drawingml/2006/table">
            <a:tbl>
              <a:tblPr firstRow="1" bandRow="1">
                <a:tableStyleId>{5C22544A-7EE6-4342-B048-85BDC9FD1C3A}</a:tableStyleId>
              </a:tblPr>
              <a:tblGrid>
                <a:gridCol w="2324100"/>
                <a:gridCol w="1174750"/>
                <a:gridCol w="1174750"/>
                <a:gridCol w="1174750"/>
                <a:gridCol w="1174750"/>
                <a:gridCol w="1174750"/>
                <a:gridCol w="1174750"/>
                <a:gridCol w="1174750"/>
              </a:tblGrid>
              <a:tr h="571500">
                <a:tc>
                  <a:txBody>
                    <a:bodyPr wrap="square"/>
                    <a:lstStyle/>
                    <a:p>
                      <a:pPr algn="l">
                        <a:lnSpc>
                          <a:spcPct val="100000"/>
                        </a:lnSpc>
                      </a:pPr>
                      <a:r>
                        <a:rPr sz="1200" b="1" i="0">
                          <a:solidFill>
                            <a:srgbClr val="14213D"/>
                          </a:solidFill>
                          <a:latin typeface="Calibri"/>
                        </a:rPr>
                        <a:t>Work</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DTS geometry</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Learned prior</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Data consistency</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Gaussian mass</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Clinical biomarker</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Calibrated UQ</a:t>
                      </a:r>
                    </a:p>
                  </a:txBody>
                  <a:tcPr anchor="ctr" marL="76200" marR="76200">
                    <a:solidFill>
                      <a:srgbClr val="E3ECF7"/>
                    </a:solidFill>
                  </a:tcPr>
                </a:tc>
                <a:tc>
                  <a:txBody>
                    <a:bodyPr wrap="square"/>
                    <a:lstStyle/>
                    <a:p>
                      <a:pPr algn="ctr">
                        <a:lnSpc>
                          <a:spcPct val="100000"/>
                        </a:lnSpc>
                      </a:pPr>
                      <a:r>
                        <a:rPr sz="1200" b="1" i="0">
                          <a:solidFill>
                            <a:srgbClr val="14213D"/>
                          </a:solidFill>
                          <a:latin typeface="Calibri"/>
                        </a:rPr>
                        <a:t>Seen / unseen</a:t>
                      </a:r>
                    </a:p>
                  </a:txBody>
                  <a:tcPr anchor="ctr" marL="76200" marR="76200">
                    <a:solidFill>
                      <a:srgbClr val="E3ECF7"/>
                    </a:solidFill>
                  </a:tcPr>
                </a:tc>
              </a:tr>
              <a:tr h="393700">
                <a:tc>
                  <a:txBody>
                    <a:bodyPr wrap="square"/>
                    <a:lstStyle/>
                    <a:p>
                      <a:pPr algn="l">
                        <a:lnSpc>
                          <a:spcPct val="120000"/>
                        </a:lnSpc>
                      </a:pPr>
                      <a:r>
                        <a:rPr sz="1300" b="0" i="0">
                          <a:solidFill>
                            <a:srgbClr val="14213D"/>
                          </a:solidFill>
                          <a:latin typeface="Calibri"/>
                        </a:rPr>
                        <a:t>Li et al. 2025</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Zha et al. 2024</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Chung et al. 2023</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Zhang et al. 2025</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4A5568"/>
                          </a:solidFill>
                          <a:latin typeface="Calibri"/>
                        </a:rPr>
                        <a:t>partly</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Bhadra et al. 2021</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n/a</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r>
              <a:tr h="393700">
                <a:tc>
                  <a:txBody>
                    <a:bodyPr wrap="square"/>
                    <a:lstStyle/>
                    <a:p>
                      <a:pPr algn="l">
                        <a:lnSpc>
                          <a:spcPct val="120000"/>
                        </a:lnSpc>
                      </a:pPr>
                      <a:r>
                        <a:rPr sz="1300" b="0" i="0">
                          <a:solidFill>
                            <a:srgbClr val="14213D"/>
                          </a:solidFill>
                          <a:latin typeface="Calibri"/>
                        </a:rPr>
                        <a:t>de Hoop et al. 2010</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n/a</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1" i="0">
                          <a:solidFill>
                            <a:srgbClr val="1F5FA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c>
                  <a:txBody>
                    <a:bodyPr wrap="square"/>
                    <a:lstStyle/>
                    <a:p>
                      <a:pPr algn="ctr">
                        <a:lnSpc>
                          <a:spcPct val="120000"/>
                        </a:lnSpc>
                      </a:pPr>
                      <a:r>
                        <a:rPr sz="1300" b="0" i="0">
                          <a:solidFill>
                            <a:srgbClr val="9AA7B8"/>
                          </a:solidFill>
                          <a:latin typeface="Calibri"/>
                        </a:rPr>
                        <a:t>–</a:t>
                      </a:r>
                    </a:p>
                  </a:txBody>
                  <a:tcPr anchor="ctr" marL="76200" marR="76200">
                    <a:solidFill>
                      <a:srgbClr val="FFFFFF"/>
                    </a:solidFill>
                  </a:tcPr>
                </a:tc>
              </a:tr>
            </a:tbl>
          </a:graphicData>
        </a:graphic>
      </p:graphicFrame>
      <p:grpSp>
        <p:nvGrpSpPr>
          <p:cNvPr id="5" name="Group 4"/>
          <p:cNvGrpSpPr/>
          <p:nvPr/>
        </p:nvGrpSpPr>
        <p:grpSpPr>
          <a:xfrm>
            <a:off x="812800" y="4775200"/>
            <a:ext cx="10566400" cy="444500"/>
            <a:chOff x="812800" y="4775200"/>
            <a:chExt cx="10566400" cy="444500"/>
          </a:xfrm>
        </p:grpSpPr>
        <p:sp>
          <p:nvSpPr>
            <p:cNvPr id="6" name="Rounded Rectangle 5"/>
            <p:cNvSpPr/>
            <p:nvPr/>
          </p:nvSpPr>
          <p:spPr>
            <a:xfrm>
              <a:off x="812800" y="4775200"/>
              <a:ext cx="10566400" cy="444500"/>
            </a:xfrm>
            <a:prstGeom prst="roundRect">
              <a:avLst>
                <a:gd name="adj" fmla="val 11428"/>
              </a:avLst>
            </a:prstGeom>
            <a:solidFill>
              <a:srgbClr val="EAF4EC"/>
            </a:solidFill>
            <a:ln w="12700">
              <a:solidFill>
                <a:srgbClr val="2E7D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9000" y="4775200"/>
              <a:ext cx="2171700" cy="444500"/>
            </a:xfrm>
            <a:prstGeom prst="rect">
              <a:avLst/>
            </a:prstGeom>
            <a:noFill/>
          </p:spPr>
          <p:txBody>
            <a:bodyPr wrap="square" lIns="0" tIns="0" bIns="0" anchor="ctr">
              <a:spAutoFit/>
            </a:bodyPr>
            <a:lstStyle/>
            <a:p>
              <a:pPr algn="l">
                <a:lnSpc>
                  <a:spcPct val="120000"/>
                </a:lnSpc>
              </a:pPr>
              <a:r>
                <a:rPr sz="1400" b="1" i="0">
                  <a:solidFill>
                    <a:srgbClr val="2E7D4F"/>
                  </a:solidFill>
                  <a:latin typeface="Calibri"/>
                </a:rPr>
                <a:t>MedLift-3D (ours)</a:t>
              </a:r>
            </a:p>
          </p:txBody>
        </p:sp>
        <p:sp>
          <p:nvSpPr>
            <p:cNvPr id="8" name="TextBox 7"/>
            <p:cNvSpPr txBox="1"/>
            <p:nvPr/>
          </p:nvSpPr>
          <p:spPr>
            <a:xfrm>
              <a:off x="32131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9" name="TextBox 8"/>
            <p:cNvSpPr txBox="1"/>
            <p:nvPr/>
          </p:nvSpPr>
          <p:spPr>
            <a:xfrm>
              <a:off x="438785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0" name="TextBox 9"/>
            <p:cNvSpPr txBox="1"/>
            <p:nvPr/>
          </p:nvSpPr>
          <p:spPr>
            <a:xfrm>
              <a:off x="55626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1" name="TextBox 10"/>
            <p:cNvSpPr txBox="1"/>
            <p:nvPr/>
          </p:nvSpPr>
          <p:spPr>
            <a:xfrm>
              <a:off x="673735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2" name="TextBox 11"/>
            <p:cNvSpPr txBox="1"/>
            <p:nvPr/>
          </p:nvSpPr>
          <p:spPr>
            <a:xfrm>
              <a:off x="79121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3" name="TextBox 12"/>
            <p:cNvSpPr txBox="1"/>
            <p:nvPr/>
          </p:nvSpPr>
          <p:spPr>
            <a:xfrm>
              <a:off x="908685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sp>
          <p:nvSpPr>
            <p:cNvPr id="14" name="TextBox 13"/>
            <p:cNvSpPr txBox="1"/>
            <p:nvPr/>
          </p:nvSpPr>
          <p:spPr>
            <a:xfrm>
              <a:off x="10261600" y="4775200"/>
              <a:ext cx="1022350" cy="444500"/>
            </a:xfrm>
            <a:prstGeom prst="rect">
              <a:avLst/>
            </a:prstGeom>
            <a:noFill/>
          </p:spPr>
          <p:txBody>
            <a:bodyPr wrap="square" lIns="0" tIns="0" bIns="0" anchor="ctr">
              <a:spAutoFit/>
            </a:bodyPr>
            <a:lstStyle/>
            <a:p>
              <a:pPr algn="ctr">
                <a:lnSpc>
                  <a:spcPct val="120000"/>
                </a:lnSpc>
              </a:pPr>
              <a:r>
                <a:rPr sz="1400" b="1" i="0">
                  <a:solidFill>
                    <a:srgbClr val="2E7D4F"/>
                  </a:solidFill>
                  <a:latin typeface="Calibri"/>
                </a:rPr>
                <a:t>✓</a:t>
              </a:r>
            </a:p>
          </p:txBody>
        </p:sp>
      </p:grpSp>
      <p:sp>
        <p:nvSpPr>
          <p:cNvPr id="15" name="TextBox 14"/>
          <p:cNvSpPr txBox="1"/>
          <p:nvPr/>
        </p:nvSpPr>
        <p:spPr>
          <a:xfrm>
            <a:off x="812800" y="5410200"/>
            <a:ext cx="10566400" cy="571500"/>
          </a:xfrm>
          <a:prstGeom prst="rect">
            <a:avLst/>
          </a:prstGeom>
          <a:noFill/>
        </p:spPr>
        <p:txBody>
          <a:bodyPr wrap="square" lIns="0" rIns="0" tIns="0" bIns="0" anchor="t">
            <a:spAutoFit/>
          </a:bodyPr>
          <a:lstStyle/>
          <a:p>
            <a:pPr algn="l">
              <a:lnSpc>
                <a:spcPct val="130000"/>
              </a:lnSpc>
            </a:pPr>
            <a:r>
              <a:rPr sz="1300" b="0" i="0">
                <a:solidFill>
                  <a:srgbClr val="4A5568"/>
                </a:solidFill>
                <a:latin typeface="Calibri"/>
              </a:rPr>
              <a:t>✓ = addressed, – = not addressed. Each element exists somewhere; our contribution is combining them for DTS nodule measurement, with a mass-first design and a truth-checked evaluation.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6" presetID="42"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additive="base">
                                        <p:cTn id="5" dur="500" fill="hold"/>
                                        <p:tgtEl>
                                          <p:spTgt spid="5"/>
                                        </p:tgtEl>
                                        <p:attrNameLst>
                                          <p:attrName>ppt_y</p:attrName>
                                        </p:attrNameLst>
                                      </p:cBhvr>
                                      <p:tavLst>
                                        <p:tav tm="0">
                                          <p:val>
                                            <p:strVal val="#ppt_y+0.05"/>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1" presetID="10" presetClass="entr" presetSubtype="0" fill="hold" grpId="0" nodeType="click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TextBox 1"/>
          <p:cNvSpPr txBox="1"/>
          <p:nvPr/>
        </p:nvSpPr>
        <p:spPr>
          <a:xfrm>
            <a:off x="812800" y="660400"/>
            <a:ext cx="10566400" cy="254000"/>
          </a:xfrm>
          <a:prstGeom prst="rect">
            <a:avLst/>
          </a:prstGeom>
          <a:noFill/>
        </p:spPr>
        <p:txBody>
          <a:bodyPr wrap="square" lIns="0" rIns="0" tIns="0" bIns="0" anchor="t">
            <a:spAutoFit/>
          </a:bodyPr>
          <a:lstStyle/>
          <a:p>
            <a:pPr algn="l">
              <a:lnSpc>
                <a:spcPct val="120000"/>
              </a:lnSpc>
            </a:pPr>
            <a:r>
              <a:rPr sz="1300" b="1" i="0">
                <a:solidFill>
                  <a:srgbClr val="1F5FA8"/>
                </a:solidFill>
                <a:latin typeface="Calibri"/>
              </a:rPr>
              <a:t>CONCLUSION</a:t>
            </a:r>
          </a:p>
        </p:txBody>
      </p:sp>
      <p:sp>
        <p:nvSpPr>
          <p:cNvPr id="3" name="TextBox 2"/>
          <p:cNvSpPr txBox="1"/>
          <p:nvPr/>
        </p:nvSpPr>
        <p:spPr>
          <a:xfrm>
            <a:off x="812800" y="952500"/>
            <a:ext cx="10566400" cy="571500"/>
          </a:xfrm>
          <a:prstGeom prst="rect">
            <a:avLst/>
          </a:prstGeom>
          <a:noFill/>
        </p:spPr>
        <p:txBody>
          <a:bodyPr wrap="square" lIns="0" rIns="0" tIns="0" bIns="0" anchor="t">
            <a:spAutoFit/>
          </a:bodyPr>
          <a:lstStyle/>
          <a:p>
            <a:pPr algn="l">
              <a:lnSpc>
                <a:spcPct val="105000"/>
              </a:lnSpc>
            </a:pPr>
            <a:r>
              <a:rPr sz="2700" b="1" i="0">
                <a:solidFill>
                  <a:srgbClr val="14213D"/>
                </a:solidFill>
                <a:latin typeface="Georgia"/>
              </a:rPr>
              <a:t>What we delivered, and where it goes next</a:t>
            </a:r>
          </a:p>
        </p:txBody>
      </p:sp>
      <p:sp>
        <p:nvSpPr>
          <p:cNvPr id="4" name="TextBox 3"/>
          <p:cNvSpPr txBox="1"/>
          <p:nvPr/>
        </p:nvSpPr>
        <p:spPr>
          <a:xfrm>
            <a:off x="812800" y="1905000"/>
            <a:ext cx="5080000" cy="2921000"/>
          </a:xfrm>
          <a:prstGeom prst="rect">
            <a:avLst/>
          </a:prstGeom>
          <a:noFill/>
        </p:spPr>
        <p:txBody>
          <a:bodyPr wrap="square" lIns="0" rIns="0" tIns="0" bIns="0" anchor="t">
            <a:spAutoFit/>
          </a:bodyPr>
          <a:lstStyle/>
          <a:p>
            <a:pPr algn="l">
              <a:lnSpc>
                <a:spcPct val="120000"/>
              </a:lnSpc>
            </a:pPr>
            <a:r>
              <a:rPr sz="1600" b="1" i="0">
                <a:solidFill>
                  <a:srgbClr val="1F5FA8"/>
                </a:solidFill>
                <a:latin typeface="Calibri"/>
              </a:rPr>
              <a:t>Delivered</a:t>
            </a:r>
          </a:p>
          <a:p>
            <a:pPr algn="l">
              <a:lnSpc>
                <a:spcPct val="125000"/>
              </a:lnSpc>
              <a:spcBef>
                <a:spcPts val="700"/>
              </a:spcBef>
            </a:pPr>
            <a:r>
              <a:rPr sz="1300" b="0" i="0">
                <a:solidFill>
                  <a:srgbClr val="14213D"/>
                </a:solidFill>
                <a:latin typeface="Calibri"/>
              </a:rPr>
              <a:t>•  Projection-moment proof: DTS measures mass, not depth extent</a:t>
            </a:r>
          </a:p>
          <a:p>
            <a:pPr algn="l">
              <a:lnSpc>
                <a:spcPct val="125000"/>
              </a:lnSpc>
              <a:spcBef>
                <a:spcPts val="700"/>
              </a:spcBef>
            </a:pPr>
            <a:r>
              <a:rPr sz="1300" b="0" i="0">
                <a:solidFill>
                  <a:srgbClr val="14213D"/>
                </a:solidFill>
                <a:latin typeface="Calibri"/>
              </a:rPr>
              <a:t>•  X-ray-consistent diffusion prior with closed-form Gaussian mass</a:t>
            </a:r>
          </a:p>
          <a:p>
            <a:pPr algn="l">
              <a:lnSpc>
                <a:spcPct val="125000"/>
              </a:lnSpc>
              <a:spcBef>
                <a:spcPts val="700"/>
              </a:spcBef>
            </a:pPr>
            <a:r>
              <a:rPr sz="1300" b="0" i="0">
                <a:solidFill>
                  <a:srgbClr val="14213D"/>
                </a:solidFill>
                <a:latin typeface="Calibri"/>
              </a:rPr>
              <a:t>•  Calibrated, decision-level uncertainty for DTS volumetry</a:t>
            </a:r>
          </a:p>
          <a:p>
            <a:pPr algn="l">
              <a:lnSpc>
                <a:spcPct val="125000"/>
              </a:lnSpc>
              <a:spcBef>
                <a:spcPts val="700"/>
              </a:spcBef>
            </a:pPr>
            <a:r>
              <a:rPr sz="1300" b="0" i="0">
                <a:solidFill>
                  <a:srgbClr val="14213D"/>
                </a:solidFill>
                <a:latin typeface="Calibri"/>
              </a:rPr>
              <a:t>•  Truth-referenced test of what a generative prior adds</a:t>
            </a:r>
          </a:p>
          <a:p>
            <a:pPr algn="l">
              <a:lnSpc>
                <a:spcPct val="125000"/>
              </a:lnSpc>
              <a:spcBef>
                <a:spcPts val="700"/>
              </a:spcBef>
            </a:pPr>
            <a:r>
              <a:rPr sz="1300" b="0" i="0">
                <a:solidFill>
                  <a:srgbClr val="14213D"/>
                </a:solidFill>
                <a:latin typeface="Calibri"/>
              </a:rPr>
              <a:t>•  Verified 18-step pipeline and working click-to-3D application</a:t>
            </a:r>
          </a:p>
        </p:txBody>
      </p:sp>
      <p:sp>
        <p:nvSpPr>
          <p:cNvPr id="5" name="TextBox 4"/>
          <p:cNvSpPr txBox="1"/>
          <p:nvPr/>
        </p:nvSpPr>
        <p:spPr>
          <a:xfrm>
            <a:off x="6299200" y="1905000"/>
            <a:ext cx="5080000" cy="2921000"/>
          </a:xfrm>
          <a:prstGeom prst="rect">
            <a:avLst/>
          </a:prstGeom>
          <a:noFill/>
        </p:spPr>
        <p:txBody>
          <a:bodyPr wrap="square" lIns="0" rIns="0" tIns="0" bIns="0" anchor="t">
            <a:spAutoFit/>
          </a:bodyPr>
          <a:lstStyle/>
          <a:p>
            <a:pPr algn="l">
              <a:lnSpc>
                <a:spcPct val="120000"/>
              </a:lnSpc>
            </a:pPr>
            <a:r>
              <a:rPr sz="1600" b="1" i="0">
                <a:solidFill>
                  <a:srgbClr val="2E7D4F"/>
                </a:solidFill>
                <a:latin typeface="Calibri"/>
              </a:rPr>
              <a:t>Next</a:t>
            </a:r>
          </a:p>
          <a:p>
            <a:pPr algn="l">
              <a:lnSpc>
                <a:spcPct val="125000"/>
              </a:lnSpc>
              <a:spcBef>
                <a:spcPts val="700"/>
              </a:spcBef>
            </a:pPr>
            <a:r>
              <a:rPr sz="1300" b="0" i="0">
                <a:solidFill>
                  <a:srgbClr val="14213D"/>
                </a:solidFill>
                <a:latin typeface="Calibri"/>
              </a:rPr>
              <a:t>•  Click-conditioned, nodule-preserving prior</a:t>
            </a:r>
          </a:p>
          <a:p>
            <a:pPr algn="l">
              <a:lnSpc>
                <a:spcPct val="125000"/>
              </a:lnSpc>
              <a:spcBef>
                <a:spcPts val="700"/>
              </a:spcBef>
            </a:pPr>
            <a:r>
              <a:rPr sz="1300" b="0" i="0">
                <a:solidFill>
                  <a:srgbClr val="14213D"/>
                </a:solidFill>
                <a:latin typeface="Calibri"/>
              </a:rPr>
              <a:t>•  Projection-domain mass measurement</a:t>
            </a:r>
          </a:p>
          <a:p>
            <a:pPr algn="l">
              <a:lnSpc>
                <a:spcPct val="125000"/>
              </a:lnSpc>
              <a:spcBef>
                <a:spcPts val="700"/>
              </a:spcBef>
            </a:pPr>
            <a:r>
              <a:rPr sz="1300" b="0" i="0">
                <a:solidFill>
                  <a:srgbClr val="14213D"/>
                </a:solidFill>
                <a:latin typeface="Calibri"/>
              </a:rPr>
              <a:t>•  Failure-aware calibration</a:t>
            </a:r>
          </a:p>
          <a:p>
            <a:pPr algn="l">
              <a:lnSpc>
                <a:spcPct val="125000"/>
              </a:lnSpc>
              <a:spcBef>
                <a:spcPts val="700"/>
              </a:spcBef>
            </a:pPr>
            <a:r>
              <a:rPr sz="1300" b="0" i="0">
                <a:solidFill>
                  <a:srgbClr val="14213D"/>
                </a:solidFill>
                <a:latin typeface="Calibri"/>
              </a:rPr>
              <a:t>•  Real DTS + CT data with a hospital partner</a:t>
            </a:r>
          </a:p>
          <a:p>
            <a:pPr algn="l">
              <a:lnSpc>
                <a:spcPct val="125000"/>
              </a:lnSpc>
              <a:spcBef>
                <a:spcPts val="700"/>
              </a:spcBef>
            </a:pPr>
            <a:r>
              <a:rPr sz="1300" b="0" i="0">
                <a:solidFill>
                  <a:srgbClr val="14213D"/>
                </a:solidFill>
                <a:latin typeface="Calibri"/>
              </a:rPr>
              <a:t>•  Bangla interface and PACS integration</a:t>
            </a:r>
          </a:p>
        </p:txBody>
      </p:sp>
      <p:grpSp>
        <p:nvGrpSpPr>
          <p:cNvPr id="6" name="Group 5"/>
          <p:cNvGrpSpPr/>
          <p:nvPr/>
        </p:nvGrpSpPr>
        <p:grpSpPr>
          <a:xfrm>
            <a:off x="812800" y="5016500"/>
            <a:ext cx="10566400" cy="762000"/>
            <a:chOff x="812800" y="5016500"/>
            <a:chExt cx="10566400" cy="762000"/>
          </a:xfrm>
        </p:grpSpPr>
        <p:sp>
          <p:nvSpPr>
            <p:cNvPr id="7" name="Rounded Rectangle 6"/>
            <p:cNvSpPr/>
            <p:nvPr/>
          </p:nvSpPr>
          <p:spPr>
            <a:xfrm>
              <a:off x="812800" y="5016500"/>
              <a:ext cx="10566400" cy="762000"/>
            </a:xfrm>
            <a:prstGeom prst="roundRect">
              <a:avLst>
                <a:gd name="adj" fmla="val 13333"/>
              </a:avLst>
            </a:prstGeom>
            <a:solidFill>
              <a:srgbClr val="E3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12800" y="5016500"/>
              <a:ext cx="50800" cy="762000"/>
            </a:xfrm>
            <a:prstGeom prst="rect">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8700" y="5148580"/>
              <a:ext cx="10185400" cy="497840"/>
            </a:xfrm>
            <a:prstGeom prst="rect">
              <a:avLst/>
            </a:prstGeom>
            <a:noFill/>
          </p:spPr>
          <p:txBody>
            <a:bodyPr wrap="square" lIns="0" rIns="0" tIns="0" bIns="0" anchor="ctr">
              <a:spAutoFit/>
            </a:bodyPr>
            <a:lstStyle/>
            <a:p>
              <a:pPr algn="l">
                <a:lnSpc>
                  <a:spcPct val="120000"/>
                </a:lnSpc>
              </a:pPr>
              <a:r>
                <a:rPr sz="1600" b="1" i="0">
                  <a:solidFill>
                    <a:srgbClr val="14213D"/>
                  </a:solidFill>
                  <a:latin typeface="Calibri"/>
                </a:rPr>
                <a:t>MedLift-3D</a:t>
              </a:r>
              <a:r>
                <a:rPr sz="1600" b="0" i="0">
                  <a:solidFill>
                    <a:srgbClr val="14213D"/>
                  </a:solidFill>
                  <a:latin typeface="Calibri"/>
                </a:rPr>
                <a:t> delivers low-dose, click-to-3D nodule assessment with calibrated, explainable uncertainty, built and validated for about US$22.</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childTnLst>
                                </p:cTn>
                              </p:par>
                            </p:childTnLst>
                          </p:cTn>
                        </p:par>
                      </p:childTnLst>
                    </p:cTn>
                  </p:par>
                  <p:par>
                    <p:cTn id="12" fill="hold">
                      <p:stCondLst>
                        <p:cond delay="indefinite"/>
                      </p:stCondLst>
                      <p:childTnLst>
                        <p:par>
                          <p:cTn id="13" fill="hold">
                            <p:stCondLst>
                              <p:cond delay="0"/>
                            </p:stCondLst>
                            <p:childTnLst>
                              <p:par>
                                <p:cTn id="11" presetID="42" presetClass="entr" presetSubtype="0" fill="hold" grpId="0"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additive="base">
                                        <p:cTn id="10" dur="500" fill="hold"/>
                                        <p:tgtEl>
                                          <p:spTgt spid="6"/>
                                        </p:tgtEl>
                                        <p:attrNameLst>
                                          <p:attrName>ppt_y</p:attrName>
                                        </p:attrNameLst>
                                      </p:cBhvr>
                                      <p:tavLst>
                                        <p:tav tm="0">
                                          <p:val>
                                            <p:strVal val="#ppt_y+0.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14213D"/>
            </a:gs>
            <a:gs pos="100000">
              <a:srgbClr val="1B2E52"/>
            </a:gs>
          </a:gsLst>
          <a:lin scaled="0" ang="13500000"/>
        </a:gradFill>
        <a:effectLst/>
      </p:bgPr>
    </p:bg>
    <p:spTree>
      <p:nvGrpSpPr>
        <p:cNvPr id="1" name=""/>
        <p:cNvGrpSpPr/>
        <p:nvPr/>
      </p:nvGrpSpPr>
      <p:grpSpPr/>
      <p:sp>
        <p:nvSpPr>
          <p:cNvPr id="2" name="TextBox 1"/>
          <p:cNvSpPr txBox="1"/>
          <p:nvPr/>
        </p:nvSpPr>
        <p:spPr>
          <a:xfrm>
            <a:off x="812800" y="2095500"/>
            <a:ext cx="10566400" cy="889000"/>
          </a:xfrm>
          <a:prstGeom prst="rect">
            <a:avLst/>
          </a:prstGeom>
          <a:noFill/>
        </p:spPr>
        <p:txBody>
          <a:bodyPr wrap="square" lIns="0" rIns="0" tIns="0" bIns="0" anchor="t">
            <a:spAutoFit/>
          </a:bodyPr>
          <a:lstStyle/>
          <a:p>
            <a:pPr algn="l">
              <a:lnSpc>
                <a:spcPct val="120000"/>
              </a:lnSpc>
            </a:pPr>
            <a:r>
              <a:rPr sz="6000" b="1" i="0">
                <a:solidFill>
                  <a:srgbClr val="F7F6F2"/>
                </a:solidFill>
                <a:latin typeface="Georgia"/>
              </a:rPr>
              <a:t>Thank you</a:t>
            </a:r>
          </a:p>
        </p:txBody>
      </p:sp>
      <p:sp>
        <p:nvSpPr>
          <p:cNvPr id="3" name="TextBox 2"/>
          <p:cNvSpPr txBox="1"/>
          <p:nvPr/>
        </p:nvSpPr>
        <p:spPr>
          <a:xfrm>
            <a:off x="812800" y="3111500"/>
            <a:ext cx="10566400" cy="381000"/>
          </a:xfrm>
          <a:prstGeom prst="rect">
            <a:avLst/>
          </a:prstGeom>
          <a:noFill/>
        </p:spPr>
        <p:txBody>
          <a:bodyPr wrap="square" lIns="0" rIns="0" tIns="0" bIns="0" anchor="t">
            <a:spAutoFit/>
          </a:bodyPr>
          <a:lstStyle/>
          <a:p>
            <a:pPr algn="l">
              <a:lnSpc>
                <a:spcPct val="120000"/>
              </a:lnSpc>
            </a:pPr>
            <a:r>
              <a:rPr sz="2000" b="0" i="0">
                <a:solidFill>
                  <a:srgbClr val="DCE5F1"/>
                </a:solidFill>
                <a:latin typeface="Calibri"/>
              </a:rPr>
              <a:t>Questions and answers</a:t>
            </a:r>
          </a:p>
        </p:txBody>
      </p:sp>
      <p:cxnSp>
        <p:nvCxnSpPr>
          <p:cNvPr id="4" name="Connector 3"/>
          <p:cNvCxnSpPr/>
          <p:nvPr/>
        </p:nvCxnSpPr>
        <p:spPr>
          <a:xfrm>
            <a:off x="812800" y="3810000"/>
            <a:ext cx="10566400" cy="0"/>
          </a:xfrm>
          <a:prstGeom prst="line">
            <a:avLst/>
          </a:prstGeom>
          <a:ln w="12700">
            <a:solidFill>
              <a:srgbClr val="3A54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12800" y="4000500"/>
            <a:ext cx="10566400" cy="317500"/>
          </a:xfrm>
          <a:prstGeom prst="rect">
            <a:avLst/>
          </a:prstGeom>
          <a:noFill/>
        </p:spPr>
        <p:txBody>
          <a:bodyPr wrap="square" lIns="0" rIns="0" tIns="0" bIns="0" anchor="t">
            <a:spAutoFit/>
          </a:bodyPr>
          <a:lstStyle/>
          <a:p>
            <a:pPr algn="l">
              <a:lnSpc>
                <a:spcPct val="120000"/>
              </a:lnSpc>
            </a:pPr>
            <a:r>
              <a:rPr sz="1400" b="0" i="0">
                <a:solidFill>
                  <a:srgbClr val="A9BCD6"/>
                </a:solidFill>
                <a:latin typeface="Calibri"/>
              </a:rPr>
              <a:t>Jubair Ahmed · Foyez Ahammed Naeem · Md Motasim Billah</a:t>
            </a:r>
          </a:p>
        </p:txBody>
      </p:sp>
      <p:sp>
        <p:nvSpPr>
          <p:cNvPr id="6" name="TextBox 5"/>
          <p:cNvSpPr txBox="1"/>
          <p:nvPr/>
        </p:nvSpPr>
        <p:spPr>
          <a:xfrm>
            <a:off x="812800" y="4445000"/>
            <a:ext cx="10566400" cy="317500"/>
          </a:xfrm>
          <a:prstGeom prst="rect">
            <a:avLst/>
          </a:prstGeom>
          <a:noFill/>
        </p:spPr>
        <p:txBody>
          <a:bodyPr wrap="square" lIns="0" rIns="0" tIns="0" bIns="0" anchor="t">
            <a:spAutoFit/>
          </a:bodyPr>
          <a:lstStyle/>
          <a:p>
            <a:pPr algn="l">
              <a:lnSpc>
                <a:spcPct val="120000"/>
              </a:lnSpc>
            </a:pPr>
            <a:r>
              <a:rPr sz="1300" b="0" i="0">
                <a:solidFill>
                  <a:srgbClr val="A9BCD6"/>
                </a:solidFill>
                <a:latin typeface="Calibri"/>
              </a:rPr>
              <a:t>Department of Computer Science and Engineering, United International University</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