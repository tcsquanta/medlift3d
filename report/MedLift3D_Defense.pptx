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MedLift-3D.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Lung cancer kills about 1.8 million people a year. Caught early at stage one, 70 to 90 percent survive; at stage four only 15 to 19 percent. Early cancer shows up as a nodule, but most nodules are benign, so doctors follow them over months and measure growth. Today that means a CT every time: several millisieverts of radiation, cost, and in Bangladesh, CT is concentrated in big cities. Tomosynthesis is a cheap, low-dose alternative at about 0.1 mSv, but it cannot see depth, so it gives no trustworthy 3D measurement. Our problem statement: one DTS scan plus one click, return mass, volume and growth with an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We asked what DTS can measure, not just what it can show. If we take moments of each projection: the zeroth moment, the total signal on the detector, equals the nodule's mass in every single view, no matter how deep it is. We verified this numerically to 0.03 percent. But the depth extent, which you need for volume, enters through sine squared of the tube angle; at 15 degrees that is about 15 times worse conditioned.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stated our objectives as six hypotheses that could each turn out false. H1: mass is measured better than volume. H2: the learned prior reduces volume error. H3: conformal intervals are valid. H4: mass doubling time classifies growth better. H5: calibrated category probabilities. H6: the prior recovers rather than invents. Later we will report honestly which ones held.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pipeline, which I'll build up step by step. One: we simulate the DTS scan, 15 low-dose views, reconstructed with SIRT. Two: the clinician clicks, helped by a learned 3D detector. Three: we reconstruct a 64 millimetre prism, a column through the whole chest around the click. Four: a conditional 3D diffusion model generates eight CT-like hypotheses of that prism, and inside the sampler we keep pulling each one back to agree with the X-rays. Five: we fit 3D Gaussians, which give the mass in closed form. Six: conformal prediction turns the spread into calibrated intervals and size-category probabilities. Seven: we split every result into what the X-rays saw and what the prior filled in. Grey is physics, blue is learned, green is measurement and trust. Everything runs as 18 verified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together with CT ground truth, so we ran a virtual clinical trial. We took 583 real patients from LIDC-IDRI, 1,144 nodules between 4 and 30 millimetres that at least three of four radiologists marked, and simulated 15-view low-dose DTS from each CT with realistic Poisson noise. On the left are the fifteen simulated views of one patient; the red circle marks the nodule. We split by patient, 60/20/20, so no test patient is ever seen in training or calibration. The diffusion prior trained on 2,522 pairs; 150 nodules were measured with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It is conditioned on the blurry DTS reconstruction of the prism and generates CT-like volumes. To stop it from inventing anatomy, we insert SIRT data-consistency steps inside the sampler, so every sample must still reproduce the measured X-rays. Here is a held-out example: left the DTS input, middle our sample, right the real CT; the sample recovers sharp ribs and vessels. It trained for 27,610 steps in six hours, and on held-out patients raised nodule-region PSNR from 11.88 to 15.23 dB. Fit checks showed no memorisation of inputs, but it is still under-trained.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nice property is that the integral of a Gaussian is known exactly, so the nodule's mass is a closed-form sum, no voxel counting. For trust, we use split conformal prediction: we measure the errors on 76 calibration nodules from patients never used in training, take the 90 percent quantile, and that becomes the interval for every new nodule. This gives a coverage guarantee without assuming any error distribution. We also produce calibrated probabilities of the clinical size categories, below 100, 100 to 300, and above 300 cubic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The diffusion prior improved nodule-region image quality on held-out patients by 3.35 dB. The learned detector is 17 times better than a training-free detector by the standard CPM score. Our conformal intervals reached 95 percent coverage on new patients, above the 90 percent target, while the raw spread of the samples covered only 28 percent; so calibration is what makes our uncertainty trustworthy. And calibrated probabilities cut the Brier score for "is this nodule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Uncertainty is where MedLift-3D differs from typical generative imaging. Our conformal intervals kept their guarantee on new patients: 95 to 96 percent coverage for a 90 percent target. The calibrated size-category probabilities are reliable too: at the 100 cubic millimetre threshold the calibration error fell from 0.58 to 0.12, and the most likely category was right 38 percent of the time instead of 26. The next step is width: when a reconstruction finds nothing at the click, that zero measurement widens the intervals a lot, so we will report those cases separately. And one insight for the field: the raw spread of generated samples correlates negatively with the error, so uncalibrated spread is not a safe uncertainty. Calibration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Using a conjugate-gradient null-space decomposition we split every 3D result into the part the fifteen X-rays actually measured, the seen part, and the part they cannot see, which only the prior can supply. The table of numbers on the right is the result over 30 test nodules. Only 0.3 percent of a nodule's mass is in the unseen part, which confirms our physics argument: the X-rays do measure mass. The prior's unseen content has a positive skill of 0.22 against the real CT, so it recovers missing depth rather than inventing structure; H6 is supported. But after Gaussian fitting the skill falls to 0.09, so the Gaussian step throws away much of what the prior recovered. That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our accuracy benchmark: six methods on 74 test nodules, median volume error, lower is better, and a failed reading counts as 100 percent. Volume from tomosynthesis is hard for every method: even the clinical standard, the 2D diameter, is off by 88 percent. Our diffusion prior, in green, had the lowest error of all six methods, 74.5 percent, and the fewest failures, 3 percent. Adding the Gaussian step raised the error to 94.6, so the full pipeline did not yet beat physics-only reconstruction; our hypotheses H1 and H2 are not yet supported. The learned methods under-estimate size, and we traced exactly why, which I will show shortly. The lesson: sharper images alone are not enough; the measurement step must preserve the nodule.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Our six hypotheses. Three are supported: H6, the prior recovers unseen depth rather than inventing it; H3, the intervals meet their coverage guarantee; and H5, calibrated risk at the 100 cubic millimetre threshold. The three measurement hypotheses, H1, H2 and H4, are not yet supported by the full pipeline, although mass beat volume for physics-only Gaussians, and mass doubling time edged out volume doubling time for physics-only reconstruction, in line with our theory. These three define our next step, and the next slide shows why.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On cost: the full study, 583 patients, ran in about 15 hours on one rented L40S GPU at 1.33 dollars an hour, about 20 dollars, roughly 22 dollars including a CPU machine, about 2,640 taka. Buying an equivalent workstation would cost four to five lakh taka. The demo runs on a free Kaggle GPU. Legally, LIDC-IDRI is CC BY 3.0 and we followed its citation and no-re-identification policy. A clinical version would be a medical device registrable with DGDA under the Drugs and Cosmetics Act 2023, and patient data would fall under Bangladesh's Personal Data Protection Ordinance 2025, which requires consent and treats health data as sensitive.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MedLift-3D shows that low-dose, click-to-3D nodule assessment with calibrated and explainable uncertainty is buildable, for about 22 US dollars.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did H1 fail if mass is measured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1460500"/>
            <a:ext cx="10566400" cy="254000"/>
          </a:xfrm>
          <a:prstGeom prst="rect">
            <a:avLst/>
          </a:prstGeom>
          <a:noFill/>
        </p:spPr>
        <p:txBody>
          <a:bodyPr wrap="square" lIns="0" rIns="0" tIns="0" bIns="0" anchor="t">
            <a:spAutoFit/>
          </a:bodyPr>
          <a:lstStyle/>
          <a:p>
            <a:pPr algn="l">
              <a:lnSpc>
                <a:spcPct val="120000"/>
              </a:lnSpc>
            </a:pPr>
            <a:r>
              <a:rPr sz="1400" b="1" i="0">
                <a:solidFill>
                  <a:srgbClr val="8FB3E3"/>
                </a:solidFill>
                <a:latin typeface="Calibri"/>
              </a:rPr>
              <a:t>FINAL YEAR DESIGN PROJECT · CSE · UNITED INTERNATIONAL UNIVERSITY</a:t>
            </a:r>
          </a:p>
        </p:txBody>
      </p:sp>
      <p:sp>
        <p:nvSpPr>
          <p:cNvPr id="3" name="TextBox 2"/>
          <p:cNvSpPr txBox="1"/>
          <p:nvPr/>
        </p:nvSpPr>
        <p:spPr>
          <a:xfrm>
            <a:off x="812800" y="19050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MedLift-3D</a:t>
            </a:r>
          </a:p>
        </p:txBody>
      </p:sp>
      <p:sp>
        <p:nvSpPr>
          <p:cNvPr id="4" name="TextBox 3"/>
          <p:cNvSpPr txBox="1"/>
          <p:nvPr/>
        </p:nvSpPr>
        <p:spPr>
          <a:xfrm>
            <a:off x="812800" y="2921000"/>
            <a:ext cx="8890000" cy="825500"/>
          </a:xfrm>
          <a:prstGeom prst="rect">
            <a:avLst/>
          </a:prstGeom>
          <a:noFill/>
        </p:spPr>
        <p:txBody>
          <a:bodyPr wrap="square" lIns="0" rIns="0" tIns="0" bIns="0" anchor="t">
            <a:spAutoFit/>
          </a:bodyPr>
          <a:lstStyle/>
          <a:p>
            <a:pPr algn="l">
              <a:lnSpc>
                <a:spcPct val="115000"/>
              </a:lnSpc>
            </a:pPr>
            <a:r>
              <a:rPr sz="2200" b="0" i="0">
                <a:solidFill>
                  <a:srgbClr val="DCE5F1"/>
                </a:solidFill>
                <a:latin typeface="Georgia"/>
              </a:rPr>
              <a:t>Click-to-3D lung nodule mass and growth assessment from low-dose chest tomosynthesis, with calibrated uncertainty</a:t>
            </a:r>
          </a:p>
        </p:txBody>
      </p:sp>
      <p:cxnSp>
        <p:nvCxnSpPr>
          <p:cNvPr id="5" name="Connector 4"/>
          <p:cNvCxnSpPr/>
          <p:nvPr/>
        </p:nvCxnSpPr>
        <p:spPr>
          <a:xfrm>
            <a:off x="812800" y="4191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12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Jubair Ahmed</a:t>
            </a:r>
          </a:p>
          <a:p>
            <a:pPr algn="l">
              <a:lnSpc>
                <a:spcPct val="120000"/>
              </a:lnSpc>
              <a:spcBef>
                <a:spcPts val="300"/>
              </a:spcBef>
            </a:pPr>
            <a:r>
              <a:rPr sz="1200" b="0" i="0">
                <a:solidFill>
                  <a:srgbClr val="A9BCD6"/>
                </a:solidFill>
                <a:latin typeface="Calibri"/>
              </a:rPr>
              <a:t>011222136</a:t>
            </a:r>
          </a:p>
        </p:txBody>
      </p:sp>
      <p:sp>
        <p:nvSpPr>
          <p:cNvPr id="7" name="TextBox 6"/>
          <p:cNvSpPr txBox="1"/>
          <p:nvPr/>
        </p:nvSpPr>
        <p:spPr>
          <a:xfrm>
            <a:off x="4368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Foyez Ahammed Naeem</a:t>
            </a:r>
          </a:p>
          <a:p>
            <a:pPr algn="l">
              <a:lnSpc>
                <a:spcPct val="120000"/>
              </a:lnSpc>
              <a:spcBef>
                <a:spcPts val="300"/>
              </a:spcBef>
            </a:pPr>
            <a:r>
              <a:rPr sz="1200" b="0" i="0">
                <a:solidFill>
                  <a:srgbClr val="A9BCD6"/>
                </a:solidFill>
                <a:latin typeface="Calibri"/>
              </a:rPr>
              <a:t>011222011</a:t>
            </a:r>
          </a:p>
        </p:txBody>
      </p:sp>
      <p:sp>
        <p:nvSpPr>
          <p:cNvPr id="8" name="TextBox 7"/>
          <p:cNvSpPr txBox="1"/>
          <p:nvPr/>
        </p:nvSpPr>
        <p:spPr>
          <a:xfrm>
            <a:off x="7924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Md Motasim Billah</a:t>
            </a:r>
          </a:p>
          <a:p>
            <a:pPr algn="l">
              <a:lnSpc>
                <a:spcPct val="120000"/>
              </a:lnSpc>
              <a:spcBef>
                <a:spcPts val="300"/>
              </a:spcBef>
            </a:pPr>
            <a:r>
              <a:rPr sz="1200" b="0" i="0">
                <a:solidFill>
                  <a:srgbClr val="A9BCD6"/>
                </a:solidFill>
                <a:latin typeface="Calibri"/>
              </a:rPr>
              <a:t>011222016</a:t>
            </a:r>
          </a:p>
        </p:txBody>
      </p:sp>
      <p:sp>
        <p:nvSpPr>
          <p:cNvPr id="9" name="TextBox 8"/>
          <p:cNvSpPr txBox="1"/>
          <p:nvPr/>
        </p:nvSpPr>
        <p:spPr>
          <a:xfrm>
            <a:off x="7569200" y="6096000"/>
            <a:ext cx="3810000" cy="254000"/>
          </a:xfrm>
          <a:prstGeom prst="rect">
            <a:avLst/>
          </a:prstGeom>
          <a:noFill/>
        </p:spPr>
        <p:txBody>
          <a:bodyPr wrap="square" lIns="0" rIns="0" tIns="0" bIns="0" anchor="t">
            <a:spAutoFit/>
          </a:bodyPr>
          <a:lstStyle/>
          <a:p>
            <a:pPr algn="r">
              <a:lnSpc>
                <a:spcPct val="120000"/>
              </a:lnSpc>
            </a:pPr>
            <a:r>
              <a:rPr sz="1200" b="0" i="0">
                <a:solidFill>
                  <a:srgbClr val="A9BCD6"/>
                </a:solidFill>
                <a:latin typeface="Calibri"/>
              </a:rPr>
              <a:t>Defense · 2 November 2026</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PROBLEM</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Lung nodules are followed by measuring growth, and today every follow-up means another CT</a:t>
            </a:r>
          </a:p>
        </p:txBody>
      </p:sp>
      <p:grpSp>
        <p:nvGrpSpPr>
          <p:cNvPr id="4" name="Group 3"/>
          <p:cNvGrpSpPr/>
          <p:nvPr/>
        </p:nvGrpSpPr>
        <p:grpSpPr>
          <a:xfrm>
            <a:off x="812800" y="2222500"/>
            <a:ext cx="3384550" cy="2286000"/>
            <a:chOff x="812800" y="2222500"/>
            <a:chExt cx="3384550" cy="2286000"/>
          </a:xfrm>
        </p:grpSpPr>
        <p:sp>
          <p:nvSpPr>
            <p:cNvPr id="5" name="Rounded Rectangle 4"/>
            <p:cNvSpPr/>
            <p:nvPr/>
          </p:nvSpPr>
          <p:spPr>
            <a:xfrm>
              <a:off x="8128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1.8 M</a:t>
              </a:r>
            </a:p>
            <a:p>
              <a:pPr algn="l">
                <a:lnSpc>
                  <a:spcPct val="120000"/>
                </a:lnSpc>
                <a:spcBef>
                  <a:spcPts val="400"/>
                </a:spcBef>
              </a:pPr>
              <a:r>
                <a:rPr sz="1400" b="0" i="0">
                  <a:solidFill>
                    <a:srgbClr val="4A5568"/>
                  </a:solidFill>
                  <a:latin typeface="Calibri"/>
                </a:rPr>
                <a:t>lung cancer deaths in 2022, the leading cause of cancer death. Survival is 70–90% at stage I but 15–19% at stage IV.</a:t>
              </a:r>
            </a:p>
          </p:txBody>
        </p:sp>
      </p:grpSp>
      <p:grpSp>
        <p:nvGrpSpPr>
          <p:cNvPr id="7" name="Group 6"/>
          <p:cNvGrpSpPr/>
          <p:nvPr/>
        </p:nvGrpSpPr>
        <p:grpSpPr>
          <a:xfrm>
            <a:off x="4400550" y="2222500"/>
            <a:ext cx="3384550" cy="2286000"/>
            <a:chOff x="4400550" y="2222500"/>
            <a:chExt cx="3384550" cy="2286000"/>
          </a:xfrm>
        </p:grpSpPr>
        <p:sp>
          <p:nvSpPr>
            <p:cNvPr id="8" name="Rounded Rectangle 7"/>
            <p:cNvSpPr/>
            <p:nvPr/>
          </p:nvSpPr>
          <p:spPr>
            <a:xfrm>
              <a:off x="440055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29150" y="2405380"/>
              <a:ext cx="2927350" cy="1920240"/>
            </a:xfrm>
            <a:prstGeom prst="rect">
              <a:avLst/>
            </a:prstGeom>
            <a:noFill/>
          </p:spPr>
          <p:txBody>
            <a:bodyPr wrap="square" lIns="0" rIns="0" tIns="0" bIns="0" anchor="t">
              <a:spAutoFit/>
            </a:bodyPr>
            <a:lstStyle/>
            <a:p>
              <a:pPr algn="l">
                <a:lnSpc>
                  <a:spcPct val="100000"/>
                </a:lnSpc>
              </a:pPr>
              <a:r>
                <a:rPr sz="4400" b="1" i="0">
                  <a:solidFill>
                    <a:srgbClr val="D9661F"/>
                  </a:solidFill>
                  <a:latin typeface="Georgia"/>
                </a:rPr>
                <a:t>CT</a:t>
              </a:r>
            </a:p>
            <a:p>
              <a:pPr algn="l">
                <a:lnSpc>
                  <a:spcPct val="120000"/>
                </a:lnSpc>
                <a:spcBef>
                  <a:spcPts val="400"/>
                </a:spcBef>
              </a:pPr>
              <a:r>
                <a:rPr sz="1400" b="0" i="0">
                  <a:solidFill>
                    <a:srgbClr val="4A5568"/>
                  </a:solidFill>
                  <a:latin typeface="Calibri"/>
                </a:rPr>
                <a:t>gives several mSv per scan, costs money and is scarce outside Bangladesh’s divisional cities.</a:t>
              </a:r>
            </a:p>
          </p:txBody>
        </p:sp>
      </p:grpSp>
      <p:grpSp>
        <p:nvGrpSpPr>
          <p:cNvPr id="10" name="Group 9"/>
          <p:cNvGrpSpPr/>
          <p:nvPr/>
        </p:nvGrpSpPr>
        <p:grpSpPr>
          <a:xfrm>
            <a:off x="7988300" y="2222500"/>
            <a:ext cx="3384550" cy="2286000"/>
            <a:chOff x="7988300" y="2222500"/>
            <a:chExt cx="3384550" cy="2286000"/>
          </a:xfrm>
        </p:grpSpPr>
        <p:sp>
          <p:nvSpPr>
            <p:cNvPr id="11" name="Rounded Rectangle 10"/>
            <p:cNvSpPr/>
            <p:nvPr/>
          </p:nvSpPr>
          <p:spPr>
            <a:xfrm>
              <a:off x="79883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69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0.1 mSv</a:t>
              </a:r>
            </a:p>
            <a:p>
              <a:pPr algn="l">
                <a:lnSpc>
                  <a:spcPct val="120000"/>
                </a:lnSpc>
                <a:spcBef>
                  <a:spcPts val="400"/>
                </a:spcBef>
              </a:pPr>
              <a:r>
                <a:rPr sz="1400" b="0" i="0">
                  <a:solidFill>
                    <a:srgbClr val="4A5568"/>
                  </a:solidFill>
                  <a:latin typeface="Calibri"/>
                </a:rPr>
                <a:t>for chest tomosynthesis (DTS): cheap and low-dose, but it cannot resolve depth, so it gives no trustworthy 3D size.</a:t>
              </a:r>
            </a:p>
          </p:txBody>
        </p:sp>
      </p:grpSp>
      <p:grpSp>
        <p:nvGrpSpPr>
          <p:cNvPr id="13" name="Group 12"/>
          <p:cNvGrpSpPr/>
          <p:nvPr/>
        </p:nvGrpSpPr>
        <p:grpSpPr>
          <a:xfrm>
            <a:off x="812800" y="4826000"/>
            <a:ext cx="10566400" cy="825500"/>
            <a:chOff x="812800" y="4826000"/>
            <a:chExt cx="10566400" cy="825500"/>
          </a:xfrm>
        </p:grpSpPr>
        <p:sp>
          <p:nvSpPr>
            <p:cNvPr id="14" name="Rounded Rectangle 13"/>
            <p:cNvSpPr/>
            <p:nvPr/>
          </p:nvSpPr>
          <p:spPr>
            <a:xfrm>
              <a:off x="812800" y="4826000"/>
              <a:ext cx="10566400" cy="825500"/>
            </a:xfrm>
            <a:prstGeom prst="roundRect">
              <a:avLst>
                <a:gd name="adj" fmla="val 12307"/>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4826000"/>
              <a:ext cx="50800" cy="8255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1400" y="4968240"/>
              <a:ext cx="10160000" cy="54102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Our question: </a:t>
              </a:r>
              <a:r>
                <a:rPr sz="1600" b="0" i="0">
                  <a:solidFill>
                    <a:srgbClr val="14213D"/>
                  </a:solidFill>
                  <a:latin typeface="Calibri"/>
                </a:rPr>
                <a:t>from one low-dose DTS scan and one click, can we give a nodule’s 3D mass, volume and growth with an honest uncertainty?</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anim calcmode="lin" valueType="num">
                                      <p:cBhvr additive="base">
                                        <p:cTn id="17"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BACKGROUND · DIGITAL TOMOSYNTHESIS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±15° sweep leaves a “missing wedge” of depth information</a:t>
            </a:r>
          </a:p>
        </p:txBody>
      </p:sp>
      <p:pic>
        <p:nvPicPr>
          <p:cNvPr id="4" name="Picture 3" descr="dts_anim.gif"/>
          <p:cNvPicPr>
            <a:picLocks noChangeAspect="1"/>
          </p:cNvPicPr>
          <p:nvPr/>
        </p:nvPicPr>
        <p:blipFill>
          <a:blip r:embed="rId2"/>
          <a:stretch>
            <a:fillRect/>
          </a:stretch>
        </p:blipFill>
        <p:spPr>
          <a:xfrm>
            <a:off x="812800" y="1905000"/>
            <a:ext cx="6604000" cy="3810000"/>
          </a:xfrm>
          <a:prstGeom prst="rect">
            <a:avLst/>
          </a:prstGeom>
        </p:spPr>
      </p:pic>
      <p:sp>
        <p:nvSpPr>
          <p:cNvPr id="5" name="TextBox 4"/>
          <p:cNvSpPr txBox="1"/>
          <p:nvPr/>
        </p:nvSpPr>
        <p:spPr>
          <a:xfrm>
            <a:off x="7823200" y="2032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The tube moves along a short track. The nodule’s shadow (orange) shifts on the detector: that shift is the only depth information.</a:t>
            </a:r>
          </a:p>
        </p:txBody>
      </p:sp>
      <p:sp>
        <p:nvSpPr>
          <p:cNvPr id="6" name="TextBox 5"/>
          <p:cNvSpPr txBox="1"/>
          <p:nvPr/>
        </p:nvSpPr>
        <p:spPr>
          <a:xfrm>
            <a:off x="7823200" y="3429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Each view measures one line in Fourier space. Fifteen views fill a thin blue fan; the depth directions are never measured.</a:t>
            </a:r>
          </a:p>
        </p:txBody>
      </p:sp>
      <p:sp>
        <p:nvSpPr>
          <p:cNvPr id="7" name="TextBox 6"/>
          <p:cNvSpPr txBox="1"/>
          <p:nvPr/>
        </p:nvSpPr>
        <p:spPr>
          <a:xfrm>
            <a:off x="7823200" y="4826000"/>
            <a:ext cx="3556000" cy="825500"/>
          </a:xfrm>
          <a:prstGeom prst="rect">
            <a:avLst/>
          </a:prstGeom>
          <a:noFill/>
        </p:spPr>
        <p:txBody>
          <a:bodyPr wrap="square" lIns="0" rIns="0" tIns="0" bIns="0" anchor="t">
            <a:spAutoFit/>
          </a:bodyPr>
          <a:lstStyle/>
          <a:p>
            <a:pPr algn="l">
              <a:lnSpc>
                <a:spcPct val="130000"/>
              </a:lnSpc>
            </a:pPr>
            <a:r>
              <a:rPr sz="1500" b="1" i="0">
                <a:solidFill>
                  <a:srgbClr val="B4521A"/>
                </a:solidFill>
                <a:latin typeface="Calibri"/>
              </a:rPr>
              <a:t>So a nodule smears 3–5× longer in depth (median 3.5 on LIDC).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KEY INSIGHT · PROJECTION MOMENTS</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F7F6F2"/>
                </a:solidFill>
                <a:latin typeface="Georgia"/>
              </a:rPr>
              <a:t>DTS cannot see depth, but every view measures the nodule’s mass exactly</a:t>
            </a:r>
          </a:p>
        </p:txBody>
      </p:sp>
      <p:grpSp>
        <p:nvGrpSpPr>
          <p:cNvPr id="4" name="Group 3"/>
          <p:cNvGrpSpPr/>
          <p:nvPr/>
        </p:nvGrpSpPr>
        <p:grpSpPr>
          <a:xfrm>
            <a:off x="812800" y="2413000"/>
            <a:ext cx="5080000" cy="2413000"/>
            <a:chOff x="812800" y="2413000"/>
            <a:chExt cx="5080000" cy="2413000"/>
          </a:xfrm>
        </p:grpSpPr>
        <p:sp>
          <p:nvSpPr>
            <p:cNvPr id="5" name="Rounded Rectangle 4"/>
            <p:cNvSpPr/>
            <p:nvPr/>
          </p:nvSpPr>
          <p:spPr>
            <a:xfrm>
              <a:off x="812800" y="2413000"/>
              <a:ext cx="5080000" cy="2413000"/>
            </a:xfrm>
            <a:prstGeom prst="roundRect">
              <a:avLst>
                <a:gd name="adj" fmla="val 4210"/>
              </a:avLst>
            </a:prstGeom>
            <a:solidFill>
              <a:srgbClr val="1E3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7600" y="2656840"/>
              <a:ext cx="4470400" cy="192532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0TH MOMENT: MASS</a:t>
              </a:r>
            </a:p>
            <a:p>
              <a:pPr algn="l">
                <a:lnSpc>
                  <a:spcPct val="120000"/>
                </a:lnSpc>
                <a:spcBef>
                  <a:spcPts val="1000"/>
                </a:spcBef>
              </a:pPr>
              <a:r>
                <a:rPr sz="2800" b="0" i="0">
                  <a:solidFill>
                    <a:srgbClr val="F7F6F2"/>
                  </a:solidFill>
                  <a:latin typeface="Georgia"/>
                </a:rPr>
                <a:t>∬ pθ(x, v) dx dv = M</a:t>
              </a:r>
            </a:p>
            <a:p>
              <a:pPr algn="l">
                <a:lnSpc>
                  <a:spcPct val="120000"/>
                </a:lnSpc>
                <a:spcBef>
                  <a:spcPts val="1000"/>
                </a:spcBef>
              </a:pPr>
              <a:r>
                <a:rPr sz="1500" b="0" i="0">
                  <a:solidFill>
                    <a:srgbClr val="DCE5F1"/>
                  </a:solidFill>
                  <a:latin typeface="Calibri"/>
                </a:rPr>
                <a:t>Same in all 15 views, independent of depth. Verified to </a:t>
              </a:r>
              <a:r>
                <a:rPr sz="1500" b="1" i="0">
                  <a:solidFill>
                    <a:srgbClr val="DCE5F1"/>
                  </a:solidFill>
                  <a:latin typeface="Calibri"/>
                </a:rPr>
                <a:t>0.03%</a:t>
              </a:r>
              <a:r>
                <a:rPr sz="1500" b="0" i="0">
                  <a:solidFill>
                    <a:srgbClr val="DCE5F1"/>
                  </a:solidFill>
                  <a:latin typeface="Calibri"/>
                </a:rPr>
                <a:t> in every view.</a:t>
              </a:r>
            </a:p>
          </p:txBody>
        </p:sp>
      </p:grpSp>
      <p:grpSp>
        <p:nvGrpSpPr>
          <p:cNvPr id="7" name="Group 6"/>
          <p:cNvGrpSpPr/>
          <p:nvPr/>
        </p:nvGrpSpPr>
        <p:grpSpPr>
          <a:xfrm>
            <a:off x="6299200" y="2413000"/>
            <a:ext cx="5080000" cy="2413000"/>
            <a:chOff x="6299200" y="2413000"/>
            <a:chExt cx="5080000" cy="2413000"/>
          </a:xfrm>
        </p:grpSpPr>
        <p:sp>
          <p:nvSpPr>
            <p:cNvPr id="8" name="Rounded Rectangle 7"/>
            <p:cNvSpPr/>
            <p:nvPr/>
          </p:nvSpPr>
          <p:spPr>
            <a:xfrm>
              <a:off x="6299200" y="2413000"/>
              <a:ext cx="5080000" cy="2413000"/>
            </a:xfrm>
            <a:prstGeom prst="roundRect">
              <a:avLst>
                <a:gd name="adj" fmla="val 4210"/>
              </a:avLst>
            </a:prstGeom>
            <a:solidFill>
              <a:srgbClr val="3A2418"/>
            </a:solidFill>
            <a:ln w="1270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04000" y="2656840"/>
              <a:ext cx="4470400" cy="1925320"/>
            </a:xfrm>
            <a:prstGeom prst="rect">
              <a:avLst/>
            </a:prstGeom>
            <a:noFill/>
          </p:spPr>
          <p:txBody>
            <a:bodyPr wrap="square" lIns="0" rIns="0" tIns="0" bIns="0" anchor="t">
              <a:spAutoFit/>
            </a:bodyPr>
            <a:lstStyle/>
            <a:p>
              <a:pPr algn="l">
                <a:lnSpc>
                  <a:spcPct val="120000"/>
                </a:lnSpc>
              </a:pPr>
              <a:r>
                <a:rPr sz="1300" b="1" i="0">
                  <a:solidFill>
                    <a:srgbClr val="F2A46B"/>
                  </a:solidFill>
                  <a:latin typeface="Calibri"/>
                </a:rPr>
                <a:t>2ND MOMENT: DEPTH EXTENT</a:t>
              </a:r>
            </a:p>
            <a:p>
              <a:pPr algn="l">
                <a:lnSpc>
                  <a:spcPct val="120000"/>
                </a:lnSpc>
                <a:spcBef>
                  <a:spcPts val="1000"/>
                </a:spcBef>
              </a:pPr>
              <a:r>
                <a:rPr sz="2800" b="0" i="0">
                  <a:solidFill>
                    <a:srgbClr val="F7F6F2"/>
                  </a:solidFill>
                  <a:latin typeface="Georgia"/>
                </a:rPr>
                <a:t>enters as sin²θ</a:t>
              </a:r>
            </a:p>
            <a:p>
              <a:pPr algn="l">
                <a:lnSpc>
                  <a:spcPct val="120000"/>
                </a:lnSpc>
                <a:spcBef>
                  <a:spcPts val="1000"/>
                </a:spcBef>
              </a:pPr>
              <a:r>
                <a:rPr sz="1500" b="0" i="0">
                  <a:solidFill>
                    <a:srgbClr val="F4DCCB"/>
                  </a:solidFill>
                  <a:latin typeface="Calibri"/>
                </a:rPr>
                <a:t>1 / sin²15° ≈ </a:t>
              </a:r>
              <a:r>
                <a:rPr sz="1500" b="1" i="0">
                  <a:solidFill>
                    <a:srgbClr val="F4DCCB"/>
                  </a:solidFill>
                  <a:latin typeface="Calibri"/>
                </a:rPr>
                <a:t>15× worse</a:t>
              </a:r>
              <a:r>
                <a:rPr sz="1500" b="0" i="0">
                  <a:solidFill>
                    <a:srgbClr val="F4DCCB"/>
                  </a:solidFill>
                  <a:latin typeface="Calibri"/>
                </a:rPr>
                <a:t> conditioned. Volume needs depth extent; mass does not.</a:t>
              </a:r>
            </a:p>
          </p:txBody>
        </p:sp>
      </p:grpSp>
      <p:sp>
        <p:nvSpPr>
          <p:cNvPr id="10" name="TextBox 9"/>
          <p:cNvSpPr txBox="1"/>
          <p:nvPr/>
        </p:nvSpPr>
        <p:spPr>
          <a:xfrm>
            <a:off x="812800" y="5143500"/>
            <a:ext cx="10566400" cy="762000"/>
          </a:xfrm>
          <a:prstGeom prst="rect">
            <a:avLst/>
          </a:prstGeom>
          <a:noFill/>
        </p:spPr>
        <p:txBody>
          <a:bodyPr wrap="square" lIns="0" rIns="0" tIns="0" bIns="0" anchor="t">
            <a:spAutoFit/>
          </a:bodyPr>
          <a:lstStyle/>
          <a:p>
            <a:pPr algn="l">
              <a:lnSpc>
                <a:spcPct val="130000"/>
              </a:lnSpc>
            </a:pPr>
            <a:r>
              <a:rPr sz="1700" b="1" i="0">
                <a:solidFill>
                  <a:srgbClr val="8FB3E3"/>
                </a:solidFill>
                <a:latin typeface="Calibri"/>
              </a:rPr>
              <a:t>Design consequence: </a:t>
            </a:r>
            <a:r>
              <a:rPr sz="1700" b="0" i="0">
                <a:solidFill>
                  <a:srgbClr val="F7F6F2"/>
                </a:solidFill>
                <a:latin typeface="Calibri"/>
              </a:rPr>
              <a:t>report </a:t>
            </a:r>
            <a:r>
              <a:rPr sz="1700" b="1" i="0">
                <a:solidFill>
                  <a:srgbClr val="F7F6F2"/>
                </a:solidFill>
                <a:latin typeface="Calibri"/>
              </a:rPr>
              <a:t>mass</a:t>
            </a:r>
            <a:r>
              <a:rPr sz="1700" b="0" i="0">
                <a:solidFill>
                  <a:srgbClr val="F7F6F2"/>
                </a:solidFill>
                <a:latin typeface="Calibri"/>
              </a:rPr>
              <a:t> and mass doubling time first, fill depth with a learned prior kept consistent with the X-rays, and say how uncertain every number 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OBJECTIVES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Six testable hypotheses, each of which could fail</a:t>
            </a:r>
          </a:p>
        </p:txBody>
      </p:sp>
      <p:graphicFrame>
        <p:nvGraphicFramePr>
          <p:cNvPr id="4" name="Table 3"/>
          <p:cNvGraphicFramePr>
            <a:graphicFrameLocks noGrp="1"/>
          </p:cNvGraphicFramePr>
          <p:nvPr/>
        </p:nvGraphicFramePr>
        <p:xfrm>
          <a:off x="812800" y="1841500"/>
          <a:ext cx="10566400" cy="3289300"/>
        </p:xfrm>
        <a:graphic>
          <a:graphicData uri="http://schemas.openxmlformats.org/drawingml/2006/table">
            <a:tbl>
              <a:tblPr firstRow="1" bandRow="1">
                <a:tableStyleId>{5C22544A-7EE6-4342-B048-85BDC9FD1C3A}</a:tableStyleId>
              </a:tblPr>
              <a:tblGrid>
                <a:gridCol w="1054100"/>
                <a:gridCol w="3175000"/>
                <a:gridCol w="6337300"/>
              </a:tblGrid>
              <a:tr h="469900">
                <a:tc>
                  <a:txBody>
                    <a:bodyPr wrap="square"/>
                    <a:lstStyle/>
                    <a:p>
                      <a:pPr algn="l">
                        <a:lnSpc>
                          <a:spcPct val="120000"/>
                        </a:lnSpc>
                      </a:pPr>
                      <a:r>
                        <a:rPr sz="1500" b="1" i="0">
                          <a:solidFill>
                            <a:srgbClr val="14213D"/>
                          </a:solidFill>
                          <a:latin typeface="Calibri"/>
                        </a:rPr>
                        <a:t>#</a:t>
                      </a:r>
                    </a:p>
                  </a:txBody>
                  <a:tcPr anchor="ctr" marL="127000">
                    <a:solidFill>
                      <a:srgbClr val="E3ECF7"/>
                    </a:solidFill>
                  </a:tcPr>
                </a:tc>
                <a:tc>
                  <a:txBody>
                    <a:bodyPr wrap="square"/>
                    <a:lstStyle/>
                    <a:p>
                      <a:pPr algn="l">
                        <a:lnSpc>
                          <a:spcPct val="120000"/>
                        </a:lnSpc>
                      </a:pPr>
                      <a:r>
                        <a:rPr sz="1500" b="1" i="0">
                          <a:solidFill>
                            <a:srgbClr val="14213D"/>
                          </a:solidFill>
                          <a:latin typeface="Calibri"/>
                        </a:rPr>
                        <a:t>Area</a:t>
                      </a:r>
                    </a:p>
                  </a:txBody>
                  <a:tcPr anchor="ctr" marL="127000">
                    <a:solidFill>
                      <a:srgbClr val="E3ECF7"/>
                    </a:solidFill>
                  </a:tcPr>
                </a:tc>
                <a:tc>
                  <a:txBody>
                    <a:bodyPr wrap="square"/>
                    <a:lstStyle/>
                    <a:p>
                      <a:pPr algn="l">
                        <a:lnSpc>
                          <a:spcPct val="120000"/>
                        </a:lnSpc>
                      </a:pPr>
                      <a:r>
                        <a:rPr sz="1500" b="1" i="0">
                          <a:solidFill>
                            <a:srgbClr val="14213D"/>
                          </a:solidFill>
                          <a:latin typeface="Calibri"/>
                        </a:rPr>
                        <a:t>Hypothesis</a:t>
                      </a:r>
                    </a:p>
                  </a:txBody>
                  <a:tcPr anchor="ctr" marL="127000">
                    <a:solidFill>
                      <a:srgbClr val="E3ECF7"/>
                    </a:solidFill>
                  </a:tcPr>
                </a:tc>
              </a:tr>
              <a:tr h="469900">
                <a:tc>
                  <a:txBody>
                    <a:bodyPr wrap="square"/>
                    <a:lstStyle/>
                    <a:p>
                      <a:pPr algn="l">
                        <a:lnSpc>
                          <a:spcPct val="120000"/>
                        </a:lnSpc>
                      </a:pPr>
                      <a:r>
                        <a:rPr sz="1500" b="1" i="0">
                          <a:solidFill>
                            <a:srgbClr val="14213D"/>
                          </a:solidFill>
                          <a:latin typeface="Calibri"/>
                        </a:rPr>
                        <a:t>H1</a:t>
                      </a:r>
                    </a:p>
                  </a:txBody>
                  <a:tcPr anchor="ctr" marL="127000">
                    <a:solidFill>
                      <a:srgbClr val="FFFFFF"/>
                    </a:solidFill>
                  </a:tcPr>
                </a:tc>
                <a:tc>
                  <a:txBody>
                    <a:bodyPr wrap="square"/>
                    <a:lstStyle/>
                    <a:p>
                      <a:pPr algn="l">
                        <a:lnSpc>
                          <a:spcPct val="120000"/>
                        </a:lnSpc>
                      </a:pPr>
                      <a:r>
                        <a:rPr sz="1500" b="0" i="0">
                          <a:solidFill>
                            <a:srgbClr val="14213D"/>
                          </a:solidFill>
                          <a:latin typeface="Calibri"/>
                        </a:rPr>
                        <a:t>Mass first</a:t>
                      </a:r>
                    </a:p>
                  </a:txBody>
                  <a:tcPr anchor="ctr" marL="127000">
                    <a:solidFill>
                      <a:srgbClr val="FFFFFF"/>
                    </a:solidFill>
                  </a:tcPr>
                </a:tc>
                <a:tc>
                  <a:txBody>
                    <a:bodyPr wrap="square"/>
                    <a:lstStyle/>
                    <a:p>
                      <a:pPr algn="l">
                        <a:lnSpc>
                          <a:spcPct val="120000"/>
                        </a:lnSpc>
                      </a:pPr>
                      <a:r>
                        <a:rPr sz="1500" b="0" i="0">
                          <a:solidFill>
                            <a:srgbClr val="14213D"/>
                          </a:solidFill>
                          <a:latin typeface="Calibri"/>
                        </a:rPr>
                        <a:t>DTS mass error is smaller than volume error</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H2</a:t>
                      </a:r>
                    </a:p>
                  </a:txBody>
                  <a:tcPr anchor="ctr" marL="127000">
                    <a:solidFill>
                      <a:srgbClr val="F2F4F7"/>
                    </a:solidFill>
                  </a:tcPr>
                </a:tc>
                <a:tc>
                  <a:txBody>
                    <a:bodyPr wrap="square"/>
                    <a:lstStyle/>
                    <a:p>
                      <a:pPr algn="l">
                        <a:lnSpc>
                          <a:spcPct val="120000"/>
                        </a:lnSpc>
                      </a:pPr>
                      <a:r>
                        <a:rPr sz="1500" b="0" i="0">
                          <a:solidFill>
                            <a:srgbClr val="14213D"/>
                          </a:solidFill>
                          <a:latin typeface="Calibri"/>
                        </a:rPr>
                        <a:t>Learned prior</a:t>
                      </a:r>
                    </a:p>
                  </a:txBody>
                  <a:tcPr anchor="ctr" marL="127000">
                    <a:solidFill>
                      <a:srgbClr val="F2F4F7"/>
                    </a:solidFill>
                  </a:tcPr>
                </a:tc>
                <a:tc>
                  <a:txBody>
                    <a:bodyPr wrap="square"/>
                    <a:lstStyle/>
                    <a:p>
                      <a:pPr algn="l">
                        <a:lnSpc>
                          <a:spcPct val="120000"/>
                        </a:lnSpc>
                      </a:pPr>
                      <a:r>
                        <a:rPr sz="1500" b="0" i="0">
                          <a:solidFill>
                            <a:srgbClr val="14213D"/>
                          </a:solidFill>
                          <a:latin typeface="Calibri"/>
                        </a:rPr>
                        <a:t>Diffusion + Gaussians beat physics-only volume</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H3</a:t>
                      </a:r>
                    </a:p>
                  </a:txBody>
                  <a:tcPr anchor="ctr" marL="127000">
                    <a:solidFill>
                      <a:srgbClr val="FFFFFF"/>
                    </a:solidFill>
                  </a:tcPr>
                </a:tc>
                <a:tc>
                  <a:txBody>
                    <a:bodyPr wrap="square"/>
                    <a:lstStyle/>
                    <a:p>
                      <a:pPr algn="l">
                        <a:lnSpc>
                          <a:spcPct val="120000"/>
                        </a:lnSpc>
                      </a:pPr>
                      <a:r>
                        <a:rPr sz="1500" b="0" i="0">
                          <a:solidFill>
                            <a:srgbClr val="14213D"/>
                          </a:solidFill>
                          <a:latin typeface="Calibri"/>
                        </a:rPr>
                        <a:t>Uncertainty</a:t>
                      </a:r>
                    </a:p>
                  </a:txBody>
                  <a:tcPr anchor="ctr" marL="127000">
                    <a:solidFill>
                      <a:srgbClr val="FFFFFF"/>
                    </a:solidFill>
                  </a:tcPr>
                </a:tc>
                <a:tc>
                  <a:txBody>
                    <a:bodyPr wrap="square"/>
                    <a:lstStyle/>
                    <a:p>
                      <a:pPr algn="l">
                        <a:lnSpc>
                          <a:spcPct val="120000"/>
                        </a:lnSpc>
                      </a:pPr>
                      <a:r>
                        <a:rPr sz="1500" b="0" i="0">
                          <a:solidFill>
                            <a:srgbClr val="14213D"/>
                          </a:solidFill>
                          <a:latin typeface="Calibri"/>
                        </a:rPr>
                        <a:t>90% conformal intervals reach their coverage</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H4</a:t>
                      </a:r>
                    </a:p>
                  </a:txBody>
                  <a:tcPr anchor="ctr" marL="127000">
                    <a:solidFill>
                      <a:srgbClr val="F2F4F7"/>
                    </a:solidFill>
                  </a:tcPr>
                </a:tc>
                <a:tc>
                  <a:txBody>
                    <a:bodyPr wrap="square"/>
                    <a:lstStyle/>
                    <a:p>
                      <a:pPr algn="l">
                        <a:lnSpc>
                          <a:spcPct val="120000"/>
                        </a:lnSpc>
                      </a:pPr>
                      <a:r>
                        <a:rPr sz="1500" b="0" i="0">
                          <a:solidFill>
                            <a:srgbClr val="14213D"/>
                          </a:solidFill>
                          <a:latin typeface="Calibri"/>
                        </a:rPr>
                        <a:t>Growth</a:t>
                      </a:r>
                    </a:p>
                  </a:txBody>
                  <a:tcPr anchor="ctr" marL="127000">
                    <a:solidFill>
                      <a:srgbClr val="F2F4F7"/>
                    </a:solidFill>
                  </a:tcPr>
                </a:tc>
                <a:tc>
                  <a:txBody>
                    <a:bodyPr wrap="square"/>
                    <a:lstStyle/>
                    <a:p>
                      <a:pPr algn="l">
                        <a:lnSpc>
                          <a:spcPct val="120000"/>
                        </a:lnSpc>
                      </a:pPr>
                      <a:r>
                        <a:rPr sz="1500" b="0" i="0">
                          <a:solidFill>
                            <a:srgbClr val="14213D"/>
                          </a:solidFill>
                          <a:latin typeface="Calibri"/>
                        </a:rPr>
                        <a:t>Mass doubling time classifies growth better than VDT</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H5</a:t>
                      </a:r>
                    </a:p>
                  </a:txBody>
                  <a:tcPr anchor="ctr" marL="127000">
                    <a:solidFill>
                      <a:srgbClr val="FFFFFF"/>
                    </a:solidFill>
                  </a:tcPr>
                </a:tc>
                <a:tc>
                  <a:txBody>
                    <a:bodyPr wrap="square"/>
                    <a:lstStyle/>
                    <a:p>
                      <a:pPr algn="l">
                        <a:lnSpc>
                          <a:spcPct val="120000"/>
                        </a:lnSpc>
                      </a:pPr>
                      <a:r>
                        <a:rPr sz="1500" b="0" i="0">
                          <a:solidFill>
                            <a:srgbClr val="14213D"/>
                          </a:solidFill>
                          <a:latin typeface="Calibri"/>
                        </a:rPr>
                        <a:t>Risk</a:t>
                      </a:r>
                    </a:p>
                  </a:txBody>
                  <a:tcPr anchor="ctr" marL="127000">
                    <a:solidFill>
                      <a:srgbClr val="FFFFFF"/>
                    </a:solidFill>
                  </a:tcPr>
                </a:tc>
                <a:tc>
                  <a:txBody>
                    <a:bodyPr wrap="square"/>
                    <a:lstStyle/>
                    <a:p>
                      <a:pPr algn="l">
                        <a:lnSpc>
                          <a:spcPct val="120000"/>
                        </a:lnSpc>
                      </a:pPr>
                      <a:r>
                        <a:rPr sz="1500" b="0" i="0">
                          <a:solidFill>
                            <a:srgbClr val="14213D"/>
                          </a:solidFill>
                          <a:latin typeface="Calibri"/>
                        </a:rPr>
                        <a:t>Calibrated size-category probabilities beat raw votes</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H6</a:t>
                      </a:r>
                    </a:p>
                  </a:txBody>
                  <a:tcPr anchor="ctr" marL="127000">
                    <a:solidFill>
                      <a:srgbClr val="F2F4F7"/>
                    </a:solidFill>
                  </a:tcPr>
                </a:tc>
                <a:tc>
                  <a:txBody>
                    <a:bodyPr wrap="square"/>
                    <a:lstStyle/>
                    <a:p>
                      <a:pPr algn="l">
                        <a:lnSpc>
                          <a:spcPct val="120000"/>
                        </a:lnSpc>
                      </a:pPr>
                      <a:r>
                        <a:rPr sz="1500" b="0" i="0">
                          <a:solidFill>
                            <a:srgbClr val="14213D"/>
                          </a:solidFill>
                          <a:latin typeface="Calibri"/>
                        </a:rPr>
                        <a:t>Explainability</a:t>
                      </a:r>
                    </a:p>
                  </a:txBody>
                  <a:tcPr anchor="ctr" marL="127000">
                    <a:solidFill>
                      <a:srgbClr val="F2F4F7"/>
                    </a:solidFill>
                  </a:tcPr>
                </a:tc>
                <a:tc>
                  <a:txBody>
                    <a:bodyPr wrap="square"/>
                    <a:lstStyle/>
                    <a:p>
                      <a:pPr algn="l">
                        <a:lnSpc>
                          <a:spcPct val="120000"/>
                        </a:lnSpc>
                      </a:pPr>
                      <a:r>
                        <a:rPr sz="1500" b="0" i="0">
                          <a:solidFill>
                            <a:srgbClr val="14213D"/>
                          </a:solidFill>
                          <a:latin typeface="Calibri"/>
                        </a:rPr>
                        <a:t>The prior recovers unseen depth instead of inventing it</a:t>
                      </a:r>
                    </a:p>
                  </a:txBody>
                  <a:tcPr anchor="ctr" marL="127000">
                    <a:solidFill>
                      <a:srgbClr val="F2F4F7"/>
                    </a:solidFill>
                  </a:tcPr>
                </a:tc>
              </a:tr>
            </a:tbl>
          </a:graphicData>
        </a:graphic>
      </p:graphicFrame>
      <p:sp>
        <p:nvSpPr>
          <p:cNvPr id="5" name="TextBox 4"/>
          <p:cNvSpPr txBox="1"/>
          <p:nvPr/>
        </p:nvSpPr>
        <p:spPr>
          <a:xfrm>
            <a:off x="812800" y="5334000"/>
            <a:ext cx="10566400" cy="381000"/>
          </a:xfrm>
          <a:prstGeom prst="rect">
            <a:avLst/>
          </a:prstGeom>
          <a:noFill/>
        </p:spPr>
        <p:txBody>
          <a:bodyPr wrap="square" lIns="0" rIns="0" tIns="0" bIns="0" anchor="t">
            <a:spAutoFit/>
          </a:bodyPr>
          <a:lstStyle/>
          <a:p>
            <a:pPr algn="l">
              <a:lnSpc>
                <a:spcPct val="120000"/>
              </a:lnSpc>
            </a:pPr>
            <a:r>
              <a:rPr sz="1400" b="0" i="0">
                <a:solidFill>
                  <a:srgbClr val="4A5568"/>
                </a:solidFill>
                <a:latin typeface="Calibri"/>
              </a:rPr>
              <a:t>Plus a usable system: click-to-3D application with a learned detector, on free or low-cost cloud hardware.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METHODOLOGY</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From one click to a 3D measurement with uncertainty</a:t>
            </a:r>
          </a:p>
        </p:txBody>
      </p:sp>
      <p:grpSp>
        <p:nvGrpSpPr>
          <p:cNvPr id="4" name="Group 3"/>
          <p:cNvGrpSpPr/>
          <p:nvPr/>
        </p:nvGrpSpPr>
        <p:grpSpPr>
          <a:xfrm>
            <a:off x="812800" y="2095500"/>
            <a:ext cx="1308100" cy="2159000"/>
            <a:chOff x="812800" y="2095500"/>
            <a:chExt cx="1308100" cy="2159000"/>
          </a:xfrm>
        </p:grpSpPr>
        <p:sp>
          <p:nvSpPr>
            <p:cNvPr id="5" name="Rounded Rectangle 4"/>
            <p:cNvSpPr/>
            <p:nvPr/>
          </p:nvSpPr>
          <p:spPr>
            <a:xfrm>
              <a:off x="8128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1</a:t>
              </a:r>
            </a:p>
            <a:p>
              <a:pPr algn="l">
                <a:lnSpc>
                  <a:spcPct val="120000"/>
                </a:lnSpc>
                <a:spcBef>
                  <a:spcPts val="600"/>
                </a:spcBef>
              </a:pPr>
              <a:r>
                <a:rPr sz="1500" b="1" i="0">
                  <a:solidFill>
                    <a:srgbClr val="14213D"/>
                  </a:solidFill>
                  <a:latin typeface="Calibri"/>
                </a:rPr>
                <a:t>DTS scan</a:t>
              </a:r>
            </a:p>
            <a:p>
              <a:pPr algn="l">
                <a:lnSpc>
                  <a:spcPct val="115000"/>
                </a:lnSpc>
                <a:spcBef>
                  <a:spcPts val="500"/>
                </a:spcBef>
              </a:pPr>
              <a:r>
                <a:rPr sz="1200" b="0" i="0">
                  <a:solidFill>
                    <a:srgbClr val="4A5568"/>
                  </a:solidFill>
                  <a:latin typeface="Calibri"/>
                </a:rPr>
                <a:t>15 low-dose views, ±15°, SIRT</a:t>
              </a:r>
            </a:p>
          </p:txBody>
        </p:sp>
      </p:grpSp>
      <p:grpSp>
        <p:nvGrpSpPr>
          <p:cNvPr id="7" name="Group 6"/>
          <p:cNvGrpSpPr/>
          <p:nvPr/>
        </p:nvGrpSpPr>
        <p:grpSpPr>
          <a:xfrm>
            <a:off x="2324100" y="2095500"/>
            <a:ext cx="1308100" cy="2159000"/>
            <a:chOff x="2324100" y="2095500"/>
            <a:chExt cx="1308100" cy="2159000"/>
          </a:xfrm>
        </p:grpSpPr>
        <p:sp>
          <p:nvSpPr>
            <p:cNvPr id="8" name="Rounded Rectangle 7"/>
            <p:cNvSpPr/>
            <p:nvPr/>
          </p:nvSpPr>
          <p:spPr>
            <a:xfrm>
              <a:off x="23241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38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2</a:t>
              </a:r>
            </a:p>
            <a:p>
              <a:pPr algn="l">
                <a:lnSpc>
                  <a:spcPct val="120000"/>
                </a:lnSpc>
                <a:spcBef>
                  <a:spcPts val="600"/>
                </a:spcBef>
              </a:pPr>
              <a:r>
                <a:rPr sz="1500" b="1" i="0">
                  <a:solidFill>
                    <a:srgbClr val="14213D"/>
                  </a:solidFill>
                  <a:latin typeface="Calibri"/>
                </a:rPr>
                <a:t>Click</a:t>
              </a:r>
            </a:p>
            <a:p>
              <a:pPr algn="l">
                <a:lnSpc>
                  <a:spcPct val="115000"/>
                </a:lnSpc>
                <a:spcBef>
                  <a:spcPts val="500"/>
                </a:spcBef>
              </a:pPr>
              <a:r>
                <a:rPr sz="1200" b="0" i="0">
                  <a:solidFill>
                    <a:srgbClr val="4A5568"/>
                  </a:solidFill>
                  <a:latin typeface="Calibri"/>
                </a:rPr>
                <a:t>3D U-Net detector suggests nodules</a:t>
              </a:r>
            </a:p>
          </p:txBody>
        </p:sp>
      </p:grpSp>
      <p:sp>
        <p:nvSpPr>
          <p:cNvPr id="10" name="Rectangle 9"/>
          <p:cNvSpPr/>
          <p:nvPr/>
        </p:nvSpPr>
        <p:spPr>
          <a:xfrm>
            <a:off x="21336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 name="Group 10"/>
          <p:cNvGrpSpPr/>
          <p:nvPr/>
        </p:nvGrpSpPr>
        <p:grpSpPr>
          <a:xfrm>
            <a:off x="3835400" y="2095500"/>
            <a:ext cx="1308100" cy="2159000"/>
            <a:chOff x="3835400" y="2095500"/>
            <a:chExt cx="1308100" cy="2159000"/>
          </a:xfrm>
        </p:grpSpPr>
        <p:sp>
          <p:nvSpPr>
            <p:cNvPr id="12" name="Rounded Rectangle 11"/>
            <p:cNvSpPr/>
            <p:nvPr/>
          </p:nvSpPr>
          <p:spPr>
            <a:xfrm>
              <a:off x="38354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751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3</a:t>
              </a:r>
            </a:p>
            <a:p>
              <a:pPr algn="l">
                <a:lnSpc>
                  <a:spcPct val="120000"/>
                </a:lnSpc>
                <a:spcBef>
                  <a:spcPts val="600"/>
                </a:spcBef>
              </a:pPr>
              <a:r>
                <a:rPr sz="1500" b="1" i="0">
                  <a:solidFill>
                    <a:srgbClr val="14213D"/>
                  </a:solidFill>
                  <a:latin typeface="Calibri"/>
                </a:rPr>
                <a:t>Prism</a:t>
              </a:r>
            </a:p>
            <a:p>
              <a:pPr algn="l">
                <a:lnSpc>
                  <a:spcPct val="115000"/>
                </a:lnSpc>
                <a:spcBef>
                  <a:spcPts val="500"/>
                </a:spcBef>
              </a:pPr>
              <a:r>
                <a:rPr sz="1200" b="0" i="0">
                  <a:solidFill>
                    <a:srgbClr val="4A5568"/>
                  </a:solidFill>
                  <a:latin typeface="Calibri"/>
                </a:rPr>
                <a:t>64 mm column through the chest</a:t>
              </a:r>
            </a:p>
          </p:txBody>
        </p:sp>
      </p:grpSp>
      <p:sp>
        <p:nvSpPr>
          <p:cNvPr id="14" name="Rectangle 13"/>
          <p:cNvSpPr/>
          <p:nvPr/>
        </p:nvSpPr>
        <p:spPr>
          <a:xfrm>
            <a:off x="36449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5" name="Group 14"/>
          <p:cNvGrpSpPr/>
          <p:nvPr/>
        </p:nvGrpSpPr>
        <p:grpSpPr>
          <a:xfrm>
            <a:off x="5346700" y="2095500"/>
            <a:ext cx="1308100" cy="2159000"/>
            <a:chOff x="5346700" y="2095500"/>
            <a:chExt cx="1308100" cy="2159000"/>
          </a:xfrm>
        </p:grpSpPr>
        <p:sp>
          <p:nvSpPr>
            <p:cNvPr id="16" name="Rounded Rectangle 15"/>
            <p:cNvSpPr/>
            <p:nvPr/>
          </p:nvSpPr>
          <p:spPr>
            <a:xfrm>
              <a:off x="5346700" y="2095500"/>
              <a:ext cx="1308100" cy="2159000"/>
            </a:xfrm>
            <a:prstGeom prst="roundRect">
              <a:avLst>
                <a:gd name="adj" fmla="val 77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0" y="2207260"/>
              <a:ext cx="1028700" cy="1935480"/>
            </a:xfrm>
            <a:prstGeom prst="rect">
              <a:avLst/>
            </a:prstGeom>
            <a:noFill/>
          </p:spPr>
          <p:txBody>
            <a:bodyPr wrap="square" lIns="0" rIns="0" tIns="0" bIns="0" anchor="t">
              <a:spAutoFit/>
            </a:bodyPr>
            <a:lstStyle/>
            <a:p>
              <a:pPr algn="l">
                <a:lnSpc>
                  <a:spcPct val="120000"/>
                </a:lnSpc>
              </a:pPr>
              <a:r>
                <a:rPr sz="2200" b="1" i="0">
                  <a:solidFill>
                    <a:srgbClr val="1F5FA8"/>
                  </a:solidFill>
                  <a:latin typeface="Georgia"/>
                </a:rPr>
                <a:t>4</a:t>
              </a:r>
            </a:p>
            <a:p>
              <a:pPr algn="l">
                <a:lnSpc>
                  <a:spcPct val="120000"/>
                </a:lnSpc>
                <a:spcBef>
                  <a:spcPts val="600"/>
                </a:spcBef>
              </a:pPr>
              <a:r>
                <a:rPr sz="1500" b="1" i="0">
                  <a:solidFill>
                    <a:srgbClr val="14213D"/>
                  </a:solidFill>
                  <a:latin typeface="Calibri"/>
                </a:rPr>
                <a:t>Diffusion</a:t>
              </a:r>
            </a:p>
            <a:p>
              <a:pPr algn="l">
                <a:lnSpc>
                  <a:spcPct val="115000"/>
                </a:lnSpc>
                <a:spcBef>
                  <a:spcPts val="500"/>
                </a:spcBef>
              </a:pPr>
              <a:r>
                <a:rPr sz="1200" b="0" i="0">
                  <a:solidFill>
                    <a:srgbClr val="4A5568"/>
                  </a:solidFill>
                  <a:latin typeface="Calibri"/>
                </a:rPr>
                <a:t>8 CT-like samples, kept X-ray consistent</a:t>
              </a:r>
            </a:p>
          </p:txBody>
        </p:sp>
      </p:grpSp>
      <p:sp>
        <p:nvSpPr>
          <p:cNvPr id="18" name="Rectangle 17"/>
          <p:cNvSpPr/>
          <p:nvPr/>
        </p:nvSpPr>
        <p:spPr>
          <a:xfrm>
            <a:off x="51562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9" name="Group 18"/>
          <p:cNvGrpSpPr/>
          <p:nvPr/>
        </p:nvGrpSpPr>
        <p:grpSpPr>
          <a:xfrm>
            <a:off x="6858000" y="2095500"/>
            <a:ext cx="1308100" cy="2159000"/>
            <a:chOff x="6858000" y="2095500"/>
            <a:chExt cx="1308100" cy="2159000"/>
          </a:xfrm>
        </p:grpSpPr>
        <p:sp>
          <p:nvSpPr>
            <p:cNvPr id="20" name="Rounded Rectangle 19"/>
            <p:cNvSpPr/>
            <p:nvPr/>
          </p:nvSpPr>
          <p:spPr>
            <a:xfrm>
              <a:off x="68580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77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5</a:t>
              </a:r>
            </a:p>
            <a:p>
              <a:pPr algn="l">
                <a:lnSpc>
                  <a:spcPct val="120000"/>
                </a:lnSpc>
                <a:spcBef>
                  <a:spcPts val="600"/>
                </a:spcBef>
              </a:pPr>
              <a:r>
                <a:rPr sz="1500" b="1" i="0">
                  <a:solidFill>
                    <a:srgbClr val="14213D"/>
                  </a:solidFill>
                  <a:latin typeface="Calibri"/>
                </a:rPr>
                <a:t>Gaussians</a:t>
              </a:r>
            </a:p>
            <a:p>
              <a:pPr algn="l">
                <a:lnSpc>
                  <a:spcPct val="115000"/>
                </a:lnSpc>
                <a:spcBef>
                  <a:spcPts val="500"/>
                </a:spcBef>
              </a:pPr>
              <a:r>
                <a:rPr sz="1200" b="0" i="0">
                  <a:solidFill>
                    <a:srgbClr val="4A5568"/>
                  </a:solidFill>
                  <a:latin typeface="Calibri"/>
                </a:rPr>
                <a:t>3D Gaussians give mass in closed form</a:t>
              </a:r>
            </a:p>
          </p:txBody>
        </p:sp>
      </p:grpSp>
      <p:sp>
        <p:nvSpPr>
          <p:cNvPr id="22" name="Rectangle 21"/>
          <p:cNvSpPr/>
          <p:nvPr/>
        </p:nvSpPr>
        <p:spPr>
          <a:xfrm>
            <a:off x="66675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3" name="Group 22"/>
          <p:cNvGrpSpPr/>
          <p:nvPr/>
        </p:nvGrpSpPr>
        <p:grpSpPr>
          <a:xfrm>
            <a:off x="8369300" y="2095500"/>
            <a:ext cx="1308100" cy="2159000"/>
            <a:chOff x="8369300" y="2095500"/>
            <a:chExt cx="1308100" cy="2159000"/>
          </a:xfrm>
        </p:grpSpPr>
        <p:sp>
          <p:nvSpPr>
            <p:cNvPr id="24" name="Rounded Rectangle 23"/>
            <p:cNvSpPr/>
            <p:nvPr/>
          </p:nvSpPr>
          <p:spPr>
            <a:xfrm>
              <a:off x="83693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90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6</a:t>
              </a:r>
            </a:p>
            <a:p>
              <a:pPr algn="l">
                <a:lnSpc>
                  <a:spcPct val="120000"/>
                </a:lnSpc>
                <a:spcBef>
                  <a:spcPts val="600"/>
                </a:spcBef>
              </a:pPr>
              <a:r>
                <a:rPr sz="1500" b="1" i="0">
                  <a:solidFill>
                    <a:srgbClr val="14213D"/>
                  </a:solidFill>
                  <a:latin typeface="Calibri"/>
                </a:rPr>
                <a:t>Conformal</a:t>
              </a:r>
            </a:p>
            <a:p>
              <a:pPr algn="l">
                <a:lnSpc>
                  <a:spcPct val="115000"/>
                </a:lnSpc>
                <a:spcBef>
                  <a:spcPts val="500"/>
                </a:spcBef>
              </a:pPr>
              <a:r>
                <a:rPr sz="1200" b="0" i="0">
                  <a:solidFill>
                    <a:srgbClr val="4A5568"/>
                  </a:solidFill>
                  <a:latin typeface="Calibri"/>
                </a:rPr>
                <a:t>Intervals and size-category odds</a:t>
              </a:r>
            </a:p>
          </p:txBody>
        </p:sp>
      </p:grpSp>
      <p:sp>
        <p:nvSpPr>
          <p:cNvPr id="26" name="Rectangle 25"/>
          <p:cNvSpPr/>
          <p:nvPr/>
        </p:nvSpPr>
        <p:spPr>
          <a:xfrm>
            <a:off x="81788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7" name="Group 26"/>
          <p:cNvGrpSpPr/>
          <p:nvPr/>
        </p:nvGrpSpPr>
        <p:grpSpPr>
          <a:xfrm>
            <a:off x="9880600" y="2095500"/>
            <a:ext cx="1308100" cy="2159000"/>
            <a:chOff x="9880600" y="2095500"/>
            <a:chExt cx="1308100" cy="2159000"/>
          </a:xfrm>
        </p:grpSpPr>
        <p:sp>
          <p:nvSpPr>
            <p:cNvPr id="28" name="Rounded Rectangle 27"/>
            <p:cNvSpPr/>
            <p:nvPr/>
          </p:nvSpPr>
          <p:spPr>
            <a:xfrm>
              <a:off x="98806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203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7</a:t>
              </a:r>
            </a:p>
            <a:p>
              <a:pPr algn="l">
                <a:lnSpc>
                  <a:spcPct val="120000"/>
                </a:lnSpc>
                <a:spcBef>
                  <a:spcPts val="600"/>
                </a:spcBef>
              </a:pPr>
              <a:r>
                <a:rPr sz="1500" b="1" i="0">
                  <a:solidFill>
                    <a:srgbClr val="14213D"/>
                  </a:solidFill>
                  <a:latin typeface="Calibri"/>
                </a:rPr>
                <a:t>Explain</a:t>
              </a:r>
            </a:p>
            <a:p>
              <a:pPr algn="l">
                <a:lnSpc>
                  <a:spcPct val="115000"/>
                </a:lnSpc>
                <a:spcBef>
                  <a:spcPts val="500"/>
                </a:spcBef>
              </a:pPr>
              <a:r>
                <a:rPr sz="1200" b="0" i="0">
                  <a:solidFill>
                    <a:srgbClr val="4A5568"/>
                  </a:solidFill>
                  <a:latin typeface="Calibri"/>
                </a:rPr>
                <a:t>Seen vs unseen split, saliency</a:t>
              </a:r>
            </a:p>
          </p:txBody>
        </p:sp>
      </p:grpSp>
      <p:sp>
        <p:nvSpPr>
          <p:cNvPr id="30" name="Rectangle 29"/>
          <p:cNvSpPr/>
          <p:nvPr/>
        </p:nvSpPr>
        <p:spPr>
          <a:xfrm>
            <a:off x="96901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1" name="Group 30"/>
          <p:cNvGrpSpPr/>
          <p:nvPr/>
        </p:nvGrpSpPr>
        <p:grpSpPr>
          <a:xfrm>
            <a:off x="812800" y="4508500"/>
            <a:ext cx="2819400" cy="698500"/>
            <a:chOff x="812800" y="4508500"/>
            <a:chExt cx="2819400" cy="698500"/>
          </a:xfrm>
        </p:grpSpPr>
        <p:sp>
          <p:nvSpPr>
            <p:cNvPr id="32" name="Rectangle 31"/>
            <p:cNvSpPr/>
            <p:nvPr/>
          </p:nvSpPr>
          <p:spPr>
            <a:xfrm>
              <a:off x="812800" y="4508500"/>
              <a:ext cx="2819400" cy="38100"/>
            </a:xfrm>
            <a:prstGeom prst="rect">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 y="4635500"/>
              <a:ext cx="2819400" cy="571500"/>
            </a:xfrm>
            <a:prstGeom prst="rect">
              <a:avLst/>
            </a:prstGeom>
            <a:noFill/>
          </p:spPr>
          <p:txBody>
            <a:bodyPr wrap="square" lIns="0" tIns="0">
              <a:spAutoFit/>
            </a:bodyPr>
            <a:lstStyle/>
            <a:p>
              <a:pPr algn="l">
                <a:lnSpc>
                  <a:spcPct val="120000"/>
                </a:lnSpc>
              </a:pPr>
              <a:r>
                <a:rPr sz="1200" b="1" i="0">
                  <a:solidFill>
                    <a:srgbClr val="4A5568"/>
                  </a:solidFill>
                  <a:latin typeface="Calibri"/>
                </a:rPr>
                <a:t>PHYSICS</a:t>
              </a:r>
            </a:p>
            <a:p>
              <a:pPr algn="l">
                <a:lnSpc>
                  <a:spcPct val="120000"/>
                </a:lnSpc>
                <a:spcBef>
                  <a:spcPts val="200"/>
                </a:spcBef>
              </a:pPr>
              <a:r>
                <a:rPr sz="1200" b="0" i="0">
                  <a:solidFill>
                    <a:srgbClr val="4A5568"/>
                  </a:solidFill>
                  <a:latin typeface="Calibri"/>
                </a:rPr>
                <a:t>what the X-rays measure</a:t>
              </a:r>
            </a:p>
          </p:txBody>
        </p:sp>
      </p:grpSp>
      <p:grpSp>
        <p:nvGrpSpPr>
          <p:cNvPr id="34" name="Group 33"/>
          <p:cNvGrpSpPr/>
          <p:nvPr/>
        </p:nvGrpSpPr>
        <p:grpSpPr>
          <a:xfrm>
            <a:off x="3835400" y="4508500"/>
            <a:ext cx="2819400" cy="698500"/>
            <a:chOff x="3835400" y="4508500"/>
            <a:chExt cx="2819400" cy="698500"/>
          </a:xfrm>
        </p:grpSpPr>
        <p:sp>
          <p:nvSpPr>
            <p:cNvPr id="35" name="Rectangle 34"/>
            <p:cNvSpPr/>
            <p:nvPr/>
          </p:nvSpPr>
          <p:spPr>
            <a:xfrm>
              <a:off x="3835400" y="4508500"/>
              <a:ext cx="2819400" cy="381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35400" y="4635500"/>
              <a:ext cx="2819400" cy="571500"/>
            </a:xfrm>
            <a:prstGeom prst="rect">
              <a:avLst/>
            </a:prstGeom>
            <a:noFill/>
          </p:spPr>
          <p:txBody>
            <a:bodyPr wrap="square" lIns="0" tIns="0">
              <a:spAutoFit/>
            </a:bodyPr>
            <a:lstStyle/>
            <a:p>
              <a:pPr algn="l">
                <a:lnSpc>
                  <a:spcPct val="120000"/>
                </a:lnSpc>
              </a:pPr>
              <a:r>
                <a:rPr sz="1200" b="1" i="0">
                  <a:solidFill>
                    <a:srgbClr val="1F5FA8"/>
                  </a:solidFill>
                  <a:latin typeface="Calibri"/>
                </a:rPr>
                <a:t>LEARNED</a:t>
              </a:r>
            </a:p>
            <a:p>
              <a:pPr algn="l">
                <a:lnSpc>
                  <a:spcPct val="120000"/>
                </a:lnSpc>
                <a:spcBef>
                  <a:spcPts val="200"/>
                </a:spcBef>
              </a:pPr>
              <a:r>
                <a:rPr sz="1200" b="0" i="0">
                  <a:solidFill>
                    <a:srgbClr val="4A5568"/>
                  </a:solidFill>
                  <a:latin typeface="Calibri"/>
                </a:rPr>
                <a:t>fills the missing wedge</a:t>
              </a:r>
            </a:p>
          </p:txBody>
        </p:sp>
      </p:grpSp>
      <p:grpSp>
        <p:nvGrpSpPr>
          <p:cNvPr id="37" name="Group 36"/>
          <p:cNvGrpSpPr/>
          <p:nvPr/>
        </p:nvGrpSpPr>
        <p:grpSpPr>
          <a:xfrm>
            <a:off x="6858000" y="4508500"/>
            <a:ext cx="4521200" cy="698500"/>
            <a:chOff x="6858000" y="4508500"/>
            <a:chExt cx="4521200" cy="698500"/>
          </a:xfrm>
        </p:grpSpPr>
        <p:sp>
          <p:nvSpPr>
            <p:cNvPr id="38" name="Rectangle 37"/>
            <p:cNvSpPr/>
            <p:nvPr/>
          </p:nvSpPr>
          <p:spPr>
            <a:xfrm>
              <a:off x="6858000" y="4508500"/>
              <a:ext cx="4521200" cy="381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4635500"/>
              <a:ext cx="4521200" cy="571500"/>
            </a:xfrm>
            <a:prstGeom prst="rect">
              <a:avLst/>
            </a:prstGeom>
            <a:noFill/>
          </p:spPr>
          <p:txBody>
            <a:bodyPr wrap="square" lIns="0" tIns="0">
              <a:spAutoFit/>
            </a:bodyPr>
            <a:lstStyle/>
            <a:p>
              <a:pPr algn="l">
                <a:lnSpc>
                  <a:spcPct val="120000"/>
                </a:lnSpc>
              </a:pPr>
              <a:r>
                <a:rPr sz="1200" b="1" i="0">
                  <a:solidFill>
                    <a:srgbClr val="2E7D4F"/>
                  </a:solidFill>
                  <a:latin typeface="Calibri"/>
                </a:rPr>
                <a:t>MEASURE AND TRUST</a:t>
              </a:r>
            </a:p>
            <a:p>
              <a:pPr algn="l">
                <a:lnSpc>
                  <a:spcPct val="120000"/>
                </a:lnSpc>
                <a:spcBef>
                  <a:spcPts val="200"/>
                </a:spcBef>
              </a:pPr>
              <a:r>
                <a:rPr sz="1200" b="0" i="0">
                  <a:solidFill>
                    <a:srgbClr val="4A5568"/>
                  </a:solidFill>
                  <a:latin typeface="Calibri"/>
                </a:rPr>
                <a:t>numbers, intervals, explanation</a:t>
              </a:r>
            </a:p>
          </p:txBody>
        </p:sp>
      </p:grpSp>
      <p:sp>
        <p:nvSpPr>
          <p:cNvPr id="40" name="TextBox 39"/>
          <p:cNvSpPr txBox="1"/>
          <p:nvPr/>
        </p:nvSpPr>
        <p:spPr>
          <a:xfrm>
            <a:off x="812800" y="5524500"/>
            <a:ext cx="10566400" cy="317500"/>
          </a:xfrm>
          <a:prstGeom prst="rect">
            <a:avLst/>
          </a:prstGeom>
          <a:noFill/>
        </p:spPr>
        <p:txBody>
          <a:bodyPr wrap="square" lIns="0" rIns="0" tIns="0" bIns="0" anchor="t">
            <a:spAutoFit/>
          </a:bodyPr>
          <a:lstStyle/>
          <a:p>
            <a:pPr algn="l">
              <a:lnSpc>
                <a:spcPct val="120000"/>
              </a:lnSpc>
            </a:pPr>
            <a:r>
              <a:rPr sz="1300" b="0" i="0">
                <a:solidFill>
                  <a:srgbClr val="4A5568"/>
                </a:solidFill>
                <a:latin typeface="Calibri"/>
              </a:rPr>
              <a:t>18 scripted steps, each ending in automatic PASS/FAIL checks · 69 unit tests · one rented GPU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anim calcmode="lin" valueType="num">
                                      <p:cBhvr additive="base">
                                        <p:cTn id="11" dur="500" fill="hold"/>
                                        <p:tgtEl>
                                          <p:spTgt spid="10"/>
                                        </p:tgtEl>
                                        <p:attrNameLst>
                                          <p:attrName>ppt_y</p:attrName>
                                        </p:attrNameLst>
                                      </p:cBhvr>
                                      <p:tavLst>
                                        <p:tav tm="0">
                                          <p:val>
                                            <p:strVal val="#ppt_y+0.05"/>
                                          </p:val>
                                        </p:tav>
                                        <p:tav tm="100000">
                                          <p:val>
                                            <p:strVal val="#ppt_y"/>
                                          </p:val>
                                        </p:tav>
                                      </p:tavLst>
                                    </p:anim>
                                  </p:childTnLst>
                                </p:cTn>
                              </p:par>
                              <p:par>
                                <p:cTn id="16" presetID="42"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additive="base">
                                        <p:cTn id="1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2" presetID="42"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anim calcmode="lin" valueType="num">
                                      <p:cBhvr additive="base">
                                        <p:cTn id="21" dur="500" fill="hold"/>
                                        <p:tgtEl>
                                          <p:spTgt spid="14"/>
                                        </p:tgtEl>
                                        <p:attrNameLst>
                                          <p:attrName>ppt_y</p:attrName>
                                        </p:attrNameLst>
                                      </p:cBhvr>
                                      <p:tavLst>
                                        <p:tav tm="0">
                                          <p:val>
                                            <p:strVal val="#ppt_y+0.05"/>
                                          </p:val>
                                        </p:tav>
                                        <p:tav tm="100000">
                                          <p:val>
                                            <p:strVal val="#ppt_y"/>
                                          </p:val>
                                        </p:tav>
                                      </p:tavLst>
                                    </p:anim>
                                  </p:childTnLst>
                                </p:cTn>
                              </p:par>
                              <p:par>
                                <p:cTn id="26" presetID="42"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anim calcmode="lin" valueType="num">
                                      <p:cBhvr additive="base">
                                        <p:cTn id="2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2" presetID="42"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500"/>
                                        <p:tgtEl>
                                          <p:spTgt spid="18"/>
                                        </p:tgtEl>
                                      </p:cBhvr>
                                    </p:animEffect>
                                    <p:anim calcmode="lin" valueType="num">
                                      <p:cBhvr additive="base">
                                        <p:cTn id="31" dur="500" fill="hold"/>
                                        <p:tgtEl>
                                          <p:spTgt spid="18"/>
                                        </p:tgtEl>
                                        <p:attrNameLst>
                                          <p:attrName>ppt_y</p:attrName>
                                        </p:attrNameLst>
                                      </p:cBhvr>
                                      <p:tavLst>
                                        <p:tav tm="0">
                                          <p:val>
                                            <p:strVal val="#ppt_y+0.05"/>
                                          </p:val>
                                        </p:tav>
                                        <p:tav tm="100000">
                                          <p:val>
                                            <p:strVal val="#ppt_y"/>
                                          </p:val>
                                        </p:tav>
                                      </p:tavLst>
                                    </p:anim>
                                  </p:childTnLst>
                                </p:cTn>
                              </p:par>
                              <p:par>
                                <p:cTn id="36" presetID="42"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anim calcmode="lin" valueType="num">
                                      <p:cBhvr additive="base">
                                        <p:cTn id="35"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2" presetID="42"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500"/>
                                        <p:tgtEl>
                                          <p:spTgt spid="22"/>
                                        </p:tgtEl>
                                      </p:cBhvr>
                                    </p:animEffect>
                                    <p:anim calcmode="lin" valueType="num">
                                      <p:cBhvr additive="base">
                                        <p:cTn id="41" dur="500" fill="hold"/>
                                        <p:tgtEl>
                                          <p:spTgt spid="22"/>
                                        </p:tgtEl>
                                        <p:attrNameLst>
                                          <p:attrName>ppt_y</p:attrName>
                                        </p:attrNameLst>
                                      </p:cBhvr>
                                      <p:tavLst>
                                        <p:tav tm="0">
                                          <p:val>
                                            <p:strVal val="#ppt_y+0.05"/>
                                          </p:val>
                                        </p:tav>
                                        <p:tav tm="100000">
                                          <p:val>
                                            <p:strVal val="#ppt_y"/>
                                          </p:val>
                                        </p:tav>
                                      </p:tavLst>
                                    </p:anim>
                                  </p:childTnLst>
                                </p:cTn>
                              </p:par>
                              <p:par>
                                <p:cTn id="46" presetID="42"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anim calcmode="lin" valueType="num">
                                      <p:cBhvr additive="base">
                                        <p:cTn id="45" dur="500" fill="hold"/>
                                        <p:tgtEl>
                                          <p:spTgt spid="19"/>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2" presetID="42" presetClass="entr" presetSubtype="0" fill="hold" grpId="0" nodeType="click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500"/>
                                        <p:tgtEl>
                                          <p:spTgt spid="26"/>
                                        </p:tgtEl>
                                      </p:cBhvr>
                                    </p:animEffect>
                                    <p:anim calcmode="lin" valueType="num">
                                      <p:cBhvr additive="base">
                                        <p:cTn id="51" dur="500" fill="hold"/>
                                        <p:tgtEl>
                                          <p:spTgt spid="26"/>
                                        </p:tgtEl>
                                        <p:attrNameLst>
                                          <p:attrName>ppt_y</p:attrName>
                                        </p:attrNameLst>
                                      </p:cBhvr>
                                      <p:tavLst>
                                        <p:tav tm="0">
                                          <p:val>
                                            <p:strVal val="#ppt_y+0.05"/>
                                          </p:val>
                                        </p:tav>
                                        <p:tav tm="100000">
                                          <p:val>
                                            <p:strVal val="#ppt_y"/>
                                          </p:val>
                                        </p:tav>
                                      </p:tavLst>
                                    </p:anim>
                                  </p:childTnLst>
                                </p:cTn>
                              </p:par>
                              <p:par>
                                <p:cTn id="56" presetID="42"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500"/>
                                        <p:tgtEl>
                                          <p:spTgt spid="23"/>
                                        </p:tgtEl>
                                      </p:cBhvr>
                                    </p:animEffect>
                                    <p:anim calcmode="lin" valueType="num">
                                      <p:cBhvr additive="base">
                                        <p:cTn id="55"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2" presetID="42" presetClass="entr" presetSubtype="0" fill="hold" grpId="0" nodeType="click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500"/>
                                        <p:tgtEl>
                                          <p:spTgt spid="30"/>
                                        </p:tgtEl>
                                      </p:cBhvr>
                                    </p:animEffect>
                                    <p:anim calcmode="lin" valueType="num">
                                      <p:cBhvr additive="base">
                                        <p:cTn id="61" dur="500" fill="hold"/>
                                        <p:tgtEl>
                                          <p:spTgt spid="30"/>
                                        </p:tgtEl>
                                        <p:attrNameLst>
                                          <p:attrName>ppt_y</p:attrName>
                                        </p:attrNameLst>
                                      </p:cBhvr>
                                      <p:tavLst>
                                        <p:tav tm="0">
                                          <p:val>
                                            <p:strVal val="#ppt_y+0.05"/>
                                          </p:val>
                                        </p:tav>
                                        <p:tav tm="100000">
                                          <p:val>
                                            <p:strVal val="#ppt_y"/>
                                          </p:val>
                                        </p:tav>
                                      </p:tavLst>
                                    </p:anim>
                                  </p:childTnLst>
                                </p:cTn>
                              </p:par>
                              <p:par>
                                <p:cTn id="66" presetID="42"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500"/>
                                        <p:tgtEl>
                                          <p:spTgt spid="27"/>
                                        </p:tgtEl>
                                      </p:cBhvr>
                                    </p:animEffect>
                                    <p:anim calcmode="lin" valueType="num">
                                      <p:cBhvr additive="base">
                                        <p:cTn id="65"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1" presetID="10" presetClass="entr" presetSubtype="0" fill="hold" grpId="0" nodeType="click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4" presetID="10" presetClass="entr" presetSubtype="0" fill="hold" grpId="0" nodeType="withEffect">
                                  <p:stCondLst>
                                    <p:cond delay="25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500"/>
                                        <p:tgtEl>
                                          <p:spTgt spid="34"/>
                                        </p:tgtEl>
                                      </p:cBhvr>
                                    </p:animEffect>
                                  </p:childTnLst>
                                </p:cTn>
                              </p:par>
                              <p:par>
                                <p:cTn id="77" presetID="10" presetClass="entr" presetSubtype="0" fill="hold" grpId="0" nodeType="withEffect">
                                  <p:stCondLst>
                                    <p:cond delay="50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childTnLst>
                          </p:cTn>
                        </p:par>
                      </p:childTnLst>
                    </p:cTn>
                  </p:par>
                  <p:par>
                    <p:cTn id="83" fill="hold">
                      <p:stCondLst>
                        <p:cond delay="indefinite"/>
                      </p:stCondLst>
                      <p:childTnLst>
                        <p:par>
                          <p:cTn id="84" fill="hold">
                            <p:stCondLst>
                              <p:cond delay="0"/>
                            </p:stCondLst>
                            <p:childTnLst>
                              <p:par>
                                <p:cTn id="82" presetID="10" presetClass="entr" presetSubtype="0"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fade">
                                      <p:cBhvr>
                                        <p:cTn id="81"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P spid="18" grpId="0"/>
      <p:bldP spid="22" grpId="0"/>
      <p:bldP spid="26" grpId="0"/>
      <p:bldP spid="30" grpId="0"/>
      <p:bldP spid="40" grpId="0"/>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DATASET · VIRTUAL CLINICAL TRIAL</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Real patient CT, simulated low-dose DTS</a:t>
            </a:r>
          </a:p>
        </p:txBody>
      </p:sp>
      <p:sp>
        <p:nvSpPr>
          <p:cNvPr id="4" name="Rounded Rectangle 3"/>
          <p:cNvSpPr/>
          <p:nvPr/>
        </p:nvSpPr>
        <p:spPr>
          <a:xfrm>
            <a:off x="812800" y="1841500"/>
            <a:ext cx="5588000" cy="3784600"/>
          </a:xfrm>
          <a:prstGeom prst="roundRect">
            <a:avLst>
              <a:gd name="adj" fmla="val 201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ts_views.png"/>
          <p:cNvPicPr>
            <a:picLocks noChangeAspect="1"/>
          </p:cNvPicPr>
          <p:nvPr/>
        </p:nvPicPr>
        <p:blipFill>
          <a:blip r:embed="rId2"/>
          <a:stretch>
            <a:fillRect/>
          </a:stretch>
        </p:blipFill>
        <p:spPr>
          <a:xfrm>
            <a:off x="815287" y="1841500"/>
            <a:ext cx="5583026" cy="3784600"/>
          </a:xfrm>
          <a:prstGeom prst="rect">
            <a:avLst/>
          </a:prstGeom>
        </p:spPr>
      </p:pic>
      <p:sp>
        <p:nvSpPr>
          <p:cNvPr id="6" name="TextBox 5"/>
          <p:cNvSpPr txBox="1"/>
          <p:nvPr/>
        </p:nvSpPr>
        <p:spPr>
          <a:xfrm>
            <a:off x="6807200" y="1905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583</a:t>
            </a:r>
          </a:p>
          <a:p>
            <a:pPr algn="l">
              <a:lnSpc>
                <a:spcPct val="120000"/>
              </a:lnSpc>
              <a:spcBef>
                <a:spcPts val="400"/>
              </a:spcBef>
            </a:pPr>
            <a:r>
              <a:rPr sz="1300" b="0" i="0">
                <a:solidFill>
                  <a:srgbClr val="4A5568"/>
                </a:solidFill>
                <a:latin typeface="Calibri"/>
              </a:rPr>
              <a:t>LIDC-IDRI patients (TCIA, CC BY 3.0)</a:t>
            </a:r>
          </a:p>
        </p:txBody>
      </p:sp>
      <p:sp>
        <p:nvSpPr>
          <p:cNvPr id="7" name="TextBox 6"/>
          <p:cNvSpPr txBox="1"/>
          <p:nvPr/>
        </p:nvSpPr>
        <p:spPr>
          <a:xfrm>
            <a:off x="6807200" y="2857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1,144</a:t>
            </a:r>
          </a:p>
          <a:p>
            <a:pPr algn="l">
              <a:lnSpc>
                <a:spcPct val="120000"/>
              </a:lnSpc>
              <a:spcBef>
                <a:spcPts val="400"/>
              </a:spcBef>
            </a:pPr>
            <a:r>
              <a:rPr sz="1300" b="0" i="0">
                <a:solidFill>
                  <a:srgbClr val="4A5568"/>
                </a:solidFill>
                <a:latin typeface="Calibri"/>
              </a:rPr>
              <a:t>nodules of 4–30 mm marked by ≥3 of 4 radiologists</a:t>
            </a:r>
          </a:p>
        </p:txBody>
      </p:sp>
      <p:sp>
        <p:nvSpPr>
          <p:cNvPr id="8" name="TextBox 7"/>
          <p:cNvSpPr txBox="1"/>
          <p:nvPr/>
        </p:nvSpPr>
        <p:spPr>
          <a:xfrm>
            <a:off x="6807200" y="3810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60 / 20 / 20</a:t>
            </a:r>
          </a:p>
          <a:p>
            <a:pPr algn="l">
              <a:lnSpc>
                <a:spcPct val="120000"/>
              </a:lnSpc>
              <a:spcBef>
                <a:spcPts val="400"/>
              </a:spcBef>
            </a:pPr>
            <a:r>
              <a:rPr sz="1300" b="0" i="0">
                <a:solidFill>
                  <a:srgbClr val="4A5568"/>
                </a:solidFill>
                <a:latin typeface="Calibri"/>
              </a:rPr>
              <a:t>train / calibration / test, split by patient</a:t>
            </a:r>
          </a:p>
        </p:txBody>
      </p:sp>
      <p:sp>
        <p:nvSpPr>
          <p:cNvPr id="9" name="TextBox 8"/>
          <p:cNvSpPr txBox="1"/>
          <p:nvPr/>
        </p:nvSpPr>
        <p:spPr>
          <a:xfrm>
            <a:off x="6807200" y="4762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2,522</a:t>
            </a:r>
          </a:p>
          <a:p>
            <a:pPr algn="l">
              <a:lnSpc>
                <a:spcPct val="120000"/>
              </a:lnSpc>
              <a:spcBef>
                <a:spcPts val="400"/>
              </a:spcBef>
            </a:pPr>
            <a:r>
              <a:rPr sz="1300" b="0" i="0">
                <a:solidFill>
                  <a:srgbClr val="4A5568"/>
                </a:solidFill>
                <a:latin typeface="Calibri"/>
              </a:rPr>
              <a:t>training pairs (265 held out); 150 nodules measured: 76 cal, 74 test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additive="base">
                                        <p:cTn id="5"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anim calcmode="lin" valueType="num">
                                      <p:cBhvr additive="base">
                                        <p:cTn id="17"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anim calcmode="lin" valueType="num">
                                      <p:cBhvr additive="base">
                                        <p:cTn id="23"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LEARNED PRIOR</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conditional 3D diffusion model fills the missing wedge</a:t>
            </a:r>
          </a:p>
        </p:txBody>
      </p:sp>
      <p:pic>
        <p:nvPicPr>
          <p:cNvPr id="4" name="Picture 3" descr="diff_strip.png"/>
          <p:cNvPicPr>
            <a:picLocks noChangeAspect="1"/>
          </p:cNvPicPr>
          <p:nvPr/>
        </p:nvPicPr>
        <p:blipFill>
          <a:blip r:embed="rId2"/>
          <a:stretch>
            <a:fillRect/>
          </a:stretch>
        </p:blipFill>
        <p:spPr>
          <a:xfrm>
            <a:off x="2681255" y="2032000"/>
            <a:ext cx="6829490" cy="2159000"/>
          </a:xfrm>
          <a:prstGeom prst="rect">
            <a:avLst/>
          </a:prstGeom>
        </p:spPr>
      </p:pic>
      <p:sp>
        <p:nvSpPr>
          <p:cNvPr id="5" name="TextBox 4"/>
          <p:cNvSpPr txBox="1"/>
          <p:nvPr/>
        </p:nvSpPr>
        <p:spPr>
          <a:xfrm>
            <a:off x="2681255"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DTS input (condition)</a:t>
            </a:r>
          </a:p>
        </p:txBody>
      </p:sp>
      <p:sp>
        <p:nvSpPr>
          <p:cNvPr id="6" name="TextBox 5"/>
          <p:cNvSpPr txBox="1"/>
          <p:nvPr/>
        </p:nvSpPr>
        <p:spPr>
          <a:xfrm>
            <a:off x="4957752" y="4267200"/>
            <a:ext cx="2276497" cy="254000"/>
          </a:xfrm>
          <a:prstGeom prst="rect">
            <a:avLst/>
          </a:prstGeom>
          <a:noFill/>
        </p:spPr>
        <p:txBody>
          <a:bodyPr wrap="square" lIns="0" rIns="0" tIns="0" bIns="0" anchor="t">
            <a:spAutoFit/>
          </a:bodyPr>
          <a:lstStyle/>
          <a:p>
            <a:pPr algn="ctr">
              <a:lnSpc>
                <a:spcPct val="120000"/>
              </a:lnSpc>
            </a:pPr>
            <a:r>
              <a:rPr sz="1300" b="1" i="0">
                <a:solidFill>
                  <a:srgbClr val="1F5FA8"/>
                </a:solidFill>
                <a:latin typeface="Calibri"/>
              </a:rPr>
              <a:t>Diffusion sample</a:t>
            </a:r>
          </a:p>
        </p:txBody>
      </p:sp>
      <p:sp>
        <p:nvSpPr>
          <p:cNvPr id="7" name="TextBox 6"/>
          <p:cNvSpPr txBox="1"/>
          <p:nvPr/>
        </p:nvSpPr>
        <p:spPr>
          <a:xfrm>
            <a:off x="7234248"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CT truth</a:t>
            </a:r>
          </a:p>
        </p:txBody>
      </p:sp>
      <p:grpSp>
        <p:nvGrpSpPr>
          <p:cNvPr id="8" name="Group 7"/>
          <p:cNvGrpSpPr/>
          <p:nvPr/>
        </p:nvGrpSpPr>
        <p:grpSpPr>
          <a:xfrm>
            <a:off x="812800" y="4762500"/>
            <a:ext cx="2527300" cy="952500"/>
            <a:chOff x="812800" y="4762500"/>
            <a:chExt cx="2527300" cy="952500"/>
          </a:xfrm>
        </p:grpSpPr>
        <p:sp>
          <p:nvSpPr>
            <p:cNvPr id="9" name="Rounded Rectangle 8"/>
            <p:cNvSpPr/>
            <p:nvPr/>
          </p:nvSpPr>
          <p:spPr>
            <a:xfrm>
              <a:off x="8128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52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17.4 M</a:t>
              </a:r>
              <a:r>
                <a:rPr sz="1300" b="0" i="0">
                  <a:solidFill>
                    <a:srgbClr val="14213D"/>
                  </a:solidFill>
                  <a:latin typeface="Calibri"/>
                </a:rPr>
                <a:t>-parameter 3D U-Net, v-prediction, DDIM</a:t>
              </a:r>
            </a:p>
          </p:txBody>
        </p:sp>
      </p:grpSp>
      <p:grpSp>
        <p:nvGrpSpPr>
          <p:cNvPr id="11" name="Group 10"/>
          <p:cNvGrpSpPr/>
          <p:nvPr/>
        </p:nvGrpSpPr>
        <p:grpSpPr>
          <a:xfrm>
            <a:off x="3492500" y="4762500"/>
            <a:ext cx="2527300" cy="952500"/>
            <a:chOff x="3492500" y="4762500"/>
            <a:chExt cx="2527300" cy="952500"/>
          </a:xfrm>
        </p:grpSpPr>
        <p:sp>
          <p:nvSpPr>
            <p:cNvPr id="12" name="Rounded Rectangle 11"/>
            <p:cNvSpPr/>
            <p:nvPr/>
          </p:nvSpPr>
          <p:spPr>
            <a:xfrm>
              <a:off x="34925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49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SIRT steps</a:t>
              </a:r>
              <a:r>
                <a:rPr sz="1300" b="0" i="0">
                  <a:solidFill>
                    <a:srgbClr val="14213D"/>
                  </a:solidFill>
                  <a:latin typeface="Calibri"/>
                </a:rPr>
                <a:t> inside the sampler keep it X-ray consistent</a:t>
              </a:r>
            </a:p>
          </p:txBody>
        </p:sp>
      </p:grpSp>
      <p:grpSp>
        <p:nvGrpSpPr>
          <p:cNvPr id="14" name="Group 13"/>
          <p:cNvGrpSpPr/>
          <p:nvPr/>
        </p:nvGrpSpPr>
        <p:grpSpPr>
          <a:xfrm>
            <a:off x="6172200" y="4762500"/>
            <a:ext cx="2527300" cy="952500"/>
            <a:chOff x="6172200" y="4762500"/>
            <a:chExt cx="2527300" cy="952500"/>
          </a:xfrm>
        </p:grpSpPr>
        <p:sp>
          <p:nvSpPr>
            <p:cNvPr id="15" name="Rounded Rectangle 14"/>
            <p:cNvSpPr/>
            <p:nvPr/>
          </p:nvSpPr>
          <p:spPr>
            <a:xfrm>
              <a:off x="61722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46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27,610</a:t>
              </a:r>
              <a:r>
                <a:rPr sz="1300" b="0" i="0">
                  <a:solidFill>
                    <a:srgbClr val="14213D"/>
                  </a:solidFill>
                  <a:latin typeface="Calibri"/>
                </a:rPr>
                <a:t> steps in 6 h on 2,522 pairs</a:t>
              </a:r>
            </a:p>
          </p:txBody>
        </p:sp>
      </p:grpSp>
      <p:grpSp>
        <p:nvGrpSpPr>
          <p:cNvPr id="17" name="Group 16"/>
          <p:cNvGrpSpPr/>
          <p:nvPr/>
        </p:nvGrpSpPr>
        <p:grpSpPr>
          <a:xfrm>
            <a:off x="8851900" y="4762500"/>
            <a:ext cx="2527300" cy="952500"/>
            <a:chOff x="8851900" y="4762500"/>
            <a:chExt cx="2527300" cy="952500"/>
          </a:xfrm>
        </p:grpSpPr>
        <p:sp>
          <p:nvSpPr>
            <p:cNvPr id="18" name="Rounded Rectangle 17"/>
            <p:cNvSpPr/>
            <p:nvPr/>
          </p:nvSpPr>
          <p:spPr>
            <a:xfrm>
              <a:off x="8851900" y="4762500"/>
              <a:ext cx="2527300" cy="952500"/>
            </a:xfrm>
            <a:prstGeom prst="roundRect">
              <a:avLst>
                <a:gd name="adj" fmla="val 106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04300" y="4884420"/>
              <a:ext cx="2222500" cy="708660"/>
            </a:xfrm>
            <a:prstGeom prst="rect">
              <a:avLst/>
            </a:prstGeom>
            <a:noFill/>
          </p:spPr>
          <p:txBody>
            <a:bodyPr wrap="square" lIns="0" rIns="0" tIns="0" bIns="0" anchor="t">
              <a:spAutoFit/>
            </a:bodyPr>
            <a:lstStyle/>
            <a:p>
              <a:pPr algn="l">
                <a:lnSpc>
                  <a:spcPct val="120000"/>
                </a:lnSpc>
              </a:pPr>
              <a:r>
                <a:rPr sz="1300" b="0" i="0">
                  <a:solidFill>
                    <a:srgbClr val="14213D"/>
                  </a:solidFill>
                  <a:latin typeface="Calibri"/>
                </a:rPr>
                <a:t>Held-out nodule PSNR </a:t>
              </a:r>
              <a:r>
                <a:rPr sz="1300" b="1" i="0">
                  <a:solidFill>
                    <a:srgbClr val="14213D"/>
                  </a:solidFill>
                  <a:latin typeface="Calibri"/>
                </a:rPr>
                <a:t>11.88 → 15.23 dB</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par>
                                <p:cTn id="10" presetID="42" presetClass="entr" presetSubtype="0" fill="hold" grpId="0" nodeType="withEffect">
                                  <p:stCondLst>
                                    <p:cond delay="2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500"/>
                                        <p:tgtEl>
                                          <p:spTgt spid="11"/>
                                        </p:tgtEl>
                                      </p:cBhvr>
                                    </p:animEffect>
                                    <p:anim calcmode="lin" valueType="num">
                                      <p:cBhvr additive="base">
                                        <p:cTn id="9" dur="500" fill="hold"/>
                                        <p:tgtEl>
                                          <p:spTgt spid="11"/>
                                        </p:tgtEl>
                                        <p:attrNameLst>
                                          <p:attrName>ppt_y</p:attrName>
                                        </p:attrNameLst>
                                      </p:cBhvr>
                                      <p:tavLst>
                                        <p:tav tm="0">
                                          <p:val>
                                            <p:strVal val="#ppt_y+0.05"/>
                                          </p:val>
                                        </p:tav>
                                        <p:tav tm="100000">
                                          <p:val>
                                            <p:strVal val="#ppt_y"/>
                                          </p:val>
                                        </p:tav>
                                      </p:tavLst>
                                    </p:anim>
                                  </p:childTnLst>
                                </p:cTn>
                              </p:par>
                              <p:par>
                                <p:cTn id="14" presetID="42" presetClass="entr" presetSubtype="0" fill="hold" grpId="0" nodeType="withEffect">
                                  <p:stCondLst>
                                    <p:cond delay="40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anim calcmode="lin" valueType="num">
                                      <p:cBhvr additive="base">
                                        <p:cTn id="13" dur="500" fill="hold"/>
                                        <p:tgtEl>
                                          <p:spTgt spid="14"/>
                                        </p:tgtEl>
                                        <p:attrNameLst>
                                          <p:attrName>ppt_y</p:attrName>
                                        </p:attrNameLst>
                                      </p:cBhvr>
                                      <p:tavLst>
                                        <p:tav tm="0">
                                          <p:val>
                                            <p:strVal val="#ppt_y+0.05"/>
                                          </p:val>
                                        </p:tav>
                                        <p:tav tm="100000">
                                          <p:val>
                                            <p:strVal val="#ppt_y"/>
                                          </p:val>
                                        </p:tav>
                                      </p:tavLst>
                                    </p:anim>
                                  </p:childTnLst>
                                </p:cTn>
                              </p:par>
                              <p:par>
                                <p:cTn id="18" presetID="42" presetClass="entr" presetSubtype="0" fill="hold" grpId="0" nodeType="withEffect">
                                  <p:stCondLst>
                                    <p:cond delay="60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MEASUREMENT AND TRUST</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Gaussians give the mass; conformal prediction gives honest intervals</a:t>
            </a:r>
          </a:p>
        </p:txBody>
      </p:sp>
      <p:grpSp>
        <p:nvGrpSpPr>
          <p:cNvPr id="4" name="Group 3"/>
          <p:cNvGrpSpPr/>
          <p:nvPr/>
        </p:nvGrpSpPr>
        <p:grpSpPr>
          <a:xfrm>
            <a:off x="812800" y="2159000"/>
            <a:ext cx="5156200" cy="3683000"/>
            <a:chOff x="812800" y="2159000"/>
            <a:chExt cx="5156200" cy="3683000"/>
          </a:xfrm>
        </p:grpSpPr>
        <p:sp>
          <p:nvSpPr>
            <p:cNvPr id="5" name="Rounded Rectangle 4"/>
            <p:cNvSpPr/>
            <p:nvPr/>
          </p:nvSpPr>
          <p:spPr>
            <a:xfrm>
              <a:off x="8128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5156200" cy="50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778000" y="2857500"/>
              <a:ext cx="1524000" cy="889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476500" y="2889250"/>
              <a:ext cx="889000" cy="6985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41500" y="3143250"/>
              <a:ext cx="762000" cy="508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68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3D Gaussians</a:t>
              </a:r>
            </a:p>
          </p:txBody>
        </p:sp>
        <p:sp>
          <p:nvSpPr>
            <p:cNvPr id="11" name="TextBox 10"/>
            <p:cNvSpPr txBox="1"/>
            <p:nvPr/>
          </p:nvSpPr>
          <p:spPr>
            <a:xfrm>
              <a:off x="10668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Each sample is fitted with anisotropic Gaussians. Mass is a sum over them in </a:t>
              </a:r>
              <a:r>
                <a:rPr sz="1500" b="1" i="0">
                  <a:solidFill>
                    <a:srgbClr val="14213D"/>
                  </a:solidFill>
                  <a:latin typeface="Calibri"/>
                </a:rPr>
                <a:t>closed form</a:t>
              </a:r>
              <a:r>
                <a:rPr sz="1500" b="0" i="0">
                  <a:solidFill>
                    <a:srgbClr val="14213D"/>
                  </a:solidFill>
                  <a:latin typeface="Calibri"/>
                </a:rPr>
                <a:t>: amplitude × (2π)^(3/2) × s₁ s₂ s₃.</a:t>
              </a:r>
            </a:p>
          </p:txBody>
        </p:sp>
      </p:grpSp>
      <p:grpSp>
        <p:nvGrpSpPr>
          <p:cNvPr id="12" name="Group 11"/>
          <p:cNvGrpSpPr/>
          <p:nvPr/>
        </p:nvGrpSpPr>
        <p:grpSpPr>
          <a:xfrm>
            <a:off x="6223000" y="2159000"/>
            <a:ext cx="5156200" cy="3683000"/>
            <a:chOff x="6223000" y="2159000"/>
            <a:chExt cx="5156200" cy="3683000"/>
          </a:xfrm>
        </p:grpSpPr>
        <p:sp>
          <p:nvSpPr>
            <p:cNvPr id="13" name="Rounded Rectangle 12"/>
            <p:cNvSpPr/>
            <p:nvPr/>
          </p:nvSpPr>
          <p:spPr>
            <a:xfrm>
              <a:off x="62230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3000" y="2159000"/>
              <a:ext cx="5156200" cy="50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70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Conformal calibration</a:t>
              </a:r>
            </a:p>
          </p:txBody>
        </p:sp>
        <p:sp>
          <p:nvSpPr>
            <p:cNvPr id="16" name="Oval 15"/>
            <p:cNvSpPr/>
            <p:nvPr/>
          </p:nvSpPr>
          <p:spPr>
            <a:xfrm>
              <a:off x="655955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750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0880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67550" y="3638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58050" y="37338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48550" y="3575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39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29550" y="3511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51800" y="34163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4050" y="3257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28050" y="3111500"/>
              <a:ext cx="88900" cy="88900"/>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8445500" y="2921000"/>
              <a:ext cx="0" cy="1016000"/>
            </a:xfrm>
            <a:prstGeom prst="line">
              <a:avLst/>
            </a:prstGeom>
            <a:ln w="25400">
              <a:solidFill>
                <a:srgbClr val="D9661F"/>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26500" y="3333750"/>
              <a:ext cx="889000" cy="190500"/>
            </a:xfrm>
            <a:prstGeom prst="roundRect">
              <a:avLst>
                <a:gd name="adj" fmla="val 20000"/>
              </a:avLst>
            </a:prstGeom>
            <a:solidFill>
              <a:srgbClr val="1F5FA8">
                <a:alpha val="20000"/>
              </a:srgbClr>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220200" y="3378200"/>
              <a:ext cx="101600" cy="1016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Errors on </a:t>
              </a:r>
              <a:r>
                <a:rPr sz="1500" b="1" i="0">
                  <a:solidFill>
                    <a:srgbClr val="14213D"/>
                  </a:solidFill>
                  <a:latin typeface="Calibri"/>
                </a:rPr>
                <a:t>76 calibration nodules</a:t>
              </a:r>
              <a:r>
                <a:rPr sz="1500" b="0" i="0">
                  <a:solidFill>
                    <a:srgbClr val="14213D"/>
                  </a:solidFill>
                  <a:latin typeface="Calibri"/>
                </a:rPr>
                <a:t> set the 90% quantile; every new estimate gets that interval and calibrated EUPS size-category probabilities.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APPLICATION</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Click a nodule, get its 3D measurement in under a minute</a:t>
            </a:r>
          </a:p>
        </p:txBody>
      </p:sp>
      <p:sp>
        <p:nvSpPr>
          <p:cNvPr id="4" name="Rounded Rectangle 3"/>
          <p:cNvSpPr/>
          <p:nvPr/>
        </p:nvSpPr>
        <p:spPr>
          <a:xfrm>
            <a:off x="812800" y="2159000"/>
            <a:ext cx="5588000" cy="2921000"/>
          </a:xfrm>
          <a:prstGeom prst="roundRect">
            <a:avLst>
              <a:gd name="adj" fmla="val 2608"/>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mo_roi_solid.png"/>
          <p:cNvPicPr>
            <a:picLocks noChangeAspect="1"/>
          </p:cNvPicPr>
          <p:nvPr/>
        </p:nvPicPr>
        <p:blipFill>
          <a:blip r:embed="rId2"/>
          <a:stretch>
            <a:fillRect/>
          </a:stretch>
        </p:blipFill>
        <p:spPr>
          <a:xfrm>
            <a:off x="812800" y="2160868"/>
            <a:ext cx="5588000" cy="2917265"/>
          </a:xfrm>
          <a:prstGeom prst="rect">
            <a:avLst/>
          </a:prstGeom>
        </p:spPr>
      </p:pic>
      <p:sp>
        <p:nvSpPr>
          <p:cNvPr id="6" name="TextBox 5"/>
          <p:cNvSpPr txBox="1"/>
          <p:nvPr/>
        </p:nvSpPr>
        <p:spPr>
          <a:xfrm>
            <a:off x="812800" y="5156200"/>
            <a:ext cx="5588000" cy="508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Prism views: DTS input (top) and reconstruction with segmentation and sample spread (bottom)</a:t>
            </a:r>
          </a:p>
        </p:txBody>
      </p:sp>
      <p:sp>
        <p:nvSpPr>
          <p:cNvPr id="7" name="Rounded Rectangle 6"/>
          <p:cNvSpPr/>
          <p:nvPr/>
        </p:nvSpPr>
        <p:spPr>
          <a:xfrm>
            <a:off x="6604000" y="2159000"/>
            <a:ext cx="4775200" cy="1905000"/>
          </a:xfrm>
          <a:prstGeom prst="roundRect">
            <a:avLst>
              <a:gd name="adj" fmla="val 4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mo_3d_a.png"/>
          <p:cNvPicPr>
            <a:picLocks noChangeAspect="1"/>
          </p:cNvPicPr>
          <p:nvPr/>
        </p:nvPicPr>
        <p:blipFill>
          <a:blip r:embed="rId3"/>
          <a:stretch>
            <a:fillRect/>
          </a:stretch>
        </p:blipFill>
        <p:spPr>
          <a:xfrm>
            <a:off x="6865526" y="2159000"/>
            <a:ext cx="4252148" cy="1905000"/>
          </a:xfrm>
          <a:prstGeom prst="rect">
            <a:avLst/>
          </a:prstGeom>
        </p:spPr>
      </p:pic>
      <p:sp>
        <p:nvSpPr>
          <p:cNvPr id="9" name="TextBox 8"/>
          <p:cNvSpPr txBox="1"/>
          <p:nvPr/>
        </p:nvSpPr>
        <p:spPr>
          <a:xfrm>
            <a:off x="6604000" y="4140200"/>
            <a:ext cx="4775200" cy="4445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3D view: green = samples agree, red = uncertain (mostly depth), grey = radiologists</a:t>
            </a:r>
          </a:p>
        </p:txBody>
      </p:sp>
      <p:grpSp>
        <p:nvGrpSpPr>
          <p:cNvPr id="10" name="Group 9"/>
          <p:cNvGrpSpPr/>
          <p:nvPr/>
        </p:nvGrpSpPr>
        <p:grpSpPr>
          <a:xfrm>
            <a:off x="6604000" y="4762500"/>
            <a:ext cx="4775200" cy="952500"/>
            <a:chOff x="6604000" y="4762500"/>
            <a:chExt cx="4775200" cy="952500"/>
          </a:xfrm>
        </p:grpSpPr>
        <p:sp>
          <p:nvSpPr>
            <p:cNvPr id="11" name="Rounded Rectangle 10"/>
            <p:cNvSpPr/>
            <p:nvPr/>
          </p:nvSpPr>
          <p:spPr>
            <a:xfrm>
              <a:off x="6604000" y="4762500"/>
              <a:ext cx="4775200" cy="952500"/>
            </a:xfrm>
            <a:prstGeom prst="roundRect">
              <a:avLst>
                <a:gd name="adj" fmla="val 10666"/>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56400" y="4884420"/>
              <a:ext cx="4470400" cy="708660"/>
            </a:xfrm>
            <a:prstGeom prst="rect">
              <a:avLst/>
            </a:prstGeom>
            <a:noFill/>
          </p:spPr>
          <p:txBody>
            <a:bodyPr wrap="square" lIns="0" rIns="0" tIns="0" bIns="0" anchor="t">
              <a:spAutoFit/>
            </a:bodyPr>
            <a:lstStyle/>
            <a:p>
              <a:pPr algn="l">
                <a:lnSpc>
                  <a:spcPct val="125000"/>
                </a:lnSpc>
              </a:pPr>
              <a:r>
                <a:rPr sz="1400" b="0" i="0">
                  <a:solidFill>
                    <a:srgbClr val="14213D"/>
                  </a:solidFill>
                  <a:latin typeface="Calibri"/>
                </a:rPr>
                <a:t>Mass, volume and EUPS category with intervals and probabilities, plus a </a:t>
              </a:r>
              <a:r>
                <a:rPr sz="1400" b="1" i="0">
                  <a:solidFill>
                    <a:srgbClr val="14213D"/>
                  </a:solidFill>
                  <a:latin typeface="Calibri"/>
                </a:rPr>
                <a:t>low-confidence flag</a:t>
              </a:r>
              <a:r>
                <a:rPr sz="1400" b="0" i="0">
                  <a:solidFill>
                    <a:srgbClr val="14213D"/>
                  </a:solidFill>
                  <a:latin typeface="Calibri"/>
                </a:rPr>
                <a:t>. Runs on a free Kaggle GPU.</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3D NODULE RECONSTRUCTION</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Each nodule rebuilt in 3D, coloured by certainty</a:t>
            </a:r>
          </a:p>
        </p:txBody>
      </p:sp>
      <p:grpSp>
        <p:nvGrpSpPr>
          <p:cNvPr id="4" name="Group 3"/>
          <p:cNvGrpSpPr/>
          <p:nvPr/>
        </p:nvGrpSpPr>
        <p:grpSpPr>
          <a:xfrm>
            <a:off x="812800" y="1841500"/>
            <a:ext cx="5130800" cy="3733800"/>
            <a:chOff x="812800" y="1841500"/>
            <a:chExt cx="5130800" cy="3733800"/>
          </a:xfrm>
        </p:grpSpPr>
        <p:sp>
          <p:nvSpPr>
            <p:cNvPr id="5" name="Rounded Rectangle 4"/>
            <p:cNvSpPr/>
            <p:nvPr/>
          </p:nvSpPr>
          <p:spPr>
            <a:xfrm>
              <a:off x="812800" y="1841500"/>
              <a:ext cx="5130800" cy="2984500"/>
            </a:xfrm>
            <a:prstGeom prst="roundRect">
              <a:avLst>
                <a:gd name="adj" fmla="val 255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on3d_a.png"/>
            <p:cNvPicPr>
              <a:picLocks noChangeAspect="1"/>
            </p:cNvPicPr>
            <p:nvPr/>
          </p:nvPicPr>
          <p:blipFill>
            <a:blip r:embed="rId2"/>
            <a:stretch>
              <a:fillRect/>
            </a:stretch>
          </p:blipFill>
          <p:spPr>
            <a:xfrm>
              <a:off x="1355969" y="1905000"/>
              <a:ext cx="4044462" cy="2857500"/>
            </a:xfrm>
            <a:prstGeom prst="rect">
              <a:avLst/>
            </a:prstGeom>
          </p:spPr>
        </p:pic>
        <p:sp>
          <p:nvSpPr>
            <p:cNvPr id="7" name="TextBox 6"/>
            <p:cNvSpPr txBox="1"/>
            <p:nvPr/>
          </p:nvSpPr>
          <p:spPr>
            <a:xfrm>
              <a:off x="812800" y="4940300"/>
              <a:ext cx="5130800" cy="635000"/>
            </a:xfrm>
            <a:prstGeom prst="rect">
              <a:avLst/>
            </a:prstGeom>
            <a:noFill/>
          </p:spPr>
          <p:txBody>
            <a:bodyPr wrap="square" lIns="0" tIns="0">
              <a:spAutoFit/>
            </a:bodyPr>
            <a:lstStyle/>
            <a:p>
              <a:pPr algn="l">
                <a:lnSpc>
                  <a:spcPct val="125000"/>
                </a:lnSpc>
              </a:pPr>
              <a:r>
                <a:rPr sz="1400" b="1" i="0">
                  <a:solidFill>
                    <a:srgbClr val="2E7D4F"/>
                  </a:solidFill>
                  <a:latin typeface="Calibri"/>
                </a:rPr>
                <a:t>(a) Match. </a:t>
              </a:r>
              <a:r>
                <a:rPr sz="1400" b="0" i="0">
                  <a:solidFill>
                    <a:srgbClr val="14213D"/>
                  </a:solidFill>
                  <a:latin typeface="Calibri"/>
                </a:rPr>
                <a:t>Our reconstruction fills the radiologists’ nodule; red patches sit at the depth edges.</a:t>
              </a:r>
            </a:p>
          </p:txBody>
        </p:sp>
      </p:grpSp>
      <p:grpSp>
        <p:nvGrpSpPr>
          <p:cNvPr id="8" name="Group 7"/>
          <p:cNvGrpSpPr/>
          <p:nvPr/>
        </p:nvGrpSpPr>
        <p:grpSpPr>
          <a:xfrm>
            <a:off x="6248400" y="1841500"/>
            <a:ext cx="5130800" cy="3733800"/>
            <a:chOff x="6248400" y="1841500"/>
            <a:chExt cx="5130800" cy="3733800"/>
          </a:xfrm>
        </p:grpSpPr>
        <p:sp>
          <p:nvSpPr>
            <p:cNvPr id="9" name="Rounded Rectangle 8"/>
            <p:cNvSpPr/>
            <p:nvPr/>
          </p:nvSpPr>
          <p:spPr>
            <a:xfrm>
              <a:off x="6248400" y="1841500"/>
              <a:ext cx="5130800" cy="2984500"/>
            </a:xfrm>
            <a:prstGeom prst="roundRect">
              <a:avLst>
                <a:gd name="adj" fmla="val 255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con3d_b.png"/>
            <p:cNvPicPr>
              <a:picLocks noChangeAspect="1"/>
            </p:cNvPicPr>
            <p:nvPr/>
          </p:nvPicPr>
          <p:blipFill>
            <a:blip r:embed="rId3"/>
            <a:stretch>
              <a:fillRect/>
            </a:stretch>
          </p:blipFill>
          <p:spPr>
            <a:xfrm>
              <a:off x="6791569" y="1905000"/>
              <a:ext cx="4044462" cy="2857500"/>
            </a:xfrm>
            <a:prstGeom prst="rect">
              <a:avLst/>
            </a:prstGeom>
          </p:spPr>
        </p:pic>
        <p:sp>
          <p:nvSpPr>
            <p:cNvPr id="11" name="TextBox 10"/>
            <p:cNvSpPr txBox="1"/>
            <p:nvPr/>
          </p:nvSpPr>
          <p:spPr>
            <a:xfrm>
              <a:off x="6248400" y="4940300"/>
              <a:ext cx="5130800" cy="635000"/>
            </a:xfrm>
            <a:prstGeom prst="rect">
              <a:avLst/>
            </a:prstGeom>
            <a:noFill/>
          </p:spPr>
          <p:txBody>
            <a:bodyPr wrap="square" lIns="0" tIns="0">
              <a:spAutoFit/>
            </a:bodyPr>
            <a:lstStyle/>
            <a:p>
              <a:pPr algn="l">
                <a:lnSpc>
                  <a:spcPct val="125000"/>
                </a:lnSpc>
              </a:pPr>
              <a:r>
                <a:rPr sz="1400" b="1" i="0">
                  <a:solidFill>
                    <a:srgbClr val="1F5FA8"/>
                  </a:solidFill>
                  <a:latin typeface="Calibri"/>
                </a:rPr>
                <a:t>(b) Under-estimate. </a:t>
              </a:r>
              <a:r>
                <a:rPr sz="1400" b="0" i="0">
                  <a:solidFill>
                    <a:srgbClr val="14213D"/>
                  </a:solidFill>
                  <a:latin typeface="Calibri"/>
                </a:rPr>
                <a:t>Smaller than the radiologists’ nodule: the gap our next step closes.</a:t>
              </a:r>
            </a:p>
          </p:txBody>
        </p:sp>
      </p:grpSp>
      <p:sp>
        <p:nvSpPr>
          <p:cNvPr id="12" name="TextBox 11"/>
          <p:cNvSpPr txBox="1"/>
          <p:nvPr/>
        </p:nvSpPr>
        <p:spPr>
          <a:xfrm>
            <a:off x="812800" y="5715000"/>
            <a:ext cx="10566400" cy="317500"/>
          </a:xfrm>
          <a:prstGeom prst="rect">
            <a:avLst/>
          </a:prstGeom>
          <a:noFill/>
        </p:spPr>
        <p:txBody>
          <a:bodyPr wrap="square" lIns="0" rIns="0" tIns="0" bIns="0" anchor="t">
            <a:spAutoFit/>
          </a:bodyPr>
          <a:lstStyle/>
          <a:p>
            <a:pPr algn="l">
              <a:lnSpc>
                <a:spcPct val="120000"/>
              </a:lnSpc>
            </a:pPr>
            <a:r>
              <a:rPr sz="1300" b="0" i="0">
                <a:solidFill>
                  <a:srgbClr val="2E7D4F"/>
                </a:solidFill>
                <a:latin typeface="Calibri"/>
              </a:rPr>
              <a:t>■ </a:t>
            </a:r>
            <a:r>
              <a:rPr sz="1300" b="0" i="0">
                <a:solidFill>
                  <a:srgbClr val="4A5568"/>
                </a:solidFill>
                <a:latin typeface="Calibri"/>
              </a:rPr>
              <a:t>green: 8 samples agree      </a:t>
            </a:r>
            <a:r>
              <a:rPr sz="1300" b="0" i="0">
                <a:solidFill>
                  <a:srgbClr val="C0392B"/>
                </a:solidFill>
                <a:latin typeface="Calibri"/>
              </a:rPr>
              <a:t>■ </a:t>
            </a:r>
            <a:r>
              <a:rPr sz="1300" b="0" i="0">
                <a:solidFill>
                  <a:srgbClr val="4A5568"/>
                </a:solidFill>
                <a:latin typeface="Calibri"/>
              </a:rPr>
              <a:t>red: samples disagree (mostly in depth)      </a:t>
            </a:r>
            <a:r>
              <a:rPr sz="1300" b="0" i="0">
                <a:solidFill>
                  <a:srgbClr val="9AA7B8"/>
                </a:solidFill>
                <a:latin typeface="Calibri"/>
              </a:rPr>
              <a:t>■ </a:t>
            </a:r>
            <a:r>
              <a:rPr sz="1300" b="0" i="0">
                <a:solidFill>
                  <a:srgbClr val="4A5568"/>
                </a:solidFill>
                <a:latin typeface="Calibri"/>
              </a:rPr>
              <a:t>grey: radiologists’ nodule (truth)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5FA8"/>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20000"/>
              </a:lnSpc>
            </a:pPr>
            <a:r>
              <a:rPr sz="1400" b="1" i="0">
                <a:solidFill>
                  <a:srgbClr val="CFE0F5"/>
                </a:solidFill>
                <a:latin typeface="Calibri"/>
              </a:rPr>
              <a:t>RESULTS · HELD-OUT PATIENTS NEVER SEEN IN TRAINING</a:t>
            </a:r>
          </a:p>
        </p:txBody>
      </p:sp>
      <p:sp>
        <p:nvSpPr>
          <p:cNvPr id="3" name="TextBox 2"/>
          <p:cNvSpPr txBox="1"/>
          <p:nvPr/>
        </p:nvSpPr>
        <p:spPr>
          <a:xfrm>
            <a:off x="812800" y="2349500"/>
            <a:ext cx="10160000" cy="1524000"/>
          </a:xfrm>
          <a:prstGeom prst="rect">
            <a:avLst/>
          </a:prstGeom>
          <a:noFill/>
        </p:spPr>
        <p:txBody>
          <a:bodyPr wrap="square" lIns="0" rIns="0" tIns="0" bIns="0" anchor="t">
            <a:spAutoFit/>
          </a:bodyPr>
          <a:lstStyle/>
          <a:p>
            <a:pPr algn="l">
              <a:lnSpc>
                <a:spcPct val="105000"/>
              </a:lnSpc>
            </a:pPr>
            <a:r>
              <a:rPr sz="4800" b="1" i="0">
                <a:solidFill>
                  <a:srgbClr val="F7F6F2"/>
                </a:solidFill>
                <a:latin typeface="Georgia"/>
              </a:rPr>
              <a:t>A complete, working system, validated end to end</a:t>
            </a:r>
          </a:p>
        </p:txBody>
      </p:sp>
      <p:sp>
        <p:nvSpPr>
          <p:cNvPr id="4" name="TextBox 3"/>
          <p:cNvSpPr txBox="1"/>
          <p:nvPr/>
        </p:nvSpPr>
        <p:spPr>
          <a:xfrm>
            <a:off x="812800" y="4191000"/>
            <a:ext cx="8890000" cy="889000"/>
          </a:xfrm>
          <a:prstGeom prst="rect">
            <a:avLst/>
          </a:prstGeom>
          <a:noFill/>
        </p:spPr>
        <p:txBody>
          <a:bodyPr wrap="square" lIns="0" rIns="0" tIns="0" bIns="0" anchor="t">
            <a:spAutoFit/>
          </a:bodyPr>
          <a:lstStyle/>
          <a:p>
            <a:pPr algn="l">
              <a:lnSpc>
                <a:spcPct val="130000"/>
              </a:lnSpc>
            </a:pPr>
            <a:r>
              <a:rPr sz="1700" b="0" i="0">
                <a:solidFill>
                  <a:srgbClr val="E3ECF7"/>
                </a:solidFill>
                <a:latin typeface="Calibri"/>
              </a:rPr>
              <a:t>Every component met its target, the physics insight was confirmed on data, and our analysis maps a clear path to clinical accuracy.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ACHIEVEMENTS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Every component met its own specification</a:t>
            </a:r>
          </a:p>
        </p:txBody>
      </p:sp>
      <p:grpSp>
        <p:nvGrpSpPr>
          <p:cNvPr id="4" name="Group 3"/>
          <p:cNvGrpSpPr/>
          <p:nvPr/>
        </p:nvGrpSpPr>
        <p:grpSpPr>
          <a:xfrm>
            <a:off x="812800" y="1968500"/>
            <a:ext cx="5130800" cy="1778000"/>
            <a:chOff x="812800" y="1968500"/>
            <a:chExt cx="5130800" cy="1778000"/>
          </a:xfrm>
        </p:grpSpPr>
        <p:sp>
          <p:nvSpPr>
            <p:cNvPr id="5" name="Rounded Rectangle 4"/>
            <p:cNvSpPr/>
            <p:nvPr/>
          </p:nvSpPr>
          <p:spPr>
            <a:xfrm>
              <a:off x="8128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22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DIFFUSION PRIOR</a:t>
              </a:r>
            </a:p>
            <a:p>
              <a:pPr algn="l">
                <a:lnSpc>
                  <a:spcPct val="100000"/>
                </a:lnSpc>
                <a:spcBef>
                  <a:spcPts val="600"/>
                </a:spcBef>
              </a:pPr>
              <a:r>
                <a:rPr sz="4000" b="1" i="0">
                  <a:solidFill>
                    <a:srgbClr val="1F5FA8"/>
                  </a:solidFill>
                  <a:latin typeface="Georgia"/>
                </a:rPr>
                <a:t>+3.35 dB</a:t>
              </a:r>
            </a:p>
            <a:p>
              <a:pPr algn="l">
                <a:lnSpc>
                  <a:spcPct val="120000"/>
                </a:lnSpc>
                <a:spcBef>
                  <a:spcPts val="600"/>
                </a:spcBef>
              </a:pPr>
              <a:r>
                <a:rPr sz="1400" b="0" i="0">
                  <a:solidFill>
                    <a:srgbClr val="4A5568"/>
                  </a:solidFill>
                  <a:latin typeface="Calibri"/>
                </a:rPr>
                <a:t>nodule PSNR on held-out data, 11.88 → 15.23 dB</a:t>
              </a:r>
            </a:p>
          </p:txBody>
        </p:sp>
      </p:grpSp>
      <p:grpSp>
        <p:nvGrpSpPr>
          <p:cNvPr id="8" name="Group 7"/>
          <p:cNvGrpSpPr/>
          <p:nvPr/>
        </p:nvGrpSpPr>
        <p:grpSpPr>
          <a:xfrm>
            <a:off x="6248400" y="1968500"/>
            <a:ext cx="5130800" cy="1778000"/>
            <a:chOff x="6248400" y="1968500"/>
            <a:chExt cx="5130800" cy="1778000"/>
          </a:xfrm>
        </p:grpSpPr>
        <p:sp>
          <p:nvSpPr>
            <p:cNvPr id="9" name="Rounded Rectangle 8"/>
            <p:cNvSpPr/>
            <p:nvPr/>
          </p:nvSpPr>
          <p:spPr>
            <a:xfrm>
              <a:off x="62484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84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78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LEARNED DETECTOR</a:t>
              </a:r>
            </a:p>
            <a:p>
              <a:pPr algn="l">
                <a:lnSpc>
                  <a:spcPct val="100000"/>
                </a:lnSpc>
                <a:spcBef>
                  <a:spcPts val="600"/>
                </a:spcBef>
              </a:pPr>
              <a:r>
                <a:rPr sz="4000" b="1" i="0">
                  <a:solidFill>
                    <a:srgbClr val="1F5FA8"/>
                  </a:solidFill>
                  <a:latin typeface="Georgia"/>
                </a:rPr>
                <a:t>17× better</a:t>
              </a:r>
            </a:p>
            <a:p>
              <a:pPr algn="l">
                <a:lnSpc>
                  <a:spcPct val="120000"/>
                </a:lnSpc>
                <a:spcBef>
                  <a:spcPts val="600"/>
                </a:spcBef>
              </a:pPr>
              <a:r>
                <a:rPr sz="1400" b="0" i="0">
                  <a:solidFill>
                    <a:srgbClr val="4A5568"/>
                  </a:solidFill>
                  <a:latin typeface="Calibri"/>
                </a:rPr>
                <a:t>CPM 0.298 vs 0.017 for a training-free baseline</a:t>
              </a:r>
            </a:p>
          </p:txBody>
        </p:sp>
      </p:grpSp>
      <p:grpSp>
        <p:nvGrpSpPr>
          <p:cNvPr id="12" name="Group 11"/>
          <p:cNvGrpSpPr/>
          <p:nvPr/>
        </p:nvGrpSpPr>
        <p:grpSpPr>
          <a:xfrm>
            <a:off x="812800" y="3937000"/>
            <a:ext cx="5130800" cy="1778000"/>
            <a:chOff x="812800" y="3937000"/>
            <a:chExt cx="5130800" cy="1778000"/>
          </a:xfrm>
        </p:grpSpPr>
        <p:sp>
          <p:nvSpPr>
            <p:cNvPr id="13" name="Rounded Rectangle 12"/>
            <p:cNvSpPr/>
            <p:nvPr/>
          </p:nvSpPr>
          <p:spPr>
            <a:xfrm>
              <a:off x="8128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2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CONFORMAL INTERVALS</a:t>
              </a:r>
            </a:p>
            <a:p>
              <a:pPr algn="l">
                <a:lnSpc>
                  <a:spcPct val="100000"/>
                </a:lnSpc>
                <a:spcBef>
                  <a:spcPts val="600"/>
                </a:spcBef>
              </a:pPr>
              <a:r>
                <a:rPr sz="4000" b="1" i="0">
                  <a:solidFill>
                    <a:srgbClr val="2E7D4F"/>
                  </a:solidFill>
                  <a:latin typeface="Georgia"/>
                </a:rPr>
                <a:t>95% coverage</a:t>
              </a:r>
            </a:p>
            <a:p>
              <a:pPr algn="l">
                <a:lnSpc>
                  <a:spcPct val="120000"/>
                </a:lnSpc>
                <a:spcBef>
                  <a:spcPts val="600"/>
                </a:spcBef>
              </a:pPr>
              <a:r>
                <a:rPr sz="1400" b="0" i="0">
                  <a:solidFill>
                    <a:srgbClr val="4A5568"/>
                  </a:solidFill>
                  <a:latin typeface="Calibri"/>
                </a:rPr>
                <a:t>target 90%; raw ensemble spread covered only 28%</a:t>
              </a:r>
            </a:p>
          </p:txBody>
        </p:sp>
      </p:grpSp>
      <p:grpSp>
        <p:nvGrpSpPr>
          <p:cNvPr id="16" name="Group 15"/>
          <p:cNvGrpSpPr/>
          <p:nvPr/>
        </p:nvGrpSpPr>
        <p:grpSpPr>
          <a:xfrm>
            <a:off x="6248400" y="3937000"/>
            <a:ext cx="5130800" cy="1778000"/>
            <a:chOff x="6248400" y="3937000"/>
            <a:chExt cx="5130800" cy="1778000"/>
          </a:xfrm>
        </p:grpSpPr>
        <p:sp>
          <p:nvSpPr>
            <p:cNvPr id="17" name="Rounded Rectangle 16"/>
            <p:cNvSpPr/>
            <p:nvPr/>
          </p:nvSpPr>
          <p:spPr>
            <a:xfrm>
              <a:off x="62484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84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78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SIZE-CATEGORY RISK (BRIER)</a:t>
              </a:r>
            </a:p>
            <a:p>
              <a:pPr algn="l">
                <a:lnSpc>
                  <a:spcPct val="100000"/>
                </a:lnSpc>
                <a:spcBef>
                  <a:spcPts val="600"/>
                </a:spcBef>
              </a:pPr>
              <a:r>
                <a:rPr sz="4000" b="1" i="0">
                  <a:solidFill>
                    <a:srgbClr val="2E7D4F"/>
                  </a:solidFill>
                  <a:latin typeface="Georgia"/>
                </a:rPr>
                <a:t>0.54 → 0.17</a:t>
              </a:r>
            </a:p>
            <a:p>
              <a:pPr algn="l">
                <a:lnSpc>
                  <a:spcPct val="120000"/>
                </a:lnSpc>
                <a:spcBef>
                  <a:spcPts val="600"/>
                </a:spcBef>
              </a:pPr>
              <a:r>
                <a:rPr sz="1400" b="0" i="0">
                  <a:solidFill>
                    <a:srgbClr val="4A5568"/>
                  </a:solidFill>
                  <a:latin typeface="Calibri"/>
                </a:rPr>
                <a:t>for P(volume ≥ 100 mm³), a 68% reduction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anim calcmode="lin" valueType="num">
                                      <p:cBhvr additive="base">
                                        <p:cTn id="17"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anim calcmode="lin" valueType="num">
                                      <p:cBhvr additive="base">
                                        <p:cTn id="23"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CALIBRATED UNCERTAINTY · H3, H5</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Our intervals keep their guarantee on new patients</a:t>
            </a:r>
          </a:p>
        </p:txBody>
      </p:sp>
      <p:sp>
        <p:nvSpPr>
          <p:cNvPr id="4" name="Rounded Rectangle 3"/>
          <p:cNvSpPr/>
          <p:nvPr/>
        </p:nvSpPr>
        <p:spPr>
          <a:xfrm>
            <a:off x="812800" y="1841500"/>
            <a:ext cx="6350000" cy="2794000"/>
          </a:xfrm>
          <a:prstGeom prst="roundRect">
            <a:avLst>
              <a:gd name="adj" fmla="val 2727"/>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liability.png"/>
          <p:cNvPicPr>
            <a:picLocks noChangeAspect="1"/>
          </p:cNvPicPr>
          <p:nvPr/>
        </p:nvPicPr>
        <p:blipFill>
          <a:blip r:embed="rId2"/>
          <a:stretch>
            <a:fillRect/>
          </a:stretch>
        </p:blipFill>
        <p:spPr>
          <a:xfrm>
            <a:off x="812800" y="1841500"/>
            <a:ext cx="6350000" cy="2794000"/>
          </a:xfrm>
          <a:prstGeom prst="rect">
            <a:avLst/>
          </a:prstGeom>
        </p:spPr>
      </p:pic>
      <p:sp>
        <p:nvSpPr>
          <p:cNvPr id="6" name="TextBox 5"/>
          <p:cNvSpPr txBox="1"/>
          <p:nvPr/>
        </p:nvSpPr>
        <p:spPr>
          <a:xfrm>
            <a:off x="812800" y="4711700"/>
            <a:ext cx="6350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Reliability of the size-category probabilities (closer to the diagonal is better)</a:t>
            </a:r>
          </a:p>
        </p:txBody>
      </p:sp>
      <p:grpSp>
        <p:nvGrpSpPr>
          <p:cNvPr id="7" name="Group 6"/>
          <p:cNvGrpSpPr/>
          <p:nvPr/>
        </p:nvGrpSpPr>
        <p:grpSpPr>
          <a:xfrm>
            <a:off x="7467600" y="1841500"/>
            <a:ext cx="3911600" cy="889000"/>
            <a:chOff x="7467600" y="1841500"/>
            <a:chExt cx="3911600" cy="889000"/>
          </a:xfrm>
        </p:grpSpPr>
        <p:sp>
          <p:nvSpPr>
            <p:cNvPr id="8" name="Rounded Rectangle 7"/>
            <p:cNvSpPr/>
            <p:nvPr/>
          </p:nvSpPr>
          <p:spPr>
            <a:xfrm>
              <a:off x="7467600" y="1841500"/>
              <a:ext cx="3911600" cy="889000"/>
            </a:xfrm>
            <a:prstGeom prst="roundRect">
              <a:avLst>
                <a:gd name="adj" fmla="val 1142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67600" y="1841500"/>
              <a:ext cx="50800" cy="889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8100" y="1953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Coverage met: </a:t>
              </a:r>
              <a:r>
                <a:rPr sz="1400" b="0" i="0">
                  <a:solidFill>
                    <a:srgbClr val="14213D"/>
                  </a:solidFill>
                  <a:latin typeface="Calibri"/>
                </a:rPr>
                <a:t>95–96% for the 90% target.</a:t>
              </a:r>
            </a:p>
          </p:txBody>
        </p:sp>
      </p:grpSp>
      <p:grpSp>
        <p:nvGrpSpPr>
          <p:cNvPr id="11" name="Group 10"/>
          <p:cNvGrpSpPr/>
          <p:nvPr/>
        </p:nvGrpSpPr>
        <p:grpSpPr>
          <a:xfrm>
            <a:off x="7467600" y="2857500"/>
            <a:ext cx="3911600" cy="889000"/>
            <a:chOff x="7467600" y="2857500"/>
            <a:chExt cx="3911600" cy="889000"/>
          </a:xfrm>
        </p:grpSpPr>
        <p:sp>
          <p:nvSpPr>
            <p:cNvPr id="12" name="Rounded Rectangle 11"/>
            <p:cNvSpPr/>
            <p:nvPr/>
          </p:nvSpPr>
          <p:spPr>
            <a:xfrm>
              <a:off x="7467600" y="2857500"/>
              <a:ext cx="3911600" cy="889000"/>
            </a:xfrm>
            <a:prstGeom prst="roundRect">
              <a:avLst>
                <a:gd name="adj" fmla="val 1142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67600" y="2857500"/>
              <a:ext cx="50800" cy="889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8100" y="2969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Risk calibrated: </a:t>
              </a:r>
              <a:r>
                <a:rPr sz="1400" b="0" i="0">
                  <a:solidFill>
                    <a:srgbClr val="14213D"/>
                  </a:solidFill>
                  <a:latin typeface="Calibri"/>
                </a:rPr>
                <a:t>ECE 0.58 → 0.12; right category 38% vs 26%.</a:t>
              </a:r>
            </a:p>
          </p:txBody>
        </p:sp>
      </p:grpSp>
      <p:grpSp>
        <p:nvGrpSpPr>
          <p:cNvPr id="15" name="Group 14"/>
          <p:cNvGrpSpPr/>
          <p:nvPr/>
        </p:nvGrpSpPr>
        <p:grpSpPr>
          <a:xfrm>
            <a:off x="7467600" y="3873500"/>
            <a:ext cx="3911600" cy="889000"/>
            <a:chOff x="7467600" y="3873500"/>
            <a:chExt cx="3911600" cy="889000"/>
          </a:xfrm>
        </p:grpSpPr>
        <p:sp>
          <p:nvSpPr>
            <p:cNvPr id="16" name="Rounded Rectangle 15"/>
            <p:cNvSpPr/>
            <p:nvPr/>
          </p:nvSpPr>
          <p:spPr>
            <a:xfrm>
              <a:off x="7467600" y="3873500"/>
              <a:ext cx="3911600" cy="889000"/>
            </a:xfrm>
            <a:prstGeom prst="roundRect">
              <a:avLst>
                <a:gd name="adj" fmla="val 1142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67600" y="3873500"/>
              <a:ext cx="50800" cy="889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58100" y="3985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Next step: </a:t>
              </a:r>
              <a:r>
                <a:rPr sz="1400" b="0" i="0">
                  <a:solidFill>
                    <a:srgbClr val="14213D"/>
                  </a:solidFill>
                  <a:latin typeface="Calibri"/>
                </a:rPr>
                <a:t>narrower intervals once failed reads are handled separately.</a:t>
              </a:r>
            </a:p>
          </p:txBody>
        </p:sp>
      </p:grpSp>
      <p:sp>
        <p:nvSpPr>
          <p:cNvPr id="19" name="TextBox 18"/>
          <p:cNvSpPr txBox="1"/>
          <p:nvPr/>
        </p:nvSpPr>
        <p:spPr>
          <a:xfrm>
            <a:off x="812800" y="5207000"/>
            <a:ext cx="10566400" cy="635000"/>
          </a:xfrm>
          <a:prstGeom prst="rect">
            <a:avLst/>
          </a:prstGeom>
          <a:noFill/>
        </p:spPr>
        <p:txBody>
          <a:bodyPr wrap="square" lIns="0" rIns="0" tIns="0" bIns="0" anchor="t">
            <a:spAutoFit/>
          </a:bodyPr>
          <a:lstStyle/>
          <a:p>
            <a:pPr algn="l">
              <a:lnSpc>
                <a:spcPct val="130000"/>
              </a:lnSpc>
            </a:pPr>
            <a:r>
              <a:rPr sz="1400" b="1" i="0">
                <a:solidFill>
                  <a:srgbClr val="14213D"/>
                </a:solidFill>
                <a:latin typeface="Calibri"/>
              </a:rPr>
              <a:t>Insight: </a:t>
            </a:r>
            <a:r>
              <a:rPr sz="1400" b="0" i="0">
                <a:solidFill>
                  <a:srgbClr val="14213D"/>
                </a:solidFill>
                <a:latin typeface="Calibri"/>
              </a:rPr>
              <a:t>raw sample spread is not a safe uncertainty (ρ = −0.52 with error), which is exactly why we calibrate.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anim calcmode="lin" valueType="num">
                                      <p:cBhvr additive="base">
                                        <p:cTn id="17"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EXPLAINABILITY · H6 SUPPORTED</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We can show what the X-rays saw and what the AI filled in</a:t>
            </a:r>
          </a:p>
        </p:txBody>
      </p:sp>
      <p:sp>
        <p:nvSpPr>
          <p:cNvPr id="4" name="Rounded Rectangle 3"/>
          <p:cNvSpPr/>
          <p:nvPr/>
        </p:nvSpPr>
        <p:spPr>
          <a:xfrm>
            <a:off x="812800" y="2095500"/>
            <a:ext cx="5969000" cy="3365500"/>
          </a:xfrm>
          <a:prstGeom prst="roundRect">
            <a:avLst>
              <a:gd name="adj" fmla="val 226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en_unseen.png"/>
          <p:cNvPicPr>
            <a:picLocks noChangeAspect="1"/>
          </p:cNvPicPr>
          <p:nvPr/>
        </p:nvPicPr>
        <p:blipFill>
          <a:blip r:embed="rId2"/>
          <a:stretch>
            <a:fillRect/>
          </a:stretch>
        </p:blipFill>
        <p:spPr>
          <a:xfrm>
            <a:off x="812800" y="2159000"/>
            <a:ext cx="5969000" cy="3238500"/>
          </a:xfrm>
          <a:prstGeom prst="rect">
            <a:avLst/>
          </a:prstGeom>
        </p:spPr>
      </p:pic>
      <p:sp>
        <p:nvSpPr>
          <p:cNvPr id="6" name="TextBox 5"/>
          <p:cNvSpPr txBox="1"/>
          <p:nvPr/>
        </p:nvSpPr>
        <p:spPr>
          <a:xfrm>
            <a:off x="812800" y="5537200"/>
            <a:ext cx="5969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Null-space split, one test nodule (depth view): top CT truth, bottom diffusion prior</a:t>
            </a:r>
          </a:p>
        </p:txBody>
      </p:sp>
      <p:sp>
        <p:nvSpPr>
          <p:cNvPr id="7" name="TextBox 6"/>
          <p:cNvSpPr txBox="1"/>
          <p:nvPr/>
        </p:nvSpPr>
        <p:spPr>
          <a:xfrm>
            <a:off x="7086600" y="2095500"/>
            <a:ext cx="4292600" cy="1143000"/>
          </a:xfrm>
          <a:prstGeom prst="rect">
            <a:avLst/>
          </a:prstGeom>
          <a:noFill/>
        </p:spPr>
        <p:txBody>
          <a:bodyPr wrap="square" lIns="0" rIns="0" tIns="0" bIns="0" anchor="t">
            <a:spAutoFit/>
          </a:bodyPr>
          <a:lstStyle/>
          <a:p>
            <a:pPr algn="l">
              <a:lnSpc>
                <a:spcPct val="100000"/>
              </a:lnSpc>
            </a:pPr>
            <a:r>
              <a:rPr sz="3600" b="1" i="0">
                <a:solidFill>
                  <a:srgbClr val="1F5FA8"/>
                </a:solidFill>
                <a:latin typeface="Georgia"/>
              </a:rPr>
              <a:t>0.3%</a:t>
            </a:r>
          </a:p>
          <a:p>
            <a:pPr algn="l">
              <a:lnSpc>
                <a:spcPct val="120000"/>
              </a:lnSpc>
              <a:spcBef>
                <a:spcPts val="400"/>
              </a:spcBef>
            </a:pPr>
            <a:r>
              <a:rPr sz="1300" b="0" i="0">
                <a:solidFill>
                  <a:srgbClr val="4A5568"/>
                </a:solidFill>
                <a:latin typeface="Calibri"/>
              </a:rPr>
              <a:t>of nodule mass is unseen: the X-rays measure mass (confirms the physics)</a:t>
            </a:r>
          </a:p>
        </p:txBody>
      </p:sp>
      <p:sp>
        <p:nvSpPr>
          <p:cNvPr id="8" name="TextBox 7"/>
          <p:cNvSpPr txBox="1"/>
          <p:nvPr/>
        </p:nvSpPr>
        <p:spPr>
          <a:xfrm>
            <a:off x="7086600" y="3302000"/>
            <a:ext cx="4292600" cy="1143000"/>
          </a:xfrm>
          <a:prstGeom prst="rect">
            <a:avLst/>
          </a:prstGeom>
          <a:noFill/>
        </p:spPr>
        <p:txBody>
          <a:bodyPr wrap="square" lIns="0" rIns="0" tIns="0" bIns="0" anchor="t">
            <a:spAutoFit/>
          </a:bodyPr>
          <a:lstStyle/>
          <a:p>
            <a:pPr algn="l">
              <a:lnSpc>
                <a:spcPct val="100000"/>
              </a:lnSpc>
            </a:pPr>
            <a:r>
              <a:rPr sz="3600" b="1" i="0">
                <a:solidFill>
                  <a:srgbClr val="2E7D4F"/>
                </a:solidFill>
                <a:latin typeface="Georgia"/>
              </a:rPr>
              <a:t>+0.22</a:t>
            </a:r>
          </a:p>
          <a:p>
            <a:pPr algn="l">
              <a:lnSpc>
                <a:spcPct val="120000"/>
              </a:lnSpc>
              <a:spcBef>
                <a:spcPts val="400"/>
              </a:spcBef>
            </a:pPr>
            <a:r>
              <a:rPr sz="1300" b="0" i="0">
                <a:solidFill>
                  <a:srgbClr val="4A5568"/>
                </a:solidFill>
                <a:latin typeface="Calibri"/>
              </a:rPr>
              <a:t>unseen skill of the prior vs truth [0.14, 0.36]: it recovers, not invents</a:t>
            </a:r>
          </a:p>
        </p:txBody>
      </p:sp>
      <p:sp>
        <p:nvSpPr>
          <p:cNvPr id="9" name="TextBox 8"/>
          <p:cNvSpPr txBox="1"/>
          <p:nvPr/>
        </p:nvSpPr>
        <p:spPr>
          <a:xfrm>
            <a:off x="7086600" y="4508500"/>
            <a:ext cx="4292600" cy="1143000"/>
          </a:xfrm>
          <a:prstGeom prst="rect">
            <a:avLst/>
          </a:prstGeom>
          <a:noFill/>
        </p:spPr>
        <p:txBody>
          <a:bodyPr wrap="square" lIns="0" rIns="0" tIns="0" bIns="0" anchor="t">
            <a:spAutoFit/>
          </a:bodyPr>
          <a:lstStyle/>
          <a:p>
            <a:pPr algn="l">
              <a:lnSpc>
                <a:spcPct val="100000"/>
              </a:lnSpc>
            </a:pPr>
            <a:r>
              <a:rPr sz="3600" b="1" i="0">
                <a:solidFill>
                  <a:srgbClr val="D9661F"/>
                </a:solidFill>
                <a:latin typeface="Georgia"/>
              </a:rPr>
              <a:t>0.09</a:t>
            </a:r>
          </a:p>
          <a:p>
            <a:pPr algn="l">
              <a:lnSpc>
                <a:spcPct val="120000"/>
              </a:lnSpc>
              <a:spcBef>
                <a:spcPts val="400"/>
              </a:spcBef>
            </a:pPr>
            <a:r>
              <a:rPr sz="1300" b="0" i="0">
                <a:solidFill>
                  <a:srgbClr val="4A5568"/>
                </a:solidFill>
                <a:latin typeface="Calibri"/>
              </a:rPr>
              <a:t>skill left after Gaussian fitting: that step discards what the prior found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anim calcmode="lin" valueType="num">
                                      <p:cBhvr additive="base">
                                        <p:cTn id="17"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ACCURACY BENCHMARK · SIX METHODS COMPARED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Volume from DTS is hard for every method</a:t>
            </a:r>
          </a:p>
        </p:txBody>
      </p:sp>
      <p:sp>
        <p:nvSpPr>
          <p:cNvPr id="4" name="TextBox 3"/>
          <p:cNvSpPr txBox="1"/>
          <p:nvPr/>
        </p:nvSpPr>
        <p:spPr>
          <a:xfrm>
            <a:off x="812800" y="1905000"/>
            <a:ext cx="6985000" cy="254000"/>
          </a:xfrm>
          <a:prstGeom prst="rect">
            <a:avLst/>
          </a:prstGeom>
          <a:noFill/>
        </p:spPr>
        <p:txBody>
          <a:bodyPr wrap="square" lIns="0" rIns="0" tIns="0" bIns="0" anchor="t">
            <a:spAutoFit/>
          </a:bodyPr>
          <a:lstStyle/>
          <a:p>
            <a:pPr algn="l">
              <a:lnSpc>
                <a:spcPct val="120000"/>
              </a:lnSpc>
            </a:pPr>
            <a:r>
              <a:rPr sz="1200" b="1" i="0">
                <a:solidFill>
                  <a:srgbClr val="4A5568"/>
                </a:solidFill>
                <a:latin typeface="Calibri"/>
              </a:rPr>
              <a:t>Volume error, median absolute % (lower is better; a failure counts as 100%)</a:t>
            </a:r>
          </a:p>
        </p:txBody>
      </p:sp>
      <p:sp>
        <p:nvSpPr>
          <p:cNvPr id="5" name="TextBox 4"/>
          <p:cNvSpPr txBox="1"/>
          <p:nvPr/>
        </p:nvSpPr>
        <p:spPr>
          <a:xfrm>
            <a:off x="812800" y="22860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2D diameter → sphere</a:t>
            </a:r>
          </a:p>
        </p:txBody>
      </p:sp>
      <p:sp>
        <p:nvSpPr>
          <p:cNvPr id="6" name="Rounded Rectangle 5"/>
          <p:cNvSpPr/>
          <p:nvPr/>
        </p:nvSpPr>
        <p:spPr>
          <a:xfrm>
            <a:off x="3200400" y="2324100"/>
            <a:ext cx="33528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54800" y="22860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88.0</a:t>
            </a:r>
            <a:r>
              <a:rPr sz="1300" b="1" i="0">
                <a:solidFill>
                  <a:srgbClr val="2E7D4F"/>
                </a:solidFill>
                <a:latin typeface="Calibri"/>
              </a:rPr>
              <a:t/>
            </a:r>
          </a:p>
        </p:txBody>
      </p:sp>
      <p:sp>
        <p:nvSpPr>
          <p:cNvPr id="8" name="TextBox 7"/>
          <p:cNvSpPr txBox="1"/>
          <p:nvPr/>
        </p:nvSpPr>
        <p:spPr>
          <a:xfrm>
            <a:off x="812800" y="28067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Coarse DTS SIRT</a:t>
            </a:r>
          </a:p>
        </p:txBody>
      </p:sp>
      <p:sp>
        <p:nvSpPr>
          <p:cNvPr id="9" name="Rounded Rectangle 8"/>
          <p:cNvSpPr/>
          <p:nvPr/>
        </p:nvSpPr>
        <p:spPr>
          <a:xfrm>
            <a:off x="3200400" y="2844800"/>
            <a:ext cx="38100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0" y="28067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100</a:t>
            </a:r>
            <a:r>
              <a:rPr sz="1300" b="1" i="0">
                <a:solidFill>
                  <a:srgbClr val="2E7D4F"/>
                </a:solidFill>
                <a:latin typeface="Calibri"/>
              </a:rPr>
              <a:t/>
            </a:r>
          </a:p>
        </p:txBody>
      </p:sp>
      <p:sp>
        <p:nvSpPr>
          <p:cNvPr id="11" name="TextBox 10"/>
          <p:cNvSpPr txBox="1"/>
          <p:nvPr/>
        </p:nvSpPr>
        <p:spPr>
          <a:xfrm>
            <a:off x="812800" y="33274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Prism ROI-SIRT</a:t>
            </a:r>
          </a:p>
        </p:txBody>
      </p:sp>
      <p:sp>
        <p:nvSpPr>
          <p:cNvPr id="12" name="Rounded Rectangle 11"/>
          <p:cNvSpPr/>
          <p:nvPr/>
        </p:nvSpPr>
        <p:spPr>
          <a:xfrm>
            <a:off x="3200400" y="3365500"/>
            <a:ext cx="347472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76720" y="33274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91.2</a:t>
            </a:r>
            <a:r>
              <a:rPr sz="1300" b="1" i="0">
                <a:solidFill>
                  <a:srgbClr val="2E7D4F"/>
                </a:solidFill>
                <a:latin typeface="Calibri"/>
              </a:rPr>
              <a:t/>
            </a:r>
          </a:p>
        </p:txBody>
      </p:sp>
      <p:sp>
        <p:nvSpPr>
          <p:cNvPr id="14" name="TextBox 13"/>
          <p:cNvSpPr txBox="1"/>
          <p:nvPr/>
        </p:nvSpPr>
        <p:spPr>
          <a:xfrm>
            <a:off x="812800" y="38481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Physics-only Gaussians</a:t>
            </a:r>
          </a:p>
        </p:txBody>
      </p:sp>
      <p:sp>
        <p:nvSpPr>
          <p:cNvPr id="15" name="Rounded Rectangle 14"/>
          <p:cNvSpPr/>
          <p:nvPr/>
        </p:nvSpPr>
        <p:spPr>
          <a:xfrm>
            <a:off x="3200400" y="3886200"/>
            <a:ext cx="334137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3370" y="38481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87.7</a:t>
            </a:r>
            <a:r>
              <a:rPr sz="1300" b="1" i="0">
                <a:solidFill>
                  <a:srgbClr val="2E7D4F"/>
                </a:solidFill>
                <a:latin typeface="Calibri"/>
              </a:rPr>
              <a:t/>
            </a:r>
          </a:p>
        </p:txBody>
      </p:sp>
      <p:sp>
        <p:nvSpPr>
          <p:cNvPr id="17" name="TextBox 16"/>
          <p:cNvSpPr txBox="1"/>
          <p:nvPr/>
        </p:nvSpPr>
        <p:spPr>
          <a:xfrm>
            <a:off x="812800" y="4368800"/>
            <a:ext cx="2286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Our diffusion prior</a:t>
            </a:r>
          </a:p>
        </p:txBody>
      </p:sp>
      <p:sp>
        <p:nvSpPr>
          <p:cNvPr id="18" name="Rounded Rectangle 17"/>
          <p:cNvSpPr/>
          <p:nvPr/>
        </p:nvSpPr>
        <p:spPr>
          <a:xfrm>
            <a:off x="3200400" y="4406900"/>
            <a:ext cx="2838450" cy="279400"/>
          </a:xfrm>
          <a:prstGeom prst="roundRect">
            <a:avLst>
              <a:gd name="adj" fmla="val 909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40450" y="4368800"/>
            <a:ext cx="1905000" cy="355600"/>
          </a:xfrm>
          <a:prstGeom prst="rect">
            <a:avLst/>
          </a:prstGeom>
          <a:noFill/>
        </p:spPr>
        <p:txBody>
          <a:bodyPr wrap="square" lIns="0" rIns="0" tIns="0" bIns="0" anchor="ctr">
            <a:spAutoFit/>
          </a:bodyPr>
          <a:lstStyle/>
          <a:p>
            <a:pPr algn="l">
              <a:lnSpc>
                <a:spcPct val="120000"/>
              </a:lnSpc>
            </a:pPr>
            <a:r>
              <a:rPr sz="1300" b="1" i="0">
                <a:solidFill>
                  <a:srgbClr val="2E7D4F"/>
                </a:solidFill>
                <a:latin typeface="Calibri"/>
              </a:rPr>
              <a:t>74.5</a:t>
            </a:r>
            <a:r>
              <a:rPr sz="1300" b="1" i="0">
                <a:solidFill>
                  <a:srgbClr val="2E7D4F"/>
                </a:solidFill>
                <a:latin typeface="Calibri"/>
              </a:rPr>
              <a:t> · best</a:t>
            </a:r>
          </a:p>
        </p:txBody>
      </p:sp>
      <p:sp>
        <p:nvSpPr>
          <p:cNvPr id="20" name="TextBox 19"/>
          <p:cNvSpPr txBox="1"/>
          <p:nvPr/>
        </p:nvSpPr>
        <p:spPr>
          <a:xfrm>
            <a:off x="812800" y="48895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Diffusion + Gaussians</a:t>
            </a:r>
          </a:p>
        </p:txBody>
      </p:sp>
      <p:sp>
        <p:nvSpPr>
          <p:cNvPr id="21" name="Rounded Rectangle 20"/>
          <p:cNvSpPr/>
          <p:nvPr/>
        </p:nvSpPr>
        <p:spPr>
          <a:xfrm>
            <a:off x="3200400" y="4927600"/>
            <a:ext cx="3604260" cy="279400"/>
          </a:xfrm>
          <a:prstGeom prst="roundRect">
            <a:avLst>
              <a:gd name="adj" fmla="val 909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6260" y="48895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94.6</a:t>
            </a:r>
            <a:r>
              <a:rPr sz="1300" b="1" i="0">
                <a:solidFill>
                  <a:srgbClr val="2E7D4F"/>
                </a:solidFill>
                <a:latin typeface="Calibri"/>
              </a:rPr>
              <a:t/>
            </a:r>
          </a:p>
        </p:txBody>
      </p:sp>
      <p:grpSp>
        <p:nvGrpSpPr>
          <p:cNvPr id="23" name="Group 22"/>
          <p:cNvGrpSpPr/>
          <p:nvPr/>
        </p:nvGrpSpPr>
        <p:grpSpPr>
          <a:xfrm>
            <a:off x="8077200" y="1905000"/>
            <a:ext cx="3302000" cy="1174750"/>
            <a:chOff x="8077200" y="1905000"/>
            <a:chExt cx="3302000" cy="1174750"/>
          </a:xfrm>
        </p:grpSpPr>
        <p:sp>
          <p:nvSpPr>
            <p:cNvPr id="24" name="Rounded Rectangle 23"/>
            <p:cNvSpPr/>
            <p:nvPr/>
          </p:nvSpPr>
          <p:spPr>
            <a:xfrm>
              <a:off x="8077200" y="1905000"/>
              <a:ext cx="3302000" cy="1174750"/>
            </a:xfrm>
            <a:prstGeom prst="roundRect">
              <a:avLst>
                <a:gd name="adj" fmla="val 864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77200" y="1905000"/>
              <a:ext cx="50800" cy="117475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0400" y="20269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Best of six: </a:t>
              </a:r>
              <a:r>
                <a:rPr sz="1400" b="0" i="0">
                  <a:solidFill>
                    <a:srgbClr val="14213D"/>
                  </a:solidFill>
                  <a:latin typeface="Calibri"/>
                </a:rPr>
                <a:t>our diffusion prior had the lowest error and the fewest failures (3%).</a:t>
              </a:r>
            </a:p>
          </p:txBody>
        </p:sp>
      </p:grpSp>
      <p:grpSp>
        <p:nvGrpSpPr>
          <p:cNvPr id="27" name="Group 26"/>
          <p:cNvGrpSpPr/>
          <p:nvPr/>
        </p:nvGrpSpPr>
        <p:grpSpPr>
          <a:xfrm>
            <a:off x="8077200" y="3206750"/>
            <a:ext cx="3302000" cy="1174750"/>
            <a:chOff x="8077200" y="3206750"/>
            <a:chExt cx="3302000" cy="1174750"/>
          </a:xfrm>
        </p:grpSpPr>
        <p:sp>
          <p:nvSpPr>
            <p:cNvPr id="28" name="Rounded Rectangle 27"/>
            <p:cNvSpPr/>
            <p:nvPr/>
          </p:nvSpPr>
          <p:spPr>
            <a:xfrm>
              <a:off x="8077200" y="3206750"/>
              <a:ext cx="3302000" cy="1174750"/>
            </a:xfrm>
            <a:prstGeom prst="roundRect">
              <a:avLst>
                <a:gd name="adj" fmla="val 864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7200" y="3206750"/>
              <a:ext cx="50800" cy="117475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80400" y="332867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Hard for all: </a:t>
              </a:r>
              <a:r>
                <a:rPr sz="1400" b="0" i="0">
                  <a:solidFill>
                    <a:srgbClr val="14213D"/>
                  </a:solidFill>
                  <a:latin typeface="Calibri"/>
                </a:rPr>
                <a:t>even the clinical 2D standard errs by 88%.</a:t>
              </a:r>
            </a:p>
          </p:txBody>
        </p:sp>
      </p:grpSp>
      <p:grpSp>
        <p:nvGrpSpPr>
          <p:cNvPr id="31" name="Group 30"/>
          <p:cNvGrpSpPr/>
          <p:nvPr/>
        </p:nvGrpSpPr>
        <p:grpSpPr>
          <a:xfrm>
            <a:off x="8077200" y="4508500"/>
            <a:ext cx="3302000" cy="1174750"/>
            <a:chOff x="8077200" y="4508500"/>
            <a:chExt cx="3302000" cy="1174750"/>
          </a:xfrm>
        </p:grpSpPr>
        <p:sp>
          <p:nvSpPr>
            <p:cNvPr id="32" name="Rounded Rectangle 31"/>
            <p:cNvSpPr/>
            <p:nvPr/>
          </p:nvSpPr>
          <p:spPr>
            <a:xfrm>
              <a:off x="8077200" y="4508500"/>
              <a:ext cx="3302000" cy="1174750"/>
            </a:xfrm>
            <a:prstGeom prst="roundRect">
              <a:avLst>
                <a:gd name="adj" fmla="val 8648"/>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7200" y="4508500"/>
              <a:ext cx="50800" cy="117475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0400" y="46304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Open challenge: </a:t>
              </a:r>
              <a:r>
                <a:rPr sz="1400" b="0" i="0">
                  <a:solidFill>
                    <a:srgbClr val="14213D"/>
                  </a:solidFill>
                  <a:latin typeface="Calibri"/>
                </a:rPr>
                <a:t>learned methods under-estimate size; the cause is found (next slides).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600"/>
                                        <p:tgtEl>
                                          <p:spTgt spid="6"/>
                                        </p:tgtEl>
                                      </p:cBhvr>
                                    </p:animEffect>
                                  </p:childTnLst>
                                </p:cTn>
                              </p:par>
                              <p:par>
                                <p:cTn id="8" presetID="22" presetClass="entr" presetSubtype="8" fill="hold" grpId="0" nodeType="withEffect">
                                  <p:stCondLst>
                                    <p:cond delay="15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600"/>
                                        <p:tgtEl>
                                          <p:spTgt spid="7"/>
                                        </p:tgtEl>
                                      </p:cBhvr>
                                    </p:animEffect>
                                  </p:childTnLst>
                                </p:cTn>
                              </p:par>
                              <p:par>
                                <p:cTn id="11" presetID="22" presetClass="entr" presetSubtype="8" fill="hold" grpId="0" nodeType="withEffect">
                                  <p:stCondLst>
                                    <p:cond delay="30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600"/>
                                        <p:tgtEl>
                                          <p:spTgt spid="9"/>
                                        </p:tgtEl>
                                      </p:cBhvr>
                                    </p:animEffect>
                                  </p:childTnLst>
                                </p:cTn>
                              </p:par>
                              <p:par>
                                <p:cTn id="14" presetID="22" presetClass="entr" presetSubtype="8" fill="hold" grpId="0" nodeType="withEffect">
                                  <p:stCondLst>
                                    <p:cond delay="45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600"/>
                                        <p:tgtEl>
                                          <p:spTgt spid="10"/>
                                        </p:tgtEl>
                                      </p:cBhvr>
                                    </p:animEffect>
                                  </p:childTnLst>
                                </p:cTn>
                              </p:par>
                              <p:par>
                                <p:cTn id="17" presetID="22" presetClass="entr" presetSubtype="8" fill="hold" grpId="0" nodeType="withEffect">
                                  <p:stCondLst>
                                    <p:cond delay="6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600"/>
                                        <p:tgtEl>
                                          <p:spTgt spid="12"/>
                                        </p:tgtEl>
                                      </p:cBhvr>
                                    </p:animEffect>
                                  </p:childTnLst>
                                </p:cTn>
                              </p:par>
                              <p:par>
                                <p:cTn id="20" presetID="22" presetClass="entr" presetSubtype="8" fill="hold" grpId="0" nodeType="withEffect">
                                  <p:stCondLst>
                                    <p:cond delay="750"/>
                                  </p:stCondLst>
                                  <p:childTnLst>
                                    <p:set>
                                      <p:cBhvr>
                                        <p:cTn id="18" dur="1" fill="hold">
                                          <p:stCondLst>
                                            <p:cond delay="0"/>
                                          </p:stCondLst>
                                        </p:cTn>
                                        <p:tgtEl>
                                          <p:spTgt spid="13"/>
                                        </p:tgtEl>
                                        <p:attrNameLst>
                                          <p:attrName>style.visibility</p:attrName>
                                        </p:attrNameLst>
                                      </p:cBhvr>
                                      <p:to>
                                        <p:strVal val="visible"/>
                                      </p:to>
                                    </p:set>
                                    <p:animEffect transition="in" filter="wipe(left)">
                                      <p:cBhvr>
                                        <p:cTn id="19" dur="600"/>
                                        <p:tgtEl>
                                          <p:spTgt spid="13"/>
                                        </p:tgtEl>
                                      </p:cBhvr>
                                    </p:animEffect>
                                  </p:childTnLst>
                                </p:cTn>
                              </p:par>
                              <p:par>
                                <p:cTn id="23" presetID="22" presetClass="entr" presetSubtype="8" fill="hold" grpId="0" nodeType="withEffect">
                                  <p:stCondLst>
                                    <p:cond delay="90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600"/>
                                        <p:tgtEl>
                                          <p:spTgt spid="15"/>
                                        </p:tgtEl>
                                      </p:cBhvr>
                                    </p:animEffect>
                                  </p:childTnLst>
                                </p:cTn>
                              </p:par>
                              <p:par>
                                <p:cTn id="26" presetID="22" presetClass="entr" presetSubtype="8" fill="hold" grpId="0" nodeType="withEffect">
                                  <p:stCondLst>
                                    <p:cond delay="1050"/>
                                  </p:stCondLst>
                                  <p:childTnLst>
                                    <p:set>
                                      <p:cBhvr>
                                        <p:cTn id="24" dur="1" fill="hold">
                                          <p:stCondLst>
                                            <p:cond delay="0"/>
                                          </p:stCondLst>
                                        </p:cTn>
                                        <p:tgtEl>
                                          <p:spTgt spid="16"/>
                                        </p:tgtEl>
                                        <p:attrNameLst>
                                          <p:attrName>style.visibility</p:attrName>
                                        </p:attrNameLst>
                                      </p:cBhvr>
                                      <p:to>
                                        <p:strVal val="visible"/>
                                      </p:to>
                                    </p:set>
                                    <p:animEffect transition="in" filter="wipe(left)">
                                      <p:cBhvr>
                                        <p:cTn id="25" dur="600"/>
                                        <p:tgtEl>
                                          <p:spTgt spid="16"/>
                                        </p:tgtEl>
                                      </p:cBhvr>
                                    </p:animEffect>
                                  </p:childTnLst>
                                </p:cTn>
                              </p:par>
                              <p:par>
                                <p:cTn id="29" presetID="22" presetClass="entr" presetSubtype="8" fill="hold" grpId="0" nodeType="withEffect">
                                  <p:stCondLst>
                                    <p:cond delay="1200"/>
                                  </p:stCondLst>
                                  <p:childTnLst>
                                    <p:set>
                                      <p:cBhvr>
                                        <p:cTn id="27" dur="1" fill="hold">
                                          <p:stCondLst>
                                            <p:cond delay="0"/>
                                          </p:stCondLst>
                                        </p:cTn>
                                        <p:tgtEl>
                                          <p:spTgt spid="18"/>
                                        </p:tgtEl>
                                        <p:attrNameLst>
                                          <p:attrName>style.visibility</p:attrName>
                                        </p:attrNameLst>
                                      </p:cBhvr>
                                      <p:to>
                                        <p:strVal val="visible"/>
                                      </p:to>
                                    </p:set>
                                    <p:animEffect transition="in" filter="wipe(left)">
                                      <p:cBhvr>
                                        <p:cTn id="28" dur="600"/>
                                        <p:tgtEl>
                                          <p:spTgt spid="18"/>
                                        </p:tgtEl>
                                      </p:cBhvr>
                                    </p:animEffect>
                                  </p:childTnLst>
                                </p:cTn>
                              </p:par>
                              <p:par>
                                <p:cTn id="32" presetID="22" presetClass="entr" presetSubtype="8" fill="hold" grpId="0" nodeType="withEffect">
                                  <p:stCondLst>
                                    <p:cond delay="1350"/>
                                  </p:stCondLst>
                                  <p:childTnLst>
                                    <p:set>
                                      <p:cBhvr>
                                        <p:cTn id="30" dur="1" fill="hold">
                                          <p:stCondLst>
                                            <p:cond delay="0"/>
                                          </p:stCondLst>
                                        </p:cTn>
                                        <p:tgtEl>
                                          <p:spTgt spid="19"/>
                                        </p:tgtEl>
                                        <p:attrNameLst>
                                          <p:attrName>style.visibility</p:attrName>
                                        </p:attrNameLst>
                                      </p:cBhvr>
                                      <p:to>
                                        <p:strVal val="visible"/>
                                      </p:to>
                                    </p:set>
                                    <p:animEffect transition="in" filter="wipe(left)">
                                      <p:cBhvr>
                                        <p:cTn id="31" dur="600"/>
                                        <p:tgtEl>
                                          <p:spTgt spid="19"/>
                                        </p:tgtEl>
                                      </p:cBhvr>
                                    </p:animEffect>
                                  </p:childTnLst>
                                </p:cTn>
                              </p:par>
                              <p:par>
                                <p:cTn id="35" presetID="22" presetClass="entr" presetSubtype="8" fill="hold" grpId="0" nodeType="withEffect">
                                  <p:stCondLst>
                                    <p:cond delay="1500"/>
                                  </p:stCondLst>
                                  <p:childTnLst>
                                    <p:set>
                                      <p:cBhvr>
                                        <p:cTn id="33" dur="1" fill="hold">
                                          <p:stCondLst>
                                            <p:cond delay="0"/>
                                          </p:stCondLst>
                                        </p:cTn>
                                        <p:tgtEl>
                                          <p:spTgt spid="21"/>
                                        </p:tgtEl>
                                        <p:attrNameLst>
                                          <p:attrName>style.visibility</p:attrName>
                                        </p:attrNameLst>
                                      </p:cBhvr>
                                      <p:to>
                                        <p:strVal val="visible"/>
                                      </p:to>
                                    </p:set>
                                    <p:animEffect transition="in" filter="wipe(left)">
                                      <p:cBhvr>
                                        <p:cTn id="34" dur="600"/>
                                        <p:tgtEl>
                                          <p:spTgt spid="21"/>
                                        </p:tgtEl>
                                      </p:cBhvr>
                                    </p:animEffect>
                                  </p:childTnLst>
                                </p:cTn>
                              </p:par>
                              <p:par>
                                <p:cTn id="38" presetID="22" presetClass="entr" presetSubtype="8" fill="hold" grpId="0" nodeType="withEffect">
                                  <p:stCondLst>
                                    <p:cond delay="1650"/>
                                  </p:stCondLst>
                                  <p:childTnLst>
                                    <p:set>
                                      <p:cBhvr>
                                        <p:cTn id="36" dur="1" fill="hold">
                                          <p:stCondLst>
                                            <p:cond delay="0"/>
                                          </p:stCondLst>
                                        </p:cTn>
                                        <p:tgtEl>
                                          <p:spTgt spid="22"/>
                                        </p:tgtEl>
                                        <p:attrNameLst>
                                          <p:attrName>style.visibility</p:attrName>
                                        </p:attrNameLst>
                                      </p:cBhvr>
                                      <p:to>
                                        <p:strVal val="visible"/>
                                      </p:to>
                                    </p:set>
                                    <p:animEffect transition="in" filter="wipe(left)">
                                      <p:cBhvr>
                                        <p:cTn id="37" dur="600"/>
                                        <p:tgtEl>
                                          <p:spTgt spid="22"/>
                                        </p:tgtEl>
                                      </p:cBhvr>
                                    </p:animEffect>
                                  </p:childTnLst>
                                </p:cTn>
                              </p:par>
                            </p:childTnLst>
                          </p:cTn>
                        </p:par>
                      </p:childTnLst>
                    </p:cTn>
                  </p:par>
                  <p:par>
                    <p:cTn id="45" fill="hold">
                      <p:stCondLst>
                        <p:cond delay="indefinite"/>
                      </p:stCondLst>
                      <p:childTnLst>
                        <p:par>
                          <p:cTn id="46" fill="hold">
                            <p:stCondLst>
                              <p:cond delay="0"/>
                            </p:stCondLst>
                            <p:childTnLst>
                              <p:par>
                                <p:cTn id="44" presetID="42" presetClass="entr" presetSubtype="0" fill="hold" grpId="0"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anim calcmode="lin" valueType="num">
                                      <p:cBhvr additive="base">
                                        <p:cTn id="43"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animEffect transition="in" filter="fade">
                                      <p:cBhvr>
                                        <p:cTn id="48" dur="500"/>
                                        <p:tgtEl>
                                          <p:spTgt spid="27"/>
                                        </p:tgtEl>
                                      </p:cBhvr>
                                    </p:animEffect>
                                    <p:anim calcmode="lin" valueType="num">
                                      <p:cBhvr additive="base">
                                        <p:cTn id="49"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grpId="0" nodeType="clickEffect">
                                  <p:stCondLst>
                                    <p:cond delay="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500"/>
                                        <p:tgtEl>
                                          <p:spTgt spid="31"/>
                                        </p:tgtEl>
                                      </p:cBhvr>
                                    </p:animEffect>
                                    <p:anim calcmode="lin" valueType="num">
                                      <p:cBhvr additive="base">
                                        <p:cTn id="55" dur="500" fill="hold"/>
                                        <p:tgtEl>
                                          <p:spTgt spid="31"/>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0" grpId="0"/>
      <p:bldP spid="12" grpId="0"/>
      <p:bldP spid="13" grpId="0"/>
      <p:bldP spid="15" grpId="0"/>
      <p:bldP spid="16" grpId="0"/>
      <p:bldP spid="18" grpId="0"/>
      <p:bldP spid="19" grpId="0"/>
      <p:bldP spid="21" grpId="0"/>
      <p:bldP spid="22" grpId="0"/>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HYPOTHESIS SCORECARD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Three hypotheses supported, three set our next step</a:t>
            </a:r>
          </a:p>
        </p:txBody>
      </p:sp>
      <p:grpSp>
        <p:nvGrpSpPr>
          <p:cNvPr id="4" name="Group 3"/>
          <p:cNvGrpSpPr/>
          <p:nvPr/>
        </p:nvGrpSpPr>
        <p:grpSpPr>
          <a:xfrm>
            <a:off x="812800" y="1841500"/>
            <a:ext cx="10566400" cy="558800"/>
            <a:chOff x="812800" y="1841500"/>
            <a:chExt cx="10566400" cy="558800"/>
          </a:xfrm>
        </p:grpSpPr>
        <p:sp>
          <p:nvSpPr>
            <p:cNvPr id="5" name="Rounded Rectangle 4"/>
            <p:cNvSpPr/>
            <p:nvPr/>
          </p:nvSpPr>
          <p:spPr>
            <a:xfrm>
              <a:off x="812800" y="18415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841500"/>
              <a:ext cx="50800" cy="558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18415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H6</a:t>
              </a:r>
            </a:p>
          </p:txBody>
        </p:sp>
        <p:sp>
          <p:nvSpPr>
            <p:cNvPr id="8" name="TextBox 7"/>
            <p:cNvSpPr txBox="1"/>
            <p:nvPr/>
          </p:nvSpPr>
          <p:spPr>
            <a:xfrm>
              <a:off x="1714500" y="18415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Prior recovers unseen depth</a:t>
              </a:r>
            </a:p>
          </p:txBody>
        </p:sp>
        <p:sp>
          <p:nvSpPr>
            <p:cNvPr id="9" name="TextBox 8"/>
            <p:cNvSpPr txBox="1"/>
            <p:nvPr/>
          </p:nvSpPr>
          <p:spPr>
            <a:xfrm>
              <a:off x="5080000" y="1841500"/>
              <a:ext cx="2032000" cy="5588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Supported</a:t>
              </a:r>
            </a:p>
          </p:txBody>
        </p:sp>
        <p:sp>
          <p:nvSpPr>
            <p:cNvPr id="10" name="TextBox 9"/>
            <p:cNvSpPr txBox="1"/>
            <p:nvPr/>
          </p:nvSpPr>
          <p:spPr>
            <a:xfrm>
              <a:off x="7175500" y="18415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unseen skill 0.22 [0.14, 0.36]</a:t>
              </a:r>
            </a:p>
          </p:txBody>
        </p:sp>
      </p:grpSp>
      <p:grpSp>
        <p:nvGrpSpPr>
          <p:cNvPr id="11" name="Group 10"/>
          <p:cNvGrpSpPr/>
          <p:nvPr/>
        </p:nvGrpSpPr>
        <p:grpSpPr>
          <a:xfrm>
            <a:off x="812800" y="2501900"/>
            <a:ext cx="10566400" cy="558800"/>
            <a:chOff x="812800" y="2501900"/>
            <a:chExt cx="10566400" cy="558800"/>
          </a:xfrm>
        </p:grpSpPr>
        <p:sp>
          <p:nvSpPr>
            <p:cNvPr id="12" name="Rounded Rectangle 11"/>
            <p:cNvSpPr/>
            <p:nvPr/>
          </p:nvSpPr>
          <p:spPr>
            <a:xfrm>
              <a:off x="812800" y="25019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800" y="2501900"/>
              <a:ext cx="50800" cy="558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6800" y="25019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H3</a:t>
              </a:r>
            </a:p>
          </p:txBody>
        </p:sp>
        <p:sp>
          <p:nvSpPr>
            <p:cNvPr id="15" name="TextBox 14"/>
            <p:cNvSpPr txBox="1"/>
            <p:nvPr/>
          </p:nvSpPr>
          <p:spPr>
            <a:xfrm>
              <a:off x="1714500" y="25019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Valid conformal intervals</a:t>
              </a:r>
            </a:p>
          </p:txBody>
        </p:sp>
        <p:sp>
          <p:nvSpPr>
            <p:cNvPr id="16" name="TextBox 15"/>
            <p:cNvSpPr txBox="1"/>
            <p:nvPr/>
          </p:nvSpPr>
          <p:spPr>
            <a:xfrm>
              <a:off x="5080000" y="2501900"/>
              <a:ext cx="2032000" cy="5588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Coverage met</a:t>
              </a:r>
            </a:p>
          </p:txBody>
        </p:sp>
        <p:sp>
          <p:nvSpPr>
            <p:cNvPr id="17" name="TextBox 16"/>
            <p:cNvSpPr txBox="1"/>
            <p:nvPr/>
          </p:nvSpPr>
          <p:spPr>
            <a:xfrm>
              <a:off x="7175500" y="25019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95% for the 90% target</a:t>
              </a:r>
            </a:p>
          </p:txBody>
        </p:sp>
      </p:grpSp>
      <p:grpSp>
        <p:nvGrpSpPr>
          <p:cNvPr id="18" name="Group 17"/>
          <p:cNvGrpSpPr/>
          <p:nvPr/>
        </p:nvGrpSpPr>
        <p:grpSpPr>
          <a:xfrm>
            <a:off x="812800" y="3162300"/>
            <a:ext cx="10566400" cy="558800"/>
            <a:chOff x="812800" y="3162300"/>
            <a:chExt cx="10566400" cy="558800"/>
          </a:xfrm>
        </p:grpSpPr>
        <p:sp>
          <p:nvSpPr>
            <p:cNvPr id="19" name="Rounded Rectangle 18"/>
            <p:cNvSpPr/>
            <p:nvPr/>
          </p:nvSpPr>
          <p:spPr>
            <a:xfrm>
              <a:off x="812800" y="31623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800" y="3162300"/>
              <a:ext cx="50800" cy="558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6800" y="31623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H5</a:t>
              </a:r>
            </a:p>
          </p:txBody>
        </p:sp>
        <p:sp>
          <p:nvSpPr>
            <p:cNvPr id="22" name="TextBox 21"/>
            <p:cNvSpPr txBox="1"/>
            <p:nvPr/>
          </p:nvSpPr>
          <p:spPr>
            <a:xfrm>
              <a:off x="1714500" y="31623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Calibrated category risk</a:t>
              </a:r>
            </a:p>
          </p:txBody>
        </p:sp>
        <p:sp>
          <p:nvSpPr>
            <p:cNvPr id="23" name="TextBox 22"/>
            <p:cNvSpPr txBox="1"/>
            <p:nvPr/>
          </p:nvSpPr>
          <p:spPr>
            <a:xfrm>
              <a:off x="5080000" y="3162300"/>
              <a:ext cx="2032000" cy="5588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Met at 100 mm³</a:t>
              </a:r>
            </a:p>
          </p:txBody>
        </p:sp>
        <p:sp>
          <p:nvSpPr>
            <p:cNvPr id="24" name="TextBox 23"/>
            <p:cNvSpPr txBox="1"/>
            <p:nvPr/>
          </p:nvSpPr>
          <p:spPr>
            <a:xfrm>
              <a:off x="7175500" y="31623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Brier 0.54 → 0.17</a:t>
              </a:r>
            </a:p>
          </p:txBody>
        </p:sp>
      </p:grpSp>
      <p:grpSp>
        <p:nvGrpSpPr>
          <p:cNvPr id="25" name="Group 24"/>
          <p:cNvGrpSpPr/>
          <p:nvPr/>
        </p:nvGrpSpPr>
        <p:grpSpPr>
          <a:xfrm>
            <a:off x="812800" y="3822700"/>
            <a:ext cx="10566400" cy="558800"/>
            <a:chOff x="812800" y="3822700"/>
            <a:chExt cx="10566400" cy="558800"/>
          </a:xfrm>
        </p:grpSpPr>
        <p:sp>
          <p:nvSpPr>
            <p:cNvPr id="26" name="Rounded Rectangle 25"/>
            <p:cNvSpPr/>
            <p:nvPr/>
          </p:nvSpPr>
          <p:spPr>
            <a:xfrm>
              <a:off x="812800" y="38227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800" y="38227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6800" y="38227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H1</a:t>
              </a:r>
            </a:p>
          </p:txBody>
        </p:sp>
        <p:sp>
          <p:nvSpPr>
            <p:cNvPr id="29" name="TextBox 28"/>
            <p:cNvSpPr txBox="1"/>
            <p:nvPr/>
          </p:nvSpPr>
          <p:spPr>
            <a:xfrm>
              <a:off x="1714500" y="38227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Mass more accurate than volume</a:t>
              </a:r>
            </a:p>
          </p:txBody>
        </p:sp>
        <p:sp>
          <p:nvSpPr>
            <p:cNvPr id="30" name="TextBox 29"/>
            <p:cNvSpPr txBox="1"/>
            <p:nvPr/>
          </p:nvSpPr>
          <p:spPr>
            <a:xfrm>
              <a:off x="5080000" y="38227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Not yet</a:t>
              </a:r>
            </a:p>
          </p:txBody>
        </p:sp>
        <p:sp>
          <p:nvSpPr>
            <p:cNvPr id="31" name="TextBox 30"/>
            <p:cNvSpPr txBox="1"/>
            <p:nvPr/>
          </p:nvSpPr>
          <p:spPr>
            <a:xfrm>
              <a:off x="7175500" y="38227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held for physics-only Gaussians (78% vs 88%)</a:t>
              </a:r>
            </a:p>
          </p:txBody>
        </p:sp>
      </p:grpSp>
      <p:grpSp>
        <p:nvGrpSpPr>
          <p:cNvPr id="32" name="Group 31"/>
          <p:cNvGrpSpPr/>
          <p:nvPr/>
        </p:nvGrpSpPr>
        <p:grpSpPr>
          <a:xfrm>
            <a:off x="812800" y="4483100"/>
            <a:ext cx="10566400" cy="558800"/>
            <a:chOff x="812800" y="4483100"/>
            <a:chExt cx="10566400" cy="558800"/>
          </a:xfrm>
        </p:grpSpPr>
        <p:sp>
          <p:nvSpPr>
            <p:cNvPr id="33" name="Rounded Rectangle 32"/>
            <p:cNvSpPr/>
            <p:nvPr/>
          </p:nvSpPr>
          <p:spPr>
            <a:xfrm>
              <a:off x="812800" y="44831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2800" y="44831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6800" y="44831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H2</a:t>
              </a:r>
            </a:p>
          </p:txBody>
        </p:sp>
        <p:sp>
          <p:nvSpPr>
            <p:cNvPr id="36" name="TextBox 35"/>
            <p:cNvSpPr txBox="1"/>
            <p:nvPr/>
          </p:nvSpPr>
          <p:spPr>
            <a:xfrm>
              <a:off x="1714500" y="44831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Prior lowers volume error</a:t>
              </a:r>
            </a:p>
          </p:txBody>
        </p:sp>
        <p:sp>
          <p:nvSpPr>
            <p:cNvPr id="37" name="TextBox 36"/>
            <p:cNvSpPr txBox="1"/>
            <p:nvPr/>
          </p:nvSpPr>
          <p:spPr>
            <a:xfrm>
              <a:off x="5080000" y="44831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Not yet</a:t>
              </a:r>
            </a:p>
          </p:txBody>
        </p:sp>
        <p:sp>
          <p:nvSpPr>
            <p:cNvPr id="38" name="TextBox 37"/>
            <p:cNvSpPr txBox="1"/>
            <p:nvPr/>
          </p:nvSpPr>
          <p:spPr>
            <a:xfrm>
              <a:off x="7175500" y="44831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prior alone best (74.5%); with Gaussians 94.6%</a:t>
              </a:r>
            </a:p>
          </p:txBody>
        </p:sp>
      </p:grpSp>
      <p:grpSp>
        <p:nvGrpSpPr>
          <p:cNvPr id="39" name="Group 38"/>
          <p:cNvGrpSpPr/>
          <p:nvPr/>
        </p:nvGrpSpPr>
        <p:grpSpPr>
          <a:xfrm>
            <a:off x="812800" y="5143500"/>
            <a:ext cx="10566400" cy="558800"/>
            <a:chOff x="812800" y="5143500"/>
            <a:chExt cx="10566400" cy="558800"/>
          </a:xfrm>
        </p:grpSpPr>
        <p:sp>
          <p:nvSpPr>
            <p:cNvPr id="40" name="Rounded Rectangle 39"/>
            <p:cNvSpPr/>
            <p:nvPr/>
          </p:nvSpPr>
          <p:spPr>
            <a:xfrm>
              <a:off x="812800" y="51435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2800" y="51435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6800" y="51435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H4</a:t>
              </a:r>
            </a:p>
          </p:txBody>
        </p:sp>
        <p:sp>
          <p:nvSpPr>
            <p:cNvPr id="43" name="TextBox 42"/>
            <p:cNvSpPr txBox="1"/>
            <p:nvPr/>
          </p:nvSpPr>
          <p:spPr>
            <a:xfrm>
              <a:off x="1714500" y="51435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MDT beats VDT for growth</a:t>
              </a:r>
            </a:p>
          </p:txBody>
        </p:sp>
        <p:sp>
          <p:nvSpPr>
            <p:cNvPr id="44" name="TextBox 43"/>
            <p:cNvSpPr txBox="1"/>
            <p:nvPr/>
          </p:nvSpPr>
          <p:spPr>
            <a:xfrm>
              <a:off x="5080000" y="51435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Not yet</a:t>
              </a:r>
            </a:p>
          </p:txBody>
        </p:sp>
        <p:sp>
          <p:nvSpPr>
            <p:cNvPr id="45" name="TextBox 44"/>
            <p:cNvSpPr txBox="1"/>
            <p:nvPr/>
          </p:nvSpPr>
          <p:spPr>
            <a:xfrm>
              <a:off x="7175500" y="51435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trend holds for physics-only (50% vs 48%)</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2" presetClass="entr" presetSubtype="8"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ppt_x</p:attrName>
                                        </p:attrNameLst>
                                      </p:cBhvr>
                                      <p:tavLst>
                                        <p:tav tm="0">
                                          <p:val>
                                            <p:strVal val="#ppt_x-0.08"/>
                                          </p:val>
                                        </p:tav>
                                        <p:tav tm="100000">
                                          <p:val>
                                            <p:strVal val="#ppt_x"/>
                                          </p:val>
                                        </p:tav>
                                      </p:tavLst>
                                    </p:anim>
                                  </p:childTnLst>
                                </p:cTn>
                              </p:par>
                            </p:childTnLst>
                          </p:cTn>
                        </p:par>
                      </p:childTnLst>
                    </p:cTn>
                  </p:par>
                  <p:par>
                    <p:cTn id="13" fill="hold">
                      <p:stCondLst>
                        <p:cond delay="indefinite"/>
                      </p:stCondLst>
                      <p:childTnLst>
                        <p:par>
                          <p:cTn id="14" fill="hold">
                            <p:stCondLst>
                              <p:cond delay="0"/>
                            </p:stCondLst>
                            <p:childTnLst>
                              <p:par>
                                <p:cTn id="12" presetID="2" presetClass="entr" presetSubtype="8"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ppt_x</p:attrName>
                                        </p:attrNameLst>
                                      </p:cBhvr>
                                      <p:tavLst>
                                        <p:tav tm="0">
                                          <p:val>
                                            <p:strVal val="#ppt_x-0.08"/>
                                          </p:val>
                                        </p:tav>
                                        <p:tav tm="100000">
                                          <p:val>
                                            <p:strVal val="#ppt_x"/>
                                          </p:val>
                                        </p:tav>
                                      </p:tavLst>
                                    </p:anim>
                                  </p:childTnLst>
                                </p:cTn>
                              </p:par>
                            </p:childTnLst>
                          </p:cTn>
                        </p:par>
                      </p:childTnLst>
                    </p:cTn>
                  </p:par>
                  <p:par>
                    <p:cTn id="19" fill="hold">
                      <p:stCondLst>
                        <p:cond delay="indefinite"/>
                      </p:stCondLst>
                      <p:childTnLst>
                        <p:par>
                          <p:cTn id="20" fill="hold">
                            <p:stCondLst>
                              <p:cond delay="0"/>
                            </p:stCondLst>
                            <p:childTnLst>
                              <p:par>
                                <p:cTn id="18" presetID="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anim calcmode="lin" valueType="num">
                                      <p:cBhvr additive="base">
                                        <p:cTn id="17" dur="500" fill="hold"/>
                                        <p:tgtEl>
                                          <p:spTgt spid="18"/>
                                        </p:tgtEl>
                                        <p:attrNameLst>
                                          <p:attrName>ppt_x</p:attrName>
                                        </p:attrNameLst>
                                      </p:cBhvr>
                                      <p:tavLst>
                                        <p:tav tm="0">
                                          <p:val>
                                            <p:strVal val="#ppt_x-0.08"/>
                                          </p:val>
                                        </p:tav>
                                        <p:tav tm="100000">
                                          <p:val>
                                            <p:strVal val="#ppt_x"/>
                                          </p:val>
                                        </p:tav>
                                      </p:tavLst>
                                    </p:anim>
                                  </p:childTnLst>
                                </p:cTn>
                              </p:par>
                            </p:childTnLst>
                          </p:cTn>
                        </p:par>
                      </p:childTnLst>
                    </p:cTn>
                  </p:par>
                  <p:par>
                    <p:cTn id="25" fill="hold">
                      <p:stCondLst>
                        <p:cond delay="indefinite"/>
                      </p:stCondLst>
                      <p:childTnLst>
                        <p:par>
                          <p:cTn id="26" fill="hold">
                            <p:stCondLst>
                              <p:cond delay="0"/>
                            </p:stCondLst>
                            <p:childTnLst>
                              <p:par>
                                <p:cTn id="24" presetID="2" presetClass="entr" presetSubtype="8" fill="hold" grpId="0"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anim calcmode="lin" valueType="num">
                                      <p:cBhvr additive="base">
                                        <p:cTn id="23" dur="500" fill="hold"/>
                                        <p:tgtEl>
                                          <p:spTgt spid="25"/>
                                        </p:tgtEl>
                                        <p:attrNameLst>
                                          <p:attrName>ppt_x</p:attrName>
                                        </p:attrNameLst>
                                      </p:cBhvr>
                                      <p:tavLst>
                                        <p:tav tm="0">
                                          <p:val>
                                            <p:strVal val="#ppt_x-0.08"/>
                                          </p:val>
                                        </p:tav>
                                        <p:tav tm="100000">
                                          <p:val>
                                            <p:strVal val="#ppt_x"/>
                                          </p:val>
                                        </p:tav>
                                      </p:tavLst>
                                    </p:anim>
                                  </p:childTnLst>
                                </p:cTn>
                              </p:par>
                            </p:childTnLst>
                          </p:cTn>
                        </p:par>
                      </p:childTnLst>
                    </p:cTn>
                  </p:par>
                  <p:par>
                    <p:cTn id="31" fill="hold">
                      <p:stCondLst>
                        <p:cond delay="indefinite"/>
                      </p:stCondLst>
                      <p:childTnLst>
                        <p:par>
                          <p:cTn id="32" fill="hold">
                            <p:stCondLst>
                              <p:cond delay="0"/>
                            </p:stCondLst>
                            <p:childTnLst>
                              <p:par>
                                <p:cTn id="30" presetID="2" presetClass="entr" presetSubtype="8"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500"/>
                                        <p:tgtEl>
                                          <p:spTgt spid="32"/>
                                        </p:tgtEl>
                                      </p:cBhvr>
                                    </p:animEffect>
                                    <p:anim calcmode="lin" valueType="num">
                                      <p:cBhvr additive="base">
                                        <p:cTn id="29" dur="500" fill="hold"/>
                                        <p:tgtEl>
                                          <p:spTgt spid="32"/>
                                        </p:tgtEl>
                                        <p:attrNameLst>
                                          <p:attrName>ppt_x</p:attrName>
                                        </p:attrNameLst>
                                      </p:cBhvr>
                                      <p:tavLst>
                                        <p:tav tm="0">
                                          <p:val>
                                            <p:strVal val="#ppt_x-0.08"/>
                                          </p:val>
                                        </p:tav>
                                        <p:tav tm="100000">
                                          <p:val>
                                            <p:strVal val="#ppt_x"/>
                                          </p:val>
                                        </p:tav>
                                      </p:tavLst>
                                    </p:anim>
                                  </p:childTnLst>
                                </p:cTn>
                              </p:par>
                            </p:childTnLst>
                          </p:cTn>
                        </p:par>
                      </p:childTnLst>
                    </p:cTn>
                  </p:par>
                  <p:par>
                    <p:cTn id="37" fill="hold">
                      <p:stCondLst>
                        <p:cond delay="indefinite"/>
                      </p:stCondLst>
                      <p:childTnLst>
                        <p:par>
                          <p:cTn id="38" fill="hold">
                            <p:stCondLst>
                              <p:cond delay="0"/>
                            </p:stCondLst>
                            <p:childTnLst>
                              <p:par>
                                <p:cTn id="36" presetID="2" presetClass="entr" presetSubtype="8" fill="hold" grpId="0" nodeType="click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500"/>
                                        <p:tgtEl>
                                          <p:spTgt spid="39"/>
                                        </p:tgtEl>
                                      </p:cBhvr>
                                    </p:animEffect>
                                    <p:anim calcmode="lin" valueType="num">
                                      <p:cBhvr additive="base">
                                        <p:cTn id="35" dur="500" fill="hold"/>
                                        <p:tgtEl>
                                          <p:spTgt spid="39"/>
                                        </p:tgtEl>
                                        <p:attrNameLst>
                                          <p:attrName>ppt_x</p:attrName>
                                        </p:attrNameLst>
                                      </p:cBhvr>
                                      <p:tavLst>
                                        <p:tav tm="0">
                                          <p:val>
                                            <p:strVal val="#ppt_x-0.08"/>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ROOT-CAUSE ANALYSIS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Every gap traced to a cause and a concrete fix</a:t>
            </a:r>
          </a:p>
        </p:txBody>
      </p:sp>
      <p:sp>
        <p:nvSpPr>
          <p:cNvPr id="4" name="Rounded Rectangle 3"/>
          <p:cNvSpPr/>
          <p:nvPr/>
        </p:nvSpPr>
        <p:spPr>
          <a:xfrm>
            <a:off x="812800" y="1905000"/>
            <a:ext cx="4318000" cy="2070100"/>
          </a:xfrm>
          <a:prstGeom prst="roundRect">
            <a:avLst>
              <a:gd name="adj" fmla="val 368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rink.png"/>
          <p:cNvPicPr>
            <a:picLocks noChangeAspect="1"/>
          </p:cNvPicPr>
          <p:nvPr/>
        </p:nvPicPr>
        <p:blipFill>
          <a:blip r:embed="rId2"/>
          <a:stretch>
            <a:fillRect/>
          </a:stretch>
        </p:blipFill>
        <p:spPr>
          <a:xfrm>
            <a:off x="814538" y="1905000"/>
            <a:ext cx="4314524" cy="2070100"/>
          </a:xfrm>
          <a:prstGeom prst="rect">
            <a:avLst/>
          </a:prstGeom>
        </p:spPr>
      </p:pic>
      <p:sp>
        <p:nvSpPr>
          <p:cNvPr id="6" name="TextBox 5"/>
          <p:cNvSpPr txBox="1"/>
          <p:nvPr/>
        </p:nvSpPr>
        <p:spPr>
          <a:xfrm>
            <a:off x="812800" y="4051300"/>
            <a:ext cx="2159000" cy="254000"/>
          </a:xfrm>
          <a:prstGeom prst="rect">
            <a:avLst/>
          </a:prstGeom>
          <a:noFill/>
        </p:spPr>
        <p:txBody>
          <a:bodyPr wrap="square" lIns="0" rIns="0" tIns="0" bIns="0" anchor="t">
            <a:spAutoFit/>
          </a:bodyPr>
          <a:lstStyle/>
          <a:p>
            <a:pPr algn="ctr">
              <a:lnSpc>
                <a:spcPct val="120000"/>
              </a:lnSpc>
            </a:pPr>
            <a:r>
              <a:rPr sz="1200" b="0" i="0">
                <a:solidFill>
                  <a:srgbClr val="4A5568"/>
                </a:solidFill>
                <a:latin typeface="Calibri"/>
              </a:rPr>
              <a:t>CT truth, 6.8 mm</a:t>
            </a:r>
          </a:p>
        </p:txBody>
      </p:sp>
      <p:sp>
        <p:nvSpPr>
          <p:cNvPr id="7" name="TextBox 6"/>
          <p:cNvSpPr txBox="1"/>
          <p:nvPr/>
        </p:nvSpPr>
        <p:spPr>
          <a:xfrm>
            <a:off x="2971800" y="4051300"/>
            <a:ext cx="2159000" cy="254000"/>
          </a:xfrm>
          <a:prstGeom prst="rect">
            <a:avLst/>
          </a:prstGeom>
          <a:noFill/>
        </p:spPr>
        <p:txBody>
          <a:bodyPr wrap="square" lIns="0" rIns="0" tIns="0" bIns="0" anchor="t">
            <a:spAutoFit/>
          </a:bodyPr>
          <a:lstStyle/>
          <a:p>
            <a:pPr algn="ctr">
              <a:lnSpc>
                <a:spcPct val="120000"/>
              </a:lnSpc>
            </a:pPr>
            <a:r>
              <a:rPr sz="1200" b="1" i="0">
                <a:solidFill>
                  <a:srgbClr val="B4521A"/>
                </a:solidFill>
                <a:latin typeface="Calibri"/>
              </a:rPr>
              <a:t>Reconstruction: shrunk</a:t>
            </a:r>
          </a:p>
        </p:txBody>
      </p:sp>
      <p:grpSp>
        <p:nvGrpSpPr>
          <p:cNvPr id="8" name="Group 7"/>
          <p:cNvGrpSpPr/>
          <p:nvPr/>
        </p:nvGrpSpPr>
        <p:grpSpPr>
          <a:xfrm>
            <a:off x="5435600" y="1905000"/>
            <a:ext cx="5943600" cy="1143000"/>
            <a:chOff x="5435600" y="1905000"/>
            <a:chExt cx="5943600" cy="1143000"/>
          </a:xfrm>
        </p:grpSpPr>
        <p:sp>
          <p:nvSpPr>
            <p:cNvPr id="9" name="Rounded Rectangle 8"/>
            <p:cNvSpPr/>
            <p:nvPr/>
          </p:nvSpPr>
          <p:spPr>
            <a:xfrm>
              <a:off x="5435600" y="190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5600" y="1905000"/>
              <a:ext cx="50800" cy="1143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1500" y="203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1. Faint nodules get shrunk</a:t>
              </a:r>
            </a:p>
            <a:p>
              <a:pPr algn="l">
                <a:lnSpc>
                  <a:spcPct val="125000"/>
                </a:lnSpc>
                <a:spcBef>
                  <a:spcPts val="400"/>
                </a:spcBef>
              </a:pPr>
              <a:r>
                <a:rPr sz="1300" b="0" i="0">
                  <a:solidFill>
                    <a:srgbClr val="4A5568"/>
                  </a:solidFill>
                  <a:latin typeface="Calibri"/>
                </a:rPr>
                <a:t>Fix: condition the prior on the click and oversample nodule pairs.</a:t>
              </a:r>
            </a:p>
          </p:txBody>
        </p:sp>
      </p:grpSp>
      <p:grpSp>
        <p:nvGrpSpPr>
          <p:cNvPr id="12" name="Group 11"/>
          <p:cNvGrpSpPr/>
          <p:nvPr/>
        </p:nvGrpSpPr>
        <p:grpSpPr>
          <a:xfrm>
            <a:off x="5435600" y="3175000"/>
            <a:ext cx="5943600" cy="1143000"/>
            <a:chOff x="5435600" y="3175000"/>
            <a:chExt cx="5943600" cy="1143000"/>
          </a:xfrm>
        </p:grpSpPr>
        <p:sp>
          <p:nvSpPr>
            <p:cNvPr id="13" name="Rounded Rectangle 12"/>
            <p:cNvSpPr/>
            <p:nvPr/>
          </p:nvSpPr>
          <p:spPr>
            <a:xfrm>
              <a:off x="5435600" y="317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600" y="3175000"/>
              <a:ext cx="50800" cy="1143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51500" y="330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2. Mass read from the image</a:t>
              </a:r>
            </a:p>
            <a:p>
              <a:pPr algn="l">
                <a:lnSpc>
                  <a:spcPct val="125000"/>
                </a:lnSpc>
                <a:spcBef>
                  <a:spcPts val="400"/>
                </a:spcBef>
              </a:pPr>
              <a:r>
                <a:rPr sz="1300" b="0" i="0">
                  <a:solidFill>
                    <a:srgbClr val="4A5568"/>
                  </a:solidFill>
                  <a:latin typeface="Calibri"/>
                </a:rPr>
                <a:t>Fix: read it from the projections, where 99.7% of mass is measured.</a:t>
              </a:r>
            </a:p>
          </p:txBody>
        </p:sp>
      </p:grpSp>
      <p:grpSp>
        <p:nvGrpSpPr>
          <p:cNvPr id="16" name="Group 15"/>
          <p:cNvGrpSpPr/>
          <p:nvPr/>
        </p:nvGrpSpPr>
        <p:grpSpPr>
          <a:xfrm>
            <a:off x="5435600" y="4445000"/>
            <a:ext cx="5943600" cy="1143000"/>
            <a:chOff x="5435600" y="4445000"/>
            <a:chExt cx="5943600" cy="1143000"/>
          </a:xfrm>
        </p:grpSpPr>
        <p:sp>
          <p:nvSpPr>
            <p:cNvPr id="17" name="Rounded Rectangle 16"/>
            <p:cNvSpPr/>
            <p:nvPr/>
          </p:nvSpPr>
          <p:spPr>
            <a:xfrm>
              <a:off x="5435600" y="444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35600" y="4445000"/>
              <a:ext cx="50800" cy="1143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51500" y="457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3. Failed reads widen intervals</a:t>
              </a:r>
            </a:p>
            <a:p>
              <a:pPr algn="l">
                <a:lnSpc>
                  <a:spcPct val="125000"/>
                </a:lnSpc>
                <a:spcBef>
                  <a:spcPts val="400"/>
                </a:spcBef>
              </a:pPr>
              <a:r>
                <a:rPr sz="1300" b="0" i="0">
                  <a:solidFill>
                    <a:srgbClr val="4A5568"/>
                  </a:solidFill>
                  <a:latin typeface="Calibri"/>
                </a:rPr>
                <a:t>Fix: report “not measurable” separately, calibrate the rest.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anim calcmode="lin" valueType="num">
                                      <p:cBhvr additive="base">
                                        <p:cTn id="17"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COST, STANDARDS AND LAW</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583-patient study for about US$22</a:t>
            </a:r>
          </a:p>
        </p:txBody>
      </p:sp>
      <p:grpSp>
        <p:nvGrpSpPr>
          <p:cNvPr id="4" name="Group 3"/>
          <p:cNvGrpSpPr/>
          <p:nvPr/>
        </p:nvGrpSpPr>
        <p:grpSpPr>
          <a:xfrm>
            <a:off x="812800" y="1905000"/>
            <a:ext cx="5156200" cy="3810000"/>
            <a:chOff x="812800" y="1905000"/>
            <a:chExt cx="5156200" cy="3810000"/>
          </a:xfrm>
        </p:grpSpPr>
        <p:sp>
          <p:nvSpPr>
            <p:cNvPr id="5" name="Rounded Rectangle 4"/>
            <p:cNvSpPr/>
            <p:nvPr/>
          </p:nvSpPr>
          <p:spPr>
            <a:xfrm>
              <a:off x="812800" y="1905000"/>
              <a:ext cx="5156200" cy="3810000"/>
            </a:xfrm>
            <a:prstGeom prst="roundRect">
              <a:avLst>
                <a:gd name="adj" fmla="val 2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 y="2108200"/>
              <a:ext cx="4648200" cy="3403600"/>
            </a:xfrm>
            <a:prstGeom prst="rect">
              <a:avLst/>
            </a:prstGeom>
            <a:noFill/>
          </p:spPr>
          <p:txBody>
            <a:bodyPr wrap="square" lIns="0" rIns="0" tIns="0" bIns="0" anchor="t">
              <a:spAutoFit/>
            </a:bodyPr>
            <a:lstStyle/>
            <a:p>
              <a:pPr algn="l">
                <a:lnSpc>
                  <a:spcPct val="100000"/>
                </a:lnSpc>
              </a:pPr>
              <a:r>
                <a:rPr sz="4800" b="1" i="0">
                  <a:solidFill>
                    <a:srgbClr val="1F5FA8"/>
                  </a:solidFill>
                  <a:latin typeface="Georgia"/>
                </a:rPr>
                <a:t>≈ $20</a:t>
              </a:r>
            </a:p>
            <a:p>
              <a:pPr algn="l">
                <a:lnSpc>
                  <a:spcPct val="130000"/>
                </a:lnSpc>
                <a:spcBef>
                  <a:spcPts val="1000"/>
                </a:spcBef>
              </a:pPr>
              <a:r>
                <a:rPr sz="1400" b="0" i="0">
                  <a:solidFill>
                    <a:srgbClr val="14213D"/>
                  </a:solidFill>
                  <a:latin typeface="Calibri"/>
                </a:rPr>
                <a:t>RunPod L40S GPU (48 GB), </a:t>
              </a:r>
              <a:r>
                <a:rPr sz="1400" b="1" i="0">
                  <a:solidFill>
                    <a:srgbClr val="14213D"/>
                  </a:solidFill>
                  <a:latin typeface="Calibri"/>
                </a:rPr>
                <a:t>15 h × US$1.33/h</a:t>
              </a:r>
              <a:r>
                <a:rPr sz="1400" b="0" i="0">
                  <a:solidFill>
                    <a:srgbClr val="14213D"/>
                  </a:solidFill>
                  <a:latin typeface="Calibri"/>
                </a:rPr>
                <a:t>, plus &lt;$2 CPU; total ≈ BDT 2,640.</a:t>
              </a:r>
            </a:p>
            <a:p>
              <a:pPr algn="l">
                <a:lnSpc>
                  <a:spcPct val="130000"/>
                </a:lnSpc>
                <a:spcBef>
                  <a:spcPts val="800"/>
                </a:spcBef>
              </a:pPr>
              <a:r>
                <a:rPr sz="1300" b="0" i="0">
                  <a:solidFill>
                    <a:srgbClr val="4A5568"/>
                  </a:solidFill>
                  <a:latin typeface="Calibri"/>
                </a:rPr>
                <a:t>Buying an RTX 4090 workstation: BDT 4–5 lakh. Renting cost under 1% of buying.</a:t>
              </a:r>
            </a:p>
            <a:p>
              <a:pPr algn="l">
                <a:lnSpc>
                  <a:spcPct val="130000"/>
                </a:lnSpc>
                <a:spcBef>
                  <a:spcPts val="800"/>
                </a:spcBef>
              </a:pPr>
              <a:r>
                <a:rPr sz="1300" b="0" i="0">
                  <a:solidFill>
                    <a:srgbClr val="4A5568"/>
                  </a:solidFill>
                  <a:latin typeface="Calibri"/>
                </a:rPr>
                <a:t>Demo: free Kaggle GPU, 45.5 s per nodule (all methods).</a:t>
              </a:r>
            </a:p>
          </p:txBody>
        </p:sp>
      </p:grpSp>
      <p:grpSp>
        <p:nvGrpSpPr>
          <p:cNvPr id="7" name="Group 6"/>
          <p:cNvGrpSpPr/>
          <p:nvPr/>
        </p:nvGrpSpPr>
        <p:grpSpPr>
          <a:xfrm>
            <a:off x="6223000" y="1905000"/>
            <a:ext cx="5156200" cy="3810000"/>
            <a:chOff x="6223000" y="1905000"/>
            <a:chExt cx="5156200" cy="3810000"/>
          </a:xfrm>
        </p:grpSpPr>
        <p:sp>
          <p:nvSpPr>
            <p:cNvPr id="8" name="Rounded Rectangle 7"/>
            <p:cNvSpPr/>
            <p:nvPr/>
          </p:nvSpPr>
          <p:spPr>
            <a:xfrm>
              <a:off x="6223000" y="1905000"/>
              <a:ext cx="5156200" cy="3810000"/>
            </a:xfrm>
            <a:prstGeom prst="roundRect">
              <a:avLst>
                <a:gd name="adj" fmla="val 2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7000" y="2108200"/>
              <a:ext cx="4648200" cy="3403600"/>
            </a:xfrm>
            <a:prstGeom prst="rect">
              <a:avLst/>
            </a:prstGeom>
            <a:noFill/>
          </p:spPr>
          <p:txBody>
            <a:bodyPr wrap="square" lIns="0" rIns="0" tIns="0" bIns="0" anchor="t">
              <a:spAutoFit/>
            </a:bodyPr>
            <a:lstStyle/>
            <a:p>
              <a:pPr algn="l">
                <a:lnSpc>
                  <a:spcPct val="130000"/>
                </a:lnSpc>
              </a:pPr>
              <a:r>
                <a:rPr sz="1800" b="1" i="0">
                  <a:solidFill>
                    <a:srgbClr val="14213D"/>
                  </a:solidFill>
                  <a:latin typeface="Georgia"/>
                </a:rPr>
                <a:t>Legal and ethical</a:t>
              </a:r>
            </a:p>
            <a:p>
              <a:pPr algn="l">
                <a:lnSpc>
                  <a:spcPct val="130000"/>
                </a:lnSpc>
                <a:spcBef>
                  <a:spcPts val="900"/>
                </a:spcBef>
              </a:pPr>
              <a:r>
                <a:rPr sz="1300" b="1" i="0">
                  <a:solidFill>
                    <a:srgbClr val="14213D"/>
                  </a:solidFill>
                  <a:latin typeface="Calibri"/>
                </a:rPr>
                <a:t>Data: </a:t>
              </a:r>
              <a:r>
                <a:rPr sz="1300" b="0" i="0">
                  <a:solidFill>
                    <a:srgbClr val="4A5568"/>
                  </a:solidFill>
                  <a:latin typeface="Calibri"/>
                </a:rPr>
                <a:t>LIDC-IDRI under CC BY 3.0, cited; no re-identification.</a:t>
              </a:r>
            </a:p>
            <a:p>
              <a:pPr algn="l">
                <a:lnSpc>
                  <a:spcPct val="130000"/>
                </a:lnSpc>
                <a:spcBef>
                  <a:spcPts val="700"/>
                </a:spcBef>
              </a:pPr>
              <a:r>
                <a:rPr sz="1300" b="1" i="0">
                  <a:solidFill>
                    <a:srgbClr val="14213D"/>
                  </a:solidFill>
                  <a:latin typeface="Calibri"/>
                </a:rPr>
                <a:t>Device: </a:t>
              </a:r>
              <a:r>
                <a:rPr sz="1300" b="0" i="0">
                  <a:solidFill>
                    <a:srgbClr val="4A5568"/>
                  </a:solidFill>
                  <a:latin typeface="Calibri"/>
                </a:rPr>
                <a:t>diagnostic software is a medical device under DGDA guidelines and the Drugs and Cosmetics Act 2023.</a:t>
              </a:r>
            </a:p>
            <a:p>
              <a:pPr algn="l">
                <a:lnSpc>
                  <a:spcPct val="130000"/>
                </a:lnSpc>
                <a:spcBef>
                  <a:spcPts val="700"/>
                </a:spcBef>
              </a:pPr>
              <a:r>
                <a:rPr sz="1300" b="1" i="0">
                  <a:solidFill>
                    <a:srgbClr val="14213D"/>
                  </a:solidFill>
                  <a:latin typeface="Calibri"/>
                </a:rPr>
                <a:t>Privacy: </a:t>
              </a:r>
              <a:r>
                <a:rPr sz="1300" b="0" i="0">
                  <a:solidFill>
                    <a:srgbClr val="4A5568"/>
                  </a:solidFill>
                  <a:latin typeface="Calibri"/>
                </a:rPr>
                <a:t>Personal Data Protection Ordinance 2025: consent required, health data sensitive.</a:t>
              </a:r>
            </a:p>
            <a:p>
              <a:pPr algn="l">
                <a:lnSpc>
                  <a:spcPct val="130000"/>
                </a:lnSpc>
                <a:spcBef>
                  <a:spcPts val="700"/>
                </a:spcBef>
              </a:pPr>
              <a:r>
                <a:rPr sz="1300" b="1" i="0">
                  <a:solidFill>
                    <a:srgbClr val="14213D"/>
                  </a:solidFill>
                  <a:latin typeface="Calibri"/>
                </a:rPr>
                <a:t>Standards: </a:t>
              </a:r>
              <a:r>
                <a:rPr sz="1300" b="0" i="0">
                  <a:solidFill>
                    <a:srgbClr val="4A5568"/>
                  </a:solidFill>
                  <a:latin typeface="Calibri"/>
                </a:rPr>
                <a:t>ISO 14971, IEC 62304, DICOM.</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CONCLUSION</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What we delivered, and where it goes next</a:t>
            </a:r>
          </a:p>
        </p:txBody>
      </p:sp>
      <p:sp>
        <p:nvSpPr>
          <p:cNvPr id="4" name="TextBox 3"/>
          <p:cNvSpPr txBox="1"/>
          <p:nvPr/>
        </p:nvSpPr>
        <p:spPr>
          <a:xfrm>
            <a:off x="812800" y="1905000"/>
            <a:ext cx="5080000" cy="2921000"/>
          </a:xfrm>
          <a:prstGeom prst="rect">
            <a:avLst/>
          </a:prstGeom>
          <a:noFill/>
        </p:spPr>
        <p:txBody>
          <a:bodyPr wrap="square" lIns="0" rIns="0" tIns="0" bIns="0" anchor="t">
            <a:spAutoFit/>
          </a:bodyPr>
          <a:lstStyle/>
          <a:p>
            <a:pPr algn="l">
              <a:lnSpc>
                <a:spcPct val="120000"/>
              </a:lnSpc>
            </a:pPr>
            <a:r>
              <a:rPr sz="1600" b="1" i="0">
                <a:solidFill>
                  <a:srgbClr val="1F5FA8"/>
                </a:solidFill>
                <a:latin typeface="Calibri"/>
              </a:rPr>
              <a:t>Delivered</a:t>
            </a:r>
          </a:p>
          <a:p>
            <a:pPr algn="l">
              <a:lnSpc>
                <a:spcPct val="125000"/>
              </a:lnSpc>
              <a:spcBef>
                <a:spcPts val="700"/>
              </a:spcBef>
            </a:pPr>
            <a:r>
              <a:rPr sz="1300" b="0" i="0">
                <a:solidFill>
                  <a:srgbClr val="14213D"/>
                </a:solidFill>
                <a:latin typeface="Calibri"/>
              </a:rPr>
              <a:t>•  Projection-moment proof: DTS measures mass, not depth extent</a:t>
            </a:r>
          </a:p>
          <a:p>
            <a:pPr algn="l">
              <a:lnSpc>
                <a:spcPct val="125000"/>
              </a:lnSpc>
              <a:spcBef>
                <a:spcPts val="700"/>
              </a:spcBef>
            </a:pPr>
            <a:r>
              <a:rPr sz="1300" b="0" i="0">
                <a:solidFill>
                  <a:srgbClr val="14213D"/>
                </a:solidFill>
                <a:latin typeface="Calibri"/>
              </a:rPr>
              <a:t>•  X-ray-consistent diffusion prior with closed-form Gaussian mass</a:t>
            </a:r>
          </a:p>
          <a:p>
            <a:pPr algn="l">
              <a:lnSpc>
                <a:spcPct val="125000"/>
              </a:lnSpc>
              <a:spcBef>
                <a:spcPts val="700"/>
              </a:spcBef>
            </a:pPr>
            <a:r>
              <a:rPr sz="1300" b="0" i="0">
                <a:solidFill>
                  <a:srgbClr val="14213D"/>
                </a:solidFill>
                <a:latin typeface="Calibri"/>
              </a:rPr>
              <a:t>•  Calibrated, decision-level uncertainty for DTS volumetry</a:t>
            </a:r>
          </a:p>
          <a:p>
            <a:pPr algn="l">
              <a:lnSpc>
                <a:spcPct val="125000"/>
              </a:lnSpc>
              <a:spcBef>
                <a:spcPts val="700"/>
              </a:spcBef>
            </a:pPr>
            <a:r>
              <a:rPr sz="1300" b="0" i="0">
                <a:solidFill>
                  <a:srgbClr val="14213D"/>
                </a:solidFill>
                <a:latin typeface="Calibri"/>
              </a:rPr>
              <a:t>•  Truth-referenced test of what a generative prior adds</a:t>
            </a:r>
          </a:p>
          <a:p>
            <a:pPr algn="l">
              <a:lnSpc>
                <a:spcPct val="125000"/>
              </a:lnSpc>
              <a:spcBef>
                <a:spcPts val="700"/>
              </a:spcBef>
            </a:pPr>
            <a:r>
              <a:rPr sz="1300" b="0" i="0">
                <a:solidFill>
                  <a:srgbClr val="14213D"/>
                </a:solidFill>
                <a:latin typeface="Calibri"/>
              </a:rPr>
              <a:t>•  Verified 18-step pipeline and working click-to-3D application</a:t>
            </a:r>
          </a:p>
        </p:txBody>
      </p:sp>
      <p:sp>
        <p:nvSpPr>
          <p:cNvPr id="5" name="TextBox 4"/>
          <p:cNvSpPr txBox="1"/>
          <p:nvPr/>
        </p:nvSpPr>
        <p:spPr>
          <a:xfrm>
            <a:off x="6299200" y="1905000"/>
            <a:ext cx="5080000" cy="2921000"/>
          </a:xfrm>
          <a:prstGeom prst="rect">
            <a:avLst/>
          </a:prstGeom>
          <a:noFill/>
        </p:spPr>
        <p:txBody>
          <a:bodyPr wrap="square" lIns="0" rIns="0" tIns="0" bIns="0" anchor="t">
            <a:spAutoFit/>
          </a:bodyPr>
          <a:lstStyle/>
          <a:p>
            <a:pPr algn="l">
              <a:lnSpc>
                <a:spcPct val="120000"/>
              </a:lnSpc>
            </a:pPr>
            <a:r>
              <a:rPr sz="1600" b="1" i="0">
                <a:solidFill>
                  <a:srgbClr val="2E7D4F"/>
                </a:solidFill>
                <a:latin typeface="Calibri"/>
              </a:rPr>
              <a:t>Next</a:t>
            </a:r>
          </a:p>
          <a:p>
            <a:pPr algn="l">
              <a:lnSpc>
                <a:spcPct val="125000"/>
              </a:lnSpc>
              <a:spcBef>
                <a:spcPts val="700"/>
              </a:spcBef>
            </a:pPr>
            <a:r>
              <a:rPr sz="1300" b="0" i="0">
                <a:solidFill>
                  <a:srgbClr val="14213D"/>
                </a:solidFill>
                <a:latin typeface="Calibri"/>
              </a:rPr>
              <a:t>•  Click-conditioned, nodule-preserving prior</a:t>
            </a:r>
          </a:p>
          <a:p>
            <a:pPr algn="l">
              <a:lnSpc>
                <a:spcPct val="125000"/>
              </a:lnSpc>
              <a:spcBef>
                <a:spcPts val="700"/>
              </a:spcBef>
            </a:pPr>
            <a:r>
              <a:rPr sz="1300" b="0" i="0">
                <a:solidFill>
                  <a:srgbClr val="14213D"/>
                </a:solidFill>
                <a:latin typeface="Calibri"/>
              </a:rPr>
              <a:t>•  Projection-domain mass measurement</a:t>
            </a:r>
          </a:p>
          <a:p>
            <a:pPr algn="l">
              <a:lnSpc>
                <a:spcPct val="125000"/>
              </a:lnSpc>
              <a:spcBef>
                <a:spcPts val="700"/>
              </a:spcBef>
            </a:pPr>
            <a:r>
              <a:rPr sz="1300" b="0" i="0">
                <a:solidFill>
                  <a:srgbClr val="14213D"/>
                </a:solidFill>
                <a:latin typeface="Calibri"/>
              </a:rPr>
              <a:t>•  Failure-aware calibration</a:t>
            </a:r>
          </a:p>
          <a:p>
            <a:pPr algn="l">
              <a:lnSpc>
                <a:spcPct val="125000"/>
              </a:lnSpc>
              <a:spcBef>
                <a:spcPts val="700"/>
              </a:spcBef>
            </a:pPr>
            <a:r>
              <a:rPr sz="1300" b="0" i="0">
                <a:solidFill>
                  <a:srgbClr val="14213D"/>
                </a:solidFill>
                <a:latin typeface="Calibri"/>
              </a:rPr>
              <a:t>•  Real DTS + CT data with a hospital partner</a:t>
            </a:r>
          </a:p>
          <a:p>
            <a:pPr algn="l">
              <a:lnSpc>
                <a:spcPct val="125000"/>
              </a:lnSpc>
              <a:spcBef>
                <a:spcPts val="700"/>
              </a:spcBef>
            </a:pPr>
            <a:r>
              <a:rPr sz="1300" b="0" i="0">
                <a:solidFill>
                  <a:srgbClr val="14213D"/>
                </a:solidFill>
                <a:latin typeface="Calibri"/>
              </a:rPr>
              <a:t>•  Bangla interface and PACS integration</a:t>
            </a:r>
          </a:p>
        </p:txBody>
      </p:sp>
      <p:grpSp>
        <p:nvGrpSpPr>
          <p:cNvPr id="6" name="Group 5"/>
          <p:cNvGrpSpPr/>
          <p:nvPr/>
        </p:nvGrpSpPr>
        <p:grpSpPr>
          <a:xfrm>
            <a:off x="812800" y="5016500"/>
            <a:ext cx="10566400" cy="762000"/>
            <a:chOff x="812800" y="5016500"/>
            <a:chExt cx="10566400" cy="762000"/>
          </a:xfrm>
        </p:grpSpPr>
        <p:sp>
          <p:nvSpPr>
            <p:cNvPr id="7" name="Rounded Rectangle 6"/>
            <p:cNvSpPr/>
            <p:nvPr/>
          </p:nvSpPr>
          <p:spPr>
            <a:xfrm>
              <a:off x="812800" y="5016500"/>
              <a:ext cx="10566400" cy="762000"/>
            </a:xfrm>
            <a:prstGeom prst="roundRect">
              <a:avLst>
                <a:gd name="adj" fmla="val 13333"/>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5016500"/>
              <a:ext cx="50800" cy="762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8700" y="5148580"/>
              <a:ext cx="10185400" cy="49784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MedLift-3D</a:t>
              </a:r>
              <a:r>
                <a:rPr sz="1600" b="0" i="0">
                  <a:solidFill>
                    <a:srgbClr val="14213D"/>
                  </a:solidFill>
                  <a:latin typeface="Calibri"/>
                </a:rPr>
                <a:t> delivers low-dose, click-to-3D nodule assessment with calibrated, explainable uncertainty, built and validated for about US$22.</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2" fill="hold">
                      <p:stCondLst>
                        <p:cond delay="indefinite"/>
                      </p:stCondLst>
                      <p:childTnLst>
                        <p:par>
                          <p:cTn id="13" fill="hold">
                            <p:stCondLst>
                              <p:cond delay="0"/>
                            </p:stCondLst>
                            <p:childTnLst>
                              <p:par>
                                <p:cTn id="11" presetID="42"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additive="base">
                                        <p:cTn id="10"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20955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Thank you</a:t>
            </a:r>
          </a:p>
        </p:txBody>
      </p:sp>
      <p:sp>
        <p:nvSpPr>
          <p:cNvPr id="3" name="TextBox 2"/>
          <p:cNvSpPr txBox="1"/>
          <p:nvPr/>
        </p:nvSpPr>
        <p:spPr>
          <a:xfrm>
            <a:off x="812800" y="3111500"/>
            <a:ext cx="10566400" cy="381000"/>
          </a:xfrm>
          <a:prstGeom prst="rect">
            <a:avLst/>
          </a:prstGeom>
          <a:noFill/>
        </p:spPr>
        <p:txBody>
          <a:bodyPr wrap="square" lIns="0" rIns="0" tIns="0" bIns="0" anchor="t">
            <a:spAutoFit/>
          </a:bodyPr>
          <a:lstStyle/>
          <a:p>
            <a:pPr algn="l">
              <a:lnSpc>
                <a:spcPct val="120000"/>
              </a:lnSpc>
            </a:pPr>
            <a:r>
              <a:rPr sz="2000" b="0" i="0">
                <a:solidFill>
                  <a:srgbClr val="DCE5F1"/>
                </a:solidFill>
                <a:latin typeface="Calibri"/>
              </a:rPr>
              <a:t>Questions and answers</a:t>
            </a:r>
          </a:p>
        </p:txBody>
      </p:sp>
      <p:cxnSp>
        <p:nvCxnSpPr>
          <p:cNvPr id="4" name="Connector 3"/>
          <p:cNvCxnSpPr/>
          <p:nvPr/>
        </p:nvCxnSpPr>
        <p:spPr>
          <a:xfrm>
            <a:off x="812800" y="3810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12800" y="4000500"/>
            <a:ext cx="10566400" cy="317500"/>
          </a:xfrm>
          <a:prstGeom prst="rect">
            <a:avLst/>
          </a:prstGeom>
          <a:noFill/>
        </p:spPr>
        <p:txBody>
          <a:bodyPr wrap="square" lIns="0" rIns="0" tIns="0" bIns="0" anchor="t">
            <a:spAutoFit/>
          </a:bodyPr>
          <a:lstStyle/>
          <a:p>
            <a:pPr algn="l">
              <a:lnSpc>
                <a:spcPct val="120000"/>
              </a:lnSpc>
            </a:pPr>
            <a:r>
              <a:rPr sz="1400" b="0" i="0">
                <a:solidFill>
                  <a:srgbClr val="A9BCD6"/>
                </a:solidFill>
                <a:latin typeface="Calibri"/>
              </a:rPr>
              <a:t>Jubair Ahmed · Foyez Ahammed Naeem · Md Motasim Billah</a:t>
            </a:r>
          </a:p>
        </p:txBody>
      </p:sp>
      <p:sp>
        <p:nvSpPr>
          <p:cNvPr id="6" name="TextBox 5"/>
          <p:cNvSpPr txBox="1"/>
          <p:nvPr/>
        </p:nvSpPr>
        <p:spPr>
          <a:xfrm>
            <a:off x="812800" y="4445000"/>
            <a:ext cx="10566400" cy="317500"/>
          </a:xfrm>
          <a:prstGeom prst="rect">
            <a:avLst/>
          </a:prstGeom>
          <a:noFill/>
        </p:spPr>
        <p:txBody>
          <a:bodyPr wrap="square" lIns="0" rIns="0" tIns="0" bIns="0" anchor="t">
            <a:spAutoFit/>
          </a:bodyPr>
          <a:lstStyle/>
          <a:p>
            <a:pPr algn="l">
              <a:lnSpc>
                <a:spcPct val="120000"/>
              </a:lnSpc>
            </a:pPr>
            <a:r>
              <a:rPr sz="1300" b="0" i="0">
                <a:solidFill>
                  <a:srgbClr val="A9BCD6"/>
                </a:solidFill>
                <a:latin typeface="Calibri"/>
              </a:rPr>
              <a:t>Department of Computer Science and Engineering, United International University</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