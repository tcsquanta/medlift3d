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Good morning. We are presenting MedLift-3D. In one sentence: a doctor clicks on a nodule in a low-dose chest tomosynthesis image, and our system returns the nodule's 3D mass and volume, each with an honest, calibrated uncertainty. In the next fifteen minutes we explain the problem, the physics insight behind our design, what we built, what we found (including what did not work), and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Our talk has six parts: the motivation, the literature, the design of MedLift-3D, the implementation and results, the challenges and conclusion, and the references.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We start with why lung nodules matter.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Lung cancer is the leading cause of cancer death: about 1.8 million deaths in 2022, close to one in five cancer deaths, as the left chart shows. It is also among the most common cancers by new cases. That is why we focus on lung cancer.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Survival depends on the stage: 70 to 90 percent at stage one, only 15 to 19 percent at stage four. Early cancer appears as a nodule, but most nodules are benign, so doctors follow them over months and measure growth. Today that means repeated 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Every CT follow-up costs several millisieverts of radiation, money and travel; in Bangladesh CT is concentrated in big cities. Digital chest tomosynthesis, in green on the left, gives a fraction of the dose at much lower cost. The catch: it cannot see depth, so it gives no trustworthy 3D size. That is the gap we address.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This animation shows how tomosynthesis works. On the left, the X-ray tube sweeps over plus or minus 15 degrees. Watch the nodule's shadow on the detector move as the tube moves; that small shift is the only depth information we get. On the right is the same thing in Fourier space: each view measures one line, so fifteen views fill only a thin fan. The orange region, the depth frequencies, is never measured: the missing wedge. In practice a nodule reconstructed from DTS is smeared three to five times longer in depth than in-plane.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This is the idea our design is built on. We asked what DTS can measure, not just what it can show. If we take moments of each projection: the zeroth moment, the total signal on the detector, equals the nodule's mass in every single view, no matter how deep it is. We verified this numerically to 0.03 percent. But the depth extent, which you need for volume, enters through sine squared of the tube angle; at 15 degrees that is about 15 times worse conditioned. So: mass first, a learned prior for depth that must agree with the X-rays, and calibrated uncertainty on everything.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We set six objectives. Measure mass first, because that is what tomosynthesis captures best. Fill the missing depth with a learned diffusion prior and 3D Gaussians. Give every number a calibrated 90 percent interval. Measure growth as mass and volume doubling time. Give calibrated probabilities of the clinical size categories. And explain every result by showing what the X-rays saw and what the prior filled in. All of this inside a usable click-to-3D application with a learned detector, running on low-cost cloud hardware.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How does this compare with existing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Where does MedLift-3D stand against the closest published work? We compared seven elements: built for tomosynthesis geometry, a learned prior, data consistency with the X-rays, closed-form Gaussian mass, a clinical biomarker as output, calibrated uncertainty, and a seen-versus-unseen explanation. Gaussian tomography methods such as Li and Zha have data consistency but no learned prior. Diffusion methods such as Chung and Zhang have a prior, but are not built for tomosynthesis and do not output a clinical number. Bhadra defined the null-space analysis of hallucinations, and de Hoop established nodule mass as a biomarker in CT. Of these, only MedLift-3D brings all seven together for low-dose tomosynthesis nodule measurement. To be precise about our claim: each element exists on its own; our contribution is the combination, the mass-first design, and a calibrated, truth-checked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Now the design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The context diagram. The clinician sends a case and a click and receives mass, volume, 90 percent intervals, category probabilities and a 3D view. Training data comes from the TCIA archive, LIDC-IDRI CT with four-reader annotations, and the heavy training runs on a cloud GPU provider.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Here is the full pipeline, which I'll build up step by step. One: we simulate the DTS scan, 15 low-dose views, reconstructed with SIRT. Two: the clinician clicks, helped by a learned 3D detector. Three: we reconstruct a 64 millimetre prism, a column through the whole chest around the click. Four: a conditional 3D diffusion model generates eight CT-like hypotheses of that prism, and inside the sampler we keep pulling each one back to agree with the X-rays. Five: we fit 3D Gaussians, which give the mass in closed form. Six: conformal prediction turns the spread into calibrated intervals and size-category probabilities. Seven: we split every result into what the X-rays saw and what the prior filled in. Grey is physics, blue is learned, green is measurement and trust. Everything runs as 18 verified steps.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No public dataset has chest DTS together with CT ground truth, so we ran a virtual clinical trial. We took 583 real patients from LIDC-IDRI, 1,144 nodules between 4 and 30 millimetres that at least three of four radiologists marked, and simulated 15-view low-dose DTS from each CT with realistic Poisson noise. On the left are the fifteen simulated views of one patient; the red circle marks the nodule. We split by patient, 60/20/20, so no test patient is ever seen in training or calibration. The diffusion prior trained on 2,522 pairs; 150 nodules were measured with every method.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The core learned component is a conditional 3D diffusion model with 17.4 million parameters. It is conditioned on the blurry DTS reconstruction of the prism and generates CT-like volumes. To stop it from inventing anatomy, we insert SIRT data-consistency steps inside the sampler, so every sample must still reproduce the measured X-rays. Here is a held-out example: left the DTS input, middle our sample, right the real CT; the sample recovers sharp ribs and vessels. It trained for 27,610 steps in six hours, and on held-out patients raised nodule-region PSNR from 11.88 to 15.23 dB. Fit checks showed no memorisation of inputs, but it is still under-trained.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Each diffusion sample is fitted with anisotropic 3D Gaussians. The nice property is that the integral of a Gaussian is known exactly, so the nodule's mass is a closed-form sum, no voxel counting. For trust, we use split conformal prediction: we measure the errors on 76 calibration nodules from patients never used in training, take the 90 percent quantile, and that becomes the interval for every new nodule. This gives a coverage guarantee without assuming any error distribution. We also produce calibrated probabilities of the clinical size categories, below 100, 100 to 300, and above 300 cubic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Our twelve-month plan had four phases: inception, data and feasibility; the core generative architecture; Gaussians, detection and uncertainty; and validation, interface and deployment. The milestones were the design review in month four, the interim report in month eight and the final report and defense in month twelve.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Work was split by strength. Jubair led the theory and the learned prior and calibration; Foyez the physics engine, GPU optimisation, Gaussian mass, detector and cloud infrastructure; Motasim the data, the application and the evaluation outputs. All of us reviewed every verification step.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Now the results. Everything we show is measured on held-out patients that the models never saw during training. In short: the whole system works end to end, every component met its own target, our physics insight was confirmed on real data, and where accuracy still falls short, we found exactly why and how to fix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This is the working application. The clinician picks a patient, the detector suggests nodules, and one click runs the whole pipeline. On the left are the prism views: the blurry DTS input on top, and below our reconstruction with its segmentation in red and the spread of the eight samples. The spread is highest in the depth view, exactly as the physics predicts. On the right, the interactive 3D view: green where the samples agree, red where they disagree, and the radiologists' nodule in grey for comparison. It returns mass, volume, the EUPS category with probabilities, and a low-confidence flag that tells the doctor when to order a CT instead. It runs on a free Kaggle notebook.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Here is what the reconstruction looks like in 3D, from the application on two test nodules. The surface is our reconstructed nodule, coloured by how much the eight diffusion samples disagree: green where they agree, red where they do not. The grey shell is the radiologists' nodule, the ground truth. On the left the reconstruction fills the true nodule well, and the uncertainty sits at the front and back, the depth direction, exactly where tomosynthesis is blind. On the right the reconstruction is smaller than the truth; this under-estimation is the gap our root-cause analysis addresses later.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Our achievements. The diffusion prior improved nodule-region image quality on held-out patients by 3.35 dB. The learned detector is 17 times better than a training-free detector by the standard CPM score. Our conformal intervals reached 95 percent coverage on new patients, above the 90 percent target, while the raw spread of the samples covered only 28 percent; so calibration is what makes our uncertainty trustworthy. And calibrated probabilities cut the Brier score for "is this nodule at least 100 cubic millimetres" from 0.54 to 0.17, a 68 percent reduction.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Uncertainty is where MedLift-3D differs from typical generative imaging. Our conformal intervals kept their guarantee on new patients: 95 to 96 percent coverage for a 90 percent target. The calibrated size-category probabilities are reliable too: at the 100 cubic millimetre threshold the calibration error fell from 0.58 to 0.12, and the most likely category was right 38 percent of the time instead of 26. The next step is width: when a reconstruction finds nothing at the click, that zero measurement widens the intervals a lot, so we will report those cases separately. And one insight for the field: the raw spread of generated samples correlates negatively with the error, so uncalibrated spread is not a safe uncertainty. Calibration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Explainability. Using a conjugate-gradient null-space decomposition we split every 3D result into the part the fifteen X-rays actually measured, the seen part, and the part they cannot see, which only the prior can supply. The table of numbers on the right is the result over 30 test nodules. Only 0.3 percent of a nodule's mass is in the unseen part, which confirms our physics argument: the X-rays do measure mass. The prior's unseen content has a positive skill of 0.22 against the real CT, so it recovers missing depth rather than inventing structure. But after Gaussian fitting the skill falls to 0.09, so the Gaussian step throws away much of what the prior recovered. That points directly to a fix.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This is our accuracy benchmark: six methods on 74 test nodules, median volume error, lower is better, and a failed reading counts as 100 percent. Volume from tomosynthesis is hard for every method: even the clinical standard, the 2D diameter, is off by 88 percent. Our diffusion prior, in green, had the lowest error of all six methods, 74.5 percent, and the fewest failures, 3 percent. Adding the Gaussian step raised the error to 94.6, so the full pipeline did not yet beat physics-only reconstruction. The learned methods under-estimate size, and we traced exactly why, which I will show shortly. The lesson: sharper images alone are not enough; the measurement step must preserve the nodule.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Beyond the research results, this is a complete engineering system. We processed 583 patients and 1,144 nodules end to end. The pipeline has 18 scripted steps, each ending in automatic PASS/FAIL checks, and 69 unit tests cover the physics, the models and the measurement. The full study ran in about 15 hours on one rented L40S GPU for about 20 US dollars. The diffusion model has 17.4 million parameters and trained in 6 hours. And measuring one nodule with all five reconstruction methods takes a median of 45.5 seconds; the application itself runs on a free Kaggle GPU.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Finally, what limits the system today and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A strength of our pipeline is that it tells us why. Our analysis traced every gap to a specific cause, each with a concrete fix. First, faint nodules get shrunk: the prior was not told a nodule is present at the click, so for faint ones it draws normal lung. Here is a 6.8 millimetre nodule, clear in CT and almost erased in the reconstruction. The fix is to condition the prior on the click. Second, we read mass from the reconstructed image, so segmentation errors leaked in, even though our explainability analysis shows the X-rays themselves measure 99.7 percent of the mass. The fix is to read mass directly from the projections. Third, failed readings widen the intervals; the fix is to report them as their own outcome. All three fixes are within reach of the existing system.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To conclude. We delivered a physics result, that tomosynthesis measures mass but not depth extent; a diffusion prior kept consistent with the X-rays, with closed-form Gaussian mass; calibrated, decision-level uncertainty; a truth-referenced test of what a generative prior adds; and a verified 18-step pipeline with a working click-to-3D application. The next steps follow directly from our root-cause analysis: a click-conditioned prior, mass read from the projections, failure-aware calibration, and real DTS data with a hospital partner. MedLift-3D shows that low-dose, click-to-3D nodule assessment with calibrated and explainable uncertainty is buildable, for about 22 US dollars. Thank you.</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Our main references; the full list of more than seventy is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questions and short answers. Why simulated DTS? No public chest DTS dataset with CT ground truth exists; simulation from real CT gives exact ground truth. Why only 15 views? Same dose as clinical units; our geometry study showed view count barely changes the depth smear at equal dose, a 40 degree sweep helps about 9 percent. Is the prior hallucinating? The seen/unseen test shows positive unseen skill of 0.22, and data-consistency keeps every sample faithful to the X-rays. Overfitting? Denoising loss train vs held-out ratio 0.97, but sample gain +7.00 vs +4.22 dB, so some patient-level advantage, and still under-trained. Why is mass not yet more accurate if the X-rays measure it exactly? Because we measured mass from the reconstruction inside a segmentation, not from the projections. Clinical use? Not yet; decision support only, a low-confidence flag tells the doctor to order 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gif"/><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3D57"/>
        </a:solidFill>
        <a:effectLst/>
      </p:bgPr>
    </p:bg>
    <p:spTree>
      <p:nvGrpSpPr>
        <p:cNvPr id="1" name=""/>
        <p:cNvGrpSpPr/>
        <p:nvPr/>
      </p:nvGrpSpPr>
      <p:grpSpPr/>
      <p:sp>
        <p:nvSpPr>
          <p:cNvPr id="2" name="Rectangle 1"/>
          <p:cNvSpPr/>
          <p:nvPr/>
        </p:nvSpPr>
        <p:spPr>
          <a:xfrm>
            <a:off x="0" y="6286500"/>
            <a:ext cx="12192000" cy="571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iu_logo.png"/>
          <p:cNvPicPr>
            <a:picLocks noChangeAspect="1"/>
          </p:cNvPicPr>
          <p:nvPr/>
        </p:nvPicPr>
        <p:blipFill>
          <a:blip r:embed="rId2"/>
          <a:stretch>
            <a:fillRect/>
          </a:stretch>
        </p:blipFill>
        <p:spPr>
          <a:xfrm>
            <a:off x="5449741" y="6350000"/>
            <a:ext cx="1292518" cy="444500"/>
          </a:xfrm>
          <a:prstGeom prst="rect">
            <a:avLst/>
          </a:prstGeom>
        </p:spPr>
      </p:pic>
      <p:sp>
        <p:nvSpPr>
          <p:cNvPr id="4" name="TextBox 3"/>
          <p:cNvSpPr txBox="1"/>
          <p:nvPr/>
        </p:nvSpPr>
        <p:spPr>
          <a:xfrm>
            <a:off x="1333500" y="1333500"/>
            <a:ext cx="9525000" cy="1397000"/>
          </a:xfrm>
          <a:prstGeom prst="rect">
            <a:avLst/>
          </a:prstGeom>
          <a:noFill/>
        </p:spPr>
        <p:txBody>
          <a:bodyPr wrap="square" lIns="0" rIns="0" tIns="0" bIns="0" anchor="t">
            <a:spAutoFit/>
          </a:bodyPr>
          <a:lstStyle/>
          <a:p>
            <a:pPr algn="ctr">
              <a:lnSpc>
                <a:spcPct val="105000"/>
              </a:lnSpc>
            </a:pPr>
            <a:r>
              <a:rPr sz="2600" b="1" i="0">
                <a:solidFill>
                  <a:srgbClr val="FFFFFF"/>
                </a:solidFill>
                <a:latin typeface="Times New Roman"/>
              </a:rPr>
              <a:t>MedLift-3D: Click-to-3D Lung Nodule Mass and Growth Assessment from Low-Dose Chest Tomosynthesis with Calibrated Uncertainty</a:t>
            </a:r>
          </a:p>
        </p:txBody>
      </p:sp>
      <p:sp>
        <p:nvSpPr>
          <p:cNvPr id="5" name="TextBox 4"/>
          <p:cNvSpPr txBox="1"/>
          <p:nvPr/>
        </p:nvSpPr>
        <p:spPr>
          <a:xfrm>
            <a:off x="3556000" y="2984500"/>
            <a:ext cx="5080000" cy="254000"/>
          </a:xfrm>
          <a:prstGeom prst="rect">
            <a:avLst/>
          </a:prstGeom>
          <a:noFill/>
        </p:spPr>
        <p:txBody>
          <a:bodyPr wrap="square" lIns="0" rIns="0" tIns="0" bIns="0" anchor="t">
            <a:spAutoFit/>
          </a:bodyPr>
          <a:lstStyle/>
          <a:p>
            <a:pPr algn="ctr">
              <a:lnSpc>
                <a:spcPct val="115000"/>
              </a:lnSpc>
            </a:pPr>
            <a:r>
              <a:rPr sz="1300" b="1" i="0">
                <a:solidFill>
                  <a:srgbClr val="FFFFFF"/>
                </a:solidFill>
                <a:latin typeface="Times New Roman"/>
              </a:rPr>
              <a:t>Presented by</a:t>
            </a:r>
          </a:p>
        </p:txBody>
      </p:sp>
      <p:sp>
        <p:nvSpPr>
          <p:cNvPr id="6" name="TextBox 5"/>
          <p:cNvSpPr txBox="1"/>
          <p:nvPr/>
        </p:nvSpPr>
        <p:spPr>
          <a:xfrm>
            <a:off x="2286000" y="3238500"/>
            <a:ext cx="7620000" cy="254000"/>
          </a:xfrm>
          <a:prstGeom prst="rect">
            <a:avLst/>
          </a:prstGeom>
          <a:noFill/>
        </p:spPr>
        <p:txBody>
          <a:bodyPr wrap="square" lIns="0" rIns="0" tIns="0" bIns="0" anchor="t">
            <a:spAutoFit/>
          </a:bodyPr>
          <a:lstStyle/>
          <a:p>
            <a:pPr algn="ctr">
              <a:lnSpc>
                <a:spcPct val="115000"/>
              </a:lnSpc>
            </a:pPr>
            <a:r>
              <a:rPr sz="1200" b="0" i="1">
                <a:solidFill>
                  <a:srgbClr val="FFFFFF"/>
                </a:solidFill>
                <a:latin typeface="Times New Roman"/>
              </a:rPr>
              <a:t>Jubair Ahmed (011222136), Foyez A. Naeem (011222011), Motasim Billah (011222016)</a:t>
            </a:r>
          </a:p>
        </p:txBody>
      </p:sp>
      <p:sp>
        <p:nvSpPr>
          <p:cNvPr id="7" name="TextBox 6"/>
          <p:cNvSpPr txBox="1"/>
          <p:nvPr/>
        </p:nvSpPr>
        <p:spPr>
          <a:xfrm>
            <a:off x="3302000" y="4064000"/>
            <a:ext cx="2667000" cy="952500"/>
          </a:xfrm>
          <a:prstGeom prst="rect">
            <a:avLst/>
          </a:prstGeom>
          <a:noFill/>
        </p:spPr>
        <p:txBody>
          <a:bodyPr wrap="square" lIns="0" rIns="0" tIns="0" bIns="0" anchor="t">
            <a:spAutoFit/>
          </a:bodyPr>
          <a:lstStyle/>
          <a:p>
            <a:pPr algn="r">
              <a:lnSpc>
                <a:spcPct val="115000"/>
              </a:lnSpc>
            </a:pPr>
            <a:r>
              <a:rPr sz="1300" b="1" i="0">
                <a:solidFill>
                  <a:srgbClr val="FFFFFF"/>
                </a:solidFill>
                <a:latin typeface="Times New Roman"/>
              </a:rPr>
              <a:t>Supervisor</a:t>
            </a:r>
          </a:p>
          <a:p>
            <a:pPr algn="r">
              <a:lnSpc>
                <a:spcPct val="115000"/>
              </a:lnSpc>
            </a:pPr>
            <a:r>
              <a:rPr sz="1200" b="0" i="1">
                <a:solidFill>
                  <a:srgbClr val="FFFFFF"/>
                </a:solidFill>
                <a:latin typeface="Times New Roman"/>
              </a:rPr>
              <a:t>Mir Moynuddin Ahmed Shibly</a:t>
            </a:r>
          </a:p>
          <a:p>
            <a:pPr algn="r">
              <a:lnSpc>
                <a:spcPct val="115000"/>
              </a:lnSpc>
            </a:pPr>
            <a:r>
              <a:rPr sz="1200" b="0" i="1">
                <a:solidFill>
                  <a:srgbClr val="FFFFFF"/>
                </a:solidFill>
                <a:latin typeface="Times New Roman"/>
              </a:rPr>
              <a:t>Assistant Professor-On Leave,</a:t>
            </a:r>
          </a:p>
          <a:p>
            <a:pPr algn="r">
              <a:lnSpc>
                <a:spcPct val="115000"/>
              </a:lnSpc>
            </a:pPr>
            <a:r>
              <a:rPr sz="1200" b="0" i="1">
                <a:solidFill>
                  <a:srgbClr val="FFFFFF"/>
                </a:solidFill>
                <a:latin typeface="Times New Roman"/>
              </a:rPr>
              <a:t>Dept. of CSE</a:t>
            </a:r>
          </a:p>
        </p:txBody>
      </p:sp>
      <p:cxnSp>
        <p:nvCxnSpPr>
          <p:cNvPr id="8" name="Connector 7"/>
          <p:cNvCxnSpPr/>
          <p:nvPr/>
        </p:nvCxnSpPr>
        <p:spPr>
          <a:xfrm>
            <a:off x="6108700" y="4064000"/>
            <a:ext cx="0" cy="9525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48400" y="4064000"/>
            <a:ext cx="2921000" cy="952500"/>
          </a:xfrm>
          <a:prstGeom prst="rect">
            <a:avLst/>
          </a:prstGeom>
          <a:noFill/>
        </p:spPr>
        <p:txBody>
          <a:bodyPr wrap="square" lIns="0" rIns="0" tIns="0" bIns="0" anchor="t">
            <a:spAutoFit/>
          </a:bodyPr>
          <a:lstStyle/>
          <a:p>
            <a:pPr algn="l">
              <a:lnSpc>
                <a:spcPct val="115000"/>
              </a:lnSpc>
            </a:pPr>
            <a:r>
              <a:rPr sz="1300" b="1" i="0">
                <a:solidFill>
                  <a:srgbClr val="FFFFFF"/>
                </a:solidFill>
                <a:latin typeface="Times New Roman"/>
              </a:rPr>
              <a:t>Course Teacher</a:t>
            </a:r>
          </a:p>
          <a:p>
            <a:pPr algn="l">
              <a:lnSpc>
                <a:spcPct val="115000"/>
              </a:lnSpc>
            </a:pPr>
            <a:r>
              <a:rPr sz="1200" b="0" i="1">
                <a:solidFill>
                  <a:srgbClr val="FFFFFF"/>
                </a:solidFill>
                <a:latin typeface="Times New Roman"/>
              </a:rPr>
              <a:t>Dr. A.K.M. Muzahidul Islam</a:t>
            </a:r>
          </a:p>
          <a:p>
            <a:pPr algn="l">
              <a:lnSpc>
                <a:spcPct val="115000"/>
              </a:lnSpc>
            </a:pPr>
            <a:r>
              <a:rPr sz="1200" b="0" i="1">
                <a:solidFill>
                  <a:srgbClr val="FFFFFF"/>
                </a:solidFill>
                <a:latin typeface="Times New Roman"/>
              </a:rPr>
              <a:t>Professor, Dept. of CSE</a:t>
            </a:r>
          </a:p>
        </p:txBody>
      </p:sp>
      <p:sp>
        <p:nvSpPr>
          <p:cNvPr id="10" name="TextBox 9"/>
          <p:cNvSpPr txBox="1"/>
          <p:nvPr/>
        </p:nvSpPr>
        <p:spPr>
          <a:xfrm>
            <a:off x="3556000" y="5397500"/>
            <a:ext cx="5080000" cy="254000"/>
          </a:xfrm>
          <a:prstGeom prst="rect">
            <a:avLst/>
          </a:prstGeom>
          <a:noFill/>
        </p:spPr>
        <p:txBody>
          <a:bodyPr wrap="square" lIns="0" rIns="0" tIns="0" bIns="0" anchor="t">
            <a:spAutoFit/>
          </a:bodyPr>
          <a:lstStyle/>
          <a:p>
            <a:pPr algn="ctr">
              <a:lnSpc>
                <a:spcPct val="115000"/>
              </a:lnSpc>
            </a:pPr>
            <a:r>
              <a:rPr sz="1200" b="0" i="1">
                <a:solidFill>
                  <a:srgbClr val="D5E0E8"/>
                </a:solidFill>
                <a:latin typeface="Times New Roman"/>
              </a:rPr>
              <a:t>Final Defense · 2 November 2026</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2600" b="1" i="1">
                <a:solidFill>
                  <a:srgbClr val="111111"/>
                </a:solidFill>
                <a:latin typeface="Times New Roman"/>
              </a:rPr>
              <a:t>Table of contents</a:t>
            </a:r>
          </a:p>
        </p:txBody>
      </p:sp>
      <p:sp>
        <p:nvSpPr>
          <p:cNvPr id="3" name="Rectangle 2"/>
          <p:cNvSpPr/>
          <p:nvPr/>
        </p:nvSpPr>
        <p:spPr>
          <a:xfrm>
            <a:off x="685800" y="952500"/>
            <a:ext cx="10820400" cy="381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iu_logo.png"/>
          <p:cNvPicPr>
            <a:picLocks noChangeAspect="1"/>
          </p:cNvPicPr>
          <p:nvPr/>
        </p:nvPicPr>
        <p:blipFill>
          <a:blip r:embed="rId2"/>
          <a:stretch>
            <a:fillRect/>
          </a:stretch>
        </p:blipFill>
        <p:spPr>
          <a:xfrm>
            <a:off x="10147300" y="418403"/>
            <a:ext cx="1333500" cy="458594"/>
          </a:xfrm>
          <a:prstGeom prst="rect">
            <a:avLst/>
          </a:prstGeom>
        </p:spPr>
      </p:pic>
      <p:sp>
        <p:nvSpPr>
          <p:cNvPr id="5" name="Rounded Rectangle 4"/>
          <p:cNvSpPr/>
          <p:nvPr/>
        </p:nvSpPr>
        <p:spPr>
          <a:xfrm>
            <a:off x="711200" y="1206500"/>
            <a:ext cx="10769600" cy="254000"/>
          </a:xfrm>
          <a:prstGeom prst="roundRect">
            <a:avLst>
              <a:gd name="adj" fmla="val 10000"/>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1206500"/>
            <a:ext cx="8255000" cy="254000"/>
          </a:xfrm>
          <a:prstGeom prst="rect">
            <a:avLst/>
          </a:prstGeom>
          <a:noFill/>
        </p:spPr>
        <p:txBody>
          <a:bodyPr wrap="square" lIns="0" rIns="0" tIns="0" bIns="0" anchor="ctr">
            <a:spAutoFit/>
          </a:bodyPr>
          <a:lstStyle/>
          <a:p>
            <a:pPr algn="l">
              <a:lnSpc>
                <a:spcPct val="115000"/>
              </a:lnSpc>
            </a:pPr>
            <a:r>
              <a:rPr sz="1300" b="0" i="0">
                <a:solidFill>
                  <a:srgbClr val="FFFFFF"/>
                </a:solidFill>
                <a:latin typeface="Times New Roman"/>
              </a:rPr>
              <a:t>1. Introduction &amp; Motivation</a:t>
            </a:r>
          </a:p>
        </p:txBody>
      </p:sp>
      <p:sp>
        <p:nvSpPr>
          <p:cNvPr id="7" name="TextBox 6"/>
          <p:cNvSpPr txBox="1"/>
          <p:nvPr/>
        </p:nvSpPr>
        <p:spPr>
          <a:xfrm>
            <a:off x="10160000" y="1206500"/>
            <a:ext cx="1244600" cy="254000"/>
          </a:xfrm>
          <a:prstGeom prst="rect">
            <a:avLst/>
          </a:prstGeom>
          <a:noFill/>
        </p:spPr>
        <p:txBody>
          <a:bodyPr wrap="square" lIns="0" rIns="0" tIns="0" bIns="0" anchor="ctr">
            <a:spAutoFit/>
          </a:bodyPr>
          <a:lstStyle/>
          <a:p>
            <a:pPr algn="r">
              <a:lnSpc>
                <a:spcPct val="115000"/>
              </a:lnSpc>
            </a:pPr>
            <a:r>
              <a:rPr sz="1300" b="0" i="0">
                <a:solidFill>
                  <a:srgbClr val="FFFFFF"/>
                </a:solidFill>
                <a:latin typeface="Times New Roman"/>
              </a:rPr>
              <a:t>1-6</a:t>
            </a:r>
          </a:p>
        </p:txBody>
      </p:sp>
      <p:sp>
        <p:nvSpPr>
          <p:cNvPr id="8" name="TextBox 7"/>
          <p:cNvSpPr txBox="1"/>
          <p:nvPr/>
        </p:nvSpPr>
        <p:spPr>
          <a:xfrm>
            <a:off x="1079500" y="15113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The importance of focusing on lung cancer</a:t>
            </a:r>
          </a:p>
        </p:txBody>
      </p:sp>
      <p:sp>
        <p:nvSpPr>
          <p:cNvPr id="9" name="TextBox 8"/>
          <p:cNvSpPr txBox="1"/>
          <p:nvPr/>
        </p:nvSpPr>
        <p:spPr>
          <a:xfrm>
            <a:off x="1079500" y="17018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The existing problem: radiation vs. depth</a:t>
            </a:r>
          </a:p>
        </p:txBody>
      </p:sp>
      <p:sp>
        <p:nvSpPr>
          <p:cNvPr id="10" name="TextBox 9"/>
          <p:cNvSpPr txBox="1"/>
          <p:nvPr/>
        </p:nvSpPr>
        <p:spPr>
          <a:xfrm>
            <a:off x="1079500" y="18923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Key insight and objectives</a:t>
            </a:r>
          </a:p>
        </p:txBody>
      </p:sp>
      <p:sp>
        <p:nvSpPr>
          <p:cNvPr id="11" name="Rounded Rectangle 10"/>
          <p:cNvSpPr/>
          <p:nvPr/>
        </p:nvSpPr>
        <p:spPr>
          <a:xfrm>
            <a:off x="711200" y="2209800"/>
            <a:ext cx="10769600" cy="254000"/>
          </a:xfrm>
          <a:prstGeom prst="roundRect">
            <a:avLst>
              <a:gd name="adj" fmla="val 10000"/>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2209800"/>
            <a:ext cx="8255000" cy="254000"/>
          </a:xfrm>
          <a:prstGeom prst="rect">
            <a:avLst/>
          </a:prstGeom>
          <a:noFill/>
        </p:spPr>
        <p:txBody>
          <a:bodyPr wrap="square" lIns="0" rIns="0" tIns="0" bIns="0" anchor="ctr">
            <a:spAutoFit/>
          </a:bodyPr>
          <a:lstStyle/>
          <a:p>
            <a:pPr algn="l">
              <a:lnSpc>
                <a:spcPct val="115000"/>
              </a:lnSpc>
            </a:pPr>
            <a:r>
              <a:rPr sz="1300" b="0" i="0">
                <a:solidFill>
                  <a:srgbClr val="FFFFFF"/>
                </a:solidFill>
                <a:latin typeface="Times New Roman"/>
              </a:rPr>
              <a:t>2. Literature Review</a:t>
            </a:r>
          </a:p>
        </p:txBody>
      </p:sp>
      <p:sp>
        <p:nvSpPr>
          <p:cNvPr id="13" name="TextBox 12"/>
          <p:cNvSpPr txBox="1"/>
          <p:nvPr/>
        </p:nvSpPr>
        <p:spPr>
          <a:xfrm>
            <a:off x="10160000" y="2209800"/>
            <a:ext cx="1244600" cy="254000"/>
          </a:xfrm>
          <a:prstGeom prst="rect">
            <a:avLst/>
          </a:prstGeom>
          <a:noFill/>
        </p:spPr>
        <p:txBody>
          <a:bodyPr wrap="square" lIns="0" rIns="0" tIns="0" bIns="0" anchor="ctr">
            <a:spAutoFit/>
          </a:bodyPr>
          <a:lstStyle/>
          <a:p>
            <a:pPr algn="r">
              <a:lnSpc>
                <a:spcPct val="115000"/>
              </a:lnSpc>
            </a:pPr>
            <a:r>
              <a:rPr sz="1300" b="0" i="0">
                <a:solidFill>
                  <a:srgbClr val="FFFFFF"/>
                </a:solidFill>
                <a:latin typeface="Times New Roman"/>
              </a:rPr>
              <a:t>7</a:t>
            </a:r>
          </a:p>
        </p:txBody>
      </p:sp>
      <p:sp>
        <p:nvSpPr>
          <p:cNvPr id="14" name="TextBox 13"/>
          <p:cNvSpPr txBox="1"/>
          <p:nvPr/>
        </p:nvSpPr>
        <p:spPr>
          <a:xfrm>
            <a:off x="1079500" y="25146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Domain comparison among reviewed papers</a:t>
            </a:r>
          </a:p>
        </p:txBody>
      </p:sp>
      <p:sp>
        <p:nvSpPr>
          <p:cNvPr id="15" name="Rounded Rectangle 14"/>
          <p:cNvSpPr/>
          <p:nvPr/>
        </p:nvSpPr>
        <p:spPr>
          <a:xfrm>
            <a:off x="711200" y="2832100"/>
            <a:ext cx="10769600" cy="254000"/>
          </a:xfrm>
          <a:prstGeom prst="roundRect">
            <a:avLst>
              <a:gd name="adj" fmla="val 10000"/>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 y="2832100"/>
            <a:ext cx="8255000" cy="254000"/>
          </a:xfrm>
          <a:prstGeom prst="rect">
            <a:avLst/>
          </a:prstGeom>
          <a:noFill/>
        </p:spPr>
        <p:txBody>
          <a:bodyPr wrap="square" lIns="0" rIns="0" tIns="0" bIns="0" anchor="ctr">
            <a:spAutoFit/>
          </a:bodyPr>
          <a:lstStyle/>
          <a:p>
            <a:pPr algn="l">
              <a:lnSpc>
                <a:spcPct val="115000"/>
              </a:lnSpc>
            </a:pPr>
            <a:r>
              <a:rPr sz="1300" b="0" i="0">
                <a:solidFill>
                  <a:srgbClr val="FFFFFF"/>
                </a:solidFill>
                <a:latin typeface="Times New Roman"/>
              </a:rPr>
              <a:t>3. Project Design</a:t>
            </a:r>
          </a:p>
        </p:txBody>
      </p:sp>
      <p:sp>
        <p:nvSpPr>
          <p:cNvPr id="17" name="TextBox 16"/>
          <p:cNvSpPr txBox="1"/>
          <p:nvPr/>
        </p:nvSpPr>
        <p:spPr>
          <a:xfrm>
            <a:off x="10160000" y="2832100"/>
            <a:ext cx="1244600" cy="254000"/>
          </a:xfrm>
          <a:prstGeom prst="rect">
            <a:avLst/>
          </a:prstGeom>
          <a:noFill/>
        </p:spPr>
        <p:txBody>
          <a:bodyPr wrap="square" lIns="0" rIns="0" tIns="0" bIns="0" anchor="ctr">
            <a:spAutoFit/>
          </a:bodyPr>
          <a:lstStyle/>
          <a:p>
            <a:pPr algn="r">
              <a:lnSpc>
                <a:spcPct val="115000"/>
              </a:lnSpc>
            </a:pPr>
            <a:r>
              <a:rPr sz="1300" b="0" i="0">
                <a:solidFill>
                  <a:srgbClr val="FFFFFF"/>
                </a:solidFill>
                <a:latin typeface="Times New Roman"/>
              </a:rPr>
              <a:t>8-14</a:t>
            </a:r>
          </a:p>
        </p:txBody>
      </p:sp>
      <p:sp>
        <p:nvSpPr>
          <p:cNvPr id="18" name="TextBox 17"/>
          <p:cNvSpPr txBox="1"/>
          <p:nvPr/>
        </p:nvSpPr>
        <p:spPr>
          <a:xfrm>
            <a:off x="1079500" y="31369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Context diagram and methodology</a:t>
            </a:r>
          </a:p>
        </p:txBody>
      </p:sp>
      <p:sp>
        <p:nvSpPr>
          <p:cNvPr id="19" name="TextBox 18"/>
          <p:cNvSpPr txBox="1"/>
          <p:nvPr/>
        </p:nvSpPr>
        <p:spPr>
          <a:xfrm>
            <a:off x="1079500" y="33274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Dataset, diffusion prior, Gaussians and conformal calibration</a:t>
            </a:r>
          </a:p>
        </p:txBody>
      </p:sp>
      <p:sp>
        <p:nvSpPr>
          <p:cNvPr id="20" name="TextBox 19"/>
          <p:cNvSpPr txBox="1"/>
          <p:nvPr/>
        </p:nvSpPr>
        <p:spPr>
          <a:xfrm>
            <a:off x="1079500" y="35179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Project plan and work allocation</a:t>
            </a:r>
          </a:p>
        </p:txBody>
      </p:sp>
      <p:sp>
        <p:nvSpPr>
          <p:cNvPr id="21" name="Rounded Rectangle 20"/>
          <p:cNvSpPr/>
          <p:nvPr/>
        </p:nvSpPr>
        <p:spPr>
          <a:xfrm>
            <a:off x="711200" y="3835400"/>
            <a:ext cx="10769600" cy="254000"/>
          </a:xfrm>
          <a:prstGeom prst="roundRect">
            <a:avLst>
              <a:gd name="adj" fmla="val 10000"/>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 y="3835400"/>
            <a:ext cx="8255000" cy="254000"/>
          </a:xfrm>
          <a:prstGeom prst="rect">
            <a:avLst/>
          </a:prstGeom>
          <a:noFill/>
        </p:spPr>
        <p:txBody>
          <a:bodyPr wrap="square" lIns="0" rIns="0" tIns="0" bIns="0" anchor="ctr">
            <a:spAutoFit/>
          </a:bodyPr>
          <a:lstStyle/>
          <a:p>
            <a:pPr algn="l">
              <a:lnSpc>
                <a:spcPct val="115000"/>
              </a:lnSpc>
            </a:pPr>
            <a:r>
              <a:rPr sz="1300" b="0" i="0">
                <a:solidFill>
                  <a:srgbClr val="FFFFFF"/>
                </a:solidFill>
                <a:latin typeface="Times New Roman"/>
              </a:rPr>
              <a:t>4. Implementation &amp; Results</a:t>
            </a:r>
          </a:p>
        </p:txBody>
      </p:sp>
      <p:sp>
        <p:nvSpPr>
          <p:cNvPr id="23" name="TextBox 22"/>
          <p:cNvSpPr txBox="1"/>
          <p:nvPr/>
        </p:nvSpPr>
        <p:spPr>
          <a:xfrm>
            <a:off x="10160000" y="3835400"/>
            <a:ext cx="1244600" cy="254000"/>
          </a:xfrm>
          <a:prstGeom prst="rect">
            <a:avLst/>
          </a:prstGeom>
          <a:noFill/>
        </p:spPr>
        <p:txBody>
          <a:bodyPr wrap="square" lIns="0" rIns="0" tIns="0" bIns="0" anchor="ctr">
            <a:spAutoFit/>
          </a:bodyPr>
          <a:lstStyle/>
          <a:p>
            <a:pPr algn="r">
              <a:lnSpc>
                <a:spcPct val="115000"/>
              </a:lnSpc>
            </a:pPr>
            <a:r>
              <a:rPr sz="1300" b="0" i="0">
                <a:solidFill>
                  <a:srgbClr val="FFFFFF"/>
                </a:solidFill>
                <a:latin typeface="Times New Roman"/>
              </a:rPr>
              <a:t>15-21</a:t>
            </a:r>
          </a:p>
        </p:txBody>
      </p:sp>
      <p:sp>
        <p:nvSpPr>
          <p:cNvPr id="24" name="TextBox 23"/>
          <p:cNvSpPr txBox="1"/>
          <p:nvPr/>
        </p:nvSpPr>
        <p:spPr>
          <a:xfrm>
            <a:off x="1079500" y="41402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Application and 3D reconstruction</a:t>
            </a:r>
          </a:p>
        </p:txBody>
      </p:sp>
      <p:sp>
        <p:nvSpPr>
          <p:cNvPr id="25" name="TextBox 24"/>
          <p:cNvSpPr txBox="1"/>
          <p:nvPr/>
        </p:nvSpPr>
        <p:spPr>
          <a:xfrm>
            <a:off x="1079500" y="43307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Achievements, uncertainty, explainability, accuracy</a:t>
            </a:r>
          </a:p>
        </p:txBody>
      </p:sp>
      <p:sp>
        <p:nvSpPr>
          <p:cNvPr id="26" name="Rounded Rectangle 25"/>
          <p:cNvSpPr/>
          <p:nvPr/>
        </p:nvSpPr>
        <p:spPr>
          <a:xfrm>
            <a:off x="711200" y="4648200"/>
            <a:ext cx="10769600" cy="254000"/>
          </a:xfrm>
          <a:prstGeom prst="roundRect">
            <a:avLst>
              <a:gd name="adj" fmla="val 10000"/>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 y="4648200"/>
            <a:ext cx="8255000" cy="254000"/>
          </a:xfrm>
          <a:prstGeom prst="rect">
            <a:avLst/>
          </a:prstGeom>
          <a:noFill/>
        </p:spPr>
        <p:txBody>
          <a:bodyPr wrap="square" lIns="0" rIns="0" tIns="0" bIns="0" anchor="ctr">
            <a:spAutoFit/>
          </a:bodyPr>
          <a:lstStyle/>
          <a:p>
            <a:pPr algn="l">
              <a:lnSpc>
                <a:spcPct val="115000"/>
              </a:lnSpc>
            </a:pPr>
            <a:r>
              <a:rPr sz="1300" b="0" i="0">
                <a:solidFill>
                  <a:srgbClr val="FFFFFF"/>
                </a:solidFill>
                <a:latin typeface="Times New Roman"/>
              </a:rPr>
              <a:t>5. Challenges, Limitations &amp; Conclusion</a:t>
            </a:r>
          </a:p>
        </p:txBody>
      </p:sp>
      <p:sp>
        <p:nvSpPr>
          <p:cNvPr id="28" name="TextBox 27"/>
          <p:cNvSpPr txBox="1"/>
          <p:nvPr/>
        </p:nvSpPr>
        <p:spPr>
          <a:xfrm>
            <a:off x="10160000" y="4648200"/>
            <a:ext cx="1244600" cy="254000"/>
          </a:xfrm>
          <a:prstGeom prst="rect">
            <a:avLst/>
          </a:prstGeom>
          <a:noFill/>
        </p:spPr>
        <p:txBody>
          <a:bodyPr wrap="square" lIns="0" rIns="0" tIns="0" bIns="0" anchor="ctr">
            <a:spAutoFit/>
          </a:bodyPr>
          <a:lstStyle/>
          <a:p>
            <a:pPr algn="r">
              <a:lnSpc>
                <a:spcPct val="115000"/>
              </a:lnSpc>
            </a:pPr>
            <a:r>
              <a:rPr sz="1300" b="0" i="0">
                <a:solidFill>
                  <a:srgbClr val="FFFFFF"/>
                </a:solidFill>
                <a:latin typeface="Times New Roman"/>
              </a:rPr>
              <a:t>22-23</a:t>
            </a:r>
          </a:p>
        </p:txBody>
      </p:sp>
      <p:sp>
        <p:nvSpPr>
          <p:cNvPr id="29" name="TextBox 28"/>
          <p:cNvSpPr txBox="1"/>
          <p:nvPr/>
        </p:nvSpPr>
        <p:spPr>
          <a:xfrm>
            <a:off x="1079500" y="49530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Root causes and fixes</a:t>
            </a:r>
          </a:p>
        </p:txBody>
      </p:sp>
      <p:sp>
        <p:nvSpPr>
          <p:cNvPr id="30" name="TextBox 29"/>
          <p:cNvSpPr txBox="1"/>
          <p:nvPr/>
        </p:nvSpPr>
        <p:spPr>
          <a:xfrm>
            <a:off x="1079500" y="5143500"/>
            <a:ext cx="9525000" cy="190500"/>
          </a:xfrm>
          <a:prstGeom prst="rect">
            <a:avLst/>
          </a:prstGeom>
          <a:noFill/>
        </p:spPr>
        <p:txBody>
          <a:bodyPr wrap="square" lIns="0" rIns="0" tIns="0" bIns="0" anchor="t">
            <a:spAutoFit/>
          </a:bodyPr>
          <a:lstStyle/>
          <a:p>
            <a:pPr algn="l">
              <a:lnSpc>
                <a:spcPct val="115000"/>
              </a:lnSpc>
            </a:pPr>
            <a:r>
              <a:rPr sz="1100" b="0" i="0">
                <a:solidFill>
                  <a:srgbClr val="111111"/>
                </a:solidFill>
                <a:latin typeface="Times New Roman"/>
              </a:rPr>
              <a:t>•  Contributions and future work</a:t>
            </a:r>
          </a:p>
        </p:txBody>
      </p:sp>
      <p:sp>
        <p:nvSpPr>
          <p:cNvPr id="31" name="Rounded Rectangle 30"/>
          <p:cNvSpPr/>
          <p:nvPr/>
        </p:nvSpPr>
        <p:spPr>
          <a:xfrm>
            <a:off x="711200" y="5461000"/>
            <a:ext cx="10769600" cy="254000"/>
          </a:xfrm>
          <a:prstGeom prst="roundRect">
            <a:avLst>
              <a:gd name="adj" fmla="val 10000"/>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100" y="5461000"/>
            <a:ext cx="8255000" cy="254000"/>
          </a:xfrm>
          <a:prstGeom prst="rect">
            <a:avLst/>
          </a:prstGeom>
          <a:noFill/>
        </p:spPr>
        <p:txBody>
          <a:bodyPr wrap="square" lIns="0" rIns="0" tIns="0" bIns="0" anchor="ctr">
            <a:spAutoFit/>
          </a:bodyPr>
          <a:lstStyle/>
          <a:p>
            <a:pPr algn="l">
              <a:lnSpc>
                <a:spcPct val="115000"/>
              </a:lnSpc>
            </a:pPr>
            <a:r>
              <a:rPr sz="1300" b="0" i="0">
                <a:solidFill>
                  <a:srgbClr val="FFFFFF"/>
                </a:solidFill>
                <a:latin typeface="Times New Roman"/>
              </a:rPr>
              <a:t>6. References</a:t>
            </a:r>
          </a:p>
        </p:txBody>
      </p:sp>
      <p:sp>
        <p:nvSpPr>
          <p:cNvPr id="33" name="TextBox 32"/>
          <p:cNvSpPr txBox="1"/>
          <p:nvPr/>
        </p:nvSpPr>
        <p:spPr>
          <a:xfrm>
            <a:off x="10160000" y="5461000"/>
            <a:ext cx="1244600" cy="254000"/>
          </a:xfrm>
          <a:prstGeom prst="rect">
            <a:avLst/>
          </a:prstGeom>
          <a:noFill/>
        </p:spPr>
        <p:txBody>
          <a:bodyPr wrap="square" lIns="0" rIns="0" tIns="0" bIns="0" anchor="ctr">
            <a:spAutoFit/>
          </a:bodyPr>
          <a:lstStyle/>
          <a:p>
            <a:pPr algn="r">
              <a:lnSpc>
                <a:spcPct val="115000"/>
              </a:lnSpc>
            </a:pPr>
            <a:r>
              <a:rPr sz="1300" b="0" i="0">
                <a:solidFill>
                  <a:srgbClr val="FFFFFF"/>
                </a:solidFill>
                <a:latin typeface="Times New Roman"/>
              </a:rPr>
              <a:t>24</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3D57"/>
        </a:solidFill>
        <a:effectLst/>
      </p:bgPr>
    </p:bg>
    <p:spTree>
      <p:nvGrpSpPr>
        <p:cNvPr id="1" name=""/>
        <p:cNvGrpSpPr/>
        <p:nvPr/>
      </p:nvGrpSpPr>
      <p:grpSpPr/>
      <p:sp>
        <p:nvSpPr>
          <p:cNvPr id="2" name="TextBox 1"/>
          <p:cNvSpPr txBox="1"/>
          <p:nvPr/>
        </p:nvSpPr>
        <p:spPr>
          <a:xfrm>
            <a:off x="1016000" y="2857500"/>
            <a:ext cx="10160000" cy="698500"/>
          </a:xfrm>
          <a:prstGeom prst="rect">
            <a:avLst/>
          </a:prstGeom>
          <a:noFill/>
        </p:spPr>
        <p:txBody>
          <a:bodyPr wrap="square" lIns="0" rIns="0" tIns="0" bIns="0" anchor="t">
            <a:spAutoFit/>
          </a:bodyPr>
          <a:lstStyle/>
          <a:p>
            <a:pPr algn="ctr">
              <a:lnSpc>
                <a:spcPct val="115000"/>
              </a:lnSpc>
            </a:pPr>
            <a:r>
              <a:rPr sz="3800" b="0" i="1">
                <a:solidFill>
                  <a:srgbClr val="FFFFFF"/>
                </a:solidFill>
                <a:latin typeface="Times New Roman"/>
              </a:rPr>
              <a:t>Introduction &amp; Motivation</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Introduction &amp; Motivation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The Importance of Focusing on Lung Cancer</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a:t>
            </a:r>
          </a:p>
        </p:txBody>
      </p:sp>
      <p:pic>
        <p:nvPicPr>
          <p:cNvPr id="8" name="Picture 7" descr="mortality_bar.png"/>
          <p:cNvPicPr>
            <a:picLocks noChangeAspect="1"/>
          </p:cNvPicPr>
          <p:nvPr/>
        </p:nvPicPr>
        <p:blipFill>
          <a:blip r:embed="rId3"/>
          <a:stretch>
            <a:fillRect/>
          </a:stretch>
        </p:blipFill>
        <p:spPr>
          <a:xfrm>
            <a:off x="762000" y="1486238"/>
            <a:ext cx="5461000" cy="4330024"/>
          </a:xfrm>
          <a:prstGeom prst="rect">
            <a:avLst/>
          </a:prstGeom>
        </p:spPr>
      </p:pic>
      <p:sp>
        <p:nvSpPr>
          <p:cNvPr id="9" name="TextBox 8"/>
          <p:cNvSpPr txBox="1"/>
          <p:nvPr/>
        </p:nvSpPr>
        <p:spPr>
          <a:xfrm>
            <a:off x="762000" y="5842000"/>
            <a:ext cx="5461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1: Distribution of Cancer Mortality by Site (%)</a:t>
            </a:r>
          </a:p>
        </p:txBody>
      </p:sp>
      <p:pic>
        <p:nvPicPr>
          <p:cNvPr id="10" name="Picture 9" descr="cancer_bubble.png"/>
          <p:cNvPicPr>
            <a:picLocks noChangeAspect="1"/>
          </p:cNvPicPr>
          <p:nvPr/>
        </p:nvPicPr>
        <p:blipFill>
          <a:blip r:embed="rId4"/>
          <a:stretch>
            <a:fillRect/>
          </a:stretch>
        </p:blipFill>
        <p:spPr>
          <a:xfrm>
            <a:off x="6858000" y="1493715"/>
            <a:ext cx="4318000" cy="4251569"/>
          </a:xfrm>
          <a:prstGeom prst="rect">
            <a:avLst/>
          </a:prstGeom>
        </p:spPr>
      </p:pic>
      <p:sp>
        <p:nvSpPr>
          <p:cNvPr id="11" name="TextBox 10"/>
          <p:cNvSpPr txBox="1"/>
          <p:nvPr/>
        </p:nvSpPr>
        <p:spPr>
          <a:xfrm>
            <a:off x="6350000" y="5842000"/>
            <a:ext cx="5334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2: Relative Size of New Cases Across Cancer Types</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Introduction &amp; Motivation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Why early detection of lung cancer is necessary</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2</a:t>
            </a:r>
          </a:p>
        </p:txBody>
      </p:sp>
      <p:sp>
        <p:nvSpPr>
          <p:cNvPr id="8" name="Rectangle 7"/>
          <p:cNvSpPr/>
          <p:nvPr/>
        </p:nvSpPr>
        <p:spPr>
          <a:xfrm>
            <a:off x="825500" y="1460500"/>
            <a:ext cx="5207000" cy="4127500"/>
          </a:xfrm>
          <a:prstGeom prst="rect">
            <a:avLst/>
          </a:prstGeom>
          <a:solidFill>
            <a:srgbClr val="FFFFFF"/>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urvival.png"/>
          <p:cNvPicPr>
            <a:picLocks noChangeAspect="1"/>
          </p:cNvPicPr>
          <p:nvPr/>
        </p:nvPicPr>
        <p:blipFill>
          <a:blip r:embed="rId3"/>
          <a:stretch>
            <a:fillRect/>
          </a:stretch>
        </p:blipFill>
        <p:spPr>
          <a:xfrm>
            <a:off x="825500" y="1571625"/>
            <a:ext cx="5207000" cy="3905250"/>
          </a:xfrm>
          <a:prstGeom prst="rect">
            <a:avLst/>
          </a:prstGeom>
        </p:spPr>
      </p:pic>
      <p:sp>
        <p:nvSpPr>
          <p:cNvPr id="10" name="TextBox 9"/>
          <p:cNvSpPr txBox="1"/>
          <p:nvPr/>
        </p:nvSpPr>
        <p:spPr>
          <a:xfrm>
            <a:off x="825500" y="5715000"/>
            <a:ext cx="5207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3: Impact of Early Detection on Lung Cancer Survival</a:t>
            </a:r>
          </a:p>
        </p:txBody>
      </p:sp>
      <p:pic>
        <p:nvPicPr>
          <p:cNvPr id="11" name="Picture 10" descr="lung_nodule.png"/>
          <p:cNvPicPr>
            <a:picLocks noChangeAspect="1"/>
          </p:cNvPicPr>
          <p:nvPr/>
        </p:nvPicPr>
        <p:blipFill>
          <a:blip r:embed="rId4"/>
          <a:stretch>
            <a:fillRect/>
          </a:stretch>
        </p:blipFill>
        <p:spPr>
          <a:xfrm>
            <a:off x="6604000" y="2050043"/>
            <a:ext cx="3937000" cy="2948414"/>
          </a:xfrm>
          <a:prstGeom prst="rect">
            <a:avLst/>
          </a:prstGeom>
        </p:spPr>
      </p:pic>
      <p:sp>
        <p:nvSpPr>
          <p:cNvPr id="12" name="Oval 11"/>
          <p:cNvSpPr/>
          <p:nvPr/>
        </p:nvSpPr>
        <p:spPr>
          <a:xfrm>
            <a:off x="8445500" y="2984500"/>
            <a:ext cx="952500" cy="952500"/>
          </a:xfrm>
          <a:prstGeom prst="ellipse">
            <a:avLst/>
          </a:prstGeom>
          <a:noFill/>
          <a:ln w="381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9398000" y="3460750"/>
            <a:ext cx="698500" cy="0"/>
          </a:xfrm>
          <a:prstGeom prst="line">
            <a:avLst/>
          </a:prstGeom>
          <a:ln w="25400">
            <a:solidFill>
              <a:srgbClr val="E5393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160000" y="3302000"/>
            <a:ext cx="1397000" cy="317500"/>
          </a:xfrm>
          <a:prstGeom prst="rect">
            <a:avLst/>
          </a:prstGeom>
          <a:noFill/>
        </p:spPr>
        <p:txBody>
          <a:bodyPr wrap="square" lIns="0" rIns="0" tIns="0" bIns="0" anchor="t">
            <a:spAutoFit/>
          </a:bodyPr>
          <a:lstStyle/>
          <a:p>
            <a:pPr algn="l">
              <a:lnSpc>
                <a:spcPct val="115000"/>
              </a:lnSpc>
            </a:pPr>
            <a:r>
              <a:rPr sz="1600" b="0" i="0">
                <a:solidFill>
                  <a:srgbClr val="111111"/>
                </a:solidFill>
                <a:latin typeface="Times New Roman"/>
              </a:rPr>
              <a:t>Lung Nodule</a:t>
            </a:r>
          </a:p>
        </p:txBody>
      </p:sp>
      <p:sp>
        <p:nvSpPr>
          <p:cNvPr id="15" name="TextBox 14"/>
          <p:cNvSpPr txBox="1"/>
          <p:nvPr/>
        </p:nvSpPr>
        <p:spPr>
          <a:xfrm>
            <a:off x="6604000" y="5715000"/>
            <a:ext cx="3937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4: Lung with nodule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Existing Problem</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That actually motivates us</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3</a:t>
            </a:r>
          </a:p>
        </p:txBody>
      </p:sp>
      <p:pic>
        <p:nvPicPr>
          <p:cNvPr id="8" name="Picture 7" descr="radiation_dose.png"/>
          <p:cNvPicPr>
            <a:picLocks noChangeAspect="1"/>
          </p:cNvPicPr>
          <p:nvPr/>
        </p:nvPicPr>
        <p:blipFill>
          <a:blip r:embed="rId3"/>
          <a:stretch>
            <a:fillRect/>
          </a:stretch>
        </p:blipFill>
        <p:spPr>
          <a:xfrm>
            <a:off x="762000" y="1428393"/>
            <a:ext cx="10668000" cy="4255213"/>
          </a:xfrm>
          <a:prstGeom prst="rect">
            <a:avLst/>
          </a:prstGeom>
        </p:spPr>
      </p:pic>
      <p:sp>
        <p:nvSpPr>
          <p:cNvPr id="9" name="TextBox 8"/>
          <p:cNvSpPr txBox="1"/>
          <p:nvPr/>
        </p:nvSpPr>
        <p:spPr>
          <a:xfrm>
            <a:off x="762000" y="5746750"/>
            <a:ext cx="10668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5: Comparison of radiation doses in medical imaging</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Existing Problem</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Why tomosynthesis cannot measure depth: the missing wedge</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4</a:t>
            </a:r>
          </a:p>
        </p:txBody>
      </p:sp>
      <p:pic>
        <p:nvPicPr>
          <p:cNvPr id="8" name="Picture 7" descr="dts_anim.gif"/>
          <p:cNvPicPr>
            <a:picLocks noChangeAspect="1"/>
          </p:cNvPicPr>
          <p:nvPr/>
        </p:nvPicPr>
        <p:blipFill>
          <a:blip r:embed="rId3"/>
          <a:stretch>
            <a:fillRect/>
          </a:stretch>
        </p:blipFill>
        <p:spPr>
          <a:xfrm>
            <a:off x="762000" y="1460500"/>
            <a:ext cx="6604000" cy="3810000"/>
          </a:xfrm>
          <a:prstGeom prst="rect">
            <a:avLst/>
          </a:prstGeom>
        </p:spPr>
      </p:pic>
      <p:sp>
        <p:nvSpPr>
          <p:cNvPr id="9" name="TextBox 8"/>
          <p:cNvSpPr txBox="1"/>
          <p:nvPr/>
        </p:nvSpPr>
        <p:spPr>
          <a:xfrm>
            <a:off x="762000" y="5461000"/>
            <a:ext cx="6604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6: DTS acquisition (left) and the measured fan in Fourier space (right)</a:t>
            </a:r>
          </a:p>
        </p:txBody>
      </p:sp>
      <p:grpSp>
        <p:nvGrpSpPr>
          <p:cNvPr id="10" name="Group 9"/>
          <p:cNvGrpSpPr/>
          <p:nvPr/>
        </p:nvGrpSpPr>
        <p:grpSpPr>
          <a:xfrm>
            <a:off x="7683500" y="1524000"/>
            <a:ext cx="3746500" cy="1174750"/>
            <a:chOff x="7683500" y="1524000"/>
            <a:chExt cx="3746500" cy="1174750"/>
          </a:xfrm>
        </p:grpSpPr>
        <p:sp>
          <p:nvSpPr>
            <p:cNvPr id="11" name="Rectangle 10"/>
            <p:cNvSpPr/>
            <p:nvPr/>
          </p:nvSpPr>
          <p:spPr>
            <a:xfrm>
              <a:off x="7683500" y="1524000"/>
              <a:ext cx="3746500" cy="117475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1300" y="1701800"/>
              <a:ext cx="3390900" cy="81915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Depth from a shift</a:t>
              </a:r>
            </a:p>
            <a:p>
              <a:pPr algn="l">
                <a:lnSpc>
                  <a:spcPct val="115000"/>
                </a:lnSpc>
                <a:spcBef>
                  <a:spcPts val="400"/>
                </a:spcBef>
              </a:pPr>
              <a:r>
                <a:rPr sz="1300" b="0" i="0">
                  <a:solidFill>
                    <a:srgbClr val="111111"/>
                  </a:solidFill>
                  <a:latin typeface="Times New Roman"/>
                </a:rPr>
                <a:t>The nodule’s shadow moves on the detector as the tube sweeps ±15°; that shift is the only depth information.</a:t>
              </a:r>
            </a:p>
          </p:txBody>
        </p:sp>
      </p:grpSp>
      <p:grpSp>
        <p:nvGrpSpPr>
          <p:cNvPr id="13" name="Group 12"/>
          <p:cNvGrpSpPr/>
          <p:nvPr/>
        </p:nvGrpSpPr>
        <p:grpSpPr>
          <a:xfrm>
            <a:off x="7683500" y="2857500"/>
            <a:ext cx="3746500" cy="1174750"/>
            <a:chOff x="7683500" y="2857500"/>
            <a:chExt cx="3746500" cy="1174750"/>
          </a:xfrm>
        </p:grpSpPr>
        <p:sp>
          <p:nvSpPr>
            <p:cNvPr id="14" name="Rectangle 13"/>
            <p:cNvSpPr/>
            <p:nvPr/>
          </p:nvSpPr>
          <p:spPr>
            <a:xfrm>
              <a:off x="7683500" y="2857500"/>
              <a:ext cx="3746500" cy="117475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1300" y="3035300"/>
              <a:ext cx="3390900" cy="81915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A thin fan in Fourier space</a:t>
              </a:r>
            </a:p>
            <a:p>
              <a:pPr algn="l">
                <a:lnSpc>
                  <a:spcPct val="115000"/>
                </a:lnSpc>
                <a:spcBef>
                  <a:spcPts val="400"/>
                </a:spcBef>
              </a:pPr>
              <a:r>
                <a:rPr sz="1300" b="0" i="0">
                  <a:solidFill>
                    <a:srgbClr val="111111"/>
                  </a:solidFill>
                  <a:latin typeface="Times New Roman"/>
                </a:rPr>
                <a:t>Fifteen views fill a narrow fan; the depth directions are never measured.</a:t>
              </a:r>
            </a:p>
          </p:txBody>
        </p:sp>
      </p:grpSp>
      <p:grpSp>
        <p:nvGrpSpPr>
          <p:cNvPr id="16" name="Group 15"/>
          <p:cNvGrpSpPr/>
          <p:nvPr/>
        </p:nvGrpSpPr>
        <p:grpSpPr>
          <a:xfrm>
            <a:off x="7683500" y="4191000"/>
            <a:ext cx="3746500" cy="1174750"/>
            <a:chOff x="7683500" y="4191000"/>
            <a:chExt cx="3746500" cy="1174750"/>
          </a:xfrm>
        </p:grpSpPr>
        <p:sp>
          <p:nvSpPr>
            <p:cNvPr id="17" name="Rectangle 16"/>
            <p:cNvSpPr/>
            <p:nvPr/>
          </p:nvSpPr>
          <p:spPr>
            <a:xfrm>
              <a:off x="7683500" y="4191000"/>
              <a:ext cx="3746500" cy="117475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1300" y="4368800"/>
              <a:ext cx="3390900" cy="819150"/>
            </a:xfrm>
            <a:prstGeom prst="rect">
              <a:avLst/>
            </a:prstGeom>
            <a:noFill/>
          </p:spPr>
          <p:txBody>
            <a:bodyPr wrap="square" lIns="0" rIns="0" tIns="0" bIns="0" anchor="t">
              <a:spAutoFit/>
            </a:bodyPr>
            <a:lstStyle/>
            <a:p>
              <a:pPr algn="l">
                <a:lnSpc>
                  <a:spcPct val="115000"/>
                </a:lnSpc>
              </a:pPr>
              <a:r>
                <a:rPr sz="1500" b="1" i="1">
                  <a:solidFill>
                    <a:srgbClr val="FF751F"/>
                  </a:solidFill>
                  <a:latin typeface="Times New Roman"/>
                </a:rPr>
                <a:t>Result</a:t>
              </a:r>
            </a:p>
            <a:p>
              <a:pPr algn="l">
                <a:lnSpc>
                  <a:spcPct val="115000"/>
                </a:lnSpc>
                <a:spcBef>
                  <a:spcPts val="400"/>
                </a:spcBef>
              </a:pPr>
              <a:r>
                <a:rPr sz="1300" b="0" i="0">
                  <a:solidFill>
                    <a:srgbClr val="111111"/>
                  </a:solidFill>
                  <a:latin typeface="Times New Roman"/>
                </a:rPr>
                <a:t>A nodule smears 3–5× longer in depth (median 3.5 on LIDC).</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Key Insight</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What DTS can measure: projection moments</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5</a:t>
            </a:r>
          </a:p>
        </p:txBody>
      </p:sp>
      <p:grpSp>
        <p:nvGrpSpPr>
          <p:cNvPr id="8" name="Group 7"/>
          <p:cNvGrpSpPr/>
          <p:nvPr/>
        </p:nvGrpSpPr>
        <p:grpSpPr>
          <a:xfrm>
            <a:off x="762000" y="1524000"/>
            <a:ext cx="5207000" cy="2667000"/>
            <a:chOff x="762000" y="1524000"/>
            <a:chExt cx="5207000" cy="2667000"/>
          </a:xfrm>
        </p:grpSpPr>
        <p:sp>
          <p:nvSpPr>
            <p:cNvPr id="9" name="Rectangle 8"/>
            <p:cNvSpPr/>
            <p:nvPr/>
          </p:nvSpPr>
          <p:spPr>
            <a:xfrm>
              <a:off x="762000" y="1524000"/>
              <a:ext cx="5207000" cy="2667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9800" y="1701800"/>
              <a:ext cx="4851400" cy="2311400"/>
            </a:xfrm>
            <a:prstGeom prst="rect">
              <a:avLst/>
            </a:prstGeom>
            <a:noFill/>
          </p:spPr>
          <p:txBody>
            <a:bodyPr wrap="square" lIns="0" rIns="0" tIns="0" bIns="0" anchor="t">
              <a:spAutoFit/>
            </a:bodyPr>
            <a:lstStyle/>
            <a:p>
              <a:pPr algn="l">
                <a:lnSpc>
                  <a:spcPct val="115000"/>
                </a:lnSpc>
              </a:pPr>
              <a:r>
                <a:rPr sz="1600" b="1" i="1">
                  <a:solidFill>
                    <a:srgbClr val="111111"/>
                  </a:solidFill>
                  <a:latin typeface="Times New Roman"/>
                </a:rPr>
                <a:t>Zeroth moment = mass</a:t>
              </a:r>
            </a:p>
            <a:p>
              <a:pPr algn="l">
                <a:lnSpc>
                  <a:spcPct val="115000"/>
                </a:lnSpc>
                <a:spcBef>
                  <a:spcPts val="1200"/>
                </a:spcBef>
              </a:pPr>
              <a:r>
                <a:rPr sz="2800" b="0" i="0">
                  <a:solidFill>
                    <a:srgbClr val="111111"/>
                  </a:solidFill>
                  <a:latin typeface="Cambria Math"/>
                </a:rPr>
                <a:t>∬ pθ(x, v) dx dv = M</a:t>
              </a:r>
            </a:p>
            <a:p>
              <a:pPr algn="l">
                <a:lnSpc>
                  <a:spcPct val="115000"/>
                </a:lnSpc>
                <a:spcBef>
                  <a:spcPts val="1200"/>
                </a:spcBef>
              </a:pPr>
              <a:r>
                <a:rPr sz="1400" b="0" i="0">
                  <a:solidFill>
                    <a:srgbClr val="111111"/>
                  </a:solidFill>
                  <a:latin typeface="Times New Roman"/>
                </a:rPr>
                <a:t>Identical in all 15 views, independent of depth. Verified numerically to 0.03%.</a:t>
              </a:r>
            </a:p>
          </p:txBody>
        </p:sp>
      </p:grpSp>
      <p:grpSp>
        <p:nvGrpSpPr>
          <p:cNvPr id="11" name="Group 10"/>
          <p:cNvGrpSpPr/>
          <p:nvPr/>
        </p:nvGrpSpPr>
        <p:grpSpPr>
          <a:xfrm>
            <a:off x="6223000" y="1524000"/>
            <a:ext cx="5207000" cy="2667000"/>
            <a:chOff x="6223000" y="1524000"/>
            <a:chExt cx="5207000" cy="2667000"/>
          </a:xfrm>
        </p:grpSpPr>
        <p:sp>
          <p:nvSpPr>
            <p:cNvPr id="12" name="Rectangle 11"/>
            <p:cNvSpPr/>
            <p:nvPr/>
          </p:nvSpPr>
          <p:spPr>
            <a:xfrm>
              <a:off x="6223000" y="1524000"/>
              <a:ext cx="5207000" cy="2667000"/>
            </a:xfrm>
            <a:prstGeom prst="rect">
              <a:avLst/>
            </a:prstGeom>
            <a:solidFill>
              <a:srgbClr val="FFFFFF"/>
            </a:solidFill>
            <a:ln w="12700">
              <a:solidFill>
                <a:srgbClr val="FF7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01800"/>
              <a:ext cx="4851400" cy="2311400"/>
            </a:xfrm>
            <a:prstGeom prst="rect">
              <a:avLst/>
            </a:prstGeom>
            <a:noFill/>
          </p:spPr>
          <p:txBody>
            <a:bodyPr wrap="square" lIns="0" rIns="0" tIns="0" bIns="0" anchor="t">
              <a:spAutoFit/>
            </a:bodyPr>
            <a:lstStyle/>
            <a:p>
              <a:pPr algn="l">
                <a:lnSpc>
                  <a:spcPct val="115000"/>
                </a:lnSpc>
              </a:pPr>
              <a:r>
                <a:rPr sz="1600" b="1" i="1">
                  <a:solidFill>
                    <a:srgbClr val="111111"/>
                  </a:solidFill>
                  <a:latin typeface="Times New Roman"/>
                </a:rPr>
                <a:t>Second moment = depth extent</a:t>
              </a:r>
            </a:p>
            <a:p>
              <a:pPr algn="l">
                <a:lnSpc>
                  <a:spcPct val="115000"/>
                </a:lnSpc>
                <a:spcBef>
                  <a:spcPts val="1200"/>
                </a:spcBef>
              </a:pPr>
              <a:r>
                <a:rPr sz="2800" b="0" i="0">
                  <a:solidFill>
                    <a:srgbClr val="111111"/>
                  </a:solidFill>
                  <a:latin typeface="Cambria Math"/>
                </a:rPr>
                <a:t>∝ sin²θ</a:t>
              </a:r>
            </a:p>
            <a:p>
              <a:pPr algn="l">
                <a:lnSpc>
                  <a:spcPct val="115000"/>
                </a:lnSpc>
                <a:spcBef>
                  <a:spcPts val="1200"/>
                </a:spcBef>
              </a:pPr>
              <a:r>
                <a:rPr sz="1400" b="0" i="0">
                  <a:solidFill>
                    <a:srgbClr val="111111"/>
                  </a:solidFill>
                  <a:latin typeface="Times New Roman"/>
                </a:rPr>
                <a:t>1 / sin²15° ≈ 15× worse conditioned. Volume needs depth extent; mass does not.</a:t>
              </a:r>
            </a:p>
          </p:txBody>
        </p:sp>
      </p:grpSp>
      <p:grpSp>
        <p:nvGrpSpPr>
          <p:cNvPr id="14" name="Group 13"/>
          <p:cNvGrpSpPr/>
          <p:nvPr/>
        </p:nvGrpSpPr>
        <p:grpSpPr>
          <a:xfrm>
            <a:off x="762000" y="4508500"/>
            <a:ext cx="10668000" cy="1079500"/>
            <a:chOff x="762000" y="4508500"/>
            <a:chExt cx="10668000" cy="1079500"/>
          </a:xfrm>
        </p:grpSpPr>
        <p:sp>
          <p:nvSpPr>
            <p:cNvPr id="15" name="Rectangle 14"/>
            <p:cNvSpPr/>
            <p:nvPr/>
          </p:nvSpPr>
          <p:spPr>
            <a:xfrm>
              <a:off x="762000" y="4508500"/>
              <a:ext cx="10668000" cy="1079500"/>
            </a:xfrm>
            <a:prstGeom prst="rect">
              <a:avLst/>
            </a:prstGeom>
            <a:solidFill>
              <a:srgbClr val="FFF1E8"/>
            </a:solidFill>
            <a:ln w="12700">
              <a:solidFill>
                <a:srgbClr val="FFF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9800" y="4686300"/>
              <a:ext cx="10312400" cy="723900"/>
            </a:xfrm>
            <a:prstGeom prst="rect">
              <a:avLst/>
            </a:prstGeom>
            <a:noFill/>
          </p:spPr>
          <p:txBody>
            <a:bodyPr wrap="square" lIns="0" rIns="0" tIns="0" bIns="0" anchor="t">
              <a:spAutoFit/>
            </a:bodyPr>
            <a:lstStyle/>
            <a:p>
              <a:pPr algn="l">
                <a:lnSpc>
                  <a:spcPct val="115000"/>
                </a:lnSpc>
              </a:pPr>
              <a:r>
                <a:rPr sz="1600" b="1" i="1">
                  <a:solidFill>
                    <a:srgbClr val="111111"/>
                  </a:solidFill>
                  <a:latin typeface="Times New Roman"/>
                </a:rPr>
                <a:t>Design consequence: </a:t>
              </a:r>
              <a:r>
                <a:rPr sz="1600" b="0" i="0">
                  <a:solidFill>
                    <a:srgbClr val="111111"/>
                  </a:solidFill>
                  <a:latin typeface="Times New Roman"/>
                </a:rPr>
                <a:t>report mass first, fill depth with a learned prior that must agree with the X-rays, and attach a calibrated uncertainty to every number.</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additive="base">
                                        <p:cTn id="5" dur="500" fill="hold"/>
                                        <p:tgtEl>
                                          <p:spTgt spid="8"/>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anim calcmode="lin" valueType="num">
                                      <p:cBhvr additive="base">
                                        <p:cTn id="11" dur="500" fill="hold"/>
                                        <p:tgtEl>
                                          <p:spTgt spid="11"/>
                                        </p:tgtEl>
                                        <p:attrNameLst>
                                          <p:attrName>ppt_y</p:attrName>
                                        </p:attrNameLst>
                                      </p:cBhvr>
                                      <p:tavLst>
                                        <p:tav tm="0">
                                          <p:val>
                                            <p:strVal val="#ppt_y+0.05"/>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17"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Objective</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Research objectives of MedLift-3D</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6</a:t>
            </a:r>
          </a:p>
        </p:txBody>
      </p:sp>
      <p:sp>
        <p:nvSpPr>
          <p:cNvPr id="8" name="TextBox 7"/>
          <p:cNvSpPr txBox="1"/>
          <p:nvPr/>
        </p:nvSpPr>
        <p:spPr>
          <a:xfrm>
            <a:off x="1397000" y="1460500"/>
            <a:ext cx="9398000" cy="698500"/>
          </a:xfrm>
          <a:prstGeom prst="rect">
            <a:avLst/>
          </a:prstGeom>
          <a:noFill/>
        </p:spPr>
        <p:txBody>
          <a:bodyPr wrap="square" lIns="0" rIns="0" tIns="0" bIns="0" anchor="t">
            <a:spAutoFit/>
          </a:bodyPr>
          <a:lstStyle/>
          <a:p>
            <a:pPr algn="ctr">
              <a:lnSpc>
                <a:spcPct val="120000"/>
              </a:lnSpc>
            </a:pPr>
            <a:r>
              <a:rPr sz="1600" b="0" i="1">
                <a:solidFill>
                  <a:srgbClr val="111111"/>
                </a:solidFill>
                <a:latin typeface="Times New Roman"/>
              </a:rPr>
              <a:t>We aim to measure lung nodules in 3D from safe, low-dose chest tomosynthesis: one click returns the nodule’s mass, volume and growth, each with a calibrated uncertainty and an explanation.</a:t>
            </a:r>
          </a:p>
        </p:txBody>
      </p:sp>
      <p:grpSp>
        <p:nvGrpSpPr>
          <p:cNvPr id="9" name="Group 8"/>
          <p:cNvGrpSpPr/>
          <p:nvPr/>
        </p:nvGrpSpPr>
        <p:grpSpPr>
          <a:xfrm>
            <a:off x="762000" y="2540000"/>
            <a:ext cx="3390900" cy="1524000"/>
            <a:chOff x="762000" y="2540000"/>
            <a:chExt cx="3390900" cy="1524000"/>
          </a:xfrm>
        </p:grpSpPr>
        <p:sp>
          <p:nvSpPr>
            <p:cNvPr id="10" name="Rectangle 9"/>
            <p:cNvSpPr/>
            <p:nvPr/>
          </p:nvSpPr>
          <p:spPr>
            <a:xfrm>
              <a:off x="762000" y="2540000"/>
              <a:ext cx="3390900" cy="1524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9800" y="2717800"/>
              <a:ext cx="3035300" cy="1168400"/>
            </a:xfrm>
            <a:prstGeom prst="rect">
              <a:avLst/>
            </a:prstGeom>
            <a:noFill/>
          </p:spPr>
          <p:txBody>
            <a:bodyPr wrap="square" lIns="0" rIns="0" tIns="0" bIns="0" anchor="t">
              <a:spAutoFit/>
            </a:bodyPr>
            <a:lstStyle/>
            <a:p>
              <a:pPr algn="l">
                <a:lnSpc>
                  <a:spcPct val="115000"/>
                </a:lnSpc>
              </a:pPr>
              <a:r>
                <a:rPr sz="2000" b="1" i="0">
                  <a:solidFill>
                    <a:srgbClr val="FF751F"/>
                  </a:solidFill>
                  <a:latin typeface="Times New Roman"/>
                </a:rPr>
                <a:t>01</a:t>
              </a:r>
            </a:p>
            <a:p>
              <a:pPr algn="l">
                <a:lnSpc>
                  <a:spcPct val="115000"/>
                </a:lnSpc>
                <a:spcBef>
                  <a:spcPts val="300"/>
                </a:spcBef>
              </a:pPr>
              <a:r>
                <a:rPr sz="1600" b="1" i="1">
                  <a:solidFill>
                    <a:srgbClr val="111111"/>
                  </a:solidFill>
                  <a:latin typeface="Times New Roman"/>
                </a:rPr>
                <a:t>Mass first</a:t>
              </a:r>
            </a:p>
            <a:p>
              <a:pPr algn="l">
                <a:lnSpc>
                  <a:spcPct val="115000"/>
                </a:lnSpc>
                <a:spcBef>
                  <a:spcPts val="400"/>
                </a:spcBef>
              </a:pPr>
              <a:r>
                <a:rPr sz="1300" b="0" i="0">
                  <a:solidFill>
                    <a:srgbClr val="111111"/>
                  </a:solidFill>
                  <a:latin typeface="Times New Roman"/>
                </a:rPr>
                <a:t>Measure nodule mass, the quantity DTS captures best</a:t>
              </a:r>
            </a:p>
          </p:txBody>
        </p:sp>
      </p:grpSp>
      <p:grpSp>
        <p:nvGrpSpPr>
          <p:cNvPr id="12" name="Group 11"/>
          <p:cNvGrpSpPr/>
          <p:nvPr/>
        </p:nvGrpSpPr>
        <p:grpSpPr>
          <a:xfrm>
            <a:off x="4356100" y="2540000"/>
            <a:ext cx="3390900" cy="1524000"/>
            <a:chOff x="4356100" y="2540000"/>
            <a:chExt cx="3390900" cy="1524000"/>
          </a:xfrm>
        </p:grpSpPr>
        <p:sp>
          <p:nvSpPr>
            <p:cNvPr id="13" name="Rectangle 12"/>
            <p:cNvSpPr/>
            <p:nvPr/>
          </p:nvSpPr>
          <p:spPr>
            <a:xfrm>
              <a:off x="4356100" y="2540000"/>
              <a:ext cx="3390900" cy="1524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3900" y="2717800"/>
              <a:ext cx="3035300" cy="1168400"/>
            </a:xfrm>
            <a:prstGeom prst="rect">
              <a:avLst/>
            </a:prstGeom>
            <a:noFill/>
          </p:spPr>
          <p:txBody>
            <a:bodyPr wrap="square" lIns="0" rIns="0" tIns="0" bIns="0" anchor="t">
              <a:spAutoFit/>
            </a:bodyPr>
            <a:lstStyle/>
            <a:p>
              <a:pPr algn="l">
                <a:lnSpc>
                  <a:spcPct val="115000"/>
                </a:lnSpc>
              </a:pPr>
              <a:r>
                <a:rPr sz="2000" b="1" i="0">
                  <a:solidFill>
                    <a:srgbClr val="FF751F"/>
                  </a:solidFill>
                  <a:latin typeface="Times New Roman"/>
                </a:rPr>
                <a:t>02</a:t>
              </a:r>
            </a:p>
            <a:p>
              <a:pPr algn="l">
                <a:lnSpc>
                  <a:spcPct val="115000"/>
                </a:lnSpc>
                <a:spcBef>
                  <a:spcPts val="300"/>
                </a:spcBef>
              </a:pPr>
              <a:r>
                <a:rPr sz="1600" b="1" i="1">
                  <a:solidFill>
                    <a:srgbClr val="111111"/>
                  </a:solidFill>
                  <a:latin typeface="Times New Roman"/>
                </a:rPr>
                <a:t>Learned prior</a:t>
              </a:r>
            </a:p>
            <a:p>
              <a:pPr algn="l">
                <a:lnSpc>
                  <a:spcPct val="115000"/>
                </a:lnSpc>
                <a:spcBef>
                  <a:spcPts val="400"/>
                </a:spcBef>
              </a:pPr>
              <a:r>
                <a:rPr sz="1300" b="0" i="0">
                  <a:solidFill>
                    <a:srgbClr val="111111"/>
                  </a:solidFill>
                  <a:latin typeface="Times New Roman"/>
                </a:rPr>
                <a:t>Fill the missing depth with a diffusion model and 3D Gaussians</a:t>
              </a:r>
            </a:p>
          </p:txBody>
        </p:sp>
      </p:grpSp>
      <p:grpSp>
        <p:nvGrpSpPr>
          <p:cNvPr id="15" name="Group 14"/>
          <p:cNvGrpSpPr/>
          <p:nvPr/>
        </p:nvGrpSpPr>
        <p:grpSpPr>
          <a:xfrm>
            <a:off x="7950200" y="2540000"/>
            <a:ext cx="3390900" cy="1524000"/>
            <a:chOff x="7950200" y="2540000"/>
            <a:chExt cx="3390900" cy="1524000"/>
          </a:xfrm>
        </p:grpSpPr>
        <p:sp>
          <p:nvSpPr>
            <p:cNvPr id="16" name="Rectangle 15"/>
            <p:cNvSpPr/>
            <p:nvPr/>
          </p:nvSpPr>
          <p:spPr>
            <a:xfrm>
              <a:off x="7950200" y="2540000"/>
              <a:ext cx="3390900" cy="1524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8000" y="2717800"/>
              <a:ext cx="3035300" cy="1168400"/>
            </a:xfrm>
            <a:prstGeom prst="rect">
              <a:avLst/>
            </a:prstGeom>
            <a:noFill/>
          </p:spPr>
          <p:txBody>
            <a:bodyPr wrap="square" lIns="0" rIns="0" tIns="0" bIns="0" anchor="t">
              <a:spAutoFit/>
            </a:bodyPr>
            <a:lstStyle/>
            <a:p>
              <a:pPr algn="l">
                <a:lnSpc>
                  <a:spcPct val="115000"/>
                </a:lnSpc>
              </a:pPr>
              <a:r>
                <a:rPr sz="2000" b="1" i="0">
                  <a:solidFill>
                    <a:srgbClr val="FF751F"/>
                  </a:solidFill>
                  <a:latin typeface="Times New Roman"/>
                </a:rPr>
                <a:t>03</a:t>
              </a:r>
            </a:p>
            <a:p>
              <a:pPr algn="l">
                <a:lnSpc>
                  <a:spcPct val="115000"/>
                </a:lnSpc>
                <a:spcBef>
                  <a:spcPts val="300"/>
                </a:spcBef>
              </a:pPr>
              <a:r>
                <a:rPr sz="1600" b="1" i="1">
                  <a:solidFill>
                    <a:srgbClr val="111111"/>
                  </a:solidFill>
                  <a:latin typeface="Times New Roman"/>
                </a:rPr>
                <a:t>Uncertainty</a:t>
              </a:r>
            </a:p>
            <a:p>
              <a:pPr algn="l">
                <a:lnSpc>
                  <a:spcPct val="115000"/>
                </a:lnSpc>
                <a:spcBef>
                  <a:spcPts val="400"/>
                </a:spcBef>
              </a:pPr>
              <a:r>
                <a:rPr sz="1300" b="0" i="0">
                  <a:solidFill>
                    <a:srgbClr val="111111"/>
                  </a:solidFill>
                  <a:latin typeface="Times New Roman"/>
                </a:rPr>
                <a:t>Give every number a calibrated 90% interval</a:t>
              </a:r>
            </a:p>
          </p:txBody>
        </p:sp>
      </p:grpSp>
      <p:grpSp>
        <p:nvGrpSpPr>
          <p:cNvPr id="18" name="Group 17"/>
          <p:cNvGrpSpPr/>
          <p:nvPr/>
        </p:nvGrpSpPr>
        <p:grpSpPr>
          <a:xfrm>
            <a:off x="762000" y="4254500"/>
            <a:ext cx="3390900" cy="1524000"/>
            <a:chOff x="762000" y="4254500"/>
            <a:chExt cx="3390900" cy="1524000"/>
          </a:xfrm>
        </p:grpSpPr>
        <p:sp>
          <p:nvSpPr>
            <p:cNvPr id="19" name="Rectangle 18"/>
            <p:cNvSpPr/>
            <p:nvPr/>
          </p:nvSpPr>
          <p:spPr>
            <a:xfrm>
              <a:off x="762000" y="4254500"/>
              <a:ext cx="3390900" cy="1524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9800" y="4432300"/>
              <a:ext cx="3035300" cy="1168400"/>
            </a:xfrm>
            <a:prstGeom prst="rect">
              <a:avLst/>
            </a:prstGeom>
            <a:noFill/>
          </p:spPr>
          <p:txBody>
            <a:bodyPr wrap="square" lIns="0" rIns="0" tIns="0" bIns="0" anchor="t">
              <a:spAutoFit/>
            </a:bodyPr>
            <a:lstStyle/>
            <a:p>
              <a:pPr algn="l">
                <a:lnSpc>
                  <a:spcPct val="115000"/>
                </a:lnSpc>
              </a:pPr>
              <a:r>
                <a:rPr sz="2000" b="1" i="0">
                  <a:solidFill>
                    <a:srgbClr val="FF751F"/>
                  </a:solidFill>
                  <a:latin typeface="Times New Roman"/>
                </a:rPr>
                <a:t>04</a:t>
              </a:r>
            </a:p>
            <a:p>
              <a:pPr algn="l">
                <a:lnSpc>
                  <a:spcPct val="115000"/>
                </a:lnSpc>
                <a:spcBef>
                  <a:spcPts val="300"/>
                </a:spcBef>
              </a:pPr>
              <a:r>
                <a:rPr sz="1600" b="1" i="1">
                  <a:solidFill>
                    <a:srgbClr val="111111"/>
                  </a:solidFill>
                  <a:latin typeface="Times New Roman"/>
                </a:rPr>
                <a:t>Growth</a:t>
              </a:r>
            </a:p>
            <a:p>
              <a:pPr algn="l">
                <a:lnSpc>
                  <a:spcPct val="115000"/>
                </a:lnSpc>
                <a:spcBef>
                  <a:spcPts val="400"/>
                </a:spcBef>
              </a:pPr>
              <a:r>
                <a:rPr sz="1300" b="0" i="0">
                  <a:solidFill>
                    <a:srgbClr val="111111"/>
                  </a:solidFill>
                  <a:latin typeface="Times New Roman"/>
                </a:rPr>
                <a:t>Measure growth as mass and volume doubling time</a:t>
              </a:r>
            </a:p>
          </p:txBody>
        </p:sp>
      </p:grpSp>
      <p:grpSp>
        <p:nvGrpSpPr>
          <p:cNvPr id="21" name="Group 20"/>
          <p:cNvGrpSpPr/>
          <p:nvPr/>
        </p:nvGrpSpPr>
        <p:grpSpPr>
          <a:xfrm>
            <a:off x="4356100" y="4254500"/>
            <a:ext cx="3390900" cy="1524000"/>
            <a:chOff x="4356100" y="4254500"/>
            <a:chExt cx="3390900" cy="1524000"/>
          </a:xfrm>
        </p:grpSpPr>
        <p:sp>
          <p:nvSpPr>
            <p:cNvPr id="22" name="Rectangle 21"/>
            <p:cNvSpPr/>
            <p:nvPr/>
          </p:nvSpPr>
          <p:spPr>
            <a:xfrm>
              <a:off x="4356100" y="4254500"/>
              <a:ext cx="3390900" cy="1524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33900" y="4432300"/>
              <a:ext cx="3035300" cy="1168400"/>
            </a:xfrm>
            <a:prstGeom prst="rect">
              <a:avLst/>
            </a:prstGeom>
            <a:noFill/>
          </p:spPr>
          <p:txBody>
            <a:bodyPr wrap="square" lIns="0" rIns="0" tIns="0" bIns="0" anchor="t">
              <a:spAutoFit/>
            </a:bodyPr>
            <a:lstStyle/>
            <a:p>
              <a:pPr algn="l">
                <a:lnSpc>
                  <a:spcPct val="115000"/>
                </a:lnSpc>
              </a:pPr>
              <a:r>
                <a:rPr sz="2000" b="1" i="0">
                  <a:solidFill>
                    <a:srgbClr val="FF751F"/>
                  </a:solidFill>
                  <a:latin typeface="Times New Roman"/>
                </a:rPr>
                <a:t>05</a:t>
              </a:r>
            </a:p>
            <a:p>
              <a:pPr algn="l">
                <a:lnSpc>
                  <a:spcPct val="115000"/>
                </a:lnSpc>
                <a:spcBef>
                  <a:spcPts val="300"/>
                </a:spcBef>
              </a:pPr>
              <a:r>
                <a:rPr sz="1600" b="1" i="1">
                  <a:solidFill>
                    <a:srgbClr val="111111"/>
                  </a:solidFill>
                  <a:latin typeface="Times New Roman"/>
                </a:rPr>
                <a:t>Risk</a:t>
              </a:r>
            </a:p>
            <a:p>
              <a:pPr algn="l">
                <a:lnSpc>
                  <a:spcPct val="115000"/>
                </a:lnSpc>
                <a:spcBef>
                  <a:spcPts val="400"/>
                </a:spcBef>
              </a:pPr>
              <a:r>
                <a:rPr sz="1300" b="0" i="0">
                  <a:solidFill>
                    <a:srgbClr val="111111"/>
                  </a:solidFill>
                  <a:latin typeface="Times New Roman"/>
                </a:rPr>
                <a:t>Give calibrated probabilities of the clinical size categories</a:t>
              </a:r>
            </a:p>
          </p:txBody>
        </p:sp>
      </p:grpSp>
      <p:grpSp>
        <p:nvGrpSpPr>
          <p:cNvPr id="24" name="Group 23"/>
          <p:cNvGrpSpPr/>
          <p:nvPr/>
        </p:nvGrpSpPr>
        <p:grpSpPr>
          <a:xfrm>
            <a:off x="7950200" y="4254500"/>
            <a:ext cx="3390900" cy="1524000"/>
            <a:chOff x="7950200" y="4254500"/>
            <a:chExt cx="3390900" cy="1524000"/>
          </a:xfrm>
        </p:grpSpPr>
        <p:sp>
          <p:nvSpPr>
            <p:cNvPr id="25" name="Rectangle 24"/>
            <p:cNvSpPr/>
            <p:nvPr/>
          </p:nvSpPr>
          <p:spPr>
            <a:xfrm>
              <a:off x="7950200" y="4254500"/>
              <a:ext cx="3390900" cy="1524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8000" y="4432300"/>
              <a:ext cx="3035300" cy="1168400"/>
            </a:xfrm>
            <a:prstGeom prst="rect">
              <a:avLst/>
            </a:prstGeom>
            <a:noFill/>
          </p:spPr>
          <p:txBody>
            <a:bodyPr wrap="square" lIns="0" rIns="0" tIns="0" bIns="0" anchor="t">
              <a:spAutoFit/>
            </a:bodyPr>
            <a:lstStyle/>
            <a:p>
              <a:pPr algn="l">
                <a:lnSpc>
                  <a:spcPct val="115000"/>
                </a:lnSpc>
              </a:pPr>
              <a:r>
                <a:rPr sz="2000" b="1" i="0">
                  <a:solidFill>
                    <a:srgbClr val="FF751F"/>
                  </a:solidFill>
                  <a:latin typeface="Times New Roman"/>
                </a:rPr>
                <a:t>06</a:t>
              </a:r>
            </a:p>
            <a:p>
              <a:pPr algn="l">
                <a:lnSpc>
                  <a:spcPct val="115000"/>
                </a:lnSpc>
                <a:spcBef>
                  <a:spcPts val="300"/>
                </a:spcBef>
              </a:pPr>
              <a:r>
                <a:rPr sz="1600" b="1" i="1">
                  <a:solidFill>
                    <a:srgbClr val="111111"/>
                  </a:solidFill>
                  <a:latin typeface="Times New Roman"/>
                </a:rPr>
                <a:t>Explainability</a:t>
              </a:r>
            </a:p>
            <a:p>
              <a:pPr algn="l">
                <a:lnSpc>
                  <a:spcPct val="115000"/>
                </a:lnSpc>
                <a:spcBef>
                  <a:spcPts val="400"/>
                </a:spcBef>
              </a:pPr>
              <a:r>
                <a:rPr sz="1300" b="0" i="0">
                  <a:solidFill>
                    <a:srgbClr val="111111"/>
                  </a:solidFill>
                  <a:latin typeface="Times New Roman"/>
                </a:rPr>
                <a:t>Show what the X-rays saw and what the prior filled in</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3D57"/>
        </a:solidFill>
        <a:effectLst/>
      </p:bgPr>
    </p:bg>
    <p:spTree>
      <p:nvGrpSpPr>
        <p:cNvPr id="1" name=""/>
        <p:cNvGrpSpPr/>
        <p:nvPr/>
      </p:nvGrpSpPr>
      <p:grpSpPr/>
      <p:sp>
        <p:nvSpPr>
          <p:cNvPr id="2" name="TextBox 1"/>
          <p:cNvSpPr txBox="1"/>
          <p:nvPr/>
        </p:nvSpPr>
        <p:spPr>
          <a:xfrm>
            <a:off x="1016000" y="2857500"/>
            <a:ext cx="10160000" cy="698500"/>
          </a:xfrm>
          <a:prstGeom prst="rect">
            <a:avLst/>
          </a:prstGeom>
          <a:noFill/>
        </p:spPr>
        <p:txBody>
          <a:bodyPr wrap="square" lIns="0" rIns="0" tIns="0" bIns="0" anchor="t">
            <a:spAutoFit/>
          </a:bodyPr>
          <a:lstStyle/>
          <a:p>
            <a:pPr algn="ctr">
              <a:lnSpc>
                <a:spcPct val="115000"/>
              </a:lnSpc>
            </a:pPr>
            <a:r>
              <a:rPr sz="3800" b="0" i="1">
                <a:solidFill>
                  <a:srgbClr val="FFFFFF"/>
                </a:solidFill>
                <a:latin typeface="Times New Roman"/>
              </a:rPr>
              <a:t>Literature Review</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Domain Comparison among Reviewed Papers</a:t>
            </a:r>
          </a:p>
        </p:txBody>
      </p:sp>
      <p:sp>
        <p:nvSpPr>
          <p:cNvPr id="3" name="Rectangle 2"/>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iu_logo.png"/>
          <p:cNvPicPr>
            <a:picLocks noChangeAspect="1"/>
          </p:cNvPicPr>
          <p:nvPr/>
        </p:nvPicPr>
        <p:blipFill>
          <a:blip r:embed="rId2"/>
          <a:stretch>
            <a:fillRect/>
          </a:stretch>
        </p:blipFill>
        <p:spPr>
          <a:xfrm>
            <a:off x="10147300" y="507303"/>
            <a:ext cx="1333500" cy="458594"/>
          </a:xfrm>
          <a:prstGeom prst="rect">
            <a:avLst/>
          </a:prstGeom>
        </p:spPr>
      </p:pic>
      <p:sp>
        <p:nvSpPr>
          <p:cNvPr id="5" name="Rounded Rectangle 4"/>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7</a:t>
            </a:r>
          </a:p>
        </p:txBody>
      </p:sp>
      <p:graphicFrame>
        <p:nvGraphicFramePr>
          <p:cNvPr id="7" name="Table 6"/>
          <p:cNvGraphicFramePr>
            <a:graphicFrameLocks noGrp="1"/>
          </p:cNvGraphicFramePr>
          <p:nvPr/>
        </p:nvGraphicFramePr>
        <p:xfrm>
          <a:off x="762000" y="1524000"/>
          <a:ext cx="10807700" cy="3797300"/>
        </p:xfrm>
        <a:graphic>
          <a:graphicData uri="http://schemas.openxmlformats.org/drawingml/2006/table">
            <a:tbl>
              <a:tblPr firstRow="1" bandRow="1">
                <a:tableStyleId>{5C22544A-7EE6-4342-B048-85BDC9FD1C3A}</a:tableStyleId>
              </a:tblPr>
              <a:tblGrid>
                <a:gridCol w="2095500"/>
                <a:gridCol w="1244600"/>
                <a:gridCol w="1244600"/>
                <a:gridCol w="1244600"/>
                <a:gridCol w="1244600"/>
                <a:gridCol w="1244600"/>
                <a:gridCol w="1244600"/>
                <a:gridCol w="1244600"/>
              </a:tblGrid>
              <a:tr h="508000">
                <a:tc>
                  <a:txBody>
                    <a:bodyPr/>
                    <a:lstStyle/>
                    <a:p>
                      <a:pPr algn="ctr">
                        <a:lnSpc>
                          <a:spcPct val="100000"/>
                        </a:lnSpc>
                      </a:pPr>
                      <a:r>
                        <a:rPr sz="1100" b="1" i="0">
                          <a:solidFill>
                            <a:srgbClr val="111111"/>
                          </a:solidFill>
                          <a:latin typeface="Times New Roman"/>
                        </a:rPr>
                        <a:t>References</a:t>
                      </a:r>
                    </a:p>
                  </a:txBody>
                  <a:tcPr anchor="ctr" marL="50800" marR="50800">
                    <a:solidFill>
                      <a:srgbClr val="CFE3EC"/>
                    </a:solidFill>
                  </a:tcPr>
                </a:tc>
                <a:tc>
                  <a:txBody>
                    <a:bodyPr/>
                    <a:lstStyle/>
                    <a:p>
                      <a:pPr algn="ctr">
                        <a:lnSpc>
                          <a:spcPct val="100000"/>
                        </a:lnSpc>
                      </a:pPr>
                      <a:r>
                        <a:rPr sz="1100" b="1" i="0">
                          <a:solidFill>
                            <a:srgbClr val="111111"/>
                          </a:solidFill>
                          <a:latin typeface="Times New Roman"/>
                        </a:rPr>
                        <a:t>DTS geometry</a:t>
                      </a:r>
                    </a:p>
                  </a:txBody>
                  <a:tcPr anchor="ctr" marL="50800" marR="50800">
                    <a:solidFill>
                      <a:srgbClr val="C9F27A"/>
                    </a:solidFill>
                  </a:tcPr>
                </a:tc>
                <a:tc>
                  <a:txBody>
                    <a:bodyPr/>
                    <a:lstStyle/>
                    <a:p>
                      <a:pPr algn="ctr">
                        <a:lnSpc>
                          <a:spcPct val="100000"/>
                        </a:lnSpc>
                      </a:pPr>
                      <a:r>
                        <a:rPr sz="1100" b="1" i="0">
                          <a:solidFill>
                            <a:srgbClr val="111111"/>
                          </a:solidFill>
                          <a:latin typeface="Times New Roman"/>
                        </a:rPr>
                        <a:t>Learned prior</a:t>
                      </a:r>
                    </a:p>
                  </a:txBody>
                  <a:tcPr anchor="ctr" marL="50800" marR="50800">
                    <a:solidFill>
                      <a:srgbClr val="D9D9D9"/>
                    </a:solidFill>
                  </a:tcPr>
                </a:tc>
                <a:tc>
                  <a:txBody>
                    <a:bodyPr/>
                    <a:lstStyle/>
                    <a:p>
                      <a:pPr algn="ctr">
                        <a:lnSpc>
                          <a:spcPct val="100000"/>
                        </a:lnSpc>
                      </a:pPr>
                      <a:r>
                        <a:rPr sz="1100" b="1" i="0">
                          <a:solidFill>
                            <a:srgbClr val="111111"/>
                          </a:solidFill>
                          <a:latin typeface="Times New Roman"/>
                        </a:rPr>
                        <a:t>Data consistency</a:t>
                      </a:r>
                    </a:p>
                  </a:txBody>
                  <a:tcPr anchor="ctr" marL="50800" marR="50800">
                    <a:solidFill>
                      <a:srgbClr val="7FE0E8"/>
                    </a:solidFill>
                  </a:tcPr>
                </a:tc>
                <a:tc>
                  <a:txBody>
                    <a:bodyPr/>
                    <a:lstStyle/>
                    <a:p>
                      <a:pPr algn="ctr">
                        <a:lnSpc>
                          <a:spcPct val="100000"/>
                        </a:lnSpc>
                      </a:pPr>
                      <a:r>
                        <a:rPr sz="1100" b="1" i="0">
                          <a:solidFill>
                            <a:srgbClr val="111111"/>
                          </a:solidFill>
                          <a:latin typeface="Times New Roman"/>
                        </a:rPr>
                        <a:t>Gaussian mass</a:t>
                      </a:r>
                    </a:p>
                  </a:txBody>
                  <a:tcPr anchor="ctr" marL="50800" marR="50800">
                    <a:solidFill>
                      <a:srgbClr val="6EC1F5"/>
                    </a:solidFill>
                  </a:tcPr>
                </a:tc>
                <a:tc>
                  <a:txBody>
                    <a:bodyPr/>
                    <a:lstStyle/>
                    <a:p>
                      <a:pPr algn="ctr">
                        <a:lnSpc>
                          <a:spcPct val="100000"/>
                        </a:lnSpc>
                      </a:pPr>
                      <a:r>
                        <a:rPr sz="1100" b="1" i="0">
                          <a:solidFill>
                            <a:srgbClr val="111111"/>
                          </a:solidFill>
                          <a:latin typeface="Times New Roman"/>
                        </a:rPr>
                        <a:t>Clinical biomarker</a:t>
                      </a:r>
                    </a:p>
                  </a:txBody>
                  <a:tcPr anchor="ctr" marL="50800" marR="50800">
                    <a:solidFill>
                      <a:srgbClr val="F08CF0"/>
                    </a:solidFill>
                  </a:tcPr>
                </a:tc>
                <a:tc>
                  <a:txBody>
                    <a:bodyPr/>
                    <a:lstStyle/>
                    <a:p>
                      <a:pPr algn="ctr">
                        <a:lnSpc>
                          <a:spcPct val="100000"/>
                        </a:lnSpc>
                      </a:pPr>
                      <a:r>
                        <a:rPr sz="1100" b="1" i="0">
                          <a:solidFill>
                            <a:srgbClr val="111111"/>
                          </a:solidFill>
                          <a:latin typeface="Times New Roman"/>
                        </a:rPr>
                        <a:t>Calibrated UQ</a:t>
                      </a:r>
                    </a:p>
                  </a:txBody>
                  <a:tcPr anchor="ctr" marL="50800" marR="50800">
                    <a:solidFill>
                      <a:srgbClr val="F9C9A8"/>
                    </a:solidFill>
                  </a:tcPr>
                </a:tc>
                <a:tc>
                  <a:txBody>
                    <a:bodyPr/>
                    <a:lstStyle/>
                    <a:p>
                      <a:pPr algn="ctr">
                        <a:lnSpc>
                          <a:spcPct val="100000"/>
                        </a:lnSpc>
                      </a:pPr>
                      <a:r>
                        <a:rPr sz="1100" b="1" i="0">
                          <a:solidFill>
                            <a:srgbClr val="111111"/>
                          </a:solidFill>
                          <a:latin typeface="Times New Roman"/>
                        </a:rPr>
                        <a:t>Seen / unseen</a:t>
                      </a:r>
                    </a:p>
                  </a:txBody>
                  <a:tcPr anchor="ctr" marL="50800" marR="50800">
                    <a:solidFill>
                      <a:srgbClr val="F7B6C2"/>
                    </a:solidFill>
                  </a:tcPr>
                </a:tc>
              </a:tr>
              <a:tr h="469900">
                <a:tc>
                  <a:txBody>
                    <a:bodyPr/>
                    <a:lstStyle/>
                    <a:p>
                      <a:pPr algn="l">
                        <a:lnSpc>
                          <a:spcPct val="115000"/>
                        </a:lnSpc>
                      </a:pPr>
                      <a:r>
                        <a:rPr sz="1200" b="1" i="0">
                          <a:solidFill>
                            <a:srgbClr val="111111"/>
                          </a:solidFill>
                          <a:latin typeface="Times New Roman"/>
                        </a:rPr>
                        <a:t>[1] Li et al., 2025</a:t>
                      </a:r>
                    </a:p>
                  </a:txBody>
                  <a:tcPr anchor="ctr" marL="50800" marR="50800">
                    <a:solidFill>
                      <a:srgbClr val="EEF3F6"/>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2E8B57"/>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r>
              <a:tr h="469900">
                <a:tc>
                  <a:txBody>
                    <a:bodyPr/>
                    <a:lstStyle/>
                    <a:p>
                      <a:pPr algn="l">
                        <a:lnSpc>
                          <a:spcPct val="115000"/>
                        </a:lnSpc>
                      </a:pPr>
                      <a:r>
                        <a:rPr sz="1200" b="1" i="0">
                          <a:solidFill>
                            <a:srgbClr val="111111"/>
                          </a:solidFill>
                          <a:latin typeface="Times New Roman"/>
                        </a:rPr>
                        <a:t>[2] Zha et al., 2024</a:t>
                      </a:r>
                    </a:p>
                  </a:txBody>
                  <a:tcPr anchor="ctr" marL="50800" marR="50800">
                    <a:solidFill>
                      <a:srgbClr val="EEF3F6"/>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2E8B57"/>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r>
              <a:tr h="469900">
                <a:tc>
                  <a:txBody>
                    <a:bodyPr/>
                    <a:lstStyle/>
                    <a:p>
                      <a:pPr algn="l">
                        <a:lnSpc>
                          <a:spcPct val="115000"/>
                        </a:lnSpc>
                      </a:pPr>
                      <a:r>
                        <a:rPr sz="1200" b="1" i="0">
                          <a:solidFill>
                            <a:srgbClr val="111111"/>
                          </a:solidFill>
                          <a:latin typeface="Times New Roman"/>
                        </a:rPr>
                        <a:t>[3] Chung et al., 2023</a:t>
                      </a:r>
                    </a:p>
                  </a:txBody>
                  <a:tcPr anchor="ctr" marL="50800" marR="50800">
                    <a:solidFill>
                      <a:srgbClr val="EEF3F6"/>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2E8B57"/>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2E8B57"/>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r>
              <a:tr h="469900">
                <a:tc>
                  <a:txBody>
                    <a:bodyPr/>
                    <a:lstStyle/>
                    <a:p>
                      <a:pPr algn="l">
                        <a:lnSpc>
                          <a:spcPct val="115000"/>
                        </a:lnSpc>
                      </a:pPr>
                      <a:r>
                        <a:rPr sz="1200" b="1" i="0">
                          <a:solidFill>
                            <a:srgbClr val="111111"/>
                          </a:solidFill>
                          <a:latin typeface="Times New Roman"/>
                        </a:rPr>
                        <a:t>[4] Zhang et al., 2025</a:t>
                      </a:r>
                    </a:p>
                  </a:txBody>
                  <a:tcPr anchor="ctr" marL="50800" marR="50800">
                    <a:solidFill>
                      <a:srgbClr val="EEF3F6"/>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2E8B57"/>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2E8B57"/>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100" b="0" i="0">
                          <a:solidFill>
                            <a:srgbClr val="555555"/>
                          </a:solidFill>
                          <a:latin typeface="Times New Roman"/>
                        </a:rPr>
                        <a:t>partly</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r>
              <a:tr h="469900">
                <a:tc>
                  <a:txBody>
                    <a:bodyPr/>
                    <a:lstStyle/>
                    <a:p>
                      <a:pPr algn="l">
                        <a:lnSpc>
                          <a:spcPct val="115000"/>
                        </a:lnSpc>
                      </a:pPr>
                      <a:r>
                        <a:rPr sz="1200" b="1" i="0">
                          <a:solidFill>
                            <a:srgbClr val="111111"/>
                          </a:solidFill>
                          <a:latin typeface="Times New Roman"/>
                        </a:rPr>
                        <a:t>[5] Bhadra et al., 2021</a:t>
                      </a:r>
                    </a:p>
                  </a:txBody>
                  <a:tcPr anchor="ctr" marL="50800" marR="50800">
                    <a:solidFill>
                      <a:srgbClr val="EEF3F6"/>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100" b="0" i="0">
                          <a:solidFill>
                            <a:srgbClr val="555555"/>
                          </a:solidFill>
                          <a:latin typeface="Times New Roman"/>
                        </a:rPr>
                        <a:t>n/a</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2E8B57"/>
                          </a:solidFill>
                          <a:latin typeface="Times New Roman"/>
                        </a:rPr>
                        <a:t>✓</a:t>
                      </a:r>
                    </a:p>
                  </a:txBody>
                  <a:tcPr anchor="ctr" marL="50800" marR="50800">
                    <a:solidFill>
                      <a:srgbClr val="FFFFFF"/>
                    </a:solidFill>
                  </a:tcPr>
                </a:tc>
              </a:tr>
              <a:tr h="469900">
                <a:tc>
                  <a:txBody>
                    <a:bodyPr/>
                    <a:lstStyle/>
                    <a:p>
                      <a:pPr algn="l">
                        <a:lnSpc>
                          <a:spcPct val="115000"/>
                        </a:lnSpc>
                      </a:pPr>
                      <a:r>
                        <a:rPr sz="1200" b="1" i="0">
                          <a:solidFill>
                            <a:srgbClr val="111111"/>
                          </a:solidFill>
                          <a:latin typeface="Times New Roman"/>
                        </a:rPr>
                        <a:t>[6] de Hoop et al., 2010</a:t>
                      </a:r>
                    </a:p>
                  </a:txBody>
                  <a:tcPr anchor="ctr" marL="50800" marR="50800">
                    <a:solidFill>
                      <a:srgbClr val="EEF3F6"/>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100" b="0" i="0">
                          <a:solidFill>
                            <a:srgbClr val="555555"/>
                          </a:solidFill>
                          <a:latin typeface="Times New Roman"/>
                        </a:rPr>
                        <a:t>n/a</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2E8B57"/>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c>
                  <a:txBody>
                    <a:bodyPr/>
                    <a:lstStyle/>
                    <a:p>
                      <a:pPr algn="ctr">
                        <a:lnSpc>
                          <a:spcPct val="115000"/>
                        </a:lnSpc>
                      </a:pPr>
                      <a:r>
                        <a:rPr sz="1400" b="1" i="0">
                          <a:solidFill>
                            <a:srgbClr val="C0392B"/>
                          </a:solidFill>
                          <a:latin typeface="Times New Roman"/>
                        </a:rPr>
                        <a:t>✗</a:t>
                      </a:r>
                    </a:p>
                  </a:txBody>
                  <a:tcPr anchor="ctr" marL="50800" marR="50800">
                    <a:solidFill>
                      <a:srgbClr val="FFFFFF"/>
                    </a:solidFill>
                  </a:tcPr>
                </a:tc>
              </a:tr>
              <a:tr h="469900">
                <a:tc>
                  <a:txBody>
                    <a:bodyPr/>
                    <a:lstStyle/>
                    <a:p>
                      <a:pPr algn="l">
                        <a:lnSpc>
                          <a:spcPct val="115000"/>
                        </a:lnSpc>
                      </a:pPr>
                      <a:r>
                        <a:rPr sz="1300" b="1" i="0">
                          <a:solidFill>
                            <a:srgbClr val="FF751F"/>
                          </a:solidFill>
                          <a:latin typeface="Times New Roman"/>
                        </a:rPr>
                        <a:t>Ours: MedLift-3D</a:t>
                      </a:r>
                    </a:p>
                  </a:txBody>
                  <a:tcPr anchor="ctr" marL="50800" marR="50800">
                    <a:solidFill>
                      <a:srgbClr val="FFF1E8"/>
                    </a:solidFill>
                  </a:tcPr>
                </a:tc>
                <a:tc>
                  <a:txBody>
                    <a:bodyPr/>
                    <a:lstStyle/>
                    <a:p>
                      <a:pPr algn="ctr">
                        <a:lnSpc>
                          <a:spcPct val="115000"/>
                        </a:lnSpc>
                      </a:pPr>
                      <a:r>
                        <a:rPr sz="1300" b="1" i="0">
                          <a:solidFill>
                            <a:srgbClr val="2E8B57"/>
                          </a:solidFill>
                          <a:latin typeface="Times New Roman"/>
                        </a:rPr>
                        <a:t>✓</a:t>
                      </a:r>
                    </a:p>
                  </a:txBody>
                  <a:tcPr anchor="ctr" marL="50800" marR="50800">
                    <a:solidFill>
                      <a:srgbClr val="FFF1E8"/>
                    </a:solidFill>
                  </a:tcPr>
                </a:tc>
                <a:tc>
                  <a:txBody>
                    <a:bodyPr/>
                    <a:lstStyle/>
                    <a:p>
                      <a:pPr algn="ctr">
                        <a:lnSpc>
                          <a:spcPct val="115000"/>
                        </a:lnSpc>
                      </a:pPr>
                      <a:r>
                        <a:rPr sz="1300" b="1" i="0">
                          <a:solidFill>
                            <a:srgbClr val="2E8B57"/>
                          </a:solidFill>
                          <a:latin typeface="Times New Roman"/>
                        </a:rPr>
                        <a:t>✓</a:t>
                      </a:r>
                    </a:p>
                  </a:txBody>
                  <a:tcPr anchor="ctr" marL="50800" marR="50800">
                    <a:solidFill>
                      <a:srgbClr val="FFF1E8"/>
                    </a:solidFill>
                  </a:tcPr>
                </a:tc>
                <a:tc>
                  <a:txBody>
                    <a:bodyPr/>
                    <a:lstStyle/>
                    <a:p>
                      <a:pPr algn="ctr">
                        <a:lnSpc>
                          <a:spcPct val="115000"/>
                        </a:lnSpc>
                      </a:pPr>
                      <a:r>
                        <a:rPr sz="1300" b="1" i="0">
                          <a:solidFill>
                            <a:srgbClr val="2E8B57"/>
                          </a:solidFill>
                          <a:latin typeface="Times New Roman"/>
                        </a:rPr>
                        <a:t>✓</a:t>
                      </a:r>
                    </a:p>
                  </a:txBody>
                  <a:tcPr anchor="ctr" marL="50800" marR="50800">
                    <a:solidFill>
                      <a:srgbClr val="FFF1E8"/>
                    </a:solidFill>
                  </a:tcPr>
                </a:tc>
                <a:tc>
                  <a:txBody>
                    <a:bodyPr/>
                    <a:lstStyle/>
                    <a:p>
                      <a:pPr algn="ctr">
                        <a:lnSpc>
                          <a:spcPct val="115000"/>
                        </a:lnSpc>
                      </a:pPr>
                      <a:r>
                        <a:rPr sz="1300" b="1" i="0">
                          <a:solidFill>
                            <a:srgbClr val="2E8B57"/>
                          </a:solidFill>
                          <a:latin typeface="Times New Roman"/>
                        </a:rPr>
                        <a:t>✓</a:t>
                      </a:r>
                    </a:p>
                  </a:txBody>
                  <a:tcPr anchor="ctr" marL="50800" marR="50800">
                    <a:solidFill>
                      <a:srgbClr val="FFF1E8"/>
                    </a:solidFill>
                  </a:tcPr>
                </a:tc>
                <a:tc>
                  <a:txBody>
                    <a:bodyPr/>
                    <a:lstStyle/>
                    <a:p>
                      <a:pPr algn="ctr">
                        <a:lnSpc>
                          <a:spcPct val="115000"/>
                        </a:lnSpc>
                      </a:pPr>
                      <a:r>
                        <a:rPr sz="1300" b="1" i="0">
                          <a:solidFill>
                            <a:srgbClr val="2E8B57"/>
                          </a:solidFill>
                          <a:latin typeface="Times New Roman"/>
                        </a:rPr>
                        <a:t>✓</a:t>
                      </a:r>
                    </a:p>
                  </a:txBody>
                  <a:tcPr anchor="ctr" marL="50800" marR="50800">
                    <a:solidFill>
                      <a:srgbClr val="FFF1E8"/>
                    </a:solidFill>
                  </a:tcPr>
                </a:tc>
                <a:tc>
                  <a:txBody>
                    <a:bodyPr/>
                    <a:lstStyle/>
                    <a:p>
                      <a:pPr algn="ctr">
                        <a:lnSpc>
                          <a:spcPct val="115000"/>
                        </a:lnSpc>
                      </a:pPr>
                      <a:r>
                        <a:rPr sz="1300" b="1" i="0">
                          <a:solidFill>
                            <a:srgbClr val="2E8B57"/>
                          </a:solidFill>
                          <a:latin typeface="Times New Roman"/>
                        </a:rPr>
                        <a:t>✓</a:t>
                      </a:r>
                    </a:p>
                  </a:txBody>
                  <a:tcPr anchor="ctr" marL="50800" marR="50800">
                    <a:solidFill>
                      <a:srgbClr val="FFF1E8"/>
                    </a:solidFill>
                  </a:tcPr>
                </a:tc>
                <a:tc>
                  <a:txBody>
                    <a:bodyPr/>
                    <a:lstStyle/>
                    <a:p>
                      <a:pPr algn="ctr">
                        <a:lnSpc>
                          <a:spcPct val="115000"/>
                        </a:lnSpc>
                      </a:pPr>
                      <a:r>
                        <a:rPr sz="1300" b="1" i="0">
                          <a:solidFill>
                            <a:srgbClr val="2E8B57"/>
                          </a:solidFill>
                          <a:latin typeface="Times New Roman"/>
                        </a:rPr>
                        <a:t>✓</a:t>
                      </a:r>
                    </a:p>
                  </a:txBody>
                  <a:tcPr anchor="ctr" marL="50800" marR="50800">
                    <a:solidFill>
                      <a:srgbClr val="FFF1E8"/>
                    </a:solidFill>
                  </a:tcPr>
                </a:tc>
              </a:tr>
            </a:tbl>
          </a:graphicData>
        </a:graphic>
      </p:graphicFrame>
      <p:sp>
        <p:nvSpPr>
          <p:cNvPr id="8" name="TextBox 7"/>
          <p:cNvSpPr txBox="1"/>
          <p:nvPr/>
        </p:nvSpPr>
        <p:spPr>
          <a:xfrm>
            <a:off x="762000" y="5588000"/>
            <a:ext cx="10668000" cy="444500"/>
          </a:xfrm>
          <a:prstGeom prst="rect">
            <a:avLst/>
          </a:prstGeom>
          <a:noFill/>
        </p:spPr>
        <p:txBody>
          <a:bodyPr wrap="square" lIns="0" rIns="0" tIns="0" bIns="0" anchor="t">
            <a:spAutoFit/>
          </a:bodyPr>
          <a:lstStyle/>
          <a:p>
            <a:pPr algn="ctr">
              <a:lnSpc>
                <a:spcPct val="115000"/>
              </a:lnSpc>
            </a:pPr>
            <a:r>
              <a:rPr sz="1300" b="0" i="1">
                <a:solidFill>
                  <a:srgbClr val="111111"/>
                </a:solidFill>
                <a:latin typeface="Times New Roman"/>
              </a:rPr>
              <a:t>Each element exists somewhere; MedLift-3D is the only system among these to combine all seven for DTS nodule measurement, with a mass-first design and a truth-checked evaluation.</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3D57"/>
        </a:solidFill>
        <a:effectLst/>
      </p:bgPr>
    </p:bg>
    <p:spTree>
      <p:nvGrpSpPr>
        <p:cNvPr id="1" name=""/>
        <p:cNvGrpSpPr/>
        <p:nvPr/>
      </p:nvGrpSpPr>
      <p:grpSpPr/>
      <p:sp>
        <p:nvSpPr>
          <p:cNvPr id="2" name="TextBox 1"/>
          <p:cNvSpPr txBox="1"/>
          <p:nvPr/>
        </p:nvSpPr>
        <p:spPr>
          <a:xfrm>
            <a:off x="1016000" y="2603500"/>
            <a:ext cx="10160000" cy="698500"/>
          </a:xfrm>
          <a:prstGeom prst="rect">
            <a:avLst/>
          </a:prstGeom>
          <a:noFill/>
        </p:spPr>
        <p:txBody>
          <a:bodyPr wrap="square" lIns="0" rIns="0" tIns="0" bIns="0" anchor="t">
            <a:spAutoFit/>
          </a:bodyPr>
          <a:lstStyle/>
          <a:p>
            <a:pPr algn="ctr">
              <a:lnSpc>
                <a:spcPct val="115000"/>
              </a:lnSpc>
            </a:pPr>
            <a:r>
              <a:rPr sz="3800" b="0" i="1">
                <a:solidFill>
                  <a:srgbClr val="FFFFFF"/>
                </a:solidFill>
                <a:latin typeface="Times New Roman"/>
              </a:rPr>
              <a:t>Project Design</a:t>
            </a:r>
          </a:p>
        </p:txBody>
      </p:sp>
      <p:sp>
        <p:nvSpPr>
          <p:cNvPr id="3" name="TextBox 2"/>
          <p:cNvSpPr txBox="1"/>
          <p:nvPr/>
        </p:nvSpPr>
        <p:spPr>
          <a:xfrm>
            <a:off x="1016000" y="3429000"/>
            <a:ext cx="10160000" cy="317500"/>
          </a:xfrm>
          <a:prstGeom prst="rect">
            <a:avLst/>
          </a:prstGeom>
          <a:noFill/>
        </p:spPr>
        <p:txBody>
          <a:bodyPr wrap="square" lIns="0" rIns="0" tIns="0" bIns="0" anchor="t">
            <a:spAutoFit/>
          </a:bodyPr>
          <a:lstStyle/>
          <a:p>
            <a:pPr algn="ctr">
              <a:lnSpc>
                <a:spcPct val="115000"/>
              </a:lnSpc>
            </a:pPr>
            <a:r>
              <a:rPr sz="1600" b="0" i="1">
                <a:solidFill>
                  <a:srgbClr val="D5E0E8"/>
                </a:solidFill>
                <a:latin typeface="Times New Roman"/>
              </a:rPr>
              <a:t>Context, methodology, data and plan</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Project Design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Context Diagram</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8</a:t>
            </a:r>
          </a:p>
        </p:txBody>
      </p:sp>
      <p:pic>
        <p:nvPicPr>
          <p:cNvPr id="8" name="Picture 7" descr="fig_context.png"/>
          <p:cNvPicPr>
            <a:picLocks noChangeAspect="1"/>
          </p:cNvPicPr>
          <p:nvPr/>
        </p:nvPicPr>
        <p:blipFill>
          <a:blip r:embed="rId3"/>
          <a:stretch>
            <a:fillRect/>
          </a:stretch>
        </p:blipFill>
        <p:spPr>
          <a:xfrm>
            <a:off x="2430585" y="1397000"/>
            <a:ext cx="7330831" cy="4318000"/>
          </a:xfrm>
          <a:prstGeom prst="rect">
            <a:avLst/>
          </a:prstGeom>
        </p:spPr>
      </p:pic>
      <p:sp>
        <p:nvSpPr>
          <p:cNvPr id="9" name="TextBox 8"/>
          <p:cNvSpPr txBox="1"/>
          <p:nvPr/>
        </p:nvSpPr>
        <p:spPr>
          <a:xfrm>
            <a:off x="2286000" y="5746750"/>
            <a:ext cx="7620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7: Context Diagram (DFD level 0)</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Project Design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Methodology: from one click to a 3D measurement with uncertainty</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9</a:t>
            </a:r>
          </a:p>
        </p:txBody>
      </p:sp>
      <p:pic>
        <p:nvPicPr>
          <p:cNvPr id="8" name="Picture 7" descr="fig_pipeline.png"/>
          <p:cNvPicPr>
            <a:picLocks noChangeAspect="1"/>
          </p:cNvPicPr>
          <p:nvPr/>
        </p:nvPicPr>
        <p:blipFill>
          <a:blip r:embed="rId3"/>
          <a:stretch>
            <a:fillRect/>
          </a:stretch>
        </p:blipFill>
        <p:spPr>
          <a:xfrm>
            <a:off x="2184842" y="1365250"/>
            <a:ext cx="7822315" cy="4381500"/>
          </a:xfrm>
          <a:prstGeom prst="rect">
            <a:avLst/>
          </a:prstGeom>
        </p:spPr>
      </p:pic>
      <p:sp>
        <p:nvSpPr>
          <p:cNvPr id="9" name="TextBox 8"/>
          <p:cNvSpPr txBox="1"/>
          <p:nvPr/>
        </p:nvSpPr>
        <p:spPr>
          <a:xfrm>
            <a:off x="1651000" y="5746750"/>
            <a:ext cx="8890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8: MedLift-3D pipeline: physics (A), learned prior (B), measurement and calibrated uncertainty (C)</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Project Design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Dataset: real patient CT, simulated low-dose DTS</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10</a:t>
            </a:r>
          </a:p>
        </p:txBody>
      </p:sp>
      <p:sp>
        <p:nvSpPr>
          <p:cNvPr id="8" name="Rectangle 7"/>
          <p:cNvSpPr/>
          <p:nvPr/>
        </p:nvSpPr>
        <p:spPr>
          <a:xfrm>
            <a:off x="762000" y="1397000"/>
            <a:ext cx="5969000" cy="4064000"/>
          </a:xfrm>
          <a:prstGeom prst="rect">
            <a:avLst/>
          </a:prstGeom>
          <a:solidFill>
            <a:srgbClr val="FFFFFF"/>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ts_views.png"/>
          <p:cNvPicPr>
            <a:picLocks noChangeAspect="1"/>
          </p:cNvPicPr>
          <p:nvPr/>
        </p:nvPicPr>
        <p:blipFill>
          <a:blip r:embed="rId3"/>
          <a:stretch>
            <a:fillRect/>
          </a:stretch>
        </p:blipFill>
        <p:spPr>
          <a:xfrm>
            <a:off x="762000" y="1405879"/>
            <a:ext cx="5969000" cy="4046242"/>
          </a:xfrm>
          <a:prstGeom prst="rect">
            <a:avLst/>
          </a:prstGeom>
        </p:spPr>
      </p:pic>
      <p:sp>
        <p:nvSpPr>
          <p:cNvPr id="10" name="TextBox 9"/>
          <p:cNvSpPr txBox="1"/>
          <p:nvPr/>
        </p:nvSpPr>
        <p:spPr>
          <a:xfrm>
            <a:off x="762000" y="5556250"/>
            <a:ext cx="5969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9: Fifteen simulated low-dose DTS views of one LIDC-IDRI patient</a:t>
            </a:r>
          </a:p>
        </p:txBody>
      </p:sp>
      <p:grpSp>
        <p:nvGrpSpPr>
          <p:cNvPr id="11" name="Group 10"/>
          <p:cNvGrpSpPr/>
          <p:nvPr/>
        </p:nvGrpSpPr>
        <p:grpSpPr>
          <a:xfrm>
            <a:off x="7048500" y="1397000"/>
            <a:ext cx="4381500" cy="952500"/>
            <a:chOff x="7048500" y="1397000"/>
            <a:chExt cx="4381500" cy="952500"/>
          </a:xfrm>
        </p:grpSpPr>
        <p:sp>
          <p:nvSpPr>
            <p:cNvPr id="12" name="Rectangle 11"/>
            <p:cNvSpPr/>
            <p:nvPr/>
          </p:nvSpPr>
          <p:spPr>
            <a:xfrm>
              <a:off x="7048500" y="1397000"/>
              <a:ext cx="4381500" cy="952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5500" y="1524000"/>
              <a:ext cx="4127500" cy="698500"/>
            </a:xfrm>
            <a:prstGeom prst="rect">
              <a:avLst/>
            </a:prstGeom>
            <a:noFill/>
          </p:spPr>
          <p:txBody>
            <a:bodyPr wrap="square" lIns="0" rIns="0" tIns="0" bIns="0" anchor="t">
              <a:spAutoFit/>
            </a:bodyPr>
            <a:lstStyle/>
            <a:p>
              <a:pPr algn="l">
                <a:lnSpc>
                  <a:spcPct val="115000"/>
                </a:lnSpc>
              </a:pPr>
              <a:r>
                <a:rPr sz="2400" b="1" i="0">
                  <a:solidFill>
                    <a:srgbClr val="FF751F"/>
                  </a:solidFill>
                  <a:latin typeface="Times New Roman"/>
                </a:rPr>
                <a:t>583</a:t>
              </a:r>
            </a:p>
            <a:p>
              <a:pPr algn="l">
                <a:lnSpc>
                  <a:spcPct val="115000"/>
                </a:lnSpc>
                <a:spcBef>
                  <a:spcPts val="200"/>
                </a:spcBef>
              </a:pPr>
              <a:r>
                <a:rPr sz="1300" b="0" i="0">
                  <a:solidFill>
                    <a:srgbClr val="111111"/>
                  </a:solidFill>
                  <a:latin typeface="Times New Roman"/>
                </a:rPr>
                <a:t>LIDC-IDRI patients (TCIA, CC BY 3.0)</a:t>
              </a:r>
            </a:p>
          </p:txBody>
        </p:sp>
      </p:grpSp>
      <p:grpSp>
        <p:nvGrpSpPr>
          <p:cNvPr id="14" name="Group 13"/>
          <p:cNvGrpSpPr/>
          <p:nvPr/>
        </p:nvGrpSpPr>
        <p:grpSpPr>
          <a:xfrm>
            <a:off x="7048500" y="2463800"/>
            <a:ext cx="4381500" cy="952500"/>
            <a:chOff x="7048500" y="2463800"/>
            <a:chExt cx="4381500" cy="952500"/>
          </a:xfrm>
        </p:grpSpPr>
        <p:sp>
          <p:nvSpPr>
            <p:cNvPr id="15" name="Rectangle 14"/>
            <p:cNvSpPr/>
            <p:nvPr/>
          </p:nvSpPr>
          <p:spPr>
            <a:xfrm>
              <a:off x="7048500" y="2463800"/>
              <a:ext cx="4381500" cy="952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5500" y="2590800"/>
              <a:ext cx="4127500" cy="698500"/>
            </a:xfrm>
            <a:prstGeom prst="rect">
              <a:avLst/>
            </a:prstGeom>
            <a:noFill/>
          </p:spPr>
          <p:txBody>
            <a:bodyPr wrap="square" lIns="0" rIns="0" tIns="0" bIns="0" anchor="t">
              <a:spAutoFit/>
            </a:bodyPr>
            <a:lstStyle/>
            <a:p>
              <a:pPr algn="l">
                <a:lnSpc>
                  <a:spcPct val="115000"/>
                </a:lnSpc>
              </a:pPr>
              <a:r>
                <a:rPr sz="2400" b="1" i="0">
                  <a:solidFill>
                    <a:srgbClr val="FF751F"/>
                  </a:solidFill>
                  <a:latin typeface="Times New Roman"/>
                </a:rPr>
                <a:t>1,144</a:t>
              </a:r>
            </a:p>
            <a:p>
              <a:pPr algn="l">
                <a:lnSpc>
                  <a:spcPct val="115000"/>
                </a:lnSpc>
                <a:spcBef>
                  <a:spcPts val="200"/>
                </a:spcBef>
              </a:pPr>
              <a:r>
                <a:rPr sz="1300" b="0" i="0">
                  <a:solidFill>
                    <a:srgbClr val="111111"/>
                  </a:solidFill>
                  <a:latin typeface="Times New Roman"/>
                </a:rPr>
                <a:t>nodules of 4–30 mm marked by ≥3 of 4 radiologists</a:t>
              </a:r>
            </a:p>
          </p:txBody>
        </p:sp>
      </p:grpSp>
      <p:grpSp>
        <p:nvGrpSpPr>
          <p:cNvPr id="17" name="Group 16"/>
          <p:cNvGrpSpPr/>
          <p:nvPr/>
        </p:nvGrpSpPr>
        <p:grpSpPr>
          <a:xfrm>
            <a:off x="7048500" y="3530600"/>
            <a:ext cx="4381500" cy="952500"/>
            <a:chOff x="7048500" y="3530600"/>
            <a:chExt cx="4381500" cy="952500"/>
          </a:xfrm>
        </p:grpSpPr>
        <p:sp>
          <p:nvSpPr>
            <p:cNvPr id="18" name="Rectangle 17"/>
            <p:cNvSpPr/>
            <p:nvPr/>
          </p:nvSpPr>
          <p:spPr>
            <a:xfrm>
              <a:off x="7048500" y="3530600"/>
              <a:ext cx="4381500" cy="952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5500" y="3657600"/>
              <a:ext cx="4127500" cy="698500"/>
            </a:xfrm>
            <a:prstGeom prst="rect">
              <a:avLst/>
            </a:prstGeom>
            <a:noFill/>
          </p:spPr>
          <p:txBody>
            <a:bodyPr wrap="square" lIns="0" rIns="0" tIns="0" bIns="0" anchor="t">
              <a:spAutoFit/>
            </a:bodyPr>
            <a:lstStyle/>
            <a:p>
              <a:pPr algn="l">
                <a:lnSpc>
                  <a:spcPct val="115000"/>
                </a:lnSpc>
              </a:pPr>
              <a:r>
                <a:rPr sz="2400" b="1" i="0">
                  <a:solidFill>
                    <a:srgbClr val="FF751F"/>
                  </a:solidFill>
                  <a:latin typeface="Times New Roman"/>
                </a:rPr>
                <a:t>60 / 20 / 20</a:t>
              </a:r>
            </a:p>
            <a:p>
              <a:pPr algn="l">
                <a:lnSpc>
                  <a:spcPct val="115000"/>
                </a:lnSpc>
                <a:spcBef>
                  <a:spcPts val="200"/>
                </a:spcBef>
              </a:pPr>
              <a:r>
                <a:rPr sz="1300" b="0" i="0">
                  <a:solidFill>
                    <a:srgbClr val="111111"/>
                  </a:solidFill>
                  <a:latin typeface="Times New Roman"/>
                </a:rPr>
                <a:t>train / calibration / test, split by patient</a:t>
              </a:r>
            </a:p>
          </p:txBody>
        </p:sp>
      </p:grpSp>
      <p:grpSp>
        <p:nvGrpSpPr>
          <p:cNvPr id="20" name="Group 19"/>
          <p:cNvGrpSpPr/>
          <p:nvPr/>
        </p:nvGrpSpPr>
        <p:grpSpPr>
          <a:xfrm>
            <a:off x="7048500" y="4597400"/>
            <a:ext cx="4381500" cy="952500"/>
            <a:chOff x="7048500" y="4597400"/>
            <a:chExt cx="4381500" cy="952500"/>
          </a:xfrm>
        </p:grpSpPr>
        <p:sp>
          <p:nvSpPr>
            <p:cNvPr id="21" name="Rectangle 20"/>
            <p:cNvSpPr/>
            <p:nvPr/>
          </p:nvSpPr>
          <p:spPr>
            <a:xfrm>
              <a:off x="7048500" y="4597400"/>
              <a:ext cx="4381500" cy="952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5500" y="4724400"/>
              <a:ext cx="4127500" cy="698500"/>
            </a:xfrm>
            <a:prstGeom prst="rect">
              <a:avLst/>
            </a:prstGeom>
            <a:noFill/>
          </p:spPr>
          <p:txBody>
            <a:bodyPr wrap="square" lIns="0" rIns="0" tIns="0" bIns="0" anchor="t">
              <a:spAutoFit/>
            </a:bodyPr>
            <a:lstStyle/>
            <a:p>
              <a:pPr algn="l">
                <a:lnSpc>
                  <a:spcPct val="115000"/>
                </a:lnSpc>
              </a:pPr>
              <a:r>
                <a:rPr sz="2400" b="1" i="0">
                  <a:solidFill>
                    <a:srgbClr val="FF751F"/>
                  </a:solidFill>
                  <a:latin typeface="Times New Roman"/>
                </a:rPr>
                <a:t>2,522</a:t>
              </a:r>
            </a:p>
            <a:p>
              <a:pPr algn="l">
                <a:lnSpc>
                  <a:spcPct val="115000"/>
                </a:lnSpc>
                <a:spcBef>
                  <a:spcPts val="200"/>
                </a:spcBef>
              </a:pPr>
              <a:r>
                <a:rPr sz="1300" b="0" i="0">
                  <a:solidFill>
                    <a:srgbClr val="111111"/>
                  </a:solidFill>
                  <a:latin typeface="Times New Roman"/>
                </a:rPr>
                <a:t>training pairs; 150 nodules measured (76 cal, 74 test)</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additive="base">
                                        <p:cTn id="5" dur="500" fill="hold"/>
                                        <p:tgtEl>
                                          <p:spTgt spid="11"/>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anim calcmode="lin" valueType="num">
                                      <p:cBhvr additive="base">
                                        <p:cTn id="11" dur="500" fill="hold"/>
                                        <p:tgtEl>
                                          <p:spTgt spid="14"/>
                                        </p:tgtEl>
                                        <p:attrNameLst>
                                          <p:attrName>ppt_y</p:attrName>
                                        </p:attrNameLst>
                                      </p:cBhvr>
                                      <p:tavLst>
                                        <p:tav tm="0">
                                          <p:val>
                                            <p:strVal val="#ppt_y+0.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8" presetID="42"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anim calcmode="lin" valueType="num">
                                      <p:cBhvr additive="base">
                                        <p:cTn id="17" dur="500" fill="hold"/>
                                        <p:tgtEl>
                                          <p:spTgt spid="17"/>
                                        </p:tgtEl>
                                        <p:attrNameLst>
                                          <p:attrName>ppt_y</p:attrName>
                                        </p:attrNameLst>
                                      </p:cBhvr>
                                      <p:tavLst>
                                        <p:tav tm="0">
                                          <p:val>
                                            <p:strVal val="#ppt_y+0.05"/>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anim calcmode="lin" valueType="num">
                                      <p:cBhvr additive="base">
                                        <p:cTn id="23" dur="500" fill="hold"/>
                                        <p:tgtEl>
                                          <p:spTgt spid="20"/>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Project Design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Learned prior: a conditional 3D diffusion model fills the missing wedge</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11</a:t>
            </a:r>
          </a:p>
        </p:txBody>
      </p:sp>
      <p:pic>
        <p:nvPicPr>
          <p:cNvPr id="8" name="Picture 7" descr="diff_strip.png"/>
          <p:cNvPicPr>
            <a:picLocks noChangeAspect="1"/>
          </p:cNvPicPr>
          <p:nvPr/>
        </p:nvPicPr>
        <p:blipFill>
          <a:blip r:embed="rId3"/>
          <a:stretch>
            <a:fillRect/>
          </a:stretch>
        </p:blipFill>
        <p:spPr>
          <a:xfrm>
            <a:off x="1905000" y="1405603"/>
            <a:ext cx="8382000" cy="2649794"/>
          </a:xfrm>
          <a:prstGeom prst="rect">
            <a:avLst/>
          </a:prstGeom>
        </p:spPr>
      </p:pic>
      <p:sp>
        <p:nvSpPr>
          <p:cNvPr id="9" name="TextBox 8"/>
          <p:cNvSpPr txBox="1"/>
          <p:nvPr/>
        </p:nvSpPr>
        <p:spPr>
          <a:xfrm>
            <a:off x="1905000" y="4127500"/>
            <a:ext cx="2794000" cy="254000"/>
          </a:xfrm>
          <a:prstGeom prst="rect">
            <a:avLst/>
          </a:prstGeom>
          <a:noFill/>
        </p:spPr>
        <p:txBody>
          <a:bodyPr wrap="square" lIns="0" rIns="0" tIns="0" bIns="0" anchor="t">
            <a:spAutoFit/>
          </a:bodyPr>
          <a:lstStyle/>
          <a:p>
            <a:pPr algn="ctr">
              <a:lnSpc>
                <a:spcPct val="115000"/>
              </a:lnSpc>
            </a:pPr>
            <a:r>
              <a:rPr sz="1300" b="0" i="1">
                <a:solidFill>
                  <a:srgbClr val="111111"/>
                </a:solidFill>
                <a:latin typeface="Times New Roman"/>
              </a:rPr>
              <a:t>DTS input (condition)</a:t>
            </a:r>
          </a:p>
        </p:txBody>
      </p:sp>
      <p:sp>
        <p:nvSpPr>
          <p:cNvPr id="10" name="TextBox 9"/>
          <p:cNvSpPr txBox="1"/>
          <p:nvPr/>
        </p:nvSpPr>
        <p:spPr>
          <a:xfrm>
            <a:off x="4699000" y="4127500"/>
            <a:ext cx="2794000" cy="254000"/>
          </a:xfrm>
          <a:prstGeom prst="rect">
            <a:avLst/>
          </a:prstGeom>
          <a:noFill/>
        </p:spPr>
        <p:txBody>
          <a:bodyPr wrap="square" lIns="0" rIns="0" tIns="0" bIns="0" anchor="t">
            <a:spAutoFit/>
          </a:bodyPr>
          <a:lstStyle/>
          <a:p>
            <a:pPr algn="ctr">
              <a:lnSpc>
                <a:spcPct val="115000"/>
              </a:lnSpc>
            </a:pPr>
            <a:r>
              <a:rPr sz="1300" b="1" i="1">
                <a:solidFill>
                  <a:srgbClr val="FF751F"/>
                </a:solidFill>
                <a:latin typeface="Times New Roman"/>
              </a:rPr>
              <a:t>Diffusion sample</a:t>
            </a:r>
          </a:p>
        </p:txBody>
      </p:sp>
      <p:sp>
        <p:nvSpPr>
          <p:cNvPr id="11" name="TextBox 10"/>
          <p:cNvSpPr txBox="1"/>
          <p:nvPr/>
        </p:nvSpPr>
        <p:spPr>
          <a:xfrm>
            <a:off x="7493000" y="4127500"/>
            <a:ext cx="2794000" cy="254000"/>
          </a:xfrm>
          <a:prstGeom prst="rect">
            <a:avLst/>
          </a:prstGeom>
          <a:noFill/>
        </p:spPr>
        <p:txBody>
          <a:bodyPr wrap="square" lIns="0" rIns="0" tIns="0" bIns="0" anchor="t">
            <a:spAutoFit/>
          </a:bodyPr>
          <a:lstStyle/>
          <a:p>
            <a:pPr algn="ctr">
              <a:lnSpc>
                <a:spcPct val="115000"/>
              </a:lnSpc>
            </a:pPr>
            <a:r>
              <a:rPr sz="1300" b="0" i="1">
                <a:solidFill>
                  <a:srgbClr val="111111"/>
                </a:solidFill>
                <a:latin typeface="Times New Roman"/>
              </a:rPr>
              <a:t>CT truth</a:t>
            </a:r>
          </a:p>
        </p:txBody>
      </p:sp>
      <p:grpSp>
        <p:nvGrpSpPr>
          <p:cNvPr id="12" name="Group 11"/>
          <p:cNvGrpSpPr/>
          <p:nvPr/>
        </p:nvGrpSpPr>
        <p:grpSpPr>
          <a:xfrm>
            <a:off x="762000" y="4635500"/>
            <a:ext cx="2540000" cy="1079500"/>
            <a:chOff x="762000" y="4635500"/>
            <a:chExt cx="2540000" cy="1079500"/>
          </a:xfrm>
        </p:grpSpPr>
        <p:sp>
          <p:nvSpPr>
            <p:cNvPr id="13" name="Rectangle 12"/>
            <p:cNvSpPr/>
            <p:nvPr/>
          </p:nvSpPr>
          <p:spPr>
            <a:xfrm>
              <a:off x="762000" y="4635500"/>
              <a:ext cx="2540000" cy="1079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000" y="4762500"/>
              <a:ext cx="2286000" cy="825500"/>
            </a:xfrm>
            <a:prstGeom prst="rect">
              <a:avLst/>
            </a:prstGeom>
            <a:noFill/>
          </p:spPr>
          <p:txBody>
            <a:bodyPr wrap="square" lIns="0" rIns="0" tIns="0" bIns="0" anchor="t">
              <a:spAutoFit/>
            </a:bodyPr>
            <a:lstStyle/>
            <a:p>
              <a:pPr algn="l">
                <a:lnSpc>
                  <a:spcPct val="115000"/>
                </a:lnSpc>
              </a:pPr>
              <a:r>
                <a:rPr sz="2100" b="1" i="0">
                  <a:solidFill>
                    <a:srgbClr val="FF751F"/>
                  </a:solidFill>
                  <a:latin typeface="Times New Roman"/>
                </a:rPr>
                <a:t>17.4 M</a:t>
              </a:r>
            </a:p>
            <a:p>
              <a:pPr algn="l">
                <a:lnSpc>
                  <a:spcPct val="115000"/>
                </a:lnSpc>
                <a:spcBef>
                  <a:spcPts val="200"/>
                </a:spcBef>
              </a:pPr>
              <a:r>
                <a:rPr sz="1200" b="0" i="0">
                  <a:solidFill>
                    <a:srgbClr val="111111"/>
                  </a:solidFill>
                  <a:latin typeface="Times New Roman"/>
                </a:rPr>
                <a:t>parameter 3D U-Net, v-prediction, DDIM</a:t>
              </a:r>
            </a:p>
          </p:txBody>
        </p:sp>
      </p:grpSp>
      <p:grpSp>
        <p:nvGrpSpPr>
          <p:cNvPr id="15" name="Group 14"/>
          <p:cNvGrpSpPr/>
          <p:nvPr/>
        </p:nvGrpSpPr>
        <p:grpSpPr>
          <a:xfrm>
            <a:off x="3467100" y="4635500"/>
            <a:ext cx="2540000" cy="1079500"/>
            <a:chOff x="3467100" y="4635500"/>
            <a:chExt cx="2540000" cy="1079500"/>
          </a:xfrm>
        </p:grpSpPr>
        <p:sp>
          <p:nvSpPr>
            <p:cNvPr id="16" name="Rectangle 15"/>
            <p:cNvSpPr/>
            <p:nvPr/>
          </p:nvSpPr>
          <p:spPr>
            <a:xfrm>
              <a:off x="3467100" y="4635500"/>
              <a:ext cx="2540000" cy="1079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94100" y="4762500"/>
              <a:ext cx="2286000" cy="825500"/>
            </a:xfrm>
            <a:prstGeom prst="rect">
              <a:avLst/>
            </a:prstGeom>
            <a:noFill/>
          </p:spPr>
          <p:txBody>
            <a:bodyPr wrap="square" lIns="0" rIns="0" tIns="0" bIns="0" anchor="t">
              <a:spAutoFit/>
            </a:bodyPr>
            <a:lstStyle/>
            <a:p>
              <a:pPr algn="l">
                <a:lnSpc>
                  <a:spcPct val="115000"/>
                </a:lnSpc>
              </a:pPr>
              <a:r>
                <a:rPr sz="2100" b="1" i="0">
                  <a:solidFill>
                    <a:srgbClr val="FF751F"/>
                  </a:solidFill>
                  <a:latin typeface="Times New Roman"/>
                </a:rPr>
                <a:t>SIRT</a:t>
              </a:r>
            </a:p>
            <a:p>
              <a:pPr algn="l">
                <a:lnSpc>
                  <a:spcPct val="115000"/>
                </a:lnSpc>
                <a:spcBef>
                  <a:spcPts val="200"/>
                </a:spcBef>
              </a:pPr>
              <a:r>
                <a:rPr sz="1200" b="0" i="0">
                  <a:solidFill>
                    <a:srgbClr val="111111"/>
                  </a:solidFill>
                  <a:latin typeface="Times New Roman"/>
                </a:rPr>
                <a:t>steps inside the sampler keep samples X-ray consistent</a:t>
              </a:r>
            </a:p>
          </p:txBody>
        </p:sp>
      </p:grpSp>
      <p:grpSp>
        <p:nvGrpSpPr>
          <p:cNvPr id="18" name="Group 17"/>
          <p:cNvGrpSpPr/>
          <p:nvPr/>
        </p:nvGrpSpPr>
        <p:grpSpPr>
          <a:xfrm>
            <a:off x="6172200" y="4635500"/>
            <a:ext cx="2540000" cy="1079500"/>
            <a:chOff x="6172200" y="4635500"/>
            <a:chExt cx="2540000" cy="1079500"/>
          </a:xfrm>
        </p:grpSpPr>
        <p:sp>
          <p:nvSpPr>
            <p:cNvPr id="19" name="Rectangle 18"/>
            <p:cNvSpPr/>
            <p:nvPr/>
          </p:nvSpPr>
          <p:spPr>
            <a:xfrm>
              <a:off x="6172200" y="4635500"/>
              <a:ext cx="2540000" cy="1079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9200" y="4762500"/>
              <a:ext cx="2286000" cy="825500"/>
            </a:xfrm>
            <a:prstGeom prst="rect">
              <a:avLst/>
            </a:prstGeom>
            <a:noFill/>
          </p:spPr>
          <p:txBody>
            <a:bodyPr wrap="square" lIns="0" rIns="0" tIns="0" bIns="0" anchor="t">
              <a:spAutoFit/>
            </a:bodyPr>
            <a:lstStyle/>
            <a:p>
              <a:pPr algn="l">
                <a:lnSpc>
                  <a:spcPct val="115000"/>
                </a:lnSpc>
              </a:pPr>
              <a:r>
                <a:rPr sz="2100" b="1" i="0">
                  <a:solidFill>
                    <a:srgbClr val="FF751F"/>
                  </a:solidFill>
                  <a:latin typeface="Times New Roman"/>
                </a:rPr>
                <a:t>27,610</a:t>
              </a:r>
            </a:p>
            <a:p>
              <a:pPr algn="l">
                <a:lnSpc>
                  <a:spcPct val="115000"/>
                </a:lnSpc>
                <a:spcBef>
                  <a:spcPts val="200"/>
                </a:spcBef>
              </a:pPr>
              <a:r>
                <a:rPr sz="1200" b="0" i="0">
                  <a:solidFill>
                    <a:srgbClr val="111111"/>
                  </a:solidFill>
                  <a:latin typeface="Times New Roman"/>
                </a:rPr>
                <a:t>training steps in 6 hours on 2,522 pairs</a:t>
              </a:r>
            </a:p>
          </p:txBody>
        </p:sp>
      </p:grpSp>
      <p:grpSp>
        <p:nvGrpSpPr>
          <p:cNvPr id="21" name="Group 20"/>
          <p:cNvGrpSpPr/>
          <p:nvPr/>
        </p:nvGrpSpPr>
        <p:grpSpPr>
          <a:xfrm>
            <a:off x="8877300" y="4635500"/>
            <a:ext cx="2540000" cy="1079500"/>
            <a:chOff x="8877300" y="4635500"/>
            <a:chExt cx="2540000" cy="1079500"/>
          </a:xfrm>
        </p:grpSpPr>
        <p:sp>
          <p:nvSpPr>
            <p:cNvPr id="22" name="Rectangle 21"/>
            <p:cNvSpPr/>
            <p:nvPr/>
          </p:nvSpPr>
          <p:spPr>
            <a:xfrm>
              <a:off x="8877300" y="4635500"/>
              <a:ext cx="2540000" cy="1079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04300" y="4762500"/>
              <a:ext cx="2286000" cy="825500"/>
            </a:xfrm>
            <a:prstGeom prst="rect">
              <a:avLst/>
            </a:prstGeom>
            <a:noFill/>
          </p:spPr>
          <p:txBody>
            <a:bodyPr wrap="square" lIns="0" rIns="0" tIns="0" bIns="0" anchor="t">
              <a:spAutoFit/>
            </a:bodyPr>
            <a:lstStyle/>
            <a:p>
              <a:pPr algn="l">
                <a:lnSpc>
                  <a:spcPct val="115000"/>
                </a:lnSpc>
              </a:pPr>
              <a:r>
                <a:rPr sz="2100" b="1" i="0">
                  <a:solidFill>
                    <a:srgbClr val="FF751F"/>
                  </a:solidFill>
                  <a:latin typeface="Times New Roman"/>
                </a:rPr>
                <a:t>+3.35 dB</a:t>
              </a:r>
            </a:p>
            <a:p>
              <a:pPr algn="l">
                <a:lnSpc>
                  <a:spcPct val="115000"/>
                </a:lnSpc>
                <a:spcBef>
                  <a:spcPts val="200"/>
                </a:spcBef>
              </a:pPr>
              <a:r>
                <a:rPr sz="1200" b="0" i="0">
                  <a:solidFill>
                    <a:srgbClr val="111111"/>
                  </a:solidFill>
                  <a:latin typeface="Times New Roman"/>
                </a:rPr>
                <a:t>held-out nodule PSNR, 11.88 → 15.23 dB</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additive="base">
                                        <p:cTn id="5" dur="500" fill="hold"/>
                                        <p:tgtEl>
                                          <p:spTgt spid="12"/>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additive="base">
                                        <p:cTn id="11" dur="500" fill="hold"/>
                                        <p:tgtEl>
                                          <p:spTgt spid="15"/>
                                        </p:tgtEl>
                                        <p:attrNameLst>
                                          <p:attrName>ppt_y</p:attrName>
                                        </p:attrNameLst>
                                      </p:cBhvr>
                                      <p:tavLst>
                                        <p:tav tm="0">
                                          <p:val>
                                            <p:strVal val="#ppt_y+0.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8" presetID="42" presetClass="entr"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anim calcmode="lin" valueType="num">
                                      <p:cBhvr additive="base">
                                        <p:cTn id="17" dur="500" fill="hold"/>
                                        <p:tgtEl>
                                          <p:spTgt spid="18"/>
                                        </p:tgtEl>
                                        <p:attrNameLst>
                                          <p:attrName>ppt_y</p:attrName>
                                        </p:attrNameLst>
                                      </p:cBhvr>
                                      <p:tavLst>
                                        <p:tav tm="0">
                                          <p:val>
                                            <p:strVal val="#ppt_y+0.05"/>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anim calcmode="lin" valueType="num">
                                      <p:cBhvr additive="base">
                                        <p:cTn id="23" dur="500" fill="hold"/>
                                        <p:tgtEl>
                                          <p:spTgt spid="21"/>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Project Design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Measurement: 3D Gaussians for mass, conformal prediction for intervals</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12</a:t>
            </a:r>
          </a:p>
        </p:txBody>
      </p:sp>
      <p:grpSp>
        <p:nvGrpSpPr>
          <p:cNvPr id="8" name="Group 7"/>
          <p:cNvGrpSpPr/>
          <p:nvPr/>
        </p:nvGrpSpPr>
        <p:grpSpPr>
          <a:xfrm>
            <a:off x="762000" y="1460500"/>
            <a:ext cx="5207000" cy="4191000"/>
            <a:chOff x="762000" y="1460500"/>
            <a:chExt cx="5207000" cy="4191000"/>
          </a:xfrm>
        </p:grpSpPr>
        <p:sp>
          <p:nvSpPr>
            <p:cNvPr id="9" name="Rectangle 8"/>
            <p:cNvSpPr/>
            <p:nvPr/>
          </p:nvSpPr>
          <p:spPr>
            <a:xfrm>
              <a:off x="762000" y="1460500"/>
              <a:ext cx="5207000" cy="4191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9800" y="1638300"/>
              <a:ext cx="4851400" cy="3835400"/>
            </a:xfrm>
            <a:prstGeom prst="rect">
              <a:avLst/>
            </a:prstGeom>
            <a:noFill/>
          </p:spPr>
          <p:txBody>
            <a:bodyPr wrap="square" lIns="0" rIns="0" tIns="0" bIns="0" anchor="t">
              <a:spAutoFit/>
            </a:bodyPr>
            <a:lstStyle/>
            <a:p>
              <a:pPr algn="l">
                <a:lnSpc>
                  <a:spcPct val="115000"/>
                </a:lnSpc>
              </a:pPr>
              <a:r>
                <a:rPr sz="1800" b="1" i="1">
                  <a:solidFill>
                    <a:srgbClr val="111111"/>
                  </a:solidFill>
                  <a:latin typeface="Times New Roman"/>
                </a:rPr>
                <a:t>3D Gaussians</a:t>
              </a:r>
            </a:p>
          </p:txBody>
        </p:sp>
        <p:sp>
          <p:nvSpPr>
            <p:cNvPr id="11" name="Oval 10"/>
            <p:cNvSpPr/>
            <p:nvPr/>
          </p:nvSpPr>
          <p:spPr>
            <a:xfrm>
              <a:off x="2032000" y="2413000"/>
              <a:ext cx="1905000" cy="1143000"/>
            </a:xfrm>
            <a:prstGeom prst="ellipse">
              <a:avLst/>
            </a:prstGeom>
            <a:solidFill>
              <a:srgbClr val="FF751F">
                <a:alpha val="22000"/>
              </a:srgbClr>
            </a:solidFill>
            <a:ln w="19050">
              <a:solidFill>
                <a:srgbClr val="FF7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21000" y="2444750"/>
              <a:ext cx="1143000" cy="889000"/>
            </a:xfrm>
            <a:prstGeom prst="ellipse">
              <a:avLst/>
            </a:prstGeom>
            <a:solidFill>
              <a:srgbClr val="FF751F">
                <a:alpha val="22000"/>
              </a:srgbClr>
            </a:solidFill>
            <a:ln w="19050">
              <a:solidFill>
                <a:srgbClr val="FF7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032000" y="2762250"/>
              <a:ext cx="1016000" cy="698500"/>
            </a:xfrm>
            <a:prstGeom prst="ellipse">
              <a:avLst/>
            </a:prstGeom>
            <a:solidFill>
              <a:srgbClr val="FF751F">
                <a:alpha val="22000"/>
              </a:srgbClr>
            </a:solidFill>
            <a:ln w="19050">
              <a:solidFill>
                <a:srgbClr val="FF7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500" y="4064000"/>
              <a:ext cx="4826000" cy="1397000"/>
            </a:xfrm>
            <a:prstGeom prst="rect">
              <a:avLst/>
            </a:prstGeom>
            <a:noFill/>
          </p:spPr>
          <p:txBody>
            <a:bodyPr wrap="square" lIns="0" rIns="0" tIns="0" bIns="0" anchor="t">
              <a:spAutoFit/>
            </a:bodyPr>
            <a:lstStyle/>
            <a:p>
              <a:pPr algn="l">
                <a:lnSpc>
                  <a:spcPct val="120000"/>
                </a:lnSpc>
              </a:pPr>
              <a:r>
                <a:rPr sz="1400" b="0" i="0">
                  <a:solidFill>
                    <a:srgbClr val="111111"/>
                  </a:solidFill>
                  <a:latin typeface="Times New Roman"/>
                </a:rPr>
                <a:t>Each diffusion sample is fitted with anisotropic Gaussians. The nodule’s mass is a closed-form sum: amplitude × (2π)^(3/2) × s₁ s₂ s₃, with no voxel counting.</a:t>
              </a:r>
            </a:p>
          </p:txBody>
        </p:sp>
      </p:grpSp>
      <p:grpSp>
        <p:nvGrpSpPr>
          <p:cNvPr id="15" name="Group 14"/>
          <p:cNvGrpSpPr/>
          <p:nvPr/>
        </p:nvGrpSpPr>
        <p:grpSpPr>
          <a:xfrm>
            <a:off x="6223000" y="1460500"/>
            <a:ext cx="5207000" cy="4191000"/>
            <a:chOff x="6223000" y="1460500"/>
            <a:chExt cx="5207000" cy="4191000"/>
          </a:xfrm>
        </p:grpSpPr>
        <p:sp>
          <p:nvSpPr>
            <p:cNvPr id="16" name="Rectangle 15"/>
            <p:cNvSpPr/>
            <p:nvPr/>
          </p:nvSpPr>
          <p:spPr>
            <a:xfrm>
              <a:off x="6223000" y="1460500"/>
              <a:ext cx="5207000" cy="4191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638300"/>
              <a:ext cx="4851400" cy="3835400"/>
            </a:xfrm>
            <a:prstGeom prst="rect">
              <a:avLst/>
            </a:prstGeom>
            <a:noFill/>
          </p:spPr>
          <p:txBody>
            <a:bodyPr wrap="square" lIns="0" rIns="0" tIns="0" bIns="0" anchor="t">
              <a:spAutoFit/>
            </a:bodyPr>
            <a:lstStyle/>
            <a:p>
              <a:pPr algn="l">
                <a:lnSpc>
                  <a:spcPct val="115000"/>
                </a:lnSpc>
              </a:pPr>
              <a:r>
                <a:rPr sz="1800" b="1" i="1">
                  <a:solidFill>
                    <a:srgbClr val="111111"/>
                  </a:solidFill>
                  <a:latin typeface="Times New Roman"/>
                </a:rPr>
                <a:t>Conformal calibration</a:t>
              </a:r>
            </a:p>
          </p:txBody>
        </p:sp>
        <p:pic>
          <p:nvPicPr>
            <p:cNvPr id="18" name="Picture 17" descr="fig_conformal.png"/>
            <p:cNvPicPr>
              <a:picLocks noChangeAspect="1"/>
            </p:cNvPicPr>
            <p:nvPr/>
          </p:nvPicPr>
          <p:blipFill>
            <a:blip r:embed="rId3"/>
            <a:stretch>
              <a:fillRect/>
            </a:stretch>
          </p:blipFill>
          <p:spPr>
            <a:xfrm>
              <a:off x="6413500" y="2345035"/>
              <a:ext cx="4826000" cy="1278929"/>
            </a:xfrm>
            <a:prstGeom prst="rect">
              <a:avLst/>
            </a:prstGeom>
          </p:spPr>
        </p:pic>
        <p:sp>
          <p:nvSpPr>
            <p:cNvPr id="19" name="TextBox 18"/>
            <p:cNvSpPr txBox="1"/>
            <p:nvPr/>
          </p:nvSpPr>
          <p:spPr>
            <a:xfrm>
              <a:off x="6413500" y="4064000"/>
              <a:ext cx="4826000" cy="1397000"/>
            </a:xfrm>
            <a:prstGeom prst="rect">
              <a:avLst/>
            </a:prstGeom>
            <a:noFill/>
          </p:spPr>
          <p:txBody>
            <a:bodyPr wrap="square" lIns="0" rIns="0" tIns="0" bIns="0" anchor="t">
              <a:spAutoFit/>
            </a:bodyPr>
            <a:lstStyle/>
            <a:p>
              <a:pPr algn="l">
                <a:lnSpc>
                  <a:spcPct val="120000"/>
                </a:lnSpc>
              </a:pPr>
              <a:r>
                <a:rPr sz="1400" b="0" i="0">
                  <a:solidFill>
                    <a:srgbClr val="111111"/>
                  </a:solidFill>
                  <a:latin typeface="Times New Roman"/>
                </a:rPr>
                <a:t>Errors on 76 calibration nodules set the 90% quantile; every new estimate gets that interval and calibrated probabilities of the clinical size categories.</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additive="base">
                                        <p:cTn id="5" dur="500" fill="hold"/>
                                        <p:tgtEl>
                                          <p:spTgt spid="8"/>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additive="base">
                                        <p:cTn id="11" dur="500" fill="hold"/>
                                        <p:tgtEl>
                                          <p:spTgt spid="1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Project Design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Project Plan (12 months)</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13</a:t>
            </a:r>
          </a:p>
        </p:txBody>
      </p:sp>
      <p:pic>
        <p:nvPicPr>
          <p:cNvPr id="8" name="Picture 7" descr="fig_gantt.png"/>
          <p:cNvPicPr>
            <a:picLocks noChangeAspect="1"/>
          </p:cNvPicPr>
          <p:nvPr/>
        </p:nvPicPr>
        <p:blipFill>
          <a:blip r:embed="rId3"/>
          <a:stretch>
            <a:fillRect/>
          </a:stretch>
        </p:blipFill>
        <p:spPr>
          <a:xfrm>
            <a:off x="3118987" y="1301750"/>
            <a:ext cx="5954027" cy="4445000"/>
          </a:xfrm>
          <a:prstGeom prst="rect">
            <a:avLst/>
          </a:prstGeom>
        </p:spPr>
      </p:pic>
      <p:sp>
        <p:nvSpPr>
          <p:cNvPr id="9" name="TextBox 8"/>
          <p:cNvSpPr txBox="1"/>
          <p:nvPr/>
        </p:nvSpPr>
        <p:spPr>
          <a:xfrm>
            <a:off x="2413000" y="5746750"/>
            <a:ext cx="7366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11: Project schedule: four phases over twelve months</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Project Design</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Work Allocation</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14</a:t>
            </a:r>
          </a:p>
        </p:txBody>
      </p:sp>
      <p:graphicFrame>
        <p:nvGraphicFramePr>
          <p:cNvPr id="8" name="Table 7"/>
          <p:cNvGraphicFramePr>
            <a:graphicFrameLocks noGrp="1"/>
          </p:cNvGraphicFramePr>
          <p:nvPr/>
        </p:nvGraphicFramePr>
        <p:xfrm>
          <a:off x="762000" y="1524000"/>
          <a:ext cx="10668000" cy="4064000"/>
        </p:xfrm>
        <a:graphic>
          <a:graphicData uri="http://schemas.openxmlformats.org/drawingml/2006/table">
            <a:tbl>
              <a:tblPr firstRow="1" bandRow="1">
                <a:tableStyleId>{5C22544A-7EE6-4342-B048-85BDC9FD1C3A}</a:tableStyleId>
              </a:tblPr>
              <a:tblGrid>
                <a:gridCol w="2159000"/>
                <a:gridCol w="2095500"/>
                <a:gridCol w="6413500"/>
              </a:tblGrid>
              <a:tr h="812800">
                <a:tc>
                  <a:txBody>
                    <a:bodyPr/>
                    <a:lstStyle/>
                    <a:p>
                      <a:pPr algn="l">
                        <a:lnSpc>
                          <a:spcPct val="115000"/>
                        </a:lnSpc>
                      </a:pPr>
                      <a:r>
                        <a:rPr sz="1300" b="1" i="1">
                          <a:solidFill>
                            <a:srgbClr val="FFFFFF"/>
                          </a:solidFill>
                          <a:latin typeface="Times New Roman"/>
                        </a:rPr>
                        <a:t>Team member</a:t>
                      </a:r>
                    </a:p>
                  </a:txBody>
                  <a:tcPr anchor="ctr" marL="101600">
                    <a:solidFill>
                      <a:srgbClr val="FF751F"/>
                    </a:solidFill>
                  </a:tcPr>
                </a:tc>
                <a:tc>
                  <a:txBody>
                    <a:bodyPr/>
                    <a:lstStyle/>
                    <a:p>
                      <a:pPr algn="l">
                        <a:lnSpc>
                          <a:spcPct val="115000"/>
                        </a:lnSpc>
                      </a:pPr>
                      <a:r>
                        <a:rPr sz="1300" b="1" i="1">
                          <a:solidFill>
                            <a:srgbClr val="FFFFFF"/>
                          </a:solidFill>
                          <a:latin typeface="Times New Roman"/>
                        </a:rPr>
                        <a:t>Role</a:t>
                      </a:r>
                    </a:p>
                  </a:txBody>
                  <a:tcPr anchor="ctr" marL="101600">
                    <a:solidFill>
                      <a:srgbClr val="FF751F"/>
                    </a:solidFill>
                  </a:tcPr>
                </a:tc>
                <a:tc>
                  <a:txBody>
                    <a:bodyPr/>
                    <a:lstStyle/>
                    <a:p>
                      <a:pPr algn="l">
                        <a:lnSpc>
                          <a:spcPct val="115000"/>
                        </a:lnSpc>
                      </a:pPr>
                      <a:r>
                        <a:rPr sz="1300" b="1" i="1">
                          <a:solidFill>
                            <a:srgbClr val="FFFFFF"/>
                          </a:solidFill>
                          <a:latin typeface="Times New Roman"/>
                        </a:rPr>
                        <a:t>Responsibilities</a:t>
                      </a:r>
                    </a:p>
                  </a:txBody>
                  <a:tcPr anchor="ctr" marL="101600">
                    <a:solidFill>
                      <a:srgbClr val="FF751F"/>
                    </a:solidFill>
                  </a:tcPr>
                </a:tc>
              </a:tr>
              <a:tr h="812800">
                <a:tc>
                  <a:txBody>
                    <a:bodyPr/>
                    <a:lstStyle/>
                    <a:p>
                      <a:pPr algn="l">
                        <a:lnSpc>
                          <a:spcPct val="115000"/>
                        </a:lnSpc>
                      </a:pPr>
                      <a:r>
                        <a:rPr sz="1200" b="1" i="0">
                          <a:solidFill>
                            <a:srgbClr val="111111"/>
                          </a:solidFill>
                          <a:latin typeface="Times New Roman"/>
                        </a:rPr>
                        <a:t>Jubair Ahmed
011222136</a:t>
                      </a:r>
                    </a:p>
                  </a:txBody>
                  <a:tcPr anchor="ctr" marL="101600">
                    <a:solidFill>
                      <a:srgbClr val="FFFFFF"/>
                    </a:solidFill>
                  </a:tcPr>
                </a:tc>
                <a:tc>
                  <a:txBody>
                    <a:bodyPr/>
                    <a:lstStyle/>
                    <a:p>
                      <a:pPr algn="l">
                        <a:lnSpc>
                          <a:spcPct val="115000"/>
                        </a:lnSpc>
                      </a:pPr>
                      <a:r>
                        <a:rPr sz="1200" b="0" i="0">
                          <a:solidFill>
                            <a:srgbClr val="111111"/>
                          </a:solidFill>
                          <a:latin typeface="Times New Roman"/>
                        </a:rPr>
                        <a:t>Lead AI architect</a:t>
                      </a:r>
                    </a:p>
                  </a:txBody>
                  <a:tcPr anchor="ctr" marL="101600">
                    <a:solidFill>
                      <a:srgbClr val="FFFFFF"/>
                    </a:solidFill>
                  </a:tcPr>
                </a:tc>
                <a:tc>
                  <a:txBody>
                    <a:bodyPr/>
                    <a:lstStyle/>
                    <a:p>
                      <a:pPr algn="l">
                        <a:lnSpc>
                          <a:spcPct val="115000"/>
                        </a:lnSpc>
                      </a:pPr>
                      <a:r>
                        <a:rPr sz="1200" b="0" i="0">
                          <a:solidFill>
                            <a:srgbClr val="111111"/>
                          </a:solidFill>
                          <a:latin typeface="Times New Roman"/>
                        </a:rPr>
                        <a:t>Projection-moment analysis · conditional diffusion prior (v-prediction, DDIM) · SIRT data consistency · conformal intervals and category probabilities</a:t>
                      </a:r>
                    </a:p>
                  </a:txBody>
                  <a:tcPr anchor="ctr" marL="101600">
                    <a:solidFill>
                      <a:srgbClr val="FFFFFF"/>
                    </a:solidFill>
                  </a:tcPr>
                </a:tc>
              </a:tr>
              <a:tr h="812800">
                <a:tc>
                  <a:txBody>
                    <a:bodyPr/>
                    <a:lstStyle/>
                    <a:p>
                      <a:pPr algn="l">
                        <a:lnSpc>
                          <a:spcPct val="115000"/>
                        </a:lnSpc>
                      </a:pPr>
                      <a:r>
                        <a:rPr sz="1200" b="1" i="0">
                          <a:solidFill>
                            <a:srgbClr val="111111"/>
                          </a:solidFill>
                          <a:latin typeface="Times New Roman"/>
                        </a:rPr>
                        <a:t>Foyez A. Naeem
011222011</a:t>
                      </a:r>
                    </a:p>
                  </a:txBody>
                  <a:tcPr anchor="ctr" marL="101600">
                    <a:solidFill>
                      <a:srgbClr val="FBF3EE"/>
                    </a:solidFill>
                  </a:tcPr>
                </a:tc>
                <a:tc>
                  <a:txBody>
                    <a:bodyPr/>
                    <a:lstStyle/>
                    <a:p>
                      <a:pPr algn="l">
                        <a:lnSpc>
                          <a:spcPct val="115000"/>
                        </a:lnSpc>
                      </a:pPr>
                      <a:r>
                        <a:rPr sz="1200" b="0" i="0">
                          <a:solidFill>
                            <a:srgbClr val="111111"/>
                          </a:solidFill>
                          <a:latin typeface="Times New Roman"/>
                        </a:rPr>
                        <a:t>Systems engineer</a:t>
                      </a:r>
                    </a:p>
                  </a:txBody>
                  <a:tcPr anchor="ctr" marL="101600">
                    <a:solidFill>
                      <a:srgbClr val="FBF3EE"/>
                    </a:solidFill>
                  </a:tcPr>
                </a:tc>
                <a:tc>
                  <a:txBody>
                    <a:bodyPr/>
                    <a:lstStyle/>
                    <a:p>
                      <a:pPr algn="l">
                        <a:lnSpc>
                          <a:spcPct val="115000"/>
                        </a:lnSpc>
                      </a:pPr>
                      <a:r>
                        <a:rPr sz="1200" b="0" i="0">
                          <a:solidFill>
                            <a:srgbClr val="111111"/>
                          </a:solidFill>
                          <a:latin typeface="Times New Roman"/>
                        </a:rPr>
                        <a:t>Differentiable DTS projector and prism reconstruction · GPU optimisation · 3D Gaussian mass · nodule detector · RunPod/Kaggle infrastructure and the full run</a:t>
                      </a:r>
                    </a:p>
                  </a:txBody>
                  <a:tcPr anchor="ctr" marL="101600">
                    <a:solidFill>
                      <a:srgbClr val="FBF3EE"/>
                    </a:solidFill>
                  </a:tcPr>
                </a:tc>
              </a:tr>
              <a:tr h="812800">
                <a:tc>
                  <a:txBody>
                    <a:bodyPr/>
                    <a:lstStyle/>
                    <a:p>
                      <a:pPr algn="l">
                        <a:lnSpc>
                          <a:spcPct val="115000"/>
                        </a:lnSpc>
                      </a:pPr>
                      <a:r>
                        <a:rPr sz="1200" b="1" i="0">
                          <a:solidFill>
                            <a:srgbClr val="111111"/>
                          </a:solidFill>
                          <a:latin typeface="Times New Roman"/>
                        </a:rPr>
                        <a:t>Motasim Billah
011222016</a:t>
                      </a:r>
                    </a:p>
                  </a:txBody>
                  <a:tcPr anchor="ctr" marL="101600">
                    <a:solidFill>
                      <a:srgbClr val="FFFFFF"/>
                    </a:solidFill>
                  </a:tcPr>
                </a:tc>
                <a:tc>
                  <a:txBody>
                    <a:bodyPr/>
                    <a:lstStyle/>
                    <a:p>
                      <a:pPr algn="l">
                        <a:lnSpc>
                          <a:spcPct val="115000"/>
                        </a:lnSpc>
                      </a:pPr>
                      <a:r>
                        <a:rPr sz="1200" b="0" i="0">
                          <a:solidFill>
                            <a:srgbClr val="111111"/>
                          </a:solidFill>
                          <a:latin typeface="Times New Roman"/>
                        </a:rPr>
                        <a:t>Full-stack developer</a:t>
                      </a:r>
                    </a:p>
                  </a:txBody>
                  <a:tcPr anchor="ctr" marL="101600">
                    <a:solidFill>
                      <a:srgbClr val="FFFFFF"/>
                    </a:solidFill>
                  </a:tcPr>
                </a:tc>
                <a:tc>
                  <a:txBody>
                    <a:bodyPr/>
                    <a:lstStyle/>
                    <a:p>
                      <a:pPr algn="l">
                        <a:lnSpc>
                          <a:spcPct val="115000"/>
                        </a:lnSpc>
                      </a:pPr>
                      <a:r>
                        <a:rPr sz="1200" b="0" i="0">
                          <a:solidFill>
                            <a:srgbClr val="111111"/>
                          </a:solidFill>
                          <a:latin typeface="Times New Roman"/>
                        </a:rPr>
                        <a:t>LIDC-IDRI curation and preprocessing · click-to-3D interface with 3D view · evaluation, growth and explainability outputs · HTML report</a:t>
                      </a:r>
                    </a:p>
                  </a:txBody>
                  <a:tcPr anchor="ctr" marL="101600">
                    <a:solidFill>
                      <a:srgbClr val="FFFFFF"/>
                    </a:solidFill>
                  </a:tcPr>
                </a:tc>
              </a:tr>
              <a:tr h="812800">
                <a:tc>
                  <a:txBody>
                    <a:bodyPr/>
                    <a:lstStyle/>
                    <a:p>
                      <a:pPr algn="l">
                        <a:lnSpc>
                          <a:spcPct val="115000"/>
                        </a:lnSpc>
                      </a:pPr>
                      <a:r>
                        <a:rPr sz="1200" b="1" i="0">
                          <a:solidFill>
                            <a:srgbClr val="111111"/>
                          </a:solidFill>
                          <a:latin typeface="Times New Roman"/>
                        </a:rPr>
                        <a:t>All members</a:t>
                      </a:r>
                    </a:p>
                  </a:txBody>
                  <a:tcPr anchor="ctr" marL="101600">
                    <a:solidFill>
                      <a:srgbClr val="FBF3EE"/>
                    </a:solidFill>
                  </a:tcPr>
                </a:tc>
                <a:tc>
                  <a:txBody>
                    <a:bodyPr/>
                    <a:lstStyle/>
                    <a:p>
                      <a:pPr algn="l">
                        <a:lnSpc>
                          <a:spcPct val="115000"/>
                        </a:lnSpc>
                      </a:pPr>
                      <a:r>
                        <a:rPr sz="1200" b="0" i="0">
                          <a:solidFill>
                            <a:srgbClr val="111111"/>
                          </a:solidFill>
                          <a:latin typeface="Times New Roman"/>
                        </a:rPr>
                        <a:t/>
                      </a:r>
                    </a:p>
                  </a:txBody>
                  <a:tcPr anchor="ctr" marL="101600">
                    <a:solidFill>
                      <a:srgbClr val="FBF3EE"/>
                    </a:solidFill>
                  </a:tcPr>
                </a:tc>
                <a:tc>
                  <a:txBody>
                    <a:bodyPr/>
                    <a:lstStyle/>
                    <a:p>
                      <a:pPr algn="l">
                        <a:lnSpc>
                          <a:spcPct val="115000"/>
                        </a:lnSpc>
                      </a:pPr>
                      <a:r>
                        <a:rPr sz="1200" b="0" i="0">
                          <a:solidFill>
                            <a:srgbClr val="111111"/>
                          </a:solidFill>
                          <a:latin typeface="Times New Roman"/>
                        </a:rPr>
                        <a:t>Literature review, verification of every PASS/FAIL step, report writing and presentation</a:t>
                      </a:r>
                    </a:p>
                  </a:txBody>
                  <a:tcPr anchor="ctr" marL="101600">
                    <a:solidFill>
                      <a:srgbClr val="FBF3EE"/>
                    </a:solidFill>
                  </a:tcPr>
                </a:tc>
              </a:tr>
            </a:tbl>
          </a:graphicData>
        </a:graphic>
      </p:graphicFrame>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3D57"/>
        </a:solidFill>
        <a:effectLst/>
      </p:bgPr>
    </p:bg>
    <p:spTree>
      <p:nvGrpSpPr>
        <p:cNvPr id="1" name=""/>
        <p:cNvGrpSpPr/>
        <p:nvPr/>
      </p:nvGrpSpPr>
      <p:grpSpPr/>
      <p:sp>
        <p:nvSpPr>
          <p:cNvPr id="2" name="TextBox 1"/>
          <p:cNvSpPr txBox="1"/>
          <p:nvPr/>
        </p:nvSpPr>
        <p:spPr>
          <a:xfrm>
            <a:off x="1016000" y="2603500"/>
            <a:ext cx="10160000" cy="698500"/>
          </a:xfrm>
          <a:prstGeom prst="rect">
            <a:avLst/>
          </a:prstGeom>
          <a:noFill/>
        </p:spPr>
        <p:txBody>
          <a:bodyPr wrap="square" lIns="0" rIns="0" tIns="0" bIns="0" anchor="t">
            <a:spAutoFit/>
          </a:bodyPr>
          <a:lstStyle/>
          <a:p>
            <a:pPr algn="ctr">
              <a:lnSpc>
                <a:spcPct val="115000"/>
              </a:lnSpc>
            </a:pPr>
            <a:r>
              <a:rPr sz="3800" b="0" i="1">
                <a:solidFill>
                  <a:srgbClr val="FFFFFF"/>
                </a:solidFill>
                <a:latin typeface="Times New Roman"/>
              </a:rPr>
              <a:t>Implementation &amp; Results</a:t>
            </a:r>
          </a:p>
        </p:txBody>
      </p:sp>
      <p:sp>
        <p:nvSpPr>
          <p:cNvPr id="3" name="TextBox 2"/>
          <p:cNvSpPr txBox="1"/>
          <p:nvPr/>
        </p:nvSpPr>
        <p:spPr>
          <a:xfrm>
            <a:off x="1016000" y="3429000"/>
            <a:ext cx="10160000" cy="317500"/>
          </a:xfrm>
          <a:prstGeom prst="rect">
            <a:avLst/>
          </a:prstGeom>
          <a:noFill/>
        </p:spPr>
        <p:txBody>
          <a:bodyPr wrap="square" lIns="0" rIns="0" tIns="0" bIns="0" anchor="t">
            <a:spAutoFit/>
          </a:bodyPr>
          <a:lstStyle/>
          <a:p>
            <a:pPr algn="ctr">
              <a:lnSpc>
                <a:spcPct val="115000"/>
              </a:lnSpc>
            </a:pPr>
            <a:r>
              <a:rPr sz="1600" b="0" i="1">
                <a:solidFill>
                  <a:srgbClr val="D5E0E8"/>
                </a:solidFill>
                <a:latin typeface="Times New Roman"/>
              </a:rPr>
              <a:t>Held-out patients never seen in training</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Implementation &amp; Results</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User Interface: click a nodule, get its 3D measurement in under a minute</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15</a:t>
            </a:r>
          </a:p>
        </p:txBody>
      </p:sp>
      <p:sp>
        <p:nvSpPr>
          <p:cNvPr id="8" name="Rectangle 7"/>
          <p:cNvSpPr/>
          <p:nvPr/>
        </p:nvSpPr>
        <p:spPr>
          <a:xfrm>
            <a:off x="762000" y="1365250"/>
            <a:ext cx="5715000" cy="2984500"/>
          </a:xfrm>
          <a:prstGeom prst="rect">
            <a:avLst/>
          </a:prstGeom>
          <a:solidFill>
            <a:srgbClr val="FFFFFF"/>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mo_roi_solid.png"/>
          <p:cNvPicPr>
            <a:picLocks noChangeAspect="1"/>
          </p:cNvPicPr>
          <p:nvPr/>
        </p:nvPicPr>
        <p:blipFill>
          <a:blip r:embed="rId3"/>
          <a:stretch>
            <a:fillRect/>
          </a:stretch>
        </p:blipFill>
        <p:spPr>
          <a:xfrm>
            <a:off x="762000" y="1365717"/>
            <a:ext cx="5715000" cy="2983566"/>
          </a:xfrm>
          <a:prstGeom prst="rect">
            <a:avLst/>
          </a:prstGeom>
        </p:spPr>
      </p:pic>
      <p:sp>
        <p:nvSpPr>
          <p:cNvPr id="10" name="TextBox 9"/>
          <p:cNvSpPr txBox="1"/>
          <p:nvPr/>
        </p:nvSpPr>
        <p:spPr>
          <a:xfrm>
            <a:off x="762000" y="4394200"/>
            <a:ext cx="5715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12: Prism views: DTS input and reconstruction with segmentation and sample spread</a:t>
            </a:r>
          </a:p>
        </p:txBody>
      </p:sp>
      <p:sp>
        <p:nvSpPr>
          <p:cNvPr id="11" name="Rectangle 10"/>
          <p:cNvSpPr/>
          <p:nvPr/>
        </p:nvSpPr>
        <p:spPr>
          <a:xfrm>
            <a:off x="6731000" y="1365250"/>
            <a:ext cx="4699000" cy="2095500"/>
          </a:xfrm>
          <a:prstGeom prst="rect">
            <a:avLst/>
          </a:prstGeom>
          <a:solidFill>
            <a:srgbClr val="FFFFFF"/>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emo_3d_a.png"/>
          <p:cNvPicPr>
            <a:picLocks noChangeAspect="1"/>
          </p:cNvPicPr>
          <p:nvPr/>
        </p:nvPicPr>
        <p:blipFill>
          <a:blip r:embed="rId4"/>
          <a:stretch>
            <a:fillRect/>
          </a:stretch>
        </p:blipFill>
        <p:spPr>
          <a:xfrm>
            <a:off x="6741819" y="1365250"/>
            <a:ext cx="4677363" cy="2095500"/>
          </a:xfrm>
          <a:prstGeom prst="rect">
            <a:avLst/>
          </a:prstGeom>
        </p:spPr>
      </p:pic>
      <p:sp>
        <p:nvSpPr>
          <p:cNvPr id="13" name="TextBox 12"/>
          <p:cNvSpPr txBox="1"/>
          <p:nvPr/>
        </p:nvSpPr>
        <p:spPr>
          <a:xfrm>
            <a:off x="6731000" y="3505200"/>
            <a:ext cx="4699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13: Interactive 3D view coloured by uncertainty</a:t>
            </a:r>
          </a:p>
        </p:txBody>
      </p:sp>
      <p:grpSp>
        <p:nvGrpSpPr>
          <p:cNvPr id="14" name="Group 13"/>
          <p:cNvGrpSpPr/>
          <p:nvPr/>
        </p:nvGrpSpPr>
        <p:grpSpPr>
          <a:xfrm>
            <a:off x="6731000" y="4064000"/>
            <a:ext cx="4699000" cy="1460500"/>
            <a:chOff x="6731000" y="4064000"/>
            <a:chExt cx="4699000" cy="1460500"/>
          </a:xfrm>
        </p:grpSpPr>
        <p:sp>
          <p:nvSpPr>
            <p:cNvPr id="15" name="Rectangle 14"/>
            <p:cNvSpPr/>
            <p:nvPr/>
          </p:nvSpPr>
          <p:spPr>
            <a:xfrm>
              <a:off x="6731000" y="4064000"/>
              <a:ext cx="4699000" cy="1460500"/>
            </a:xfrm>
            <a:prstGeom prst="rect">
              <a:avLst/>
            </a:prstGeom>
            <a:solidFill>
              <a:srgbClr val="FFF1E8"/>
            </a:solidFill>
            <a:ln w="12700">
              <a:solidFill>
                <a:srgbClr val="FFF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08800" y="4241800"/>
              <a:ext cx="4343400" cy="1104900"/>
            </a:xfrm>
            <a:prstGeom prst="rect">
              <a:avLst/>
            </a:prstGeom>
            <a:noFill/>
          </p:spPr>
          <p:txBody>
            <a:bodyPr wrap="square" lIns="0" rIns="0" tIns="0" bIns="0" anchor="t">
              <a:spAutoFit/>
            </a:bodyPr>
            <a:lstStyle/>
            <a:p>
              <a:pPr algn="l">
                <a:lnSpc>
                  <a:spcPct val="115000"/>
                </a:lnSpc>
              </a:pPr>
              <a:r>
                <a:rPr sz="1400" b="0" i="0">
                  <a:solidFill>
                    <a:srgbClr val="111111"/>
                  </a:solidFill>
                  <a:latin typeface="Times New Roman"/>
                </a:rPr>
                <a:t>Returns </a:t>
              </a:r>
              <a:r>
                <a:rPr sz="1400" b="1" i="0">
                  <a:solidFill>
                    <a:srgbClr val="111111"/>
                  </a:solidFill>
                  <a:latin typeface="Times New Roman"/>
                </a:rPr>
                <a:t>mass, volume and EUPS category</a:t>
              </a:r>
              <a:r>
                <a:rPr sz="1400" b="0" i="0">
                  <a:solidFill>
                    <a:srgbClr val="111111"/>
                  </a:solidFill>
                  <a:latin typeface="Times New Roman"/>
                </a:rPr>
                <a:t> with intervals and probabilities, plus a </a:t>
              </a:r>
              <a:r>
                <a:rPr sz="1400" b="1" i="0">
                  <a:solidFill>
                    <a:srgbClr val="111111"/>
                  </a:solidFill>
                  <a:latin typeface="Times New Roman"/>
                </a:rPr>
                <a:t>low-confidence flag</a:t>
              </a:r>
              <a:r>
                <a:rPr sz="1400" b="0" i="0">
                  <a:solidFill>
                    <a:srgbClr val="111111"/>
                  </a:solidFill>
                  <a:latin typeface="Times New Roman"/>
                </a:rPr>
                <a:t>. Runs on a free Kaggle GPU.</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4"/>
                                        </p:tgtEl>
                                        <p:attrNameLst>
                                          <p:attrName>style.visibility</p:attrName>
                                        </p:attrNameLst>
                                      </p:cBhvr>
                                      <p:to>
                                        <p:strVal val="visible"/>
                                      </p:to>
                                    </p:set>
                                    <p:animEffect transition="in" filter="fade">
                                      <p:cBhvr>
                                        <p:cTn id="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Implementation &amp; Results</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3D nodule reconstruction, coloured by certainty</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16</a:t>
            </a:r>
          </a:p>
        </p:txBody>
      </p:sp>
      <p:grpSp>
        <p:nvGrpSpPr>
          <p:cNvPr id="8" name="Group 7"/>
          <p:cNvGrpSpPr/>
          <p:nvPr/>
        </p:nvGrpSpPr>
        <p:grpSpPr>
          <a:xfrm>
            <a:off x="0" y="0"/>
            <a:ext cx="0" cy="0"/>
            <a:chOff x="0" y="0"/>
            <a:chExt cx="0" cy="0"/>
          </a:xfrm>
        </p:grpSpPr>
      </p:grpSp>
      <p:sp>
        <p:nvSpPr>
          <p:cNvPr id="9" name="Rectangle 8"/>
          <p:cNvSpPr/>
          <p:nvPr/>
        </p:nvSpPr>
        <p:spPr>
          <a:xfrm>
            <a:off x="762000" y="1397000"/>
            <a:ext cx="5207000" cy="3175000"/>
          </a:xfrm>
          <a:prstGeom prst="rect">
            <a:avLst/>
          </a:prstGeom>
          <a:solidFill>
            <a:srgbClr val="FFFFFF"/>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econ3d_a.png"/>
          <p:cNvPicPr>
            <a:picLocks noChangeAspect="1"/>
          </p:cNvPicPr>
          <p:nvPr/>
        </p:nvPicPr>
        <p:blipFill>
          <a:blip r:embed="rId3"/>
          <a:stretch>
            <a:fillRect/>
          </a:stretch>
        </p:blipFill>
        <p:spPr>
          <a:xfrm>
            <a:off x="1118577" y="1397000"/>
            <a:ext cx="4493846" cy="3175000"/>
          </a:xfrm>
          <a:prstGeom prst="rect">
            <a:avLst/>
          </a:prstGeom>
        </p:spPr>
      </p:pic>
      <p:sp>
        <p:nvSpPr>
          <p:cNvPr id="11" name="TextBox 10"/>
          <p:cNvSpPr txBox="1"/>
          <p:nvPr/>
        </p:nvSpPr>
        <p:spPr>
          <a:xfrm>
            <a:off x="762000" y="4667250"/>
            <a:ext cx="5207000" cy="571500"/>
          </a:xfrm>
          <a:prstGeom prst="rect">
            <a:avLst/>
          </a:prstGeom>
          <a:noFill/>
        </p:spPr>
        <p:txBody>
          <a:bodyPr wrap="square" lIns="0" rIns="0" tIns="0" bIns="0" anchor="t">
            <a:spAutoFit/>
          </a:bodyPr>
          <a:lstStyle/>
          <a:p>
            <a:pPr algn="l">
              <a:lnSpc>
                <a:spcPct val="115000"/>
              </a:lnSpc>
            </a:pPr>
            <a:r>
              <a:rPr sz="1400" b="1" i="1">
                <a:solidFill>
                  <a:srgbClr val="2E8B57"/>
                </a:solidFill>
                <a:latin typeface="Times New Roman"/>
              </a:rPr>
              <a:t>(a) Match. </a:t>
            </a:r>
            <a:r>
              <a:rPr sz="1400" b="0" i="0">
                <a:solidFill>
                  <a:srgbClr val="111111"/>
                </a:solidFill>
                <a:latin typeface="Times New Roman"/>
              </a:rPr>
              <a:t>The reconstruction fills the radiologists’ nodule; red patches sit at the depth edges.</a:t>
            </a:r>
          </a:p>
        </p:txBody>
      </p:sp>
      <p:grpSp>
        <p:nvGrpSpPr>
          <p:cNvPr id="12" name="Group 11"/>
          <p:cNvGrpSpPr/>
          <p:nvPr/>
        </p:nvGrpSpPr>
        <p:grpSpPr>
          <a:xfrm>
            <a:off x="0" y="0"/>
            <a:ext cx="0" cy="0"/>
            <a:chOff x="0" y="0"/>
            <a:chExt cx="0" cy="0"/>
          </a:xfrm>
        </p:grpSpPr>
      </p:grpSp>
      <p:sp>
        <p:nvSpPr>
          <p:cNvPr id="13" name="Rectangle 12"/>
          <p:cNvSpPr/>
          <p:nvPr/>
        </p:nvSpPr>
        <p:spPr>
          <a:xfrm>
            <a:off x="6223000" y="1397000"/>
            <a:ext cx="5207000" cy="3175000"/>
          </a:xfrm>
          <a:prstGeom prst="rect">
            <a:avLst/>
          </a:prstGeom>
          <a:solidFill>
            <a:srgbClr val="FFFFFF"/>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econ3d_b.png"/>
          <p:cNvPicPr>
            <a:picLocks noChangeAspect="1"/>
          </p:cNvPicPr>
          <p:nvPr/>
        </p:nvPicPr>
        <p:blipFill>
          <a:blip r:embed="rId4"/>
          <a:stretch>
            <a:fillRect/>
          </a:stretch>
        </p:blipFill>
        <p:spPr>
          <a:xfrm>
            <a:off x="6579577" y="1397000"/>
            <a:ext cx="4493846" cy="3175000"/>
          </a:xfrm>
          <a:prstGeom prst="rect">
            <a:avLst/>
          </a:prstGeom>
        </p:spPr>
      </p:pic>
      <p:sp>
        <p:nvSpPr>
          <p:cNvPr id="15" name="TextBox 14"/>
          <p:cNvSpPr txBox="1"/>
          <p:nvPr/>
        </p:nvSpPr>
        <p:spPr>
          <a:xfrm>
            <a:off x="6223000" y="4667250"/>
            <a:ext cx="5207000" cy="571500"/>
          </a:xfrm>
          <a:prstGeom prst="rect">
            <a:avLst/>
          </a:prstGeom>
          <a:noFill/>
        </p:spPr>
        <p:txBody>
          <a:bodyPr wrap="square" lIns="0" rIns="0" tIns="0" bIns="0" anchor="t">
            <a:spAutoFit/>
          </a:bodyPr>
          <a:lstStyle/>
          <a:p>
            <a:pPr algn="l">
              <a:lnSpc>
                <a:spcPct val="115000"/>
              </a:lnSpc>
            </a:pPr>
            <a:r>
              <a:rPr sz="1400" b="1" i="1">
                <a:solidFill>
                  <a:srgbClr val="FF751F"/>
                </a:solidFill>
                <a:latin typeface="Times New Roman"/>
              </a:rPr>
              <a:t>(b) Under-estimate. </a:t>
            </a:r>
            <a:r>
              <a:rPr sz="1400" b="0" i="0">
                <a:solidFill>
                  <a:srgbClr val="111111"/>
                </a:solidFill>
                <a:latin typeface="Times New Roman"/>
              </a:rPr>
              <a:t>Smaller than the radiologists’ nodule: the gap our next step closes.</a:t>
            </a:r>
          </a:p>
        </p:txBody>
      </p:sp>
      <p:sp>
        <p:nvSpPr>
          <p:cNvPr id="16" name="TextBox 15"/>
          <p:cNvSpPr txBox="1"/>
          <p:nvPr/>
        </p:nvSpPr>
        <p:spPr>
          <a:xfrm>
            <a:off x="762000" y="5588000"/>
            <a:ext cx="10668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14: Colour = disagreement of the 8 samples (green agree, red uncertain); grey shell = radiologists’ nodule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additive="base">
                                        <p:cTn id="5" dur="500" fill="hold"/>
                                        <p:tgtEl>
                                          <p:spTgt spid="8"/>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additive="base">
                                        <p:cTn id="11" dur="500" fill="hold"/>
                                        <p:tgtEl>
                                          <p:spTgt spid="12"/>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Implementation Verification &amp; Results</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Every component met its own specification</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17</a:t>
            </a:r>
          </a:p>
        </p:txBody>
      </p:sp>
      <p:grpSp>
        <p:nvGrpSpPr>
          <p:cNvPr id="8" name="Group 7"/>
          <p:cNvGrpSpPr/>
          <p:nvPr/>
        </p:nvGrpSpPr>
        <p:grpSpPr>
          <a:xfrm>
            <a:off x="762000" y="1460500"/>
            <a:ext cx="5207000" cy="1968500"/>
            <a:chOff x="762000" y="1460500"/>
            <a:chExt cx="5207000" cy="1968500"/>
          </a:xfrm>
        </p:grpSpPr>
        <p:sp>
          <p:nvSpPr>
            <p:cNvPr id="9" name="Rectangle 8"/>
            <p:cNvSpPr/>
            <p:nvPr/>
          </p:nvSpPr>
          <p:spPr>
            <a:xfrm>
              <a:off x="762000" y="1460500"/>
              <a:ext cx="5207000" cy="1968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7900" y="1676400"/>
              <a:ext cx="4775200" cy="1536700"/>
            </a:xfrm>
            <a:prstGeom prst="rect">
              <a:avLst/>
            </a:prstGeom>
            <a:noFill/>
          </p:spPr>
          <p:txBody>
            <a:bodyPr wrap="square" lIns="0" rIns="0" tIns="0" bIns="0" anchor="t">
              <a:spAutoFit/>
            </a:bodyPr>
            <a:lstStyle/>
            <a:p>
              <a:pPr algn="l">
                <a:lnSpc>
                  <a:spcPct val="115000"/>
                </a:lnSpc>
              </a:pPr>
              <a:r>
                <a:rPr sz="1600" b="1" i="1">
                  <a:solidFill>
                    <a:srgbClr val="111111"/>
                  </a:solidFill>
                  <a:latin typeface="Times New Roman"/>
                </a:rPr>
                <a:t>Diffusion prior</a:t>
              </a:r>
            </a:p>
            <a:p>
              <a:pPr algn="l">
                <a:lnSpc>
                  <a:spcPct val="115000"/>
                </a:lnSpc>
                <a:spcBef>
                  <a:spcPts val="500"/>
                </a:spcBef>
              </a:pPr>
              <a:r>
                <a:rPr sz="4200" b="1" i="0">
                  <a:solidFill>
                    <a:srgbClr val="FF751F"/>
                  </a:solidFill>
                  <a:latin typeface="Times New Roman"/>
                </a:rPr>
                <a:t>+3.35 dB</a:t>
              </a:r>
            </a:p>
            <a:p>
              <a:pPr algn="l">
                <a:lnSpc>
                  <a:spcPct val="115000"/>
                </a:lnSpc>
                <a:spcBef>
                  <a:spcPts val="500"/>
                </a:spcBef>
              </a:pPr>
              <a:r>
                <a:rPr sz="1400" b="0" i="0">
                  <a:solidFill>
                    <a:srgbClr val="111111"/>
                  </a:solidFill>
                  <a:latin typeface="Times New Roman"/>
                </a:rPr>
                <a:t>nodule PSNR on held-out data, 11.88 → 15.23 dB</a:t>
              </a:r>
            </a:p>
          </p:txBody>
        </p:sp>
      </p:grpSp>
      <p:grpSp>
        <p:nvGrpSpPr>
          <p:cNvPr id="11" name="Group 10"/>
          <p:cNvGrpSpPr/>
          <p:nvPr/>
        </p:nvGrpSpPr>
        <p:grpSpPr>
          <a:xfrm>
            <a:off x="6223000" y="1460500"/>
            <a:ext cx="5207000" cy="1968500"/>
            <a:chOff x="6223000" y="1460500"/>
            <a:chExt cx="5207000" cy="1968500"/>
          </a:xfrm>
        </p:grpSpPr>
        <p:sp>
          <p:nvSpPr>
            <p:cNvPr id="12" name="Rectangle 11"/>
            <p:cNvSpPr/>
            <p:nvPr/>
          </p:nvSpPr>
          <p:spPr>
            <a:xfrm>
              <a:off x="6223000" y="1460500"/>
              <a:ext cx="5207000" cy="1968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900" y="1676400"/>
              <a:ext cx="4775200" cy="1536700"/>
            </a:xfrm>
            <a:prstGeom prst="rect">
              <a:avLst/>
            </a:prstGeom>
            <a:noFill/>
          </p:spPr>
          <p:txBody>
            <a:bodyPr wrap="square" lIns="0" rIns="0" tIns="0" bIns="0" anchor="t">
              <a:spAutoFit/>
            </a:bodyPr>
            <a:lstStyle/>
            <a:p>
              <a:pPr algn="l">
                <a:lnSpc>
                  <a:spcPct val="115000"/>
                </a:lnSpc>
              </a:pPr>
              <a:r>
                <a:rPr sz="1600" b="1" i="1">
                  <a:solidFill>
                    <a:srgbClr val="111111"/>
                  </a:solidFill>
                  <a:latin typeface="Times New Roman"/>
                </a:rPr>
                <a:t>Learned detector</a:t>
              </a:r>
            </a:p>
            <a:p>
              <a:pPr algn="l">
                <a:lnSpc>
                  <a:spcPct val="115000"/>
                </a:lnSpc>
                <a:spcBef>
                  <a:spcPts val="500"/>
                </a:spcBef>
              </a:pPr>
              <a:r>
                <a:rPr sz="4200" b="1" i="0">
                  <a:solidFill>
                    <a:srgbClr val="FF751F"/>
                  </a:solidFill>
                  <a:latin typeface="Times New Roman"/>
                </a:rPr>
                <a:t>17× better</a:t>
              </a:r>
            </a:p>
            <a:p>
              <a:pPr algn="l">
                <a:lnSpc>
                  <a:spcPct val="115000"/>
                </a:lnSpc>
                <a:spcBef>
                  <a:spcPts val="500"/>
                </a:spcBef>
              </a:pPr>
              <a:r>
                <a:rPr sz="1400" b="0" i="0">
                  <a:solidFill>
                    <a:srgbClr val="111111"/>
                  </a:solidFill>
                  <a:latin typeface="Times New Roman"/>
                </a:rPr>
                <a:t>CPM 0.298 vs 0.017 for a training-free baseline</a:t>
              </a:r>
            </a:p>
          </p:txBody>
        </p:sp>
      </p:grpSp>
      <p:grpSp>
        <p:nvGrpSpPr>
          <p:cNvPr id="14" name="Group 13"/>
          <p:cNvGrpSpPr/>
          <p:nvPr/>
        </p:nvGrpSpPr>
        <p:grpSpPr>
          <a:xfrm>
            <a:off x="762000" y="3619500"/>
            <a:ext cx="5207000" cy="1968500"/>
            <a:chOff x="762000" y="3619500"/>
            <a:chExt cx="5207000" cy="1968500"/>
          </a:xfrm>
        </p:grpSpPr>
        <p:sp>
          <p:nvSpPr>
            <p:cNvPr id="15" name="Rectangle 14"/>
            <p:cNvSpPr/>
            <p:nvPr/>
          </p:nvSpPr>
          <p:spPr>
            <a:xfrm>
              <a:off x="762000" y="3619500"/>
              <a:ext cx="5207000" cy="1968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7900" y="3835400"/>
              <a:ext cx="4775200" cy="1536700"/>
            </a:xfrm>
            <a:prstGeom prst="rect">
              <a:avLst/>
            </a:prstGeom>
            <a:noFill/>
          </p:spPr>
          <p:txBody>
            <a:bodyPr wrap="square" lIns="0" rIns="0" tIns="0" bIns="0" anchor="t">
              <a:spAutoFit/>
            </a:bodyPr>
            <a:lstStyle/>
            <a:p>
              <a:pPr algn="l">
                <a:lnSpc>
                  <a:spcPct val="115000"/>
                </a:lnSpc>
              </a:pPr>
              <a:r>
                <a:rPr sz="1600" b="1" i="1">
                  <a:solidFill>
                    <a:srgbClr val="111111"/>
                  </a:solidFill>
                  <a:latin typeface="Times New Roman"/>
                </a:rPr>
                <a:t>Conformal intervals</a:t>
              </a:r>
            </a:p>
            <a:p>
              <a:pPr algn="l">
                <a:lnSpc>
                  <a:spcPct val="115000"/>
                </a:lnSpc>
                <a:spcBef>
                  <a:spcPts val="500"/>
                </a:spcBef>
              </a:pPr>
              <a:r>
                <a:rPr sz="4200" b="1" i="0">
                  <a:solidFill>
                    <a:srgbClr val="FF751F"/>
                  </a:solidFill>
                  <a:latin typeface="Times New Roman"/>
                </a:rPr>
                <a:t>95% coverage</a:t>
              </a:r>
            </a:p>
            <a:p>
              <a:pPr algn="l">
                <a:lnSpc>
                  <a:spcPct val="115000"/>
                </a:lnSpc>
                <a:spcBef>
                  <a:spcPts val="500"/>
                </a:spcBef>
              </a:pPr>
              <a:r>
                <a:rPr sz="1400" b="0" i="0">
                  <a:solidFill>
                    <a:srgbClr val="111111"/>
                  </a:solidFill>
                  <a:latin typeface="Times New Roman"/>
                </a:rPr>
                <a:t>target 90%; raw ensemble spread covered only 28%</a:t>
              </a:r>
            </a:p>
          </p:txBody>
        </p:sp>
      </p:grpSp>
      <p:grpSp>
        <p:nvGrpSpPr>
          <p:cNvPr id="17" name="Group 16"/>
          <p:cNvGrpSpPr/>
          <p:nvPr/>
        </p:nvGrpSpPr>
        <p:grpSpPr>
          <a:xfrm>
            <a:off x="6223000" y="3619500"/>
            <a:ext cx="5207000" cy="1968500"/>
            <a:chOff x="6223000" y="3619500"/>
            <a:chExt cx="5207000" cy="1968500"/>
          </a:xfrm>
        </p:grpSpPr>
        <p:sp>
          <p:nvSpPr>
            <p:cNvPr id="18" name="Rectangle 17"/>
            <p:cNvSpPr/>
            <p:nvPr/>
          </p:nvSpPr>
          <p:spPr>
            <a:xfrm>
              <a:off x="6223000" y="3619500"/>
              <a:ext cx="5207000" cy="1968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8900" y="3835400"/>
              <a:ext cx="4775200" cy="1536700"/>
            </a:xfrm>
            <a:prstGeom prst="rect">
              <a:avLst/>
            </a:prstGeom>
            <a:noFill/>
          </p:spPr>
          <p:txBody>
            <a:bodyPr wrap="square" lIns="0" rIns="0" tIns="0" bIns="0" anchor="t">
              <a:spAutoFit/>
            </a:bodyPr>
            <a:lstStyle/>
            <a:p>
              <a:pPr algn="l">
                <a:lnSpc>
                  <a:spcPct val="115000"/>
                </a:lnSpc>
              </a:pPr>
              <a:r>
                <a:rPr sz="1600" b="1" i="1">
                  <a:solidFill>
                    <a:srgbClr val="111111"/>
                  </a:solidFill>
                  <a:latin typeface="Times New Roman"/>
                </a:rPr>
                <a:t>Size-category risk</a:t>
              </a:r>
            </a:p>
            <a:p>
              <a:pPr algn="l">
                <a:lnSpc>
                  <a:spcPct val="115000"/>
                </a:lnSpc>
                <a:spcBef>
                  <a:spcPts val="500"/>
                </a:spcBef>
              </a:pPr>
              <a:r>
                <a:rPr sz="4200" b="1" i="0">
                  <a:solidFill>
                    <a:srgbClr val="FF751F"/>
                  </a:solidFill>
                  <a:latin typeface="Times New Roman"/>
                </a:rPr>
                <a:t>0.54 → 0.17</a:t>
              </a:r>
            </a:p>
            <a:p>
              <a:pPr algn="l">
                <a:lnSpc>
                  <a:spcPct val="115000"/>
                </a:lnSpc>
                <a:spcBef>
                  <a:spcPts val="500"/>
                </a:spcBef>
              </a:pPr>
              <a:r>
                <a:rPr sz="1400" b="0" i="0">
                  <a:solidFill>
                    <a:srgbClr val="111111"/>
                  </a:solidFill>
                  <a:latin typeface="Times New Roman"/>
                </a:rPr>
                <a:t>Brier score for P(volume ≥ 100 mm³), a 68% reduction</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additive="base">
                                        <p:cTn id="5" dur="500" fill="hold"/>
                                        <p:tgtEl>
                                          <p:spTgt spid="8"/>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anim calcmode="lin" valueType="num">
                                      <p:cBhvr additive="base">
                                        <p:cTn id="11" dur="500" fill="hold"/>
                                        <p:tgtEl>
                                          <p:spTgt spid="11"/>
                                        </p:tgtEl>
                                        <p:attrNameLst>
                                          <p:attrName>ppt_y</p:attrName>
                                        </p:attrNameLst>
                                      </p:cBhvr>
                                      <p:tavLst>
                                        <p:tav tm="0">
                                          <p:val>
                                            <p:strVal val="#ppt_y+0.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8" presetID="42"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additive="base">
                                        <p:cTn id="17" dur="500" fill="hold"/>
                                        <p:tgtEl>
                                          <p:spTgt spid="14"/>
                                        </p:tgtEl>
                                        <p:attrNameLst>
                                          <p:attrName>ppt_y</p:attrName>
                                        </p:attrNameLst>
                                      </p:cBhvr>
                                      <p:tavLst>
                                        <p:tav tm="0">
                                          <p:val>
                                            <p:strVal val="#ppt_y+0.05"/>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anim calcmode="lin" valueType="num">
                                      <p:cBhvr additive="base">
                                        <p:cTn id="23" dur="500" fill="hold"/>
                                        <p:tgtEl>
                                          <p:spTgt spid="17"/>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Implementation &amp; Results</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Calibrated uncertainty: our intervals keep their guarantee on new patients</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18</a:t>
            </a:r>
          </a:p>
        </p:txBody>
      </p:sp>
      <p:sp>
        <p:nvSpPr>
          <p:cNvPr id="8" name="Rectangle 7"/>
          <p:cNvSpPr/>
          <p:nvPr/>
        </p:nvSpPr>
        <p:spPr>
          <a:xfrm>
            <a:off x="762000" y="1397000"/>
            <a:ext cx="6604000" cy="2921000"/>
          </a:xfrm>
          <a:prstGeom prst="rect">
            <a:avLst/>
          </a:prstGeom>
          <a:solidFill>
            <a:srgbClr val="FFFFFF"/>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liability.png"/>
          <p:cNvPicPr>
            <a:picLocks noChangeAspect="1"/>
          </p:cNvPicPr>
          <p:nvPr/>
        </p:nvPicPr>
        <p:blipFill>
          <a:blip r:embed="rId3"/>
          <a:stretch>
            <a:fillRect/>
          </a:stretch>
        </p:blipFill>
        <p:spPr>
          <a:xfrm>
            <a:off x="762000" y="1404620"/>
            <a:ext cx="6604000" cy="2905760"/>
          </a:xfrm>
          <a:prstGeom prst="rect">
            <a:avLst/>
          </a:prstGeom>
        </p:spPr>
      </p:pic>
      <p:sp>
        <p:nvSpPr>
          <p:cNvPr id="10" name="TextBox 9"/>
          <p:cNvSpPr txBox="1"/>
          <p:nvPr/>
        </p:nvSpPr>
        <p:spPr>
          <a:xfrm>
            <a:off x="762000" y="4381500"/>
            <a:ext cx="6604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15: Reliability of the size-category probabilities</a:t>
            </a:r>
          </a:p>
        </p:txBody>
      </p:sp>
      <p:grpSp>
        <p:nvGrpSpPr>
          <p:cNvPr id="11" name="Group 10"/>
          <p:cNvGrpSpPr/>
          <p:nvPr/>
        </p:nvGrpSpPr>
        <p:grpSpPr>
          <a:xfrm>
            <a:off x="7620000" y="1397000"/>
            <a:ext cx="3810000" cy="889000"/>
            <a:chOff x="7620000" y="1397000"/>
            <a:chExt cx="3810000" cy="889000"/>
          </a:xfrm>
        </p:grpSpPr>
        <p:sp>
          <p:nvSpPr>
            <p:cNvPr id="12" name="Rectangle 11"/>
            <p:cNvSpPr/>
            <p:nvPr/>
          </p:nvSpPr>
          <p:spPr>
            <a:xfrm>
              <a:off x="7620000" y="1397000"/>
              <a:ext cx="3810000" cy="889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7000" y="1524000"/>
              <a:ext cx="3556000" cy="6350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Coverage met</a:t>
              </a:r>
            </a:p>
            <a:p>
              <a:pPr algn="l">
                <a:lnSpc>
                  <a:spcPct val="115000"/>
                </a:lnSpc>
                <a:spcBef>
                  <a:spcPts val="200"/>
                </a:spcBef>
              </a:pPr>
              <a:r>
                <a:rPr sz="1300" b="0" i="0">
                  <a:solidFill>
                    <a:srgbClr val="111111"/>
                  </a:solidFill>
                  <a:latin typeface="Times New Roman"/>
                </a:rPr>
                <a:t>95–96% for the 90% target.</a:t>
              </a:r>
            </a:p>
          </p:txBody>
        </p:sp>
      </p:grpSp>
      <p:grpSp>
        <p:nvGrpSpPr>
          <p:cNvPr id="14" name="Group 13"/>
          <p:cNvGrpSpPr/>
          <p:nvPr/>
        </p:nvGrpSpPr>
        <p:grpSpPr>
          <a:xfrm>
            <a:off x="7620000" y="2413000"/>
            <a:ext cx="3810000" cy="889000"/>
            <a:chOff x="7620000" y="2413000"/>
            <a:chExt cx="3810000" cy="889000"/>
          </a:xfrm>
        </p:grpSpPr>
        <p:sp>
          <p:nvSpPr>
            <p:cNvPr id="15" name="Rectangle 14"/>
            <p:cNvSpPr/>
            <p:nvPr/>
          </p:nvSpPr>
          <p:spPr>
            <a:xfrm>
              <a:off x="7620000" y="2413000"/>
              <a:ext cx="3810000" cy="889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47000" y="2540000"/>
              <a:ext cx="3556000" cy="6350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Risk calibrated</a:t>
              </a:r>
            </a:p>
            <a:p>
              <a:pPr algn="l">
                <a:lnSpc>
                  <a:spcPct val="115000"/>
                </a:lnSpc>
                <a:spcBef>
                  <a:spcPts val="200"/>
                </a:spcBef>
              </a:pPr>
              <a:r>
                <a:rPr sz="1300" b="0" i="0">
                  <a:solidFill>
                    <a:srgbClr val="111111"/>
                  </a:solidFill>
                  <a:latin typeface="Times New Roman"/>
                </a:rPr>
                <a:t>ECE 0.58 → 0.12; right category 38% vs 26%.</a:t>
              </a:r>
            </a:p>
          </p:txBody>
        </p:sp>
      </p:grpSp>
      <p:grpSp>
        <p:nvGrpSpPr>
          <p:cNvPr id="17" name="Group 16"/>
          <p:cNvGrpSpPr/>
          <p:nvPr/>
        </p:nvGrpSpPr>
        <p:grpSpPr>
          <a:xfrm>
            <a:off x="7620000" y="3429000"/>
            <a:ext cx="3810000" cy="889000"/>
            <a:chOff x="7620000" y="3429000"/>
            <a:chExt cx="3810000" cy="889000"/>
          </a:xfrm>
        </p:grpSpPr>
        <p:sp>
          <p:nvSpPr>
            <p:cNvPr id="18" name="Rectangle 17"/>
            <p:cNvSpPr/>
            <p:nvPr/>
          </p:nvSpPr>
          <p:spPr>
            <a:xfrm>
              <a:off x="7620000" y="3429000"/>
              <a:ext cx="3810000" cy="889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47000" y="3556000"/>
              <a:ext cx="3556000" cy="635000"/>
            </a:xfrm>
            <a:prstGeom prst="rect">
              <a:avLst/>
            </a:prstGeom>
            <a:noFill/>
          </p:spPr>
          <p:txBody>
            <a:bodyPr wrap="square" lIns="0" rIns="0" tIns="0" bIns="0" anchor="t">
              <a:spAutoFit/>
            </a:bodyPr>
            <a:lstStyle/>
            <a:p>
              <a:pPr algn="l">
                <a:lnSpc>
                  <a:spcPct val="115000"/>
                </a:lnSpc>
              </a:pPr>
              <a:r>
                <a:rPr sz="1500" b="1" i="1">
                  <a:solidFill>
                    <a:srgbClr val="FF751F"/>
                  </a:solidFill>
                  <a:latin typeface="Times New Roman"/>
                </a:rPr>
                <a:t>Next step</a:t>
              </a:r>
            </a:p>
            <a:p>
              <a:pPr algn="l">
                <a:lnSpc>
                  <a:spcPct val="115000"/>
                </a:lnSpc>
                <a:spcBef>
                  <a:spcPts val="200"/>
                </a:spcBef>
              </a:pPr>
              <a:r>
                <a:rPr sz="1300" b="0" i="0">
                  <a:solidFill>
                    <a:srgbClr val="111111"/>
                  </a:solidFill>
                  <a:latin typeface="Times New Roman"/>
                </a:rPr>
                <a:t>Narrower intervals once failed reads are handled separately.</a:t>
              </a:r>
            </a:p>
          </p:txBody>
        </p:sp>
      </p:grpSp>
      <p:sp>
        <p:nvSpPr>
          <p:cNvPr id="20" name="TextBox 19"/>
          <p:cNvSpPr txBox="1"/>
          <p:nvPr/>
        </p:nvSpPr>
        <p:spPr>
          <a:xfrm>
            <a:off x="762000" y="4889500"/>
            <a:ext cx="10668000" cy="635000"/>
          </a:xfrm>
          <a:prstGeom prst="rect">
            <a:avLst/>
          </a:prstGeom>
          <a:noFill/>
        </p:spPr>
        <p:txBody>
          <a:bodyPr wrap="square" lIns="0" rIns="0" tIns="0" bIns="0" anchor="t">
            <a:spAutoFit/>
          </a:bodyPr>
          <a:lstStyle/>
          <a:p>
            <a:pPr algn="ctr">
              <a:lnSpc>
                <a:spcPct val="115000"/>
              </a:lnSpc>
            </a:pPr>
            <a:r>
              <a:rPr sz="1500" b="1" i="1">
                <a:solidFill>
                  <a:srgbClr val="111111"/>
                </a:solidFill>
                <a:latin typeface="Times New Roman"/>
              </a:rPr>
              <a:t>Insight: </a:t>
            </a:r>
            <a:r>
              <a:rPr sz="1500" b="0" i="0">
                <a:solidFill>
                  <a:srgbClr val="111111"/>
                </a:solidFill>
                <a:latin typeface="Times New Roman"/>
              </a:rPr>
              <a:t>raw sample spread is not a safe uncertainty (ρ = −0.52 with error), which is exactly why we calibrate.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additive="base">
                                        <p:cTn id="5" dur="500" fill="hold"/>
                                        <p:tgtEl>
                                          <p:spTgt spid="11"/>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anim calcmode="lin" valueType="num">
                                      <p:cBhvr additive="base">
                                        <p:cTn id="11" dur="500" fill="hold"/>
                                        <p:tgtEl>
                                          <p:spTgt spid="14"/>
                                        </p:tgtEl>
                                        <p:attrNameLst>
                                          <p:attrName>ppt_y</p:attrName>
                                        </p:attrNameLst>
                                      </p:cBhvr>
                                      <p:tavLst>
                                        <p:tav tm="0">
                                          <p:val>
                                            <p:strVal val="#ppt_y+0.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8" presetID="42"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anim calcmode="lin" valueType="num">
                                      <p:cBhvr additive="base">
                                        <p:cTn id="17" dur="500" fill="hold"/>
                                        <p:tgtEl>
                                          <p:spTgt spid="17"/>
                                        </p:tgtEl>
                                        <p:attrNameLst>
                                          <p:attrName>ppt_y</p:attrName>
                                        </p:attrNameLst>
                                      </p:cBhvr>
                                      <p:tavLst>
                                        <p:tav tm="0">
                                          <p:val>
                                            <p:strVal val="#ppt_y+0.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3"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Implementation &amp; Results</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Explainability: what the X-rays saw and what the AI filled in</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19</a:t>
            </a:r>
          </a:p>
        </p:txBody>
      </p:sp>
      <p:sp>
        <p:nvSpPr>
          <p:cNvPr id="8" name="Rectangle 7"/>
          <p:cNvSpPr/>
          <p:nvPr/>
        </p:nvSpPr>
        <p:spPr>
          <a:xfrm>
            <a:off x="762000" y="1397000"/>
            <a:ext cx="6223000" cy="3556000"/>
          </a:xfrm>
          <a:prstGeom prst="rect">
            <a:avLst/>
          </a:prstGeom>
          <a:solidFill>
            <a:srgbClr val="FFFFFF"/>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en_unseen.png"/>
          <p:cNvPicPr>
            <a:picLocks noChangeAspect="1"/>
          </p:cNvPicPr>
          <p:nvPr/>
        </p:nvPicPr>
        <p:blipFill>
          <a:blip r:embed="rId3"/>
          <a:stretch>
            <a:fillRect/>
          </a:stretch>
        </p:blipFill>
        <p:spPr>
          <a:xfrm>
            <a:off x="762000" y="1486846"/>
            <a:ext cx="6223000" cy="3376309"/>
          </a:xfrm>
          <a:prstGeom prst="rect">
            <a:avLst/>
          </a:prstGeom>
        </p:spPr>
      </p:pic>
      <p:sp>
        <p:nvSpPr>
          <p:cNvPr id="10" name="TextBox 9"/>
          <p:cNvSpPr txBox="1"/>
          <p:nvPr/>
        </p:nvSpPr>
        <p:spPr>
          <a:xfrm>
            <a:off x="762000" y="5016500"/>
            <a:ext cx="6223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16: Null-space split of one test nodule (top: CT truth, bottom: diffusion prior)</a:t>
            </a:r>
          </a:p>
        </p:txBody>
      </p:sp>
      <p:grpSp>
        <p:nvGrpSpPr>
          <p:cNvPr id="11" name="Group 10"/>
          <p:cNvGrpSpPr/>
          <p:nvPr/>
        </p:nvGrpSpPr>
        <p:grpSpPr>
          <a:xfrm>
            <a:off x="7239000" y="1397000"/>
            <a:ext cx="4191000" cy="1143000"/>
            <a:chOff x="7239000" y="1397000"/>
            <a:chExt cx="4191000" cy="1143000"/>
          </a:xfrm>
        </p:grpSpPr>
        <p:sp>
          <p:nvSpPr>
            <p:cNvPr id="12" name="Rectangle 11"/>
            <p:cNvSpPr/>
            <p:nvPr/>
          </p:nvSpPr>
          <p:spPr>
            <a:xfrm>
              <a:off x="7239000" y="1397000"/>
              <a:ext cx="4191000" cy="1143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6000" y="1524000"/>
              <a:ext cx="3937000" cy="889000"/>
            </a:xfrm>
            <a:prstGeom prst="rect">
              <a:avLst/>
            </a:prstGeom>
            <a:noFill/>
          </p:spPr>
          <p:txBody>
            <a:bodyPr wrap="square" lIns="0" rIns="0" tIns="0" bIns="0" anchor="t">
              <a:spAutoFit/>
            </a:bodyPr>
            <a:lstStyle/>
            <a:p>
              <a:pPr algn="l">
                <a:lnSpc>
                  <a:spcPct val="115000"/>
                </a:lnSpc>
              </a:pPr>
              <a:r>
                <a:rPr sz="2800" b="1" i="0">
                  <a:solidFill>
                    <a:srgbClr val="2E8B57"/>
                  </a:solidFill>
                  <a:latin typeface="Times New Roman"/>
                </a:rPr>
                <a:t>0.3%</a:t>
              </a:r>
            </a:p>
            <a:p>
              <a:pPr algn="l">
                <a:lnSpc>
                  <a:spcPct val="115000"/>
                </a:lnSpc>
                <a:spcBef>
                  <a:spcPts val="200"/>
                </a:spcBef>
              </a:pPr>
              <a:r>
                <a:rPr sz="1300" b="0" i="0">
                  <a:solidFill>
                    <a:srgbClr val="111111"/>
                  </a:solidFill>
                  <a:latin typeface="Times New Roman"/>
                </a:rPr>
                <a:t>of nodule mass is unseen: the X-rays measure mass, as the physics predicts</a:t>
              </a:r>
            </a:p>
          </p:txBody>
        </p:sp>
      </p:grpSp>
      <p:grpSp>
        <p:nvGrpSpPr>
          <p:cNvPr id="14" name="Group 13"/>
          <p:cNvGrpSpPr/>
          <p:nvPr/>
        </p:nvGrpSpPr>
        <p:grpSpPr>
          <a:xfrm>
            <a:off x="7239000" y="2667000"/>
            <a:ext cx="4191000" cy="1143000"/>
            <a:chOff x="7239000" y="2667000"/>
            <a:chExt cx="4191000" cy="1143000"/>
          </a:xfrm>
        </p:grpSpPr>
        <p:sp>
          <p:nvSpPr>
            <p:cNvPr id="15" name="Rectangle 14"/>
            <p:cNvSpPr/>
            <p:nvPr/>
          </p:nvSpPr>
          <p:spPr>
            <a:xfrm>
              <a:off x="7239000" y="2667000"/>
              <a:ext cx="4191000" cy="1143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6000" y="2794000"/>
              <a:ext cx="3937000" cy="889000"/>
            </a:xfrm>
            <a:prstGeom prst="rect">
              <a:avLst/>
            </a:prstGeom>
            <a:noFill/>
          </p:spPr>
          <p:txBody>
            <a:bodyPr wrap="square" lIns="0" rIns="0" tIns="0" bIns="0" anchor="t">
              <a:spAutoFit/>
            </a:bodyPr>
            <a:lstStyle/>
            <a:p>
              <a:pPr algn="l">
                <a:lnSpc>
                  <a:spcPct val="115000"/>
                </a:lnSpc>
              </a:pPr>
              <a:r>
                <a:rPr sz="2800" b="1" i="0">
                  <a:solidFill>
                    <a:srgbClr val="2E8B57"/>
                  </a:solidFill>
                  <a:latin typeface="Times New Roman"/>
                </a:rPr>
                <a:t>+0.22</a:t>
              </a:r>
            </a:p>
            <a:p>
              <a:pPr algn="l">
                <a:lnSpc>
                  <a:spcPct val="115000"/>
                </a:lnSpc>
                <a:spcBef>
                  <a:spcPts val="200"/>
                </a:spcBef>
              </a:pPr>
              <a:r>
                <a:rPr sz="1300" b="0" i="0">
                  <a:solidFill>
                    <a:srgbClr val="111111"/>
                  </a:solidFill>
                  <a:latin typeface="Times New Roman"/>
                </a:rPr>
                <a:t>unseen skill of the prior vs truth [0.14, 0.36]: it recovers, not invents</a:t>
              </a:r>
            </a:p>
          </p:txBody>
        </p:sp>
      </p:grpSp>
      <p:grpSp>
        <p:nvGrpSpPr>
          <p:cNvPr id="17" name="Group 16"/>
          <p:cNvGrpSpPr/>
          <p:nvPr/>
        </p:nvGrpSpPr>
        <p:grpSpPr>
          <a:xfrm>
            <a:off x="7239000" y="3937000"/>
            <a:ext cx="4191000" cy="1143000"/>
            <a:chOff x="7239000" y="3937000"/>
            <a:chExt cx="4191000" cy="1143000"/>
          </a:xfrm>
        </p:grpSpPr>
        <p:sp>
          <p:nvSpPr>
            <p:cNvPr id="18" name="Rectangle 17"/>
            <p:cNvSpPr/>
            <p:nvPr/>
          </p:nvSpPr>
          <p:spPr>
            <a:xfrm>
              <a:off x="7239000" y="3937000"/>
              <a:ext cx="4191000" cy="1143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0" y="4064000"/>
              <a:ext cx="3937000" cy="889000"/>
            </a:xfrm>
            <a:prstGeom prst="rect">
              <a:avLst/>
            </a:prstGeom>
            <a:noFill/>
          </p:spPr>
          <p:txBody>
            <a:bodyPr wrap="square" lIns="0" rIns="0" tIns="0" bIns="0" anchor="t">
              <a:spAutoFit/>
            </a:bodyPr>
            <a:lstStyle/>
            <a:p>
              <a:pPr algn="l">
                <a:lnSpc>
                  <a:spcPct val="115000"/>
                </a:lnSpc>
              </a:pPr>
              <a:r>
                <a:rPr sz="2800" b="1" i="0">
                  <a:solidFill>
                    <a:srgbClr val="FF751F"/>
                  </a:solidFill>
                  <a:latin typeface="Times New Roman"/>
                </a:rPr>
                <a:t>0.09</a:t>
              </a:r>
            </a:p>
            <a:p>
              <a:pPr algn="l">
                <a:lnSpc>
                  <a:spcPct val="115000"/>
                </a:lnSpc>
                <a:spcBef>
                  <a:spcPts val="200"/>
                </a:spcBef>
              </a:pPr>
              <a:r>
                <a:rPr sz="1300" b="0" i="0">
                  <a:solidFill>
                    <a:srgbClr val="111111"/>
                  </a:solidFill>
                  <a:latin typeface="Times New Roman"/>
                </a:rPr>
                <a:t>skill left after Gaussian fitting: that step discards what the prior found</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additive="base">
                                        <p:cTn id="5" dur="500" fill="hold"/>
                                        <p:tgtEl>
                                          <p:spTgt spid="11"/>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anim calcmode="lin" valueType="num">
                                      <p:cBhvr additive="base">
                                        <p:cTn id="11" dur="500" fill="hold"/>
                                        <p:tgtEl>
                                          <p:spTgt spid="14"/>
                                        </p:tgtEl>
                                        <p:attrNameLst>
                                          <p:attrName>ppt_y</p:attrName>
                                        </p:attrNameLst>
                                      </p:cBhvr>
                                      <p:tavLst>
                                        <p:tav tm="0">
                                          <p:val>
                                            <p:strVal val="#ppt_y+0.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8" presetID="42"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anim calcmode="lin" valueType="num">
                                      <p:cBhvr additive="base">
                                        <p:cTn id="17" dur="500" fill="hold"/>
                                        <p:tgtEl>
                                          <p:spTgt spid="17"/>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Implementation &amp; Results</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Accuracy benchmark: volume from DTS is hard for every method</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20</a:t>
            </a:r>
          </a:p>
        </p:txBody>
      </p:sp>
      <p:sp>
        <p:nvSpPr>
          <p:cNvPr id="8" name="TextBox 7"/>
          <p:cNvSpPr txBox="1"/>
          <p:nvPr/>
        </p:nvSpPr>
        <p:spPr>
          <a:xfrm>
            <a:off x="762000" y="1397000"/>
            <a:ext cx="6985000" cy="254000"/>
          </a:xfrm>
          <a:prstGeom prst="rect">
            <a:avLst/>
          </a:prstGeom>
          <a:noFill/>
        </p:spPr>
        <p:txBody>
          <a:bodyPr wrap="square" lIns="0" rIns="0" tIns="0" bIns="0" anchor="t">
            <a:spAutoFit/>
          </a:bodyPr>
          <a:lstStyle/>
          <a:p>
            <a:pPr algn="l">
              <a:lnSpc>
                <a:spcPct val="115000"/>
              </a:lnSpc>
            </a:pPr>
            <a:r>
              <a:rPr sz="1300" b="0" i="1">
                <a:solidFill>
                  <a:srgbClr val="111111"/>
                </a:solidFill>
                <a:latin typeface="Times New Roman"/>
              </a:rPr>
              <a:t>Volume error, median absolute % (lower is better; a failure counts as 100%)</a:t>
            </a:r>
          </a:p>
        </p:txBody>
      </p:sp>
      <p:sp>
        <p:nvSpPr>
          <p:cNvPr id="9" name="TextBox 8"/>
          <p:cNvSpPr txBox="1"/>
          <p:nvPr/>
        </p:nvSpPr>
        <p:spPr>
          <a:xfrm>
            <a:off x="762000" y="1778000"/>
            <a:ext cx="2095500" cy="381000"/>
          </a:xfrm>
          <a:prstGeom prst="rect">
            <a:avLst/>
          </a:prstGeom>
          <a:noFill/>
        </p:spPr>
        <p:txBody>
          <a:bodyPr wrap="square" lIns="0" rIns="0" tIns="0" bIns="0" anchor="ctr">
            <a:spAutoFit/>
          </a:bodyPr>
          <a:lstStyle/>
          <a:p>
            <a:pPr algn="l">
              <a:lnSpc>
                <a:spcPct val="115000"/>
              </a:lnSpc>
            </a:pPr>
            <a:r>
              <a:rPr sz="1300" b="0" i="0">
                <a:solidFill>
                  <a:srgbClr val="111111"/>
                </a:solidFill>
                <a:latin typeface="Times New Roman"/>
              </a:rPr>
              <a:t>2D diameter → sphere</a:t>
            </a:r>
          </a:p>
        </p:txBody>
      </p:sp>
      <p:sp>
        <p:nvSpPr>
          <p:cNvPr id="10" name="Rectangle 9"/>
          <p:cNvSpPr/>
          <p:nvPr/>
        </p:nvSpPr>
        <p:spPr>
          <a:xfrm>
            <a:off x="2921000" y="1828800"/>
            <a:ext cx="3129280" cy="292100"/>
          </a:xfrm>
          <a:prstGeom prst="rect">
            <a:avLst/>
          </a:prstGeom>
          <a:solidFill>
            <a:srgbClr val="B9B9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39180" y="1778000"/>
            <a:ext cx="1524000" cy="381000"/>
          </a:xfrm>
          <a:prstGeom prst="rect">
            <a:avLst/>
          </a:prstGeom>
          <a:noFill/>
        </p:spPr>
        <p:txBody>
          <a:bodyPr wrap="square" lIns="0" rIns="0" tIns="0" bIns="0" anchor="ctr">
            <a:spAutoFit/>
          </a:bodyPr>
          <a:lstStyle/>
          <a:p>
            <a:pPr algn="l">
              <a:lnSpc>
                <a:spcPct val="115000"/>
              </a:lnSpc>
            </a:pPr>
            <a:r>
              <a:rPr sz="1300" b="1" i="0">
                <a:solidFill>
                  <a:srgbClr val="111111"/>
                </a:solidFill>
                <a:latin typeface="Times New Roman"/>
              </a:rPr>
              <a:t>88.0</a:t>
            </a:r>
          </a:p>
        </p:txBody>
      </p:sp>
      <p:sp>
        <p:nvSpPr>
          <p:cNvPr id="12" name="TextBox 11"/>
          <p:cNvSpPr txBox="1"/>
          <p:nvPr/>
        </p:nvSpPr>
        <p:spPr>
          <a:xfrm>
            <a:off x="762000" y="2362200"/>
            <a:ext cx="2095500" cy="381000"/>
          </a:xfrm>
          <a:prstGeom prst="rect">
            <a:avLst/>
          </a:prstGeom>
          <a:noFill/>
        </p:spPr>
        <p:txBody>
          <a:bodyPr wrap="square" lIns="0" rIns="0" tIns="0" bIns="0" anchor="ctr">
            <a:spAutoFit/>
          </a:bodyPr>
          <a:lstStyle/>
          <a:p>
            <a:pPr algn="l">
              <a:lnSpc>
                <a:spcPct val="115000"/>
              </a:lnSpc>
            </a:pPr>
            <a:r>
              <a:rPr sz="1300" b="0" i="0">
                <a:solidFill>
                  <a:srgbClr val="111111"/>
                </a:solidFill>
                <a:latin typeface="Times New Roman"/>
              </a:rPr>
              <a:t>Coarse DTS SIRT</a:t>
            </a:r>
          </a:p>
        </p:txBody>
      </p:sp>
      <p:sp>
        <p:nvSpPr>
          <p:cNvPr id="13" name="Rectangle 12"/>
          <p:cNvSpPr/>
          <p:nvPr/>
        </p:nvSpPr>
        <p:spPr>
          <a:xfrm>
            <a:off x="2921000" y="2413000"/>
            <a:ext cx="3556000" cy="292100"/>
          </a:xfrm>
          <a:prstGeom prst="rect">
            <a:avLst/>
          </a:prstGeom>
          <a:solidFill>
            <a:srgbClr val="B9B9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900" y="2362200"/>
            <a:ext cx="1524000" cy="381000"/>
          </a:xfrm>
          <a:prstGeom prst="rect">
            <a:avLst/>
          </a:prstGeom>
          <a:noFill/>
        </p:spPr>
        <p:txBody>
          <a:bodyPr wrap="square" lIns="0" rIns="0" tIns="0" bIns="0" anchor="ctr">
            <a:spAutoFit/>
          </a:bodyPr>
          <a:lstStyle/>
          <a:p>
            <a:pPr algn="l">
              <a:lnSpc>
                <a:spcPct val="115000"/>
              </a:lnSpc>
            </a:pPr>
            <a:r>
              <a:rPr sz="1300" b="1" i="0">
                <a:solidFill>
                  <a:srgbClr val="111111"/>
                </a:solidFill>
                <a:latin typeface="Times New Roman"/>
              </a:rPr>
              <a:t>100</a:t>
            </a:r>
          </a:p>
        </p:txBody>
      </p:sp>
      <p:sp>
        <p:nvSpPr>
          <p:cNvPr id="15" name="TextBox 14"/>
          <p:cNvSpPr txBox="1"/>
          <p:nvPr/>
        </p:nvSpPr>
        <p:spPr>
          <a:xfrm>
            <a:off x="762000" y="2946400"/>
            <a:ext cx="2095500" cy="381000"/>
          </a:xfrm>
          <a:prstGeom prst="rect">
            <a:avLst/>
          </a:prstGeom>
          <a:noFill/>
        </p:spPr>
        <p:txBody>
          <a:bodyPr wrap="square" lIns="0" rIns="0" tIns="0" bIns="0" anchor="ctr">
            <a:spAutoFit/>
          </a:bodyPr>
          <a:lstStyle/>
          <a:p>
            <a:pPr algn="l">
              <a:lnSpc>
                <a:spcPct val="115000"/>
              </a:lnSpc>
            </a:pPr>
            <a:r>
              <a:rPr sz="1300" b="0" i="0">
                <a:solidFill>
                  <a:srgbClr val="111111"/>
                </a:solidFill>
                <a:latin typeface="Times New Roman"/>
              </a:rPr>
              <a:t>Prism ROI-SIRT</a:t>
            </a:r>
          </a:p>
        </p:txBody>
      </p:sp>
      <p:sp>
        <p:nvSpPr>
          <p:cNvPr id="16" name="Rectangle 15"/>
          <p:cNvSpPr/>
          <p:nvPr/>
        </p:nvSpPr>
        <p:spPr>
          <a:xfrm>
            <a:off x="2921000" y="2997200"/>
            <a:ext cx="3243072" cy="292100"/>
          </a:xfrm>
          <a:prstGeom prst="rect">
            <a:avLst/>
          </a:prstGeom>
          <a:solidFill>
            <a:srgbClr val="B9B9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2972" y="2946400"/>
            <a:ext cx="1524000" cy="381000"/>
          </a:xfrm>
          <a:prstGeom prst="rect">
            <a:avLst/>
          </a:prstGeom>
          <a:noFill/>
        </p:spPr>
        <p:txBody>
          <a:bodyPr wrap="square" lIns="0" rIns="0" tIns="0" bIns="0" anchor="ctr">
            <a:spAutoFit/>
          </a:bodyPr>
          <a:lstStyle/>
          <a:p>
            <a:pPr algn="l">
              <a:lnSpc>
                <a:spcPct val="115000"/>
              </a:lnSpc>
            </a:pPr>
            <a:r>
              <a:rPr sz="1300" b="1" i="0">
                <a:solidFill>
                  <a:srgbClr val="111111"/>
                </a:solidFill>
                <a:latin typeface="Times New Roman"/>
              </a:rPr>
              <a:t>91.2</a:t>
            </a:r>
          </a:p>
        </p:txBody>
      </p:sp>
      <p:sp>
        <p:nvSpPr>
          <p:cNvPr id="18" name="TextBox 17"/>
          <p:cNvSpPr txBox="1"/>
          <p:nvPr/>
        </p:nvSpPr>
        <p:spPr>
          <a:xfrm>
            <a:off x="762000" y="3530600"/>
            <a:ext cx="2095500" cy="381000"/>
          </a:xfrm>
          <a:prstGeom prst="rect">
            <a:avLst/>
          </a:prstGeom>
          <a:noFill/>
        </p:spPr>
        <p:txBody>
          <a:bodyPr wrap="square" lIns="0" rIns="0" tIns="0" bIns="0" anchor="ctr">
            <a:spAutoFit/>
          </a:bodyPr>
          <a:lstStyle/>
          <a:p>
            <a:pPr algn="l">
              <a:lnSpc>
                <a:spcPct val="115000"/>
              </a:lnSpc>
            </a:pPr>
            <a:r>
              <a:rPr sz="1300" b="0" i="0">
                <a:solidFill>
                  <a:srgbClr val="111111"/>
                </a:solidFill>
                <a:latin typeface="Times New Roman"/>
              </a:rPr>
              <a:t>Physics-only Gaussians</a:t>
            </a:r>
          </a:p>
        </p:txBody>
      </p:sp>
      <p:sp>
        <p:nvSpPr>
          <p:cNvPr id="19" name="Rectangle 18"/>
          <p:cNvSpPr/>
          <p:nvPr/>
        </p:nvSpPr>
        <p:spPr>
          <a:xfrm>
            <a:off x="2921000" y="3581400"/>
            <a:ext cx="3118612" cy="292100"/>
          </a:xfrm>
          <a:prstGeom prst="rect">
            <a:avLst/>
          </a:prstGeom>
          <a:solidFill>
            <a:srgbClr val="B9B9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8512" y="3530600"/>
            <a:ext cx="1524000" cy="381000"/>
          </a:xfrm>
          <a:prstGeom prst="rect">
            <a:avLst/>
          </a:prstGeom>
          <a:noFill/>
        </p:spPr>
        <p:txBody>
          <a:bodyPr wrap="square" lIns="0" rIns="0" tIns="0" bIns="0" anchor="ctr">
            <a:spAutoFit/>
          </a:bodyPr>
          <a:lstStyle/>
          <a:p>
            <a:pPr algn="l">
              <a:lnSpc>
                <a:spcPct val="115000"/>
              </a:lnSpc>
            </a:pPr>
            <a:r>
              <a:rPr sz="1300" b="1" i="0">
                <a:solidFill>
                  <a:srgbClr val="111111"/>
                </a:solidFill>
                <a:latin typeface="Times New Roman"/>
              </a:rPr>
              <a:t>87.7</a:t>
            </a:r>
          </a:p>
        </p:txBody>
      </p:sp>
      <p:sp>
        <p:nvSpPr>
          <p:cNvPr id="21" name="TextBox 20"/>
          <p:cNvSpPr txBox="1"/>
          <p:nvPr/>
        </p:nvSpPr>
        <p:spPr>
          <a:xfrm>
            <a:off x="762000" y="4114800"/>
            <a:ext cx="2095500" cy="381000"/>
          </a:xfrm>
          <a:prstGeom prst="rect">
            <a:avLst/>
          </a:prstGeom>
          <a:noFill/>
        </p:spPr>
        <p:txBody>
          <a:bodyPr wrap="square" lIns="0" rIns="0" tIns="0" bIns="0" anchor="ctr">
            <a:spAutoFit/>
          </a:bodyPr>
          <a:lstStyle/>
          <a:p>
            <a:pPr algn="l">
              <a:lnSpc>
                <a:spcPct val="115000"/>
              </a:lnSpc>
            </a:pPr>
            <a:r>
              <a:rPr sz="1300" b="1" i="0">
                <a:solidFill>
                  <a:srgbClr val="111111"/>
                </a:solidFill>
                <a:latin typeface="Times New Roman"/>
              </a:rPr>
              <a:t>Our diffusion prior</a:t>
            </a:r>
          </a:p>
        </p:txBody>
      </p:sp>
      <p:sp>
        <p:nvSpPr>
          <p:cNvPr id="22" name="Rectangle 21"/>
          <p:cNvSpPr/>
          <p:nvPr/>
        </p:nvSpPr>
        <p:spPr>
          <a:xfrm>
            <a:off x="2921000" y="4165600"/>
            <a:ext cx="2649220" cy="2921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59120" y="4114800"/>
            <a:ext cx="1524000" cy="381000"/>
          </a:xfrm>
          <a:prstGeom prst="rect">
            <a:avLst/>
          </a:prstGeom>
          <a:noFill/>
        </p:spPr>
        <p:txBody>
          <a:bodyPr wrap="square" lIns="0" rIns="0" tIns="0" bIns="0" anchor="ctr">
            <a:spAutoFit/>
          </a:bodyPr>
          <a:lstStyle/>
          <a:p>
            <a:pPr algn="l">
              <a:lnSpc>
                <a:spcPct val="115000"/>
              </a:lnSpc>
            </a:pPr>
            <a:r>
              <a:rPr sz="1300" b="1" i="0">
                <a:solidFill>
                  <a:srgbClr val="FF751F"/>
                </a:solidFill>
                <a:latin typeface="Times New Roman"/>
              </a:rPr>
              <a:t>74.5  (best)</a:t>
            </a:r>
          </a:p>
        </p:txBody>
      </p:sp>
      <p:sp>
        <p:nvSpPr>
          <p:cNvPr id="24" name="TextBox 23"/>
          <p:cNvSpPr txBox="1"/>
          <p:nvPr/>
        </p:nvSpPr>
        <p:spPr>
          <a:xfrm>
            <a:off x="762000" y="4699000"/>
            <a:ext cx="2095500" cy="381000"/>
          </a:xfrm>
          <a:prstGeom prst="rect">
            <a:avLst/>
          </a:prstGeom>
          <a:noFill/>
        </p:spPr>
        <p:txBody>
          <a:bodyPr wrap="square" lIns="0" rIns="0" tIns="0" bIns="0" anchor="ctr">
            <a:spAutoFit/>
          </a:bodyPr>
          <a:lstStyle/>
          <a:p>
            <a:pPr algn="l">
              <a:lnSpc>
                <a:spcPct val="115000"/>
              </a:lnSpc>
            </a:pPr>
            <a:r>
              <a:rPr sz="1300" b="0" i="0">
                <a:solidFill>
                  <a:srgbClr val="111111"/>
                </a:solidFill>
                <a:latin typeface="Times New Roman"/>
              </a:rPr>
              <a:t>Diffusion + Gaussians</a:t>
            </a:r>
          </a:p>
        </p:txBody>
      </p:sp>
      <p:sp>
        <p:nvSpPr>
          <p:cNvPr id="25" name="Rectangle 24"/>
          <p:cNvSpPr/>
          <p:nvPr/>
        </p:nvSpPr>
        <p:spPr>
          <a:xfrm>
            <a:off x="2921000" y="4749800"/>
            <a:ext cx="3363976" cy="292100"/>
          </a:xfrm>
          <a:prstGeom prst="rect">
            <a:avLst/>
          </a:prstGeom>
          <a:solidFill>
            <a:srgbClr val="053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3876" y="4699000"/>
            <a:ext cx="1524000" cy="381000"/>
          </a:xfrm>
          <a:prstGeom prst="rect">
            <a:avLst/>
          </a:prstGeom>
          <a:noFill/>
        </p:spPr>
        <p:txBody>
          <a:bodyPr wrap="square" lIns="0" rIns="0" tIns="0" bIns="0" anchor="ctr">
            <a:spAutoFit/>
          </a:bodyPr>
          <a:lstStyle/>
          <a:p>
            <a:pPr algn="l">
              <a:lnSpc>
                <a:spcPct val="115000"/>
              </a:lnSpc>
            </a:pPr>
            <a:r>
              <a:rPr sz="1300" b="1" i="0">
                <a:solidFill>
                  <a:srgbClr val="111111"/>
                </a:solidFill>
                <a:latin typeface="Times New Roman"/>
              </a:rPr>
              <a:t>94.6</a:t>
            </a:r>
          </a:p>
        </p:txBody>
      </p:sp>
      <p:grpSp>
        <p:nvGrpSpPr>
          <p:cNvPr id="27" name="Group 26"/>
          <p:cNvGrpSpPr/>
          <p:nvPr/>
        </p:nvGrpSpPr>
        <p:grpSpPr>
          <a:xfrm>
            <a:off x="8128000" y="1397000"/>
            <a:ext cx="3302000" cy="1206500"/>
            <a:chOff x="8128000" y="1397000"/>
            <a:chExt cx="3302000" cy="1206500"/>
          </a:xfrm>
        </p:grpSpPr>
        <p:sp>
          <p:nvSpPr>
            <p:cNvPr id="28" name="Rectangle 27"/>
            <p:cNvSpPr/>
            <p:nvPr/>
          </p:nvSpPr>
          <p:spPr>
            <a:xfrm>
              <a:off x="8128000" y="1397000"/>
              <a:ext cx="3302000" cy="1206500"/>
            </a:xfrm>
            <a:prstGeom prst="rect">
              <a:avLst/>
            </a:prstGeom>
            <a:solidFill>
              <a:srgbClr val="FFFFFF"/>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67700" y="1536700"/>
              <a:ext cx="3022600" cy="9271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Best of six</a:t>
              </a:r>
            </a:p>
            <a:p>
              <a:pPr algn="l">
                <a:lnSpc>
                  <a:spcPct val="115000"/>
                </a:lnSpc>
                <a:spcBef>
                  <a:spcPts val="300"/>
                </a:spcBef>
              </a:pPr>
              <a:r>
                <a:rPr sz="1300" b="0" i="0">
                  <a:solidFill>
                    <a:srgbClr val="111111"/>
                  </a:solidFill>
                  <a:latin typeface="Times New Roman"/>
                </a:rPr>
                <a:t>Our diffusion prior had the lowest error and the fewest failures (3%).</a:t>
              </a:r>
            </a:p>
          </p:txBody>
        </p:sp>
      </p:grpSp>
      <p:grpSp>
        <p:nvGrpSpPr>
          <p:cNvPr id="30" name="Group 29"/>
          <p:cNvGrpSpPr/>
          <p:nvPr/>
        </p:nvGrpSpPr>
        <p:grpSpPr>
          <a:xfrm>
            <a:off x="8128000" y="2762250"/>
            <a:ext cx="3302000" cy="1206500"/>
            <a:chOff x="8128000" y="2762250"/>
            <a:chExt cx="3302000" cy="1206500"/>
          </a:xfrm>
        </p:grpSpPr>
        <p:sp>
          <p:nvSpPr>
            <p:cNvPr id="31" name="Rectangle 30"/>
            <p:cNvSpPr/>
            <p:nvPr/>
          </p:nvSpPr>
          <p:spPr>
            <a:xfrm>
              <a:off x="8128000" y="2762250"/>
              <a:ext cx="3302000" cy="1206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67700" y="2901950"/>
              <a:ext cx="3022600" cy="9271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Hard for all</a:t>
              </a:r>
            </a:p>
            <a:p>
              <a:pPr algn="l">
                <a:lnSpc>
                  <a:spcPct val="115000"/>
                </a:lnSpc>
                <a:spcBef>
                  <a:spcPts val="300"/>
                </a:spcBef>
              </a:pPr>
              <a:r>
                <a:rPr sz="1300" b="0" i="0">
                  <a:solidFill>
                    <a:srgbClr val="111111"/>
                  </a:solidFill>
                  <a:latin typeface="Times New Roman"/>
                </a:rPr>
                <a:t>Even the clinical 2D standard errs by 88%.</a:t>
              </a:r>
            </a:p>
          </p:txBody>
        </p:sp>
      </p:grpSp>
      <p:grpSp>
        <p:nvGrpSpPr>
          <p:cNvPr id="33" name="Group 32"/>
          <p:cNvGrpSpPr/>
          <p:nvPr/>
        </p:nvGrpSpPr>
        <p:grpSpPr>
          <a:xfrm>
            <a:off x="8128000" y="4127500"/>
            <a:ext cx="3302000" cy="1206500"/>
            <a:chOff x="8128000" y="4127500"/>
            <a:chExt cx="3302000" cy="1206500"/>
          </a:xfrm>
        </p:grpSpPr>
        <p:sp>
          <p:nvSpPr>
            <p:cNvPr id="34" name="Rectangle 33"/>
            <p:cNvSpPr/>
            <p:nvPr/>
          </p:nvSpPr>
          <p:spPr>
            <a:xfrm>
              <a:off x="8128000" y="4127500"/>
              <a:ext cx="3302000" cy="1206500"/>
            </a:xfrm>
            <a:prstGeom prst="rect">
              <a:avLst/>
            </a:prstGeom>
            <a:solidFill>
              <a:srgbClr val="FFFFFF"/>
            </a:solidFill>
            <a:ln w="12700">
              <a:solidFill>
                <a:srgbClr val="FF7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67700" y="4267200"/>
              <a:ext cx="3022600" cy="9271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Open challenge</a:t>
              </a:r>
            </a:p>
            <a:p>
              <a:pPr algn="l">
                <a:lnSpc>
                  <a:spcPct val="115000"/>
                </a:lnSpc>
                <a:spcBef>
                  <a:spcPts val="300"/>
                </a:spcBef>
              </a:pPr>
              <a:r>
                <a:rPr sz="1300" b="0" i="0">
                  <a:solidFill>
                    <a:srgbClr val="111111"/>
                  </a:solidFill>
                  <a:latin typeface="Times New Roman"/>
                </a:rPr>
                <a:t>Learned methods under-estimate size; the cause is found.</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wipe(left)">
                                      <p:cBhvr>
                                        <p:cTn id="4" dur="600"/>
                                        <p:tgtEl>
                                          <p:spTgt spid="10"/>
                                        </p:tgtEl>
                                      </p:cBhvr>
                                    </p:animEffect>
                                  </p:childTnLst>
                                </p:cTn>
                              </p:par>
                              <p:par>
                                <p:cTn id="8" presetID="22" presetClass="entr" presetSubtype="8" fill="hold" grpId="0" nodeType="withEffect">
                                  <p:stCondLst>
                                    <p:cond delay="15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600"/>
                                        <p:tgtEl>
                                          <p:spTgt spid="11"/>
                                        </p:tgtEl>
                                      </p:cBhvr>
                                    </p:animEffect>
                                  </p:childTnLst>
                                </p:cTn>
                              </p:par>
                              <p:par>
                                <p:cTn id="11" presetID="22" presetClass="entr" presetSubtype="8" fill="hold" grpId="0" nodeType="withEffect">
                                  <p:stCondLst>
                                    <p:cond delay="30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600"/>
                                        <p:tgtEl>
                                          <p:spTgt spid="13"/>
                                        </p:tgtEl>
                                      </p:cBhvr>
                                    </p:animEffect>
                                  </p:childTnLst>
                                </p:cTn>
                              </p:par>
                              <p:par>
                                <p:cTn id="14" presetID="22" presetClass="entr" presetSubtype="8" fill="hold" grpId="0" nodeType="withEffect">
                                  <p:stCondLst>
                                    <p:cond delay="45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600"/>
                                        <p:tgtEl>
                                          <p:spTgt spid="14"/>
                                        </p:tgtEl>
                                      </p:cBhvr>
                                    </p:animEffect>
                                  </p:childTnLst>
                                </p:cTn>
                              </p:par>
                              <p:par>
                                <p:cTn id="17" presetID="22" presetClass="entr" presetSubtype="8" fill="hold" grpId="0" nodeType="withEffect">
                                  <p:stCondLst>
                                    <p:cond delay="60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600"/>
                                        <p:tgtEl>
                                          <p:spTgt spid="16"/>
                                        </p:tgtEl>
                                      </p:cBhvr>
                                    </p:animEffect>
                                  </p:childTnLst>
                                </p:cTn>
                              </p:par>
                              <p:par>
                                <p:cTn id="20" presetID="22" presetClass="entr" presetSubtype="8" fill="hold" grpId="0" nodeType="withEffect">
                                  <p:stCondLst>
                                    <p:cond delay="75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600"/>
                                        <p:tgtEl>
                                          <p:spTgt spid="17"/>
                                        </p:tgtEl>
                                      </p:cBhvr>
                                    </p:animEffect>
                                  </p:childTnLst>
                                </p:cTn>
                              </p:par>
                              <p:par>
                                <p:cTn id="23" presetID="22" presetClass="entr" presetSubtype="8" fill="hold" grpId="0" nodeType="withEffect">
                                  <p:stCondLst>
                                    <p:cond delay="90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600"/>
                                        <p:tgtEl>
                                          <p:spTgt spid="19"/>
                                        </p:tgtEl>
                                      </p:cBhvr>
                                    </p:animEffect>
                                  </p:childTnLst>
                                </p:cTn>
                              </p:par>
                              <p:par>
                                <p:cTn id="26" presetID="22" presetClass="entr" presetSubtype="8" fill="hold" grpId="0" nodeType="withEffect">
                                  <p:stCondLst>
                                    <p:cond delay="105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600"/>
                                        <p:tgtEl>
                                          <p:spTgt spid="20"/>
                                        </p:tgtEl>
                                      </p:cBhvr>
                                    </p:animEffect>
                                  </p:childTnLst>
                                </p:cTn>
                              </p:par>
                              <p:par>
                                <p:cTn id="29" presetID="22" presetClass="entr" presetSubtype="8" fill="hold" grpId="0" nodeType="withEffect">
                                  <p:stCondLst>
                                    <p:cond delay="120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600"/>
                                        <p:tgtEl>
                                          <p:spTgt spid="22"/>
                                        </p:tgtEl>
                                      </p:cBhvr>
                                    </p:animEffect>
                                  </p:childTnLst>
                                </p:cTn>
                              </p:par>
                              <p:par>
                                <p:cTn id="32" presetID="22" presetClass="entr" presetSubtype="8" fill="hold" grpId="0" nodeType="withEffect">
                                  <p:stCondLst>
                                    <p:cond delay="135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600"/>
                                        <p:tgtEl>
                                          <p:spTgt spid="23"/>
                                        </p:tgtEl>
                                      </p:cBhvr>
                                    </p:animEffect>
                                  </p:childTnLst>
                                </p:cTn>
                              </p:par>
                              <p:par>
                                <p:cTn id="35" presetID="22" presetClass="entr" presetSubtype="8" fill="hold" grpId="0" nodeType="withEffect">
                                  <p:stCondLst>
                                    <p:cond delay="1500"/>
                                  </p:stCondLst>
                                  <p:childTnLst>
                                    <p:set>
                                      <p:cBhvr>
                                        <p:cTn id="33" dur="1" fill="hold">
                                          <p:stCondLst>
                                            <p:cond delay="0"/>
                                          </p:stCondLst>
                                        </p:cTn>
                                        <p:tgtEl>
                                          <p:spTgt spid="25"/>
                                        </p:tgtEl>
                                        <p:attrNameLst>
                                          <p:attrName>style.visibility</p:attrName>
                                        </p:attrNameLst>
                                      </p:cBhvr>
                                      <p:to>
                                        <p:strVal val="visible"/>
                                      </p:to>
                                    </p:set>
                                    <p:animEffect transition="in" filter="wipe(left)">
                                      <p:cBhvr>
                                        <p:cTn id="34" dur="600"/>
                                        <p:tgtEl>
                                          <p:spTgt spid="25"/>
                                        </p:tgtEl>
                                      </p:cBhvr>
                                    </p:animEffect>
                                  </p:childTnLst>
                                </p:cTn>
                              </p:par>
                              <p:par>
                                <p:cTn id="38" presetID="22" presetClass="entr" presetSubtype="8" fill="hold" grpId="0" nodeType="withEffect">
                                  <p:stCondLst>
                                    <p:cond delay="165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6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4" presetID="42"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anim calcmode="lin" valueType="num">
                                      <p:cBhvr additive="base">
                                        <p:cTn id="43" dur="500" fill="hold"/>
                                        <p:tgtEl>
                                          <p:spTgt spid="27"/>
                                        </p:tgtEl>
                                        <p:attrNameLst>
                                          <p:attrName>ppt_y</p:attrName>
                                        </p:attrNameLst>
                                      </p:cBhvr>
                                      <p:tavLst>
                                        <p:tav tm="0">
                                          <p:val>
                                            <p:strVal val="#ppt_y+0.05"/>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500"/>
                                        <p:tgtEl>
                                          <p:spTgt spid="30"/>
                                        </p:tgtEl>
                                      </p:cBhvr>
                                    </p:animEffect>
                                    <p:anim calcmode="lin" valueType="num">
                                      <p:cBhvr additive="base">
                                        <p:cTn id="49" dur="500" fill="hold"/>
                                        <p:tgtEl>
                                          <p:spTgt spid="30"/>
                                        </p:tgtEl>
                                        <p:attrNameLst>
                                          <p:attrName>ppt_y</p:attrName>
                                        </p:attrNameLst>
                                      </p:cBhvr>
                                      <p:tavLst>
                                        <p:tav tm="0">
                                          <p:val>
                                            <p:strVal val="#ppt_y+0.05"/>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grpId="0"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anim calcmode="lin" valueType="num">
                                      <p:cBhvr additive="base">
                                        <p:cTn id="55" dur="500" fill="hold"/>
                                        <p:tgtEl>
                                          <p:spTgt spid="33"/>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6" grpId="0"/>
      <p:bldP spid="17" grpId="0"/>
      <p:bldP spid="19" grpId="0"/>
      <p:bldP spid="20" grpId="0"/>
      <p:bldP spid="22" grpId="0"/>
      <p:bldP spid="23" grpId="0"/>
      <p:bldP spid="25" grpId="0"/>
      <p:bldP spid="26" grpId="0"/>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Implementation Verification &amp; Results</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The complete system at a glance</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21</a:t>
            </a:r>
          </a:p>
        </p:txBody>
      </p:sp>
      <p:grpSp>
        <p:nvGrpSpPr>
          <p:cNvPr id="8" name="Group 7"/>
          <p:cNvGrpSpPr/>
          <p:nvPr/>
        </p:nvGrpSpPr>
        <p:grpSpPr>
          <a:xfrm>
            <a:off x="762000" y="1524000"/>
            <a:ext cx="3390900" cy="1905000"/>
            <a:chOff x="762000" y="1524000"/>
            <a:chExt cx="3390900" cy="1905000"/>
          </a:xfrm>
        </p:grpSpPr>
        <p:sp>
          <p:nvSpPr>
            <p:cNvPr id="9" name="Rectangle 8"/>
            <p:cNvSpPr/>
            <p:nvPr/>
          </p:nvSpPr>
          <p:spPr>
            <a:xfrm>
              <a:off x="762000" y="1524000"/>
              <a:ext cx="3390900" cy="1905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7900" y="1739900"/>
              <a:ext cx="2959100" cy="1473200"/>
            </a:xfrm>
            <a:prstGeom prst="rect">
              <a:avLst/>
            </a:prstGeom>
            <a:noFill/>
          </p:spPr>
          <p:txBody>
            <a:bodyPr wrap="square" lIns="0" rIns="0" tIns="0" bIns="0" anchor="t">
              <a:spAutoFit/>
            </a:bodyPr>
            <a:lstStyle/>
            <a:p>
              <a:pPr algn="l">
                <a:lnSpc>
                  <a:spcPct val="115000"/>
                </a:lnSpc>
              </a:pPr>
              <a:r>
                <a:rPr sz="4600" b="1" i="0">
                  <a:solidFill>
                    <a:srgbClr val="FF751F"/>
                  </a:solidFill>
                  <a:latin typeface="Times New Roman"/>
                </a:rPr>
                <a:t>583</a:t>
              </a:r>
            </a:p>
            <a:p>
              <a:pPr algn="l">
                <a:lnSpc>
                  <a:spcPct val="115000"/>
                </a:lnSpc>
                <a:spcBef>
                  <a:spcPts val="500"/>
                </a:spcBef>
              </a:pPr>
              <a:r>
                <a:rPr sz="1400" b="0" i="0">
                  <a:solidFill>
                    <a:srgbClr val="111111"/>
                  </a:solidFill>
                  <a:latin typeface="Times New Roman"/>
                </a:rPr>
                <a:t>patients processed end to end, 1,144 nodules</a:t>
              </a:r>
            </a:p>
          </p:txBody>
        </p:sp>
      </p:grpSp>
      <p:grpSp>
        <p:nvGrpSpPr>
          <p:cNvPr id="11" name="Group 10"/>
          <p:cNvGrpSpPr/>
          <p:nvPr/>
        </p:nvGrpSpPr>
        <p:grpSpPr>
          <a:xfrm>
            <a:off x="4356100" y="1524000"/>
            <a:ext cx="3390900" cy="1905000"/>
            <a:chOff x="4356100" y="1524000"/>
            <a:chExt cx="3390900" cy="1905000"/>
          </a:xfrm>
        </p:grpSpPr>
        <p:sp>
          <p:nvSpPr>
            <p:cNvPr id="12" name="Rectangle 11"/>
            <p:cNvSpPr/>
            <p:nvPr/>
          </p:nvSpPr>
          <p:spPr>
            <a:xfrm>
              <a:off x="4356100" y="1524000"/>
              <a:ext cx="3390900" cy="1905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739900"/>
              <a:ext cx="2959100" cy="1473200"/>
            </a:xfrm>
            <a:prstGeom prst="rect">
              <a:avLst/>
            </a:prstGeom>
            <a:noFill/>
          </p:spPr>
          <p:txBody>
            <a:bodyPr wrap="square" lIns="0" rIns="0" tIns="0" bIns="0" anchor="t">
              <a:spAutoFit/>
            </a:bodyPr>
            <a:lstStyle/>
            <a:p>
              <a:pPr algn="l">
                <a:lnSpc>
                  <a:spcPct val="115000"/>
                </a:lnSpc>
              </a:pPr>
              <a:r>
                <a:rPr sz="4600" b="1" i="0">
                  <a:solidFill>
                    <a:srgbClr val="FF751F"/>
                  </a:solidFill>
                  <a:latin typeface="Times New Roman"/>
                </a:rPr>
                <a:t>18</a:t>
              </a:r>
            </a:p>
            <a:p>
              <a:pPr algn="l">
                <a:lnSpc>
                  <a:spcPct val="115000"/>
                </a:lnSpc>
                <a:spcBef>
                  <a:spcPts val="500"/>
                </a:spcBef>
              </a:pPr>
              <a:r>
                <a:rPr sz="1400" b="0" i="0">
                  <a:solidFill>
                    <a:srgbClr val="111111"/>
                  </a:solidFill>
                  <a:latin typeface="Times New Roman"/>
                </a:rPr>
                <a:t>scripted steps, each with automatic PASS/FAIL checks</a:t>
              </a:r>
            </a:p>
          </p:txBody>
        </p:sp>
      </p:grpSp>
      <p:grpSp>
        <p:nvGrpSpPr>
          <p:cNvPr id="14" name="Group 13"/>
          <p:cNvGrpSpPr/>
          <p:nvPr/>
        </p:nvGrpSpPr>
        <p:grpSpPr>
          <a:xfrm>
            <a:off x="7950200" y="1524000"/>
            <a:ext cx="3390900" cy="1905000"/>
            <a:chOff x="7950200" y="1524000"/>
            <a:chExt cx="3390900" cy="1905000"/>
          </a:xfrm>
        </p:grpSpPr>
        <p:sp>
          <p:nvSpPr>
            <p:cNvPr id="15" name="Rectangle 14"/>
            <p:cNvSpPr/>
            <p:nvPr/>
          </p:nvSpPr>
          <p:spPr>
            <a:xfrm>
              <a:off x="7950200" y="1524000"/>
              <a:ext cx="3390900" cy="1905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6100" y="1739900"/>
              <a:ext cx="2959100" cy="1473200"/>
            </a:xfrm>
            <a:prstGeom prst="rect">
              <a:avLst/>
            </a:prstGeom>
            <a:noFill/>
          </p:spPr>
          <p:txBody>
            <a:bodyPr wrap="square" lIns="0" rIns="0" tIns="0" bIns="0" anchor="t">
              <a:spAutoFit/>
            </a:bodyPr>
            <a:lstStyle/>
            <a:p>
              <a:pPr algn="l">
                <a:lnSpc>
                  <a:spcPct val="115000"/>
                </a:lnSpc>
              </a:pPr>
              <a:r>
                <a:rPr sz="4600" b="1" i="0">
                  <a:solidFill>
                    <a:srgbClr val="FF751F"/>
                  </a:solidFill>
                  <a:latin typeface="Times New Roman"/>
                </a:rPr>
                <a:t>69</a:t>
              </a:r>
            </a:p>
            <a:p>
              <a:pPr algn="l">
                <a:lnSpc>
                  <a:spcPct val="115000"/>
                </a:lnSpc>
                <a:spcBef>
                  <a:spcPts val="500"/>
                </a:spcBef>
              </a:pPr>
              <a:r>
                <a:rPr sz="1400" b="0" i="0">
                  <a:solidFill>
                    <a:srgbClr val="111111"/>
                  </a:solidFill>
                  <a:latin typeface="Times New Roman"/>
                </a:rPr>
                <a:t>unit tests covering physics, models and measurement</a:t>
              </a:r>
            </a:p>
          </p:txBody>
        </p:sp>
      </p:grpSp>
      <p:grpSp>
        <p:nvGrpSpPr>
          <p:cNvPr id="17" name="Group 16"/>
          <p:cNvGrpSpPr/>
          <p:nvPr/>
        </p:nvGrpSpPr>
        <p:grpSpPr>
          <a:xfrm>
            <a:off x="762000" y="3683000"/>
            <a:ext cx="3390900" cy="1905000"/>
            <a:chOff x="762000" y="3683000"/>
            <a:chExt cx="3390900" cy="1905000"/>
          </a:xfrm>
        </p:grpSpPr>
        <p:sp>
          <p:nvSpPr>
            <p:cNvPr id="18" name="Rectangle 17"/>
            <p:cNvSpPr/>
            <p:nvPr/>
          </p:nvSpPr>
          <p:spPr>
            <a:xfrm>
              <a:off x="762000" y="3683000"/>
              <a:ext cx="3390900" cy="1905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7900" y="3898900"/>
              <a:ext cx="2959100" cy="1473200"/>
            </a:xfrm>
            <a:prstGeom prst="rect">
              <a:avLst/>
            </a:prstGeom>
            <a:noFill/>
          </p:spPr>
          <p:txBody>
            <a:bodyPr wrap="square" lIns="0" rIns="0" tIns="0" bIns="0" anchor="t">
              <a:spAutoFit/>
            </a:bodyPr>
            <a:lstStyle/>
            <a:p>
              <a:pPr algn="l">
                <a:lnSpc>
                  <a:spcPct val="115000"/>
                </a:lnSpc>
              </a:pPr>
              <a:r>
                <a:rPr sz="4600" b="1" i="0">
                  <a:solidFill>
                    <a:srgbClr val="FF751F"/>
                  </a:solidFill>
                  <a:latin typeface="Times New Roman"/>
                </a:rPr>
                <a:t>15 h</a:t>
              </a:r>
            </a:p>
            <a:p>
              <a:pPr algn="l">
                <a:lnSpc>
                  <a:spcPct val="115000"/>
                </a:lnSpc>
                <a:spcBef>
                  <a:spcPts val="500"/>
                </a:spcBef>
              </a:pPr>
              <a:r>
                <a:rPr sz="1400" b="0" i="0">
                  <a:solidFill>
                    <a:srgbClr val="111111"/>
                  </a:solidFill>
                  <a:latin typeface="Times New Roman"/>
                </a:rPr>
                <a:t>full study on one rented L40S GPU, about US$20</a:t>
              </a:r>
            </a:p>
          </p:txBody>
        </p:sp>
      </p:grpSp>
      <p:grpSp>
        <p:nvGrpSpPr>
          <p:cNvPr id="20" name="Group 19"/>
          <p:cNvGrpSpPr/>
          <p:nvPr/>
        </p:nvGrpSpPr>
        <p:grpSpPr>
          <a:xfrm>
            <a:off x="4356100" y="3683000"/>
            <a:ext cx="3390900" cy="1905000"/>
            <a:chOff x="4356100" y="3683000"/>
            <a:chExt cx="3390900" cy="1905000"/>
          </a:xfrm>
        </p:grpSpPr>
        <p:sp>
          <p:nvSpPr>
            <p:cNvPr id="21" name="Rectangle 20"/>
            <p:cNvSpPr/>
            <p:nvPr/>
          </p:nvSpPr>
          <p:spPr>
            <a:xfrm>
              <a:off x="4356100" y="3683000"/>
              <a:ext cx="3390900" cy="1905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898900"/>
              <a:ext cx="2959100" cy="1473200"/>
            </a:xfrm>
            <a:prstGeom prst="rect">
              <a:avLst/>
            </a:prstGeom>
            <a:noFill/>
          </p:spPr>
          <p:txBody>
            <a:bodyPr wrap="square" lIns="0" rIns="0" tIns="0" bIns="0" anchor="t">
              <a:spAutoFit/>
            </a:bodyPr>
            <a:lstStyle/>
            <a:p>
              <a:pPr algn="l">
                <a:lnSpc>
                  <a:spcPct val="115000"/>
                </a:lnSpc>
              </a:pPr>
              <a:r>
                <a:rPr sz="4600" b="1" i="0">
                  <a:solidFill>
                    <a:srgbClr val="FF751F"/>
                  </a:solidFill>
                  <a:latin typeface="Times New Roman"/>
                </a:rPr>
                <a:t>17.4 M</a:t>
              </a:r>
            </a:p>
            <a:p>
              <a:pPr algn="l">
                <a:lnSpc>
                  <a:spcPct val="115000"/>
                </a:lnSpc>
                <a:spcBef>
                  <a:spcPts val="500"/>
                </a:spcBef>
              </a:pPr>
              <a:r>
                <a:rPr sz="1400" b="0" i="0">
                  <a:solidFill>
                    <a:srgbClr val="111111"/>
                  </a:solidFill>
                  <a:latin typeface="Times New Roman"/>
                </a:rPr>
                <a:t>parameter 3D diffusion model, trained in 6 hours</a:t>
              </a:r>
            </a:p>
          </p:txBody>
        </p:sp>
      </p:grpSp>
      <p:grpSp>
        <p:nvGrpSpPr>
          <p:cNvPr id="23" name="Group 22"/>
          <p:cNvGrpSpPr/>
          <p:nvPr/>
        </p:nvGrpSpPr>
        <p:grpSpPr>
          <a:xfrm>
            <a:off x="7950200" y="3683000"/>
            <a:ext cx="3390900" cy="1905000"/>
            <a:chOff x="7950200" y="3683000"/>
            <a:chExt cx="3390900" cy="1905000"/>
          </a:xfrm>
        </p:grpSpPr>
        <p:sp>
          <p:nvSpPr>
            <p:cNvPr id="24" name="Rectangle 23"/>
            <p:cNvSpPr/>
            <p:nvPr/>
          </p:nvSpPr>
          <p:spPr>
            <a:xfrm>
              <a:off x="7950200" y="3683000"/>
              <a:ext cx="3390900" cy="19050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66100" y="3898900"/>
              <a:ext cx="2959100" cy="1473200"/>
            </a:xfrm>
            <a:prstGeom prst="rect">
              <a:avLst/>
            </a:prstGeom>
            <a:noFill/>
          </p:spPr>
          <p:txBody>
            <a:bodyPr wrap="square" lIns="0" rIns="0" tIns="0" bIns="0" anchor="t">
              <a:spAutoFit/>
            </a:bodyPr>
            <a:lstStyle/>
            <a:p>
              <a:pPr algn="l">
                <a:lnSpc>
                  <a:spcPct val="115000"/>
                </a:lnSpc>
              </a:pPr>
              <a:r>
                <a:rPr sz="4600" b="1" i="0">
                  <a:solidFill>
                    <a:srgbClr val="FF751F"/>
                  </a:solidFill>
                  <a:latin typeface="Times New Roman"/>
                </a:rPr>
                <a:t>45.5 s</a:t>
              </a:r>
            </a:p>
            <a:p>
              <a:pPr algn="l">
                <a:lnSpc>
                  <a:spcPct val="115000"/>
                </a:lnSpc>
                <a:spcBef>
                  <a:spcPts val="500"/>
                </a:spcBef>
              </a:pPr>
              <a:r>
                <a:rPr sz="1400" b="0" i="0">
                  <a:solidFill>
                    <a:srgbClr val="111111"/>
                  </a:solidFill>
                  <a:latin typeface="Times New Roman"/>
                </a:rPr>
                <a:t>median per nodule, all five reconstruction methods</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additive="base">
                                        <p:cTn id="5" dur="500" fill="hold"/>
                                        <p:tgtEl>
                                          <p:spTgt spid="8"/>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anim calcmode="lin" valueType="num">
                                      <p:cBhvr additive="base">
                                        <p:cTn id="11" dur="500" fill="hold"/>
                                        <p:tgtEl>
                                          <p:spTgt spid="11"/>
                                        </p:tgtEl>
                                        <p:attrNameLst>
                                          <p:attrName>ppt_y</p:attrName>
                                        </p:attrNameLst>
                                      </p:cBhvr>
                                      <p:tavLst>
                                        <p:tav tm="0">
                                          <p:val>
                                            <p:strVal val="#ppt_y+0.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8" presetID="42"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additive="base">
                                        <p:cTn id="17" dur="500" fill="hold"/>
                                        <p:tgtEl>
                                          <p:spTgt spid="14"/>
                                        </p:tgtEl>
                                        <p:attrNameLst>
                                          <p:attrName>ppt_y</p:attrName>
                                        </p:attrNameLst>
                                      </p:cBhvr>
                                      <p:tavLst>
                                        <p:tav tm="0">
                                          <p:val>
                                            <p:strVal val="#ppt_y+0.05"/>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anim calcmode="lin" valueType="num">
                                      <p:cBhvr additive="base">
                                        <p:cTn id="23" dur="500" fill="hold"/>
                                        <p:tgtEl>
                                          <p:spTgt spid="17"/>
                                        </p:tgtEl>
                                        <p:attrNameLst>
                                          <p:attrName>ppt_y</p:attrName>
                                        </p:attrNameLst>
                                      </p:cBhvr>
                                      <p:tavLst>
                                        <p:tav tm="0">
                                          <p:val>
                                            <p:strVal val="#ppt_y+0.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0" presetID="42"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anim calcmode="lin" valueType="num">
                                      <p:cBhvr additive="base">
                                        <p:cTn id="29" dur="500" fill="hold"/>
                                        <p:tgtEl>
                                          <p:spTgt spid="20"/>
                                        </p:tgtEl>
                                        <p:attrNameLst>
                                          <p:attrName>ppt_y</p:attrName>
                                        </p:attrNameLst>
                                      </p:cBhvr>
                                      <p:tavLst>
                                        <p:tav tm="0">
                                          <p:val>
                                            <p:strVal val="#ppt_y+0.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anim calcmode="lin" valueType="num">
                                      <p:cBhvr additive="base">
                                        <p:cTn id="35" dur="500" fill="hold"/>
                                        <p:tgtEl>
                                          <p:spTgt spid="23"/>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3D57"/>
        </a:solidFill>
        <a:effectLst/>
      </p:bgPr>
    </p:bg>
    <p:spTree>
      <p:nvGrpSpPr>
        <p:cNvPr id="1" name=""/>
        <p:cNvGrpSpPr/>
        <p:nvPr/>
      </p:nvGrpSpPr>
      <p:grpSpPr/>
      <p:sp>
        <p:nvSpPr>
          <p:cNvPr id="2" name="TextBox 1"/>
          <p:cNvSpPr txBox="1"/>
          <p:nvPr/>
        </p:nvSpPr>
        <p:spPr>
          <a:xfrm>
            <a:off x="1016000" y="2857500"/>
            <a:ext cx="10160000" cy="698500"/>
          </a:xfrm>
          <a:prstGeom prst="rect">
            <a:avLst/>
          </a:prstGeom>
          <a:noFill/>
        </p:spPr>
        <p:txBody>
          <a:bodyPr wrap="square" lIns="0" rIns="0" tIns="0" bIns="0" anchor="t">
            <a:spAutoFit/>
          </a:bodyPr>
          <a:lstStyle/>
          <a:p>
            <a:pPr algn="ctr">
              <a:lnSpc>
                <a:spcPct val="115000"/>
              </a:lnSpc>
            </a:pPr>
            <a:r>
              <a:rPr sz="3800" b="0" i="1">
                <a:solidFill>
                  <a:srgbClr val="FFFFFF"/>
                </a:solidFill>
                <a:latin typeface="Times New Roman"/>
              </a:rPr>
              <a:t>Challenges, Limitations &amp; Conclusion</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Implementation Challenges &amp; Limitations</a:t>
            </a:r>
          </a:p>
        </p:txBody>
      </p:sp>
      <p:sp>
        <p:nvSpPr>
          <p:cNvPr id="3" name="TextBox 2"/>
          <p:cNvSpPr txBox="1"/>
          <p:nvPr/>
        </p:nvSpPr>
        <p:spPr>
          <a:xfrm>
            <a:off x="723900" y="863600"/>
            <a:ext cx="9207500" cy="279400"/>
          </a:xfrm>
          <a:prstGeom prst="rect">
            <a:avLst/>
          </a:prstGeom>
          <a:noFill/>
        </p:spPr>
        <p:txBody>
          <a:bodyPr wrap="square" lIns="0" rIns="0" tIns="0" bIns="0" anchor="t">
            <a:spAutoFit/>
          </a:bodyPr>
          <a:lstStyle/>
          <a:p>
            <a:pPr algn="l">
              <a:lnSpc>
                <a:spcPct val="115000"/>
              </a:lnSpc>
            </a:pPr>
            <a:r>
              <a:rPr sz="1550" b="0" i="1">
                <a:solidFill>
                  <a:srgbClr val="111111"/>
                </a:solidFill>
                <a:latin typeface="Times New Roman"/>
              </a:rPr>
              <a:t>Every gap traced to a cause and a concrete fix</a:t>
            </a:r>
          </a:p>
        </p:txBody>
      </p:sp>
      <p:sp>
        <p:nvSpPr>
          <p:cNvPr id="4" name="Rectangle 3"/>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u_logo.png"/>
          <p:cNvPicPr>
            <a:picLocks noChangeAspect="1"/>
          </p:cNvPicPr>
          <p:nvPr/>
        </p:nvPicPr>
        <p:blipFill>
          <a:blip r:embed="rId2"/>
          <a:stretch>
            <a:fillRect/>
          </a:stretch>
        </p:blipFill>
        <p:spPr>
          <a:xfrm>
            <a:off x="10147300" y="507303"/>
            <a:ext cx="1333500" cy="458594"/>
          </a:xfrm>
          <a:prstGeom prst="rect">
            <a:avLst/>
          </a:prstGeom>
        </p:spPr>
      </p:pic>
      <p:sp>
        <p:nvSpPr>
          <p:cNvPr id="6" name="Rounded Rectangle 5"/>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22</a:t>
            </a:r>
          </a:p>
        </p:txBody>
      </p:sp>
      <p:sp>
        <p:nvSpPr>
          <p:cNvPr id="8" name="Rectangle 7"/>
          <p:cNvSpPr/>
          <p:nvPr/>
        </p:nvSpPr>
        <p:spPr>
          <a:xfrm>
            <a:off x="762000" y="1460500"/>
            <a:ext cx="4445000" cy="2159000"/>
          </a:xfrm>
          <a:prstGeom prst="rect">
            <a:avLst/>
          </a:prstGeom>
          <a:solidFill>
            <a:srgbClr val="FFFFFF"/>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hrink.png"/>
          <p:cNvPicPr>
            <a:picLocks noChangeAspect="1"/>
          </p:cNvPicPr>
          <p:nvPr/>
        </p:nvPicPr>
        <p:blipFill>
          <a:blip r:embed="rId3"/>
          <a:stretch>
            <a:fillRect/>
          </a:stretch>
        </p:blipFill>
        <p:spPr>
          <a:xfrm>
            <a:off x="762000" y="1473649"/>
            <a:ext cx="4445000" cy="2132702"/>
          </a:xfrm>
          <a:prstGeom prst="rect">
            <a:avLst/>
          </a:prstGeom>
        </p:spPr>
      </p:pic>
      <p:sp>
        <p:nvSpPr>
          <p:cNvPr id="10" name="TextBox 9"/>
          <p:cNvSpPr txBox="1"/>
          <p:nvPr/>
        </p:nvSpPr>
        <p:spPr>
          <a:xfrm>
            <a:off x="762000" y="3683000"/>
            <a:ext cx="4445000" cy="254000"/>
          </a:xfrm>
          <a:prstGeom prst="rect">
            <a:avLst/>
          </a:prstGeom>
          <a:noFill/>
        </p:spPr>
        <p:txBody>
          <a:bodyPr wrap="square" lIns="0" rIns="0" tIns="0" bIns="0" anchor="t">
            <a:spAutoFit/>
          </a:bodyPr>
          <a:lstStyle/>
          <a:p>
            <a:pPr algn="ctr">
              <a:lnSpc>
                <a:spcPct val="115000"/>
              </a:lnSpc>
            </a:pPr>
            <a:r>
              <a:rPr sz="1300" b="0" i="0">
                <a:solidFill>
                  <a:srgbClr val="111111"/>
                </a:solidFill>
                <a:latin typeface="Times New Roman"/>
              </a:rPr>
              <a:t>Fig 17: 6.8 mm test nodule: CT truth (left), reconstruction shrunk (right)</a:t>
            </a:r>
          </a:p>
        </p:txBody>
      </p:sp>
      <p:grpSp>
        <p:nvGrpSpPr>
          <p:cNvPr id="11" name="Group 10"/>
          <p:cNvGrpSpPr/>
          <p:nvPr/>
        </p:nvGrpSpPr>
        <p:grpSpPr>
          <a:xfrm>
            <a:off x="5524500" y="1460500"/>
            <a:ext cx="5905500" cy="1206500"/>
            <a:chOff x="5524500" y="1460500"/>
            <a:chExt cx="5905500" cy="1206500"/>
          </a:xfrm>
        </p:grpSpPr>
        <p:sp>
          <p:nvSpPr>
            <p:cNvPr id="12" name="Rectangle 11"/>
            <p:cNvSpPr/>
            <p:nvPr/>
          </p:nvSpPr>
          <p:spPr>
            <a:xfrm>
              <a:off x="5524500" y="1460500"/>
              <a:ext cx="5905500" cy="1206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76900" y="1612900"/>
              <a:ext cx="5600700" cy="9017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Challenge 1: Faint nodules get shrunk</a:t>
              </a:r>
            </a:p>
            <a:p>
              <a:pPr algn="l">
                <a:lnSpc>
                  <a:spcPct val="115000"/>
                </a:lnSpc>
                <a:spcBef>
                  <a:spcPts val="400"/>
                </a:spcBef>
              </a:pPr>
              <a:r>
                <a:rPr sz="1350" b="0" i="0">
                  <a:solidFill>
                    <a:srgbClr val="111111"/>
                  </a:solidFill>
                  <a:latin typeface="Times New Roman"/>
                </a:rPr>
                <a:t>Fix: Condition the prior on the click and oversample nodule pairs.</a:t>
              </a:r>
            </a:p>
          </p:txBody>
        </p:sp>
      </p:grpSp>
      <p:grpSp>
        <p:nvGrpSpPr>
          <p:cNvPr id="14" name="Group 13"/>
          <p:cNvGrpSpPr/>
          <p:nvPr/>
        </p:nvGrpSpPr>
        <p:grpSpPr>
          <a:xfrm>
            <a:off x="5524500" y="2825750"/>
            <a:ext cx="5905500" cy="1206500"/>
            <a:chOff x="5524500" y="2825750"/>
            <a:chExt cx="5905500" cy="1206500"/>
          </a:xfrm>
        </p:grpSpPr>
        <p:sp>
          <p:nvSpPr>
            <p:cNvPr id="15" name="Rectangle 14"/>
            <p:cNvSpPr/>
            <p:nvPr/>
          </p:nvSpPr>
          <p:spPr>
            <a:xfrm>
              <a:off x="5524500" y="2825750"/>
              <a:ext cx="5905500" cy="1206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76900" y="2978150"/>
              <a:ext cx="5600700" cy="9017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Challenge 2: Mass read from the image</a:t>
              </a:r>
            </a:p>
            <a:p>
              <a:pPr algn="l">
                <a:lnSpc>
                  <a:spcPct val="115000"/>
                </a:lnSpc>
                <a:spcBef>
                  <a:spcPts val="400"/>
                </a:spcBef>
              </a:pPr>
              <a:r>
                <a:rPr sz="1350" b="0" i="0">
                  <a:solidFill>
                    <a:srgbClr val="111111"/>
                  </a:solidFill>
                  <a:latin typeface="Times New Roman"/>
                </a:rPr>
                <a:t>Fix: Read it from the projections, where 99.7% of mass is measured.</a:t>
              </a:r>
            </a:p>
          </p:txBody>
        </p:sp>
      </p:grpSp>
      <p:grpSp>
        <p:nvGrpSpPr>
          <p:cNvPr id="17" name="Group 16"/>
          <p:cNvGrpSpPr/>
          <p:nvPr/>
        </p:nvGrpSpPr>
        <p:grpSpPr>
          <a:xfrm>
            <a:off x="5524500" y="4191000"/>
            <a:ext cx="5905500" cy="1206500"/>
            <a:chOff x="5524500" y="4191000"/>
            <a:chExt cx="5905500" cy="1206500"/>
          </a:xfrm>
        </p:grpSpPr>
        <p:sp>
          <p:nvSpPr>
            <p:cNvPr id="18" name="Rectangle 17"/>
            <p:cNvSpPr/>
            <p:nvPr/>
          </p:nvSpPr>
          <p:spPr>
            <a:xfrm>
              <a:off x="5524500" y="4191000"/>
              <a:ext cx="5905500" cy="1206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6900" y="4343400"/>
              <a:ext cx="5600700" cy="9017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Challenge 3: Failed reads widen intervals</a:t>
              </a:r>
            </a:p>
            <a:p>
              <a:pPr algn="l">
                <a:lnSpc>
                  <a:spcPct val="115000"/>
                </a:lnSpc>
                <a:spcBef>
                  <a:spcPts val="400"/>
                </a:spcBef>
              </a:pPr>
              <a:r>
                <a:rPr sz="1350" b="0" i="0">
                  <a:solidFill>
                    <a:srgbClr val="111111"/>
                  </a:solidFill>
                  <a:latin typeface="Times New Roman"/>
                </a:rPr>
                <a:t>Fix: Report “not measurable” separately and calibrate the rest.</a:t>
              </a:r>
            </a:p>
          </p:txBody>
        </p:sp>
      </p:grpSp>
      <p:sp>
        <p:nvSpPr>
          <p:cNvPr id="20" name="TextBox 19"/>
          <p:cNvSpPr txBox="1"/>
          <p:nvPr/>
        </p:nvSpPr>
        <p:spPr>
          <a:xfrm>
            <a:off x="762000" y="4318000"/>
            <a:ext cx="4445000" cy="1397000"/>
          </a:xfrm>
          <a:prstGeom prst="rect">
            <a:avLst/>
          </a:prstGeom>
          <a:noFill/>
        </p:spPr>
        <p:txBody>
          <a:bodyPr wrap="square" lIns="0" rIns="0" tIns="0" bIns="0" anchor="t">
            <a:spAutoFit/>
          </a:bodyPr>
          <a:lstStyle/>
          <a:p>
            <a:pPr algn="l">
              <a:lnSpc>
                <a:spcPct val="115000"/>
              </a:lnSpc>
            </a:pPr>
            <a:r>
              <a:rPr sz="1500" b="1" i="1">
                <a:solidFill>
                  <a:srgbClr val="111111"/>
                </a:solidFill>
                <a:latin typeface="Times New Roman"/>
              </a:rPr>
              <a:t>Limitations</a:t>
            </a:r>
          </a:p>
          <a:p>
            <a:pPr algn="l">
              <a:lnSpc>
                <a:spcPct val="115000"/>
              </a:lnSpc>
              <a:spcBef>
                <a:spcPts val="400"/>
              </a:spcBef>
            </a:pPr>
            <a:r>
              <a:rPr sz="1200" b="0" i="0">
                <a:solidFill>
                  <a:srgbClr val="111111"/>
                </a:solidFill>
                <a:latin typeface="Times New Roman"/>
              </a:rPr>
              <a:t>•  Simulated DTS from CT; real scanners not yet tested</a:t>
            </a:r>
          </a:p>
          <a:p>
            <a:pPr algn="l">
              <a:lnSpc>
                <a:spcPct val="115000"/>
              </a:lnSpc>
              <a:spcBef>
                <a:spcPts val="200"/>
              </a:spcBef>
            </a:pPr>
            <a:r>
              <a:rPr sz="1200" b="0" i="0">
                <a:solidFill>
                  <a:srgbClr val="111111"/>
                </a:solidFill>
                <a:latin typeface="Times New Roman"/>
              </a:rPr>
              <a:t>•  15 views, 30° sweep; one acquisition geometry</a:t>
            </a:r>
          </a:p>
          <a:p>
            <a:pPr algn="l">
              <a:lnSpc>
                <a:spcPct val="115000"/>
              </a:lnSpc>
              <a:spcBef>
                <a:spcPts val="200"/>
              </a:spcBef>
            </a:pPr>
            <a:r>
              <a:rPr sz="1200" b="0" i="0">
                <a:solidFill>
                  <a:srgbClr val="111111"/>
                </a:solidFill>
                <a:latin typeface="Times New Roman"/>
              </a:rPr>
              <a:t>•  150 measured nodules and 40 growth pairs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42" presetClass="entr" presetSubtype="0"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additive="base">
                                        <p:cTn id="5" dur="500" fill="hold"/>
                                        <p:tgtEl>
                                          <p:spTgt spid="11"/>
                                        </p:tgtEl>
                                        <p:attrNameLst>
                                          <p:attrName>ppt_y</p:attrName>
                                        </p:attrNameLst>
                                      </p:cBhvr>
                                      <p:tavLst>
                                        <p:tav tm="0">
                                          <p:val>
                                            <p:strVal val="#ppt_y+0.05"/>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anim calcmode="lin" valueType="num">
                                      <p:cBhvr additive="base">
                                        <p:cTn id="11" dur="500" fill="hold"/>
                                        <p:tgtEl>
                                          <p:spTgt spid="14"/>
                                        </p:tgtEl>
                                        <p:attrNameLst>
                                          <p:attrName>ppt_y</p:attrName>
                                        </p:attrNameLst>
                                      </p:cBhvr>
                                      <p:tavLst>
                                        <p:tav tm="0">
                                          <p:val>
                                            <p:strVal val="#ppt_y+0.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8" presetID="42"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anim calcmode="lin" valueType="num">
                                      <p:cBhvr additive="base">
                                        <p:cTn id="17" dur="500" fill="hold"/>
                                        <p:tgtEl>
                                          <p:spTgt spid="17"/>
                                        </p:tgtEl>
                                        <p:attrNameLst>
                                          <p:attrName>ppt_y</p:attrName>
                                        </p:attrNameLst>
                                      </p:cBhvr>
                                      <p:tavLst>
                                        <p:tav tm="0">
                                          <p:val>
                                            <p:strVal val="#ppt_y+0.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3"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Conclusion</a:t>
            </a:r>
          </a:p>
        </p:txBody>
      </p:sp>
      <p:sp>
        <p:nvSpPr>
          <p:cNvPr id="3" name="Rectangle 2"/>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iu_logo.png"/>
          <p:cNvPicPr>
            <a:picLocks noChangeAspect="1"/>
          </p:cNvPicPr>
          <p:nvPr/>
        </p:nvPicPr>
        <p:blipFill>
          <a:blip r:embed="rId2"/>
          <a:stretch>
            <a:fillRect/>
          </a:stretch>
        </p:blipFill>
        <p:spPr>
          <a:xfrm>
            <a:off x="10147300" y="507303"/>
            <a:ext cx="1333500" cy="458594"/>
          </a:xfrm>
          <a:prstGeom prst="rect">
            <a:avLst/>
          </a:prstGeom>
        </p:spPr>
      </p:pic>
      <p:sp>
        <p:nvSpPr>
          <p:cNvPr id="5" name="Rounded Rectangle 4"/>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23</a:t>
            </a:r>
          </a:p>
        </p:txBody>
      </p:sp>
      <p:sp>
        <p:nvSpPr>
          <p:cNvPr id="7" name="TextBox 6"/>
          <p:cNvSpPr txBox="1"/>
          <p:nvPr/>
        </p:nvSpPr>
        <p:spPr>
          <a:xfrm>
            <a:off x="1397000" y="1587500"/>
            <a:ext cx="9398000" cy="1587500"/>
          </a:xfrm>
          <a:prstGeom prst="rect">
            <a:avLst/>
          </a:prstGeom>
          <a:noFill/>
        </p:spPr>
        <p:txBody>
          <a:bodyPr wrap="square" lIns="0" rIns="0" tIns="0" bIns="0" anchor="t">
            <a:spAutoFit/>
          </a:bodyPr>
          <a:lstStyle/>
          <a:p>
            <a:pPr algn="ctr">
              <a:lnSpc>
                <a:spcPct val="130000"/>
              </a:lnSpc>
            </a:pPr>
            <a:r>
              <a:rPr sz="1600" b="0" i="0">
                <a:solidFill>
                  <a:srgbClr val="111111"/>
                </a:solidFill>
                <a:latin typeface="Times New Roman"/>
              </a:rPr>
              <a:t>MedLift-3D turns one click on a low-dose chest tomosynthesis image into a 3D lung nodule measurement with calibrated, explainable uncertainty. We showed that DTS measures nodule mass in every view, built an X-ray-consistent diffusion prior with closed-form Gaussian mass, and validated the complete click-to-3D system on 583 patients for about US$22.</a:t>
            </a:r>
          </a:p>
        </p:txBody>
      </p:sp>
      <p:grpSp>
        <p:nvGrpSpPr>
          <p:cNvPr id="8" name="Group 7"/>
          <p:cNvGrpSpPr/>
          <p:nvPr/>
        </p:nvGrpSpPr>
        <p:grpSpPr>
          <a:xfrm>
            <a:off x="1397000" y="3556000"/>
            <a:ext cx="9398000" cy="2095500"/>
            <a:chOff x="1397000" y="3556000"/>
            <a:chExt cx="9398000" cy="2095500"/>
          </a:xfrm>
        </p:grpSpPr>
        <p:sp>
          <p:nvSpPr>
            <p:cNvPr id="9" name="Rectangle 8"/>
            <p:cNvSpPr/>
            <p:nvPr/>
          </p:nvSpPr>
          <p:spPr>
            <a:xfrm>
              <a:off x="1397000" y="3556000"/>
              <a:ext cx="9398000" cy="2095500"/>
            </a:xfrm>
            <a:prstGeom prst="rect">
              <a:avLst/>
            </a:prstGeom>
            <a:solidFill>
              <a:srgbClr val="FFFFFF"/>
            </a:solidFill>
            <a:ln w="12700">
              <a:solidFill>
                <a:srgbClr val="F6B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4800" y="3733800"/>
              <a:ext cx="9042400" cy="1739900"/>
            </a:xfrm>
            <a:prstGeom prst="rect">
              <a:avLst/>
            </a:prstGeom>
            <a:noFill/>
          </p:spPr>
          <p:txBody>
            <a:bodyPr wrap="square" lIns="0" rIns="0" tIns="0" bIns="0" anchor="t">
              <a:spAutoFit/>
            </a:bodyPr>
            <a:lstStyle/>
            <a:p>
              <a:pPr algn="l">
                <a:lnSpc>
                  <a:spcPct val="115000"/>
                </a:lnSpc>
              </a:pPr>
              <a:r>
                <a:rPr sz="1600" b="1" i="1">
                  <a:solidFill>
                    <a:srgbClr val="111111"/>
                  </a:solidFill>
                  <a:latin typeface="Times New Roman"/>
                </a:rPr>
                <a:t>Future work</a:t>
              </a:r>
            </a:p>
            <a:p>
              <a:pPr algn="l">
                <a:lnSpc>
                  <a:spcPct val="115000"/>
                </a:lnSpc>
                <a:spcBef>
                  <a:spcPts val="500"/>
                </a:spcBef>
              </a:pPr>
              <a:r>
                <a:rPr sz="1350" b="0" i="0">
                  <a:solidFill>
                    <a:srgbClr val="111111"/>
                  </a:solidFill>
                  <a:latin typeface="Times New Roman"/>
                </a:rPr>
                <a:t>•  Click-conditioned, nodule-preserving prior and projection-domain mass measurement</a:t>
              </a:r>
            </a:p>
            <a:p>
              <a:pPr algn="l">
                <a:lnSpc>
                  <a:spcPct val="115000"/>
                </a:lnSpc>
                <a:spcBef>
                  <a:spcPts val="300"/>
                </a:spcBef>
              </a:pPr>
              <a:r>
                <a:rPr sz="1350" b="0" i="0">
                  <a:solidFill>
                    <a:srgbClr val="111111"/>
                  </a:solidFill>
                  <a:latin typeface="Times New Roman"/>
                </a:rPr>
                <a:t>•  Failure-aware calibration for narrower intervals</a:t>
              </a:r>
            </a:p>
            <a:p>
              <a:pPr algn="l">
                <a:lnSpc>
                  <a:spcPct val="115000"/>
                </a:lnSpc>
                <a:spcBef>
                  <a:spcPts val="300"/>
                </a:spcBef>
              </a:pPr>
              <a:r>
                <a:rPr sz="1350" b="0" i="0">
                  <a:solidFill>
                    <a:srgbClr val="111111"/>
                  </a:solidFill>
                  <a:latin typeface="Times New Roman"/>
                </a:rPr>
                <a:t>•  Real DTS + CT data with a hospital partner; Bangla interface and PACS integration</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9F9"/>
        </a:solidFill>
        <a:effectLst/>
      </p:bgPr>
    </p:bg>
    <p:spTree>
      <p:nvGrpSpPr>
        <p:cNvPr id="1" name=""/>
        <p:cNvGrpSpPr/>
        <p:nvPr/>
      </p:nvGrpSpPr>
      <p:grpSpPr/>
      <p:sp>
        <p:nvSpPr>
          <p:cNvPr id="2" name="TextBox 1"/>
          <p:cNvSpPr txBox="1"/>
          <p:nvPr/>
        </p:nvSpPr>
        <p:spPr>
          <a:xfrm>
            <a:off x="711200" y="368300"/>
            <a:ext cx="9207500" cy="508000"/>
          </a:xfrm>
          <a:prstGeom prst="rect">
            <a:avLst/>
          </a:prstGeom>
          <a:noFill/>
        </p:spPr>
        <p:txBody>
          <a:bodyPr wrap="square" lIns="0" rIns="0" tIns="0" bIns="0" anchor="t">
            <a:spAutoFit/>
          </a:bodyPr>
          <a:lstStyle/>
          <a:p>
            <a:pPr algn="l">
              <a:lnSpc>
                <a:spcPct val="115000"/>
              </a:lnSpc>
            </a:pPr>
            <a:r>
              <a:rPr sz="3000" b="1" i="1">
                <a:solidFill>
                  <a:srgbClr val="111111"/>
                </a:solidFill>
                <a:latin typeface="Times New Roman"/>
              </a:rPr>
              <a:t>References</a:t>
            </a:r>
          </a:p>
        </p:txBody>
      </p:sp>
      <p:sp>
        <p:nvSpPr>
          <p:cNvPr id="3" name="Rectangle 2"/>
          <p:cNvSpPr/>
          <p:nvPr/>
        </p:nvSpPr>
        <p:spPr>
          <a:xfrm>
            <a:off x="685800" y="1168400"/>
            <a:ext cx="10820400" cy="50800"/>
          </a:xfrm>
          <a:prstGeom prst="rect">
            <a:avLst/>
          </a:prstGeom>
          <a:solidFill>
            <a:srgbClr val="FF7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iu_logo.png"/>
          <p:cNvPicPr>
            <a:picLocks noChangeAspect="1"/>
          </p:cNvPicPr>
          <p:nvPr/>
        </p:nvPicPr>
        <p:blipFill>
          <a:blip r:embed="rId2"/>
          <a:stretch>
            <a:fillRect/>
          </a:stretch>
        </p:blipFill>
        <p:spPr>
          <a:xfrm>
            <a:off x="10147300" y="507303"/>
            <a:ext cx="1333500" cy="458594"/>
          </a:xfrm>
          <a:prstGeom prst="rect">
            <a:avLst/>
          </a:prstGeom>
        </p:spPr>
      </p:pic>
      <p:sp>
        <p:nvSpPr>
          <p:cNvPr id="5" name="Rounded Rectangle 4"/>
          <p:cNvSpPr/>
          <p:nvPr/>
        </p:nvSpPr>
        <p:spPr>
          <a:xfrm>
            <a:off x="11125200" y="6146800"/>
            <a:ext cx="381000" cy="254000"/>
          </a:xfrm>
          <a:prstGeom prst="roundRect">
            <a:avLst>
              <a:gd name="adj" fmla="val 1500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25200" y="6146800"/>
            <a:ext cx="381000" cy="254000"/>
          </a:xfrm>
          <a:prstGeom prst="rect">
            <a:avLst/>
          </a:prstGeom>
          <a:noFill/>
        </p:spPr>
        <p:txBody>
          <a:bodyPr wrap="square" lIns="0" rIns="0" tIns="0" bIns="0" anchor="ctr">
            <a:spAutoFit/>
          </a:bodyPr>
          <a:lstStyle/>
          <a:p>
            <a:pPr algn="ctr">
              <a:lnSpc>
                <a:spcPct val="115000"/>
              </a:lnSpc>
            </a:pPr>
            <a:r>
              <a:rPr sz="1200" b="0" i="1">
                <a:solidFill>
                  <a:srgbClr val="111111"/>
                </a:solidFill>
                <a:latin typeface="Times New Roman"/>
              </a:rPr>
              <a:t>24</a:t>
            </a:r>
          </a:p>
        </p:txBody>
      </p:sp>
      <p:sp>
        <p:nvSpPr>
          <p:cNvPr id="7" name="TextBox 6"/>
          <p:cNvSpPr txBox="1"/>
          <p:nvPr/>
        </p:nvSpPr>
        <p:spPr>
          <a:xfrm>
            <a:off x="762000" y="1365250"/>
            <a:ext cx="10668000" cy="4699000"/>
          </a:xfrm>
          <a:prstGeom prst="rect">
            <a:avLst/>
          </a:prstGeom>
          <a:noFill/>
        </p:spPr>
        <p:txBody>
          <a:bodyPr wrap="square" lIns="0" rIns="0" tIns="0" bIns="0" anchor="t">
            <a:spAutoFit/>
          </a:bodyPr>
          <a:lstStyle/>
          <a:p>
            <a:pPr algn="l">
              <a:lnSpc>
                <a:spcPct val="105000"/>
              </a:lnSpc>
            </a:pPr>
            <a:r>
              <a:rPr sz="1300" b="0" i="0">
                <a:solidFill>
                  <a:srgbClr val="111111"/>
                </a:solidFill>
                <a:latin typeface="Times New Roman"/>
              </a:rPr>
              <a:t>[1] Y. Li, X. Fu, H. Li, S. Zhao, R. Jin, and S. K. Zhou, “3DGR-CT: Sparse-view CT reconstruction with a 3D Gaussian representation,” Medical Image Analysis, vol. 103, p. 103585, 2025.</a:t>
            </a:r>
          </a:p>
          <a:p>
            <a:pPr algn="l">
              <a:lnSpc>
                <a:spcPct val="105000"/>
              </a:lnSpc>
              <a:spcBef>
                <a:spcPts val="700"/>
              </a:spcBef>
            </a:pPr>
            <a:r>
              <a:rPr sz="1300" b="0" i="0">
                <a:solidFill>
                  <a:srgbClr val="111111"/>
                </a:solidFill>
                <a:latin typeface="Times New Roman"/>
              </a:rPr>
              <a:t>[2] R. Zha, T. J. Lin, Y. Cai, J. Cao, Y. Zhang, and H. Li, “R²-Gaussian: Rectifying radiative Gaussian splatting for tomographic reconstruction,” in Proc. NeurIPS, 2024.</a:t>
            </a:r>
          </a:p>
          <a:p>
            <a:pPr algn="l">
              <a:lnSpc>
                <a:spcPct val="105000"/>
              </a:lnSpc>
              <a:spcBef>
                <a:spcPts val="700"/>
              </a:spcBef>
            </a:pPr>
            <a:r>
              <a:rPr sz="1300" b="0" i="0">
                <a:solidFill>
                  <a:srgbClr val="111111"/>
                </a:solidFill>
                <a:latin typeface="Times New Roman"/>
              </a:rPr>
              <a:t>[3] H. Chung, J. Kim, M. T. Mccann, M. L. Klasky, and J. C. Ye, “Diffusion posterior sampling for general noisy inverse problems,” in Proc. ICLR, 2023.</a:t>
            </a:r>
          </a:p>
          <a:p>
            <a:pPr algn="l">
              <a:lnSpc>
                <a:spcPct val="105000"/>
              </a:lnSpc>
              <a:spcBef>
                <a:spcPts val="700"/>
              </a:spcBef>
            </a:pPr>
            <a:r>
              <a:rPr sz="1300" b="0" i="0">
                <a:solidFill>
                  <a:srgbClr val="111111"/>
                </a:solidFill>
                <a:latin typeface="Times New Roman"/>
              </a:rPr>
              <a:t>[4] S. Bhadra, V. A. Kelkar, F. J. Brooks, and M. A. Anastasio, “On hallucinations in tomographic image reconstruction,” IEEE Trans. Med. Imaging, vol. 40, no. 11, pp. 3249–3260, 2021.</a:t>
            </a:r>
          </a:p>
          <a:p>
            <a:pPr algn="l">
              <a:lnSpc>
                <a:spcPct val="105000"/>
              </a:lnSpc>
              <a:spcBef>
                <a:spcPts val="700"/>
              </a:spcBef>
            </a:pPr>
            <a:r>
              <a:rPr sz="1300" b="0" i="0">
                <a:solidFill>
                  <a:srgbClr val="111111"/>
                </a:solidFill>
                <a:latin typeface="Times New Roman"/>
              </a:rPr>
              <a:t>[5] B. de Hoop et al., “Pulmonary ground-glass nodules: increase in mass as an early indicator of growth,” Radiology, vol. 255, no. 1, pp. 199–206, 2010.</a:t>
            </a:r>
          </a:p>
          <a:p>
            <a:pPr algn="l">
              <a:lnSpc>
                <a:spcPct val="105000"/>
              </a:lnSpc>
              <a:spcBef>
                <a:spcPts val="700"/>
              </a:spcBef>
            </a:pPr>
            <a:r>
              <a:rPr sz="1300" b="0" i="0">
                <a:solidFill>
                  <a:srgbClr val="111111"/>
                </a:solidFill>
                <a:latin typeface="Times New Roman"/>
              </a:rPr>
              <a:t>[6] S. G. Armato III et al., “The Lung Image Database Consortium (LIDC) and Image Database Resource Initiative (IDRI),” Medical Physics, vol. 38, no. 2, pp. 915–931, 2011.</a:t>
            </a:r>
          </a:p>
          <a:p>
            <a:pPr algn="l">
              <a:lnSpc>
                <a:spcPct val="105000"/>
              </a:lnSpc>
              <a:spcBef>
                <a:spcPts val="700"/>
              </a:spcBef>
            </a:pPr>
            <a:r>
              <a:rPr sz="1300" b="0" i="0">
                <a:solidFill>
                  <a:srgbClr val="111111"/>
                </a:solidFill>
                <a:latin typeface="Times New Roman"/>
              </a:rPr>
              <a:t>[7] J. Ho, A. Jain, and P. Abbeel, “Denoising diffusion probabilistic models,” in Proc. NeurIPS, 2020.</a:t>
            </a:r>
          </a:p>
          <a:p>
            <a:pPr algn="l">
              <a:lnSpc>
                <a:spcPct val="105000"/>
              </a:lnSpc>
              <a:spcBef>
                <a:spcPts val="700"/>
              </a:spcBef>
            </a:pPr>
            <a:r>
              <a:rPr sz="1300" b="0" i="0">
                <a:solidFill>
                  <a:srgbClr val="111111"/>
                </a:solidFill>
                <a:latin typeface="Times New Roman"/>
              </a:rPr>
              <a:t>[8] B. Kerbl, G. Kopanas, T. Leimkühler, and G. Drettakis, “3D Gaussian splatting for real-time radiance field rendering,” ACM Trans. Graphics, vol. 42, no. 4, 2023.</a:t>
            </a:r>
          </a:p>
          <a:p>
            <a:pPr algn="l">
              <a:lnSpc>
                <a:spcPct val="105000"/>
              </a:lnSpc>
              <a:spcBef>
                <a:spcPts val="700"/>
              </a:spcBef>
            </a:pPr>
            <a:r>
              <a:rPr sz="1300" b="0" i="0">
                <a:solidFill>
                  <a:srgbClr val="111111"/>
                </a:solidFill>
                <a:latin typeface="Times New Roman"/>
              </a:rPr>
              <a:t>[9] V. Vovk, J. Shen, V. Manokhin, and M. Xie, “Nonparametric predictive distributions based on conformal prediction,” Machine Learning, vol. 108, pp. 445–474, 2019.</a:t>
            </a:r>
          </a:p>
          <a:p>
            <a:pPr algn="l">
              <a:lnSpc>
                <a:spcPct val="105000"/>
              </a:lnSpc>
              <a:spcBef>
                <a:spcPts val="700"/>
              </a:spcBef>
            </a:pPr>
            <a:r>
              <a:rPr sz="1300" b="0" i="0">
                <a:solidFill>
                  <a:srgbClr val="111111"/>
                </a:solidFill>
                <a:latin typeface="Times New Roman"/>
              </a:rPr>
              <a:t>[10] J. T. Dobbins III and D. J. Godfrey, “Digital x-ray tomosynthesis: current state of the art and clinical potential,” Phys. Med. Biol., vol. 48, no. 19, pp. R65–R106, 2003.</a:t>
            </a:r>
          </a:p>
          <a:p>
            <a:pPr algn="l">
              <a:lnSpc>
                <a:spcPct val="105000"/>
              </a:lnSpc>
              <a:spcBef>
                <a:spcPts val="700"/>
              </a:spcBef>
            </a:pPr>
            <a:r>
              <a:rPr sz="1300" b="0" i="0">
                <a:solidFill>
                  <a:srgbClr val="111111"/>
                </a:solidFill>
                <a:latin typeface="Times New Roman"/>
              </a:rPr>
              <a:t>[11] F. Bray et al., “Global cancer statistics 2022: GLOBOCAN estimates of incidence and mortality worldwide,” CA Cancer J. Clin., vol. 74, no. 3, 2024.</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3D57"/>
        </a:solidFill>
        <a:effectLst/>
      </p:bgPr>
    </p:bg>
    <p:spTree>
      <p:nvGrpSpPr>
        <p:cNvPr id="1" name=""/>
        <p:cNvGrpSpPr/>
        <p:nvPr/>
      </p:nvGrpSpPr>
      <p:grpSpPr/>
      <p:sp>
        <p:nvSpPr>
          <p:cNvPr id="2" name="Rectangle 1"/>
          <p:cNvSpPr/>
          <p:nvPr/>
        </p:nvSpPr>
        <p:spPr>
          <a:xfrm>
            <a:off x="0" y="6286500"/>
            <a:ext cx="12192000" cy="571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iu_logo.png"/>
          <p:cNvPicPr>
            <a:picLocks noChangeAspect="1"/>
          </p:cNvPicPr>
          <p:nvPr/>
        </p:nvPicPr>
        <p:blipFill>
          <a:blip r:embed="rId2"/>
          <a:stretch>
            <a:fillRect/>
          </a:stretch>
        </p:blipFill>
        <p:spPr>
          <a:xfrm>
            <a:off x="5449741" y="6350000"/>
            <a:ext cx="1292518" cy="444500"/>
          </a:xfrm>
          <a:prstGeom prst="rect">
            <a:avLst/>
          </a:prstGeom>
        </p:spPr>
      </p:pic>
      <p:pic>
        <p:nvPicPr>
          <p:cNvPr id="4" name="Picture 3" descr="chat_icon.png"/>
          <p:cNvPicPr>
            <a:picLocks noChangeAspect="1"/>
          </p:cNvPicPr>
          <p:nvPr/>
        </p:nvPicPr>
        <p:blipFill>
          <a:blip r:embed="rId3"/>
          <a:stretch>
            <a:fillRect/>
          </a:stretch>
        </p:blipFill>
        <p:spPr>
          <a:xfrm>
            <a:off x="5715000" y="2107406"/>
            <a:ext cx="762000" cy="547688"/>
          </a:xfrm>
          <a:prstGeom prst="rect">
            <a:avLst/>
          </a:prstGeom>
        </p:spPr>
      </p:pic>
      <p:sp>
        <p:nvSpPr>
          <p:cNvPr id="5" name="TextBox 4"/>
          <p:cNvSpPr txBox="1"/>
          <p:nvPr/>
        </p:nvSpPr>
        <p:spPr>
          <a:xfrm>
            <a:off x="2286000" y="2857500"/>
            <a:ext cx="7620000" cy="635000"/>
          </a:xfrm>
          <a:prstGeom prst="rect">
            <a:avLst/>
          </a:prstGeom>
          <a:noFill/>
        </p:spPr>
        <p:txBody>
          <a:bodyPr wrap="square" lIns="0" rIns="0" tIns="0" bIns="0" anchor="t">
            <a:spAutoFit/>
          </a:bodyPr>
          <a:lstStyle/>
          <a:p>
            <a:pPr algn="ctr">
              <a:lnSpc>
                <a:spcPct val="115000"/>
              </a:lnSpc>
            </a:pPr>
            <a:r>
              <a:rPr sz="4200" b="0" i="1">
                <a:solidFill>
                  <a:srgbClr val="FFFFFF"/>
                </a:solidFill>
                <a:latin typeface="Times New Roman"/>
              </a:rPr>
              <a:t>Thank you.</a:t>
            </a:r>
          </a:p>
        </p:txBody>
      </p:sp>
      <p:sp>
        <p:nvSpPr>
          <p:cNvPr id="6" name="TextBox 5"/>
          <p:cNvSpPr txBox="1"/>
          <p:nvPr/>
        </p:nvSpPr>
        <p:spPr>
          <a:xfrm>
            <a:off x="1651000" y="3683000"/>
            <a:ext cx="8890000" cy="635000"/>
          </a:xfrm>
          <a:prstGeom prst="rect">
            <a:avLst/>
          </a:prstGeom>
          <a:noFill/>
        </p:spPr>
        <p:txBody>
          <a:bodyPr wrap="square" lIns="0" rIns="0" tIns="0" bIns="0" anchor="t">
            <a:spAutoFit/>
          </a:bodyPr>
          <a:lstStyle/>
          <a:p>
            <a:pPr algn="ctr">
              <a:lnSpc>
                <a:spcPct val="115000"/>
              </a:lnSpc>
            </a:pPr>
            <a:r>
              <a:rPr sz="4200" b="0" i="1">
                <a:solidFill>
                  <a:srgbClr val="FFFFFF"/>
                </a:solidFill>
                <a:latin typeface="Times New Roman"/>
              </a:rPr>
              <a:t>We welcome your 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