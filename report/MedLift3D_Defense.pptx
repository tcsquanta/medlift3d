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We asked what DTS can measure, not just what it can show. If we take moments of each projection: the zeroth moment, the total signal on the detector, equals the nodule's mass in every single view, no matter how deep it is. We verified this numerically to 0.03 percent. But the depth extent, which you need for volume, enters through sine squared of the tube angle; at 15 degrees that is about 15 times worse conditioned.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pipeline, which I'll build up step by step. One: we simulate the DTS scan, 15 low-dose views, reconstructed with SIRT. Two: the clinician clicks, helped by a learned 3D detector. Three: we reconstruct a 64 millimetre prism, a column through the whole chest around the click. Four: a conditional 3D diffusion model generates eight CT-like hypotheses of that prism, and inside the sampler we keep pulling each one back to agree with the X-rays. Five: we fit 3D Gaussians, which give the mass in closed form. Six: conformal prediction turns the spread into calibrated intervals and size-category probabilities. Seven: we split every result into what the X-rays saw and what the prior filled in. Grey is physics, blue is learned, green is measurement and trust. Everything runs as 18 verified steps.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together with CT ground truth, so we ran a virtual clinical trial. We took 583 real patients from LIDC-IDRI, 1,144 nodules between 4 and 30 millimetres that at least three of four radiologists marked, and simulated 15-view low-dose DTS from each CT with realistic Poisson noise. On the left are the fifteen simulated views of one patient; the red circle marks the nodule. We split by patient, 60/20/20, so no test patient is ever seen in training or calibration. The diffusion prior trained on 2,522 pairs; 150 nodules were measured with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It is conditioned on the blurry DTS reconstruction of the prism and generates CT-like volumes. To stop it from inventing anatomy, we insert SIRT data-consistency steps inside the sampler, so every sample must still reproduce the measured X-rays. Here is a held-out example: left the DTS input, middle our sample, right the real CT; the sample recovers sharp ribs and vessels. It trained for 27,610 steps in six hours, and on held-out patients raised nodule-region PSNR from 11.88 to 15.23 dB. Fit checks showed no memorisation of inputs, but it is still under-trained.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nice property is that the integral of a Gaussian is known exactly, so the nodule's mass is a closed-form sum, no voxel counting. For trust, we use split conformal prediction: we measure the errors on 76 calibration nodules from patients never used in training, take the 90 percent quantile, and that becomes the interval for every new nodule. This gives a coverage guarantee without assuming any error distribution. We also produce calibrated probabilities of the clinical size categories, below 100, 100 to 300, and above 300 cubic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The diffusion prior improved nodule-region image quality on held-out patients by 3.35 dB. The learned detector is 17 times better than a training-free detector by the standard CPM score. Our conformal intervals reached 95 percent coverage on new patients, above the 90 percent target, while the raw spread of the samples covered only 28 percent; so calibration is what makes our uncertainty trustworthy. And calibrated probabilities cut the Brier score for "is this nodule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Uncertainty is where MedLift-3D differs from typical generative imaging. Our conformal intervals kept their guarantee on new patients: 95 to 96 percent coverage for a 90 percent target. The calibrated size-category probabilities are reliable too: at the 100 cubic millimetre threshold the calibration error fell from 0.58 to 0.12, and the most likely category was right 38 percent of the time instead of 26. The next step is width: when a reconstruction finds nothing at the click, that zero measurement widens the intervals a lot, so we will report those cases separately. And one insight for the field: the raw spread of generated samples correlates negatively with the error, so uncalibrated spread is not a safe uncertainty. Calibration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Using a conjugate-gradient null-space decomposition we split every 3D result into the part the fifteen X-rays actually measured, the seen part, and the part they cannot see, which only the prior can supply. The table of numbers on the right is the result over 30 test nodules. Only 0.3 percent of a nodule's mass is in the unseen part, which confirms our physics argument: the X-rays do measure mass. The prior's unseen content has a positive skill of 0.22 against the real CT, so it recovers missing depth rather than inventing structure. But after Gaussian fitting the skill falls to 0.09, so the Gaussian step throws away much of what the prior recovered. That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our accuracy benchmark: six methods on 74 test nodules, median volume error, lower is better, and a failed reading counts as 100 percent. Volume from tomosynthesis is hard for every method: even the clinical standard, the 2D diameter, is off by 88 percent. Our diffusion prior, in green, had the lowest error of all six methods, 74.5 percent, and the fewest failures, 3 percent. Adding the Gaussian step raised the error to 94.6, so the full pipeline did not yet beat physics-only reconstruction. The learned methods under-estimate size, and we traced exactly why, which I will show shortly. The lesson: sharper images alone are not enough; the measurement step must preserve the nodule.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The full study ran in about 15 hours on one rented L40S GPU for about 20 US dollars. The diffusion model has 17.4 million parameters and trained in 6 hours.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for about 22 US dollars.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28600"/>
          </a:xfrm>
          <a:prstGeom prst="rect">
            <a:avLst/>
          </a:prstGeom>
          <a:noFill/>
        </p:spPr>
        <p:txBody>
          <a:bodyPr wrap="square" lIns="0" rIns="0" tIns="0" bIns="0" anchor="t">
            <a:spAutoFit/>
          </a:bodyPr>
          <a:lstStyle/>
          <a:p>
            <a:pPr algn="l">
              <a:lnSpc>
                <a:spcPct val="120000"/>
              </a:lnSpc>
            </a:pPr>
            <a:r>
              <a:rPr sz="1300" b="0" i="0">
                <a:solidFill>
                  <a:srgbClr val="5B6470"/>
                </a:solidFill>
                <a:latin typeface="Segoe UI"/>
              </a:rPr>
              <a:t>United International University · Department of Computer Science and Engineering</a:t>
            </a:r>
          </a:p>
        </p:txBody>
      </p:sp>
      <p:sp>
        <p:nvSpPr>
          <p:cNvPr id="3" name="TextBox 2"/>
          <p:cNvSpPr txBox="1"/>
          <p:nvPr/>
        </p:nvSpPr>
        <p:spPr>
          <a:xfrm>
            <a:off x="812800" y="2095500"/>
            <a:ext cx="10566400" cy="254000"/>
          </a:xfrm>
          <a:prstGeom prst="rect">
            <a:avLst/>
          </a:prstGeom>
          <a:noFill/>
        </p:spPr>
        <p:txBody>
          <a:bodyPr wrap="square" lIns="0" rIns="0" tIns="0" bIns="0" anchor="t">
            <a:spAutoFit/>
          </a:bodyPr>
          <a:lstStyle/>
          <a:p>
            <a:pPr algn="l">
              <a:lnSpc>
                <a:spcPct val="120000"/>
              </a:lnSpc>
            </a:pPr>
            <a:r>
              <a:rPr sz="1400" b="1" i="0">
                <a:solidFill>
                  <a:srgbClr val="00677F"/>
                </a:solidFill>
                <a:latin typeface="Segoe UI"/>
              </a:rPr>
              <a:t>Final Year Design Project · Defense</a:t>
            </a:r>
          </a:p>
        </p:txBody>
      </p:sp>
      <p:sp>
        <p:nvSpPr>
          <p:cNvPr id="4" name="TextBox 3"/>
          <p:cNvSpPr txBox="1"/>
          <p:nvPr/>
        </p:nvSpPr>
        <p:spPr>
          <a:xfrm>
            <a:off x="812800" y="2444750"/>
            <a:ext cx="10566400" cy="1079500"/>
          </a:xfrm>
          <a:prstGeom prst="rect">
            <a:avLst/>
          </a:prstGeom>
          <a:noFill/>
        </p:spPr>
        <p:txBody>
          <a:bodyPr wrap="square" lIns="0" rIns="0" tIns="0" bIns="0" anchor="t">
            <a:spAutoFit/>
          </a:bodyPr>
          <a:lstStyle/>
          <a:p>
            <a:pPr algn="l">
              <a:lnSpc>
                <a:spcPct val="100000"/>
              </a:lnSpc>
            </a:pPr>
            <a:r>
              <a:rPr sz="7500" b="1" i="0">
                <a:solidFill>
                  <a:srgbClr val="1B1F24"/>
                </a:solidFill>
                <a:latin typeface="Segoe UI"/>
              </a:rPr>
              <a:t>MedLift-3D</a:t>
            </a:r>
          </a:p>
        </p:txBody>
      </p:sp>
      <p:sp>
        <p:nvSpPr>
          <p:cNvPr id="5" name="TextBox 4"/>
          <p:cNvSpPr txBox="1"/>
          <p:nvPr/>
        </p:nvSpPr>
        <p:spPr>
          <a:xfrm>
            <a:off x="812800" y="3651250"/>
            <a:ext cx="9017000" cy="762000"/>
          </a:xfrm>
          <a:prstGeom prst="rect">
            <a:avLst/>
          </a:prstGeom>
          <a:noFill/>
        </p:spPr>
        <p:txBody>
          <a:bodyPr wrap="square" lIns="0" rIns="0" tIns="0" bIns="0" anchor="t">
            <a:spAutoFit/>
          </a:bodyPr>
          <a:lstStyle/>
          <a:p>
            <a:pPr algn="l">
              <a:lnSpc>
                <a:spcPct val="120000"/>
              </a:lnSpc>
            </a:pPr>
            <a:r>
              <a:rPr sz="2100" b="0" i="0">
                <a:solidFill>
                  <a:srgbClr val="1B1F24"/>
                </a:solidFill>
                <a:latin typeface="Segoe UI"/>
              </a:rPr>
              <a:t>Click-to-3D lung nodule mass and growth assessment from low-dose chest tomosynthesis, with calibrated uncertainty</a:t>
            </a:r>
          </a:p>
        </p:txBody>
      </p:sp>
      <p:sp>
        <p:nvSpPr>
          <p:cNvPr id="6" name="Rectangle 5"/>
          <p:cNvSpPr/>
          <p:nvPr/>
        </p:nvSpPr>
        <p:spPr>
          <a:xfrm>
            <a:off x="812800" y="54610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5638800"/>
            <a:ext cx="2667000" cy="571500"/>
          </a:xfrm>
          <a:prstGeom prst="rect">
            <a:avLst/>
          </a:prstGeom>
          <a:noFill/>
        </p:spPr>
        <p:txBody>
          <a:bodyPr wrap="square" lIns="0" rIns="0" tIns="0" bIns="0" anchor="t">
            <a:spAutoFit/>
          </a:bodyPr>
          <a:lstStyle/>
          <a:p>
            <a:pPr algn="l">
              <a:lnSpc>
                <a:spcPct val="120000"/>
              </a:lnSpc>
            </a:pPr>
            <a:r>
              <a:rPr sz="1500" b="1" i="0">
                <a:solidFill>
                  <a:srgbClr val="1B1F24"/>
                </a:solidFill>
                <a:latin typeface="Segoe UI"/>
              </a:rPr>
              <a:t>Jubair Ahmed</a:t>
            </a:r>
          </a:p>
          <a:p>
            <a:pPr algn="l">
              <a:lnSpc>
                <a:spcPct val="120000"/>
              </a:lnSpc>
              <a:spcBef>
                <a:spcPts val="200"/>
              </a:spcBef>
            </a:pPr>
            <a:r>
              <a:rPr sz="1200" b="0" i="0">
                <a:solidFill>
                  <a:srgbClr val="5B6470"/>
                </a:solidFill>
                <a:latin typeface="Segoe UI"/>
              </a:rPr>
              <a:t>011222136</a:t>
            </a:r>
          </a:p>
        </p:txBody>
      </p:sp>
      <p:sp>
        <p:nvSpPr>
          <p:cNvPr id="8" name="TextBox 7"/>
          <p:cNvSpPr txBox="1"/>
          <p:nvPr/>
        </p:nvSpPr>
        <p:spPr>
          <a:xfrm>
            <a:off x="3606800" y="5638800"/>
            <a:ext cx="2667000" cy="571500"/>
          </a:xfrm>
          <a:prstGeom prst="rect">
            <a:avLst/>
          </a:prstGeom>
          <a:noFill/>
        </p:spPr>
        <p:txBody>
          <a:bodyPr wrap="square" lIns="0" rIns="0" tIns="0" bIns="0" anchor="t">
            <a:spAutoFit/>
          </a:bodyPr>
          <a:lstStyle/>
          <a:p>
            <a:pPr algn="l">
              <a:lnSpc>
                <a:spcPct val="120000"/>
              </a:lnSpc>
            </a:pPr>
            <a:r>
              <a:rPr sz="1500" b="1" i="0">
                <a:solidFill>
                  <a:srgbClr val="1B1F24"/>
                </a:solidFill>
                <a:latin typeface="Segoe UI"/>
              </a:rPr>
              <a:t>Foyez Ahammed Naeem</a:t>
            </a:r>
          </a:p>
          <a:p>
            <a:pPr algn="l">
              <a:lnSpc>
                <a:spcPct val="120000"/>
              </a:lnSpc>
              <a:spcBef>
                <a:spcPts val="200"/>
              </a:spcBef>
            </a:pPr>
            <a:r>
              <a:rPr sz="1200" b="0" i="0">
                <a:solidFill>
                  <a:srgbClr val="5B6470"/>
                </a:solidFill>
                <a:latin typeface="Segoe UI"/>
              </a:rPr>
              <a:t>011222011</a:t>
            </a:r>
          </a:p>
        </p:txBody>
      </p:sp>
      <p:sp>
        <p:nvSpPr>
          <p:cNvPr id="9" name="TextBox 8"/>
          <p:cNvSpPr txBox="1"/>
          <p:nvPr/>
        </p:nvSpPr>
        <p:spPr>
          <a:xfrm>
            <a:off x="6400800" y="5638800"/>
            <a:ext cx="2667000" cy="571500"/>
          </a:xfrm>
          <a:prstGeom prst="rect">
            <a:avLst/>
          </a:prstGeom>
          <a:noFill/>
        </p:spPr>
        <p:txBody>
          <a:bodyPr wrap="square" lIns="0" rIns="0" tIns="0" bIns="0" anchor="t">
            <a:spAutoFit/>
          </a:bodyPr>
          <a:lstStyle/>
          <a:p>
            <a:pPr algn="l">
              <a:lnSpc>
                <a:spcPct val="120000"/>
              </a:lnSpc>
            </a:pPr>
            <a:r>
              <a:rPr sz="1500" b="1" i="0">
                <a:solidFill>
                  <a:srgbClr val="1B1F24"/>
                </a:solidFill>
                <a:latin typeface="Segoe UI"/>
              </a:rPr>
              <a:t>Md Motasim Billah</a:t>
            </a:r>
          </a:p>
          <a:p>
            <a:pPr algn="l">
              <a:lnSpc>
                <a:spcPct val="120000"/>
              </a:lnSpc>
              <a:spcBef>
                <a:spcPts val="200"/>
              </a:spcBef>
            </a:pPr>
            <a:r>
              <a:rPr sz="1200" b="0" i="0">
                <a:solidFill>
                  <a:srgbClr val="5B6470"/>
                </a:solidFill>
                <a:latin typeface="Segoe UI"/>
              </a:rPr>
              <a:t>011222016</a:t>
            </a:r>
          </a:p>
        </p:txBody>
      </p:sp>
      <p:sp>
        <p:nvSpPr>
          <p:cNvPr id="10" name="TextBox 9"/>
          <p:cNvSpPr txBox="1"/>
          <p:nvPr/>
        </p:nvSpPr>
        <p:spPr>
          <a:xfrm>
            <a:off x="9474200" y="5638800"/>
            <a:ext cx="1905000" cy="571500"/>
          </a:xfrm>
          <a:prstGeom prst="rect">
            <a:avLst/>
          </a:prstGeom>
          <a:noFill/>
        </p:spPr>
        <p:txBody>
          <a:bodyPr wrap="square" lIns="0" rIns="0" tIns="0" bIns="0" anchor="t">
            <a:spAutoFit/>
          </a:bodyPr>
          <a:lstStyle/>
          <a:p>
            <a:pPr algn="r">
              <a:lnSpc>
                <a:spcPct val="120000"/>
              </a:lnSpc>
            </a:pPr>
            <a:r>
              <a:rPr sz="1500" b="1" i="0">
                <a:solidFill>
                  <a:srgbClr val="1B1F24"/>
                </a:solidFill>
                <a:latin typeface="Segoe UI"/>
              </a:rPr>
              <a:t>2 November 2026</a:t>
            </a:r>
          </a:p>
          <a:p>
            <a:pPr algn="r">
              <a:lnSpc>
                <a:spcPct val="120000"/>
              </a:lnSpc>
              <a:spcBef>
                <a:spcPts val="200"/>
              </a:spcBef>
            </a:pPr>
            <a:r>
              <a:rPr sz="1200" b="0" i="0">
                <a:solidFill>
                  <a:srgbClr val="5B6470"/>
                </a:solidFill>
                <a:latin typeface="Segoe UI"/>
              </a:rPr>
              <a:t>Dhaka</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01  Background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A ±15° sweep leaves a missing wedge of depth information</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02 / 20</a:t>
            </a:r>
          </a:p>
        </p:txBody>
      </p:sp>
      <p:pic>
        <p:nvPicPr>
          <p:cNvPr id="7" name="Picture 6" descr="dts_anim.gif"/>
          <p:cNvPicPr>
            <a:picLocks noChangeAspect="1"/>
          </p:cNvPicPr>
          <p:nvPr/>
        </p:nvPicPr>
        <p:blipFill>
          <a:blip r:embed="rId2"/>
          <a:stretch>
            <a:fillRect/>
          </a:stretch>
        </p:blipFill>
        <p:spPr>
          <a:xfrm>
            <a:off x="812800" y="1663700"/>
            <a:ext cx="6604000" cy="3810000"/>
          </a:xfrm>
          <a:prstGeom prst="rect">
            <a:avLst/>
          </a:prstGeom>
        </p:spPr>
      </p:pic>
      <p:grpSp>
        <p:nvGrpSpPr>
          <p:cNvPr id="8" name="Group 7"/>
          <p:cNvGrpSpPr/>
          <p:nvPr/>
        </p:nvGrpSpPr>
        <p:grpSpPr>
          <a:xfrm>
            <a:off x="7823200" y="1778000"/>
            <a:ext cx="3556000" cy="1219200"/>
            <a:chOff x="7823200" y="1778000"/>
            <a:chExt cx="3556000" cy="1219200"/>
          </a:xfrm>
        </p:grpSpPr>
        <p:sp>
          <p:nvSpPr>
            <p:cNvPr id="9" name="Rectangle 8"/>
            <p:cNvSpPr/>
            <p:nvPr/>
          </p:nvSpPr>
          <p:spPr>
            <a:xfrm>
              <a:off x="7823200" y="1778000"/>
              <a:ext cx="3556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3200" y="1917700"/>
              <a:ext cx="3556000" cy="1079500"/>
            </a:xfrm>
            <a:prstGeom prst="rect">
              <a:avLst/>
            </a:prstGeom>
            <a:noFill/>
          </p:spPr>
          <p:txBody>
            <a:bodyPr wrap="square" lIns="0" rIns="0" tIns="0" bIns="0">
              <a:spAutoFit/>
            </a:bodyPr>
            <a:lstStyle/>
            <a:p>
              <a:pPr algn="l">
                <a:lnSpc>
                  <a:spcPct val="125000"/>
                </a:lnSpc>
              </a:pPr>
              <a:r>
                <a:rPr sz="1500" b="1" i="0">
                  <a:solidFill>
                    <a:srgbClr val="1B1F24"/>
                  </a:solidFill>
                  <a:latin typeface="Segoe UI"/>
                </a:rPr>
                <a:t>Depth from a shift</a:t>
              </a:r>
            </a:p>
            <a:p>
              <a:pPr algn="l">
                <a:lnSpc>
                  <a:spcPct val="125000"/>
                </a:lnSpc>
                <a:spcBef>
                  <a:spcPts val="500"/>
                </a:spcBef>
              </a:pPr>
              <a:r>
                <a:rPr sz="1400" b="0" i="0">
                  <a:solidFill>
                    <a:srgbClr val="1B1F24"/>
                  </a:solidFill>
                  <a:latin typeface="Segoe UI"/>
                </a:rPr>
                <a:t>The nodule’s shadow (orange) moves on the detector as the tube moves. That shift is the only depth information.</a:t>
              </a:r>
            </a:p>
          </p:txBody>
        </p:sp>
      </p:grpSp>
      <p:grpSp>
        <p:nvGrpSpPr>
          <p:cNvPr id="11" name="Group 10"/>
          <p:cNvGrpSpPr/>
          <p:nvPr/>
        </p:nvGrpSpPr>
        <p:grpSpPr>
          <a:xfrm>
            <a:off x="7823200" y="3175000"/>
            <a:ext cx="3556000" cy="1219200"/>
            <a:chOff x="7823200" y="3175000"/>
            <a:chExt cx="3556000" cy="1219200"/>
          </a:xfrm>
        </p:grpSpPr>
        <p:sp>
          <p:nvSpPr>
            <p:cNvPr id="12" name="Rectangle 11"/>
            <p:cNvSpPr/>
            <p:nvPr/>
          </p:nvSpPr>
          <p:spPr>
            <a:xfrm>
              <a:off x="7823200" y="3175000"/>
              <a:ext cx="3556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3200" y="3314700"/>
              <a:ext cx="3556000" cy="1079500"/>
            </a:xfrm>
            <a:prstGeom prst="rect">
              <a:avLst/>
            </a:prstGeom>
            <a:noFill/>
          </p:spPr>
          <p:txBody>
            <a:bodyPr wrap="square" lIns="0" rIns="0" tIns="0" bIns="0">
              <a:spAutoFit/>
            </a:bodyPr>
            <a:lstStyle/>
            <a:p>
              <a:pPr algn="l">
                <a:lnSpc>
                  <a:spcPct val="125000"/>
                </a:lnSpc>
              </a:pPr>
              <a:r>
                <a:rPr sz="1500" b="1" i="0">
                  <a:solidFill>
                    <a:srgbClr val="1B1F24"/>
                  </a:solidFill>
                  <a:latin typeface="Segoe UI"/>
                </a:rPr>
                <a:t>A thin fan in Fourier space</a:t>
              </a:r>
            </a:p>
            <a:p>
              <a:pPr algn="l">
                <a:lnSpc>
                  <a:spcPct val="125000"/>
                </a:lnSpc>
                <a:spcBef>
                  <a:spcPts val="500"/>
                </a:spcBef>
              </a:pPr>
              <a:r>
                <a:rPr sz="1400" b="0" i="0">
                  <a:solidFill>
                    <a:srgbClr val="1B1F24"/>
                  </a:solidFill>
                  <a:latin typeface="Segoe UI"/>
                </a:rPr>
                <a:t>Each view measures one line. Fifteen views fill a narrow fan; depth directions are never measured.</a:t>
              </a:r>
            </a:p>
          </p:txBody>
        </p:sp>
      </p:grpSp>
      <p:grpSp>
        <p:nvGrpSpPr>
          <p:cNvPr id="14" name="Group 13"/>
          <p:cNvGrpSpPr/>
          <p:nvPr/>
        </p:nvGrpSpPr>
        <p:grpSpPr>
          <a:xfrm>
            <a:off x="7823200" y="4572000"/>
            <a:ext cx="3556000" cy="1219200"/>
            <a:chOff x="7823200" y="4572000"/>
            <a:chExt cx="3556000" cy="1219200"/>
          </a:xfrm>
        </p:grpSpPr>
        <p:sp>
          <p:nvSpPr>
            <p:cNvPr id="15" name="Rectangle 14"/>
            <p:cNvSpPr/>
            <p:nvPr/>
          </p:nvSpPr>
          <p:spPr>
            <a:xfrm>
              <a:off x="7823200" y="4572000"/>
              <a:ext cx="3556000" cy="25400"/>
            </a:xfrm>
            <a:prstGeom prst="rect">
              <a:avLst/>
            </a:prstGeom>
            <a:solidFill>
              <a:srgbClr val="B54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23200" y="4711700"/>
              <a:ext cx="3556000" cy="1079500"/>
            </a:xfrm>
            <a:prstGeom prst="rect">
              <a:avLst/>
            </a:prstGeom>
            <a:noFill/>
          </p:spPr>
          <p:txBody>
            <a:bodyPr wrap="square" lIns="0" rIns="0" tIns="0" bIns="0">
              <a:spAutoFit/>
            </a:bodyPr>
            <a:lstStyle/>
            <a:p>
              <a:pPr algn="l">
                <a:lnSpc>
                  <a:spcPct val="125000"/>
                </a:lnSpc>
              </a:pPr>
              <a:r>
                <a:rPr sz="1500" b="1" i="0">
                  <a:solidFill>
                    <a:srgbClr val="B5472F"/>
                  </a:solidFill>
                  <a:latin typeface="Segoe UI"/>
                </a:rPr>
                <a:t>Result</a:t>
              </a:r>
            </a:p>
            <a:p>
              <a:pPr algn="l">
                <a:lnSpc>
                  <a:spcPct val="125000"/>
                </a:lnSpc>
                <a:spcBef>
                  <a:spcPts val="500"/>
                </a:spcBef>
              </a:pPr>
              <a:r>
                <a:rPr sz="1400" b="0" i="0">
                  <a:solidFill>
                    <a:srgbClr val="1B1F24"/>
                  </a:solidFill>
                  <a:latin typeface="Segoe UI"/>
                </a:rPr>
                <a:t>A nodule smears 3–5× longer in depth (median 3.5 on LIDC).</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11"/>
                                        </p:tgtEl>
                                        <p:attrNameLst>
                                          <p:attrName>style.visibility</p:attrName>
                                        </p:attrNameLst>
                                      </p:cBhvr>
                                      <p:to>
                                        <p:strVal val="visible"/>
                                      </p:to>
                                    </p:set>
                                    <p:animEffect transition="in" filter="fade">
                                      <p:cBhvr>
                                        <p:cTn id="9" dur="5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01  Key insight</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Every DTS view measures the nodule’s mass exactly</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03 / 20</a:t>
            </a:r>
          </a:p>
        </p:txBody>
      </p:sp>
      <p:grpSp>
        <p:nvGrpSpPr>
          <p:cNvPr id="7" name="Group 6"/>
          <p:cNvGrpSpPr/>
          <p:nvPr/>
        </p:nvGrpSpPr>
        <p:grpSpPr>
          <a:xfrm>
            <a:off x="812800" y="1714500"/>
            <a:ext cx="5080000" cy="2552700"/>
            <a:chOff x="812800" y="1714500"/>
            <a:chExt cx="5080000" cy="2552700"/>
          </a:xfrm>
        </p:grpSpPr>
        <p:sp>
          <p:nvSpPr>
            <p:cNvPr id="8" name="Rectangle 7"/>
            <p:cNvSpPr/>
            <p:nvPr/>
          </p:nvSpPr>
          <p:spPr>
            <a:xfrm>
              <a:off x="812800" y="17145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54200"/>
              <a:ext cx="5080000" cy="2413000"/>
            </a:xfrm>
            <a:prstGeom prst="rect">
              <a:avLst/>
            </a:prstGeom>
            <a:noFill/>
          </p:spPr>
          <p:txBody>
            <a:bodyPr wrap="square" lIns="0" rIns="0" tIns="0" bIns="0">
              <a:spAutoFit/>
            </a:bodyPr>
            <a:lstStyle/>
            <a:p>
              <a:pPr algn="l">
                <a:lnSpc>
                  <a:spcPct val="125000"/>
                </a:lnSpc>
              </a:pPr>
              <a:r>
                <a:rPr sz="1300" b="0" i="0">
                  <a:solidFill>
                    <a:srgbClr val="5B6470"/>
                  </a:solidFill>
                  <a:latin typeface="Segoe UI"/>
                </a:rPr>
                <a:t>Zeroth moment of each projection</a:t>
              </a:r>
            </a:p>
            <a:p>
              <a:pPr algn="l">
                <a:lnSpc>
                  <a:spcPct val="125000"/>
                </a:lnSpc>
                <a:spcBef>
                  <a:spcPts val="800"/>
                </a:spcBef>
              </a:pPr>
              <a:r>
                <a:rPr sz="3000" b="0" i="0">
                  <a:solidFill>
                    <a:srgbClr val="1B1F24"/>
                  </a:solidFill>
                  <a:latin typeface="Segoe UI"/>
                </a:rPr>
                <a:t>∬ pθ(x, v) dx dv = M</a:t>
              </a:r>
            </a:p>
            <a:p>
              <a:pPr algn="l">
                <a:lnSpc>
                  <a:spcPct val="125000"/>
                </a:lnSpc>
                <a:spcBef>
                  <a:spcPts val="800"/>
                </a:spcBef>
              </a:pPr>
              <a:r>
                <a:rPr sz="1500" b="0" i="0">
                  <a:solidFill>
                    <a:srgbClr val="1B1F24"/>
                  </a:solidFill>
                  <a:latin typeface="Segoe UI"/>
                </a:rPr>
                <a:t>Identical in all 15 views and independent of depth. Verified numerically to </a:t>
              </a:r>
              <a:r>
                <a:rPr sz="1500" b="1" i="0">
                  <a:solidFill>
                    <a:srgbClr val="1B1F24"/>
                  </a:solidFill>
                  <a:latin typeface="Segoe UI"/>
                </a:rPr>
                <a:t>0.03%</a:t>
              </a:r>
              <a:r>
                <a:rPr sz="1500" b="0" i="0">
                  <a:solidFill>
                    <a:srgbClr val="1B1F24"/>
                  </a:solidFill>
                  <a:latin typeface="Segoe UI"/>
                </a:rPr>
                <a:t>.</a:t>
              </a:r>
            </a:p>
          </p:txBody>
        </p:sp>
      </p:grpSp>
      <p:grpSp>
        <p:nvGrpSpPr>
          <p:cNvPr id="10" name="Group 9"/>
          <p:cNvGrpSpPr/>
          <p:nvPr/>
        </p:nvGrpSpPr>
        <p:grpSpPr>
          <a:xfrm>
            <a:off x="6299200" y="1714500"/>
            <a:ext cx="5080000" cy="2552700"/>
            <a:chOff x="6299200" y="1714500"/>
            <a:chExt cx="5080000" cy="2552700"/>
          </a:xfrm>
        </p:grpSpPr>
        <p:sp>
          <p:nvSpPr>
            <p:cNvPr id="11" name="Rectangle 10"/>
            <p:cNvSpPr/>
            <p:nvPr/>
          </p:nvSpPr>
          <p:spPr>
            <a:xfrm>
              <a:off x="6299200" y="1714500"/>
              <a:ext cx="5080000" cy="25400"/>
            </a:xfrm>
            <a:prstGeom prst="rect">
              <a:avLst/>
            </a:prstGeom>
            <a:solidFill>
              <a:srgbClr val="B54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9200" y="1854200"/>
              <a:ext cx="5080000" cy="2413000"/>
            </a:xfrm>
            <a:prstGeom prst="rect">
              <a:avLst/>
            </a:prstGeom>
            <a:noFill/>
          </p:spPr>
          <p:txBody>
            <a:bodyPr wrap="square" lIns="0" rIns="0" tIns="0" bIns="0">
              <a:spAutoFit/>
            </a:bodyPr>
            <a:lstStyle/>
            <a:p>
              <a:pPr algn="l">
                <a:lnSpc>
                  <a:spcPct val="125000"/>
                </a:lnSpc>
              </a:pPr>
              <a:r>
                <a:rPr sz="1300" b="0" i="0">
                  <a:solidFill>
                    <a:srgbClr val="5B6470"/>
                  </a:solidFill>
                  <a:latin typeface="Segoe UI"/>
                </a:rPr>
                <a:t>Second moment: depth extent</a:t>
              </a:r>
            </a:p>
            <a:p>
              <a:pPr algn="l">
                <a:lnSpc>
                  <a:spcPct val="125000"/>
                </a:lnSpc>
                <a:spcBef>
                  <a:spcPts val="800"/>
                </a:spcBef>
              </a:pPr>
              <a:r>
                <a:rPr sz="3000" b="0" i="0">
                  <a:solidFill>
                    <a:srgbClr val="1B1F24"/>
                  </a:solidFill>
                  <a:latin typeface="Segoe UI"/>
                </a:rPr>
                <a:t>∝ sin²θ</a:t>
              </a:r>
            </a:p>
            <a:p>
              <a:pPr algn="l">
                <a:lnSpc>
                  <a:spcPct val="125000"/>
                </a:lnSpc>
                <a:spcBef>
                  <a:spcPts val="800"/>
                </a:spcBef>
              </a:pPr>
              <a:r>
                <a:rPr sz="1500" b="0" i="0">
                  <a:solidFill>
                    <a:srgbClr val="1B1F24"/>
                  </a:solidFill>
                  <a:latin typeface="Segoe UI"/>
                </a:rPr>
                <a:t>1 / sin²15° ≈ </a:t>
              </a:r>
              <a:r>
                <a:rPr sz="1500" b="1" i="0">
                  <a:solidFill>
                    <a:srgbClr val="1B1F24"/>
                  </a:solidFill>
                  <a:latin typeface="Segoe UI"/>
                </a:rPr>
                <a:t>15× worse</a:t>
              </a:r>
              <a:r>
                <a:rPr sz="1500" b="0" i="0">
                  <a:solidFill>
                    <a:srgbClr val="1B1F24"/>
                  </a:solidFill>
                  <a:latin typeface="Segoe UI"/>
                </a:rPr>
                <a:t> conditioned. Volume needs depth extent; mass does not.</a:t>
              </a:r>
            </a:p>
          </p:txBody>
        </p:sp>
      </p:grpSp>
      <p:grpSp>
        <p:nvGrpSpPr>
          <p:cNvPr id="13" name="Group 12"/>
          <p:cNvGrpSpPr/>
          <p:nvPr/>
        </p:nvGrpSpPr>
        <p:grpSpPr>
          <a:xfrm>
            <a:off x="812800" y="4572000"/>
            <a:ext cx="10566400" cy="1079500"/>
            <a:chOff x="812800" y="4572000"/>
            <a:chExt cx="10566400" cy="1079500"/>
          </a:xfrm>
        </p:grpSpPr>
        <p:sp>
          <p:nvSpPr>
            <p:cNvPr id="14" name="Rectangle 13"/>
            <p:cNvSpPr/>
            <p:nvPr/>
          </p:nvSpPr>
          <p:spPr>
            <a:xfrm>
              <a:off x="812800" y="4572000"/>
              <a:ext cx="10566400" cy="1079500"/>
            </a:xfrm>
            <a:prstGeom prst="rect">
              <a:avLst/>
            </a:prstGeom>
            <a:solidFill>
              <a:srgbClr val="E1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1400" y="4749800"/>
              <a:ext cx="10109200" cy="762000"/>
            </a:xfrm>
            <a:prstGeom prst="rect">
              <a:avLst/>
            </a:prstGeom>
            <a:noFill/>
          </p:spPr>
          <p:txBody>
            <a:bodyPr wrap="square" lIns="0">
              <a:spAutoFit/>
            </a:bodyPr>
            <a:lstStyle/>
            <a:p>
              <a:pPr algn="l">
                <a:lnSpc>
                  <a:spcPct val="130000"/>
                </a:lnSpc>
              </a:pPr>
              <a:r>
                <a:rPr sz="1700" b="1" i="0">
                  <a:solidFill>
                    <a:srgbClr val="00677F"/>
                  </a:solidFill>
                  <a:latin typeface="Segoe UI"/>
                </a:rPr>
                <a:t>Design consequence. </a:t>
              </a:r>
              <a:r>
                <a:rPr sz="1700" b="0" i="0">
                  <a:solidFill>
                    <a:srgbClr val="1B1F24"/>
                  </a:solidFill>
                  <a:latin typeface="Segoe UI"/>
                </a:rPr>
                <a:t>Report mass first, fill depth with a learned prior that must agree with the X-rays, and attach a calibrated uncertainty to every number.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02  Method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Six objectives for a trustworthy low-dose measurement</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04 / 20</a:t>
            </a:r>
          </a:p>
        </p:txBody>
      </p:sp>
      <p:graphicFrame>
        <p:nvGraphicFramePr>
          <p:cNvPr id="7" name="Table 6"/>
          <p:cNvGraphicFramePr>
            <a:graphicFrameLocks noGrp="1"/>
          </p:cNvGraphicFramePr>
          <p:nvPr/>
        </p:nvGraphicFramePr>
        <p:xfrm>
          <a:off x="812800" y="1663700"/>
          <a:ext cx="10566400" cy="3200400"/>
        </p:xfrm>
        <a:graphic>
          <a:graphicData uri="http://schemas.openxmlformats.org/drawingml/2006/table">
            <a:tbl>
              <a:tblPr firstRow="1" bandRow="1">
                <a:tableStyleId>{5C22544A-7EE6-4342-B048-85BDC9FD1C3A}</a:tableStyleId>
              </a:tblPr>
              <a:tblGrid>
                <a:gridCol w="698500"/>
                <a:gridCol w="2730500"/>
                <a:gridCol w="7137400"/>
              </a:tblGrid>
              <a:tr h="457200">
                <a:tc>
                  <a:txBody>
                    <a:bodyPr wrap="square"/>
                    <a:lstStyle/>
                    <a:p>
                      <a:pPr algn="l">
                        <a:lnSpc>
                          <a:spcPct val="120000"/>
                        </a:lnSpc>
                      </a:pPr>
                      <a:r>
                        <a:rPr sz="1500" b="1" i="0">
                          <a:solidFill>
                            <a:srgbClr val="1B1F24"/>
                          </a:solidFill>
                          <a:latin typeface="Segoe UI"/>
                        </a:rPr>
                        <a:t>#</a:t>
                      </a:r>
                    </a:p>
                  </a:txBody>
                  <a:tcPr anchor="ctr" marL="127000">
                    <a:solidFill>
                      <a:srgbClr val="E1EEF1"/>
                    </a:solidFill>
                  </a:tcPr>
                </a:tc>
                <a:tc>
                  <a:txBody>
                    <a:bodyPr wrap="square"/>
                    <a:lstStyle/>
                    <a:p>
                      <a:pPr algn="l">
                        <a:lnSpc>
                          <a:spcPct val="120000"/>
                        </a:lnSpc>
                      </a:pPr>
                      <a:r>
                        <a:rPr sz="1500" b="1" i="0">
                          <a:solidFill>
                            <a:srgbClr val="1B1F24"/>
                          </a:solidFill>
                          <a:latin typeface="Segoe UI"/>
                        </a:rPr>
                        <a:t>Area</a:t>
                      </a:r>
                    </a:p>
                  </a:txBody>
                  <a:tcPr anchor="ctr" marL="127000">
                    <a:solidFill>
                      <a:srgbClr val="E1EEF1"/>
                    </a:solidFill>
                  </a:tcPr>
                </a:tc>
                <a:tc>
                  <a:txBody>
                    <a:bodyPr wrap="square"/>
                    <a:lstStyle/>
                    <a:p>
                      <a:pPr algn="l">
                        <a:lnSpc>
                          <a:spcPct val="120000"/>
                        </a:lnSpc>
                      </a:pPr>
                      <a:r>
                        <a:rPr sz="1500" b="1" i="0">
                          <a:solidFill>
                            <a:srgbClr val="1B1F24"/>
                          </a:solidFill>
                          <a:latin typeface="Segoe UI"/>
                        </a:rPr>
                        <a:t>Objective</a:t>
                      </a:r>
                    </a:p>
                  </a:txBody>
                  <a:tcPr anchor="ctr" marL="127000">
                    <a:solidFill>
                      <a:srgbClr val="E1EEF1"/>
                    </a:solidFill>
                  </a:tcPr>
                </a:tc>
              </a:tr>
              <a:tr h="457200">
                <a:tc>
                  <a:txBody>
                    <a:bodyPr wrap="square"/>
                    <a:lstStyle/>
                    <a:p>
                      <a:pPr algn="l">
                        <a:lnSpc>
                          <a:spcPct val="120000"/>
                        </a:lnSpc>
                      </a:pPr>
                      <a:r>
                        <a:rPr sz="1500" b="0" i="0">
                          <a:solidFill>
                            <a:srgbClr val="00677F"/>
                          </a:solidFill>
                          <a:latin typeface="Segoe UI"/>
                        </a:rPr>
                        <a:t>01</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Mass first</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Measure nodule mass, the quantity DTS captures best</a:t>
                      </a:r>
                    </a:p>
                  </a:txBody>
                  <a:tcPr anchor="ctr" marL="127000">
                    <a:solidFill>
                      <a:srgbClr val="FFFFFF"/>
                    </a:solidFill>
                  </a:tcPr>
                </a:tc>
              </a:tr>
              <a:tr h="457200">
                <a:tc>
                  <a:txBody>
                    <a:bodyPr wrap="square"/>
                    <a:lstStyle/>
                    <a:p>
                      <a:pPr algn="l">
                        <a:lnSpc>
                          <a:spcPct val="120000"/>
                        </a:lnSpc>
                      </a:pPr>
                      <a:r>
                        <a:rPr sz="1500" b="0" i="0">
                          <a:solidFill>
                            <a:srgbClr val="00677F"/>
                          </a:solidFill>
                          <a:latin typeface="Segoe UI"/>
                        </a:rPr>
                        <a:t>02</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Learned prior</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Fill the missing depth with a diffusion model and 3D Gaussians</a:t>
                      </a:r>
                    </a:p>
                  </a:txBody>
                  <a:tcPr anchor="ctr" marL="127000">
                    <a:solidFill>
                      <a:srgbClr val="FFFFFF"/>
                    </a:solidFill>
                  </a:tcPr>
                </a:tc>
              </a:tr>
              <a:tr h="457200">
                <a:tc>
                  <a:txBody>
                    <a:bodyPr wrap="square"/>
                    <a:lstStyle/>
                    <a:p>
                      <a:pPr algn="l">
                        <a:lnSpc>
                          <a:spcPct val="120000"/>
                        </a:lnSpc>
                      </a:pPr>
                      <a:r>
                        <a:rPr sz="1500" b="0" i="0">
                          <a:solidFill>
                            <a:srgbClr val="00677F"/>
                          </a:solidFill>
                          <a:latin typeface="Segoe UI"/>
                        </a:rPr>
                        <a:t>03</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Uncertainty</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Give every number a calibrated 90% interval</a:t>
                      </a:r>
                    </a:p>
                  </a:txBody>
                  <a:tcPr anchor="ctr" marL="127000">
                    <a:solidFill>
                      <a:srgbClr val="FFFFFF"/>
                    </a:solidFill>
                  </a:tcPr>
                </a:tc>
              </a:tr>
              <a:tr h="457200">
                <a:tc>
                  <a:txBody>
                    <a:bodyPr wrap="square"/>
                    <a:lstStyle/>
                    <a:p>
                      <a:pPr algn="l">
                        <a:lnSpc>
                          <a:spcPct val="120000"/>
                        </a:lnSpc>
                      </a:pPr>
                      <a:r>
                        <a:rPr sz="1500" b="0" i="0">
                          <a:solidFill>
                            <a:srgbClr val="00677F"/>
                          </a:solidFill>
                          <a:latin typeface="Segoe UI"/>
                        </a:rPr>
                        <a:t>04</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Growth</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Measure growth as mass and volume doubling time</a:t>
                      </a:r>
                    </a:p>
                  </a:txBody>
                  <a:tcPr anchor="ctr" marL="127000">
                    <a:solidFill>
                      <a:srgbClr val="FFFFFF"/>
                    </a:solidFill>
                  </a:tcPr>
                </a:tc>
              </a:tr>
              <a:tr h="457200">
                <a:tc>
                  <a:txBody>
                    <a:bodyPr wrap="square"/>
                    <a:lstStyle/>
                    <a:p>
                      <a:pPr algn="l">
                        <a:lnSpc>
                          <a:spcPct val="120000"/>
                        </a:lnSpc>
                      </a:pPr>
                      <a:r>
                        <a:rPr sz="1500" b="0" i="0">
                          <a:solidFill>
                            <a:srgbClr val="00677F"/>
                          </a:solidFill>
                          <a:latin typeface="Segoe UI"/>
                        </a:rPr>
                        <a:t>05</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Risk</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Give calibrated probabilities of the clinical size categories</a:t>
                      </a:r>
                    </a:p>
                  </a:txBody>
                  <a:tcPr anchor="ctr" marL="127000">
                    <a:solidFill>
                      <a:srgbClr val="FFFFFF"/>
                    </a:solidFill>
                  </a:tcPr>
                </a:tc>
              </a:tr>
              <a:tr h="457200">
                <a:tc>
                  <a:txBody>
                    <a:bodyPr wrap="square"/>
                    <a:lstStyle/>
                    <a:p>
                      <a:pPr algn="l">
                        <a:lnSpc>
                          <a:spcPct val="120000"/>
                        </a:lnSpc>
                      </a:pPr>
                      <a:r>
                        <a:rPr sz="1500" b="0" i="0">
                          <a:solidFill>
                            <a:srgbClr val="00677F"/>
                          </a:solidFill>
                          <a:latin typeface="Segoe UI"/>
                        </a:rPr>
                        <a:t>06</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Explainability</a:t>
                      </a:r>
                    </a:p>
                  </a:txBody>
                  <a:tcPr anchor="ctr" marL="127000">
                    <a:solidFill>
                      <a:srgbClr val="FFFFFF"/>
                    </a:solidFill>
                  </a:tcPr>
                </a:tc>
                <a:tc>
                  <a:txBody>
                    <a:bodyPr wrap="square"/>
                    <a:lstStyle/>
                    <a:p>
                      <a:pPr algn="l">
                        <a:lnSpc>
                          <a:spcPct val="120000"/>
                        </a:lnSpc>
                      </a:pPr>
                      <a:r>
                        <a:rPr sz="1500" b="0" i="0">
                          <a:solidFill>
                            <a:srgbClr val="1B1F24"/>
                          </a:solidFill>
                          <a:latin typeface="Segoe UI"/>
                        </a:rPr>
                        <a:t>Show what the X-rays saw and what the prior filled in</a:t>
                      </a:r>
                    </a:p>
                  </a:txBody>
                  <a:tcPr anchor="ctr" marL="127000">
                    <a:solidFill>
                      <a:srgbClr val="FFFFFF"/>
                    </a:solidFill>
                  </a:tcPr>
                </a:tc>
              </a:tr>
            </a:tbl>
          </a:graphicData>
        </a:graphic>
      </p:graphicFrame>
      <p:sp>
        <p:nvSpPr>
          <p:cNvPr id="8" name="TextBox 7"/>
          <p:cNvSpPr txBox="1"/>
          <p:nvPr/>
        </p:nvSpPr>
        <p:spPr>
          <a:xfrm>
            <a:off x="812800" y="5080000"/>
            <a:ext cx="10566400" cy="317500"/>
          </a:xfrm>
          <a:prstGeom prst="rect">
            <a:avLst/>
          </a:prstGeom>
          <a:noFill/>
        </p:spPr>
        <p:txBody>
          <a:bodyPr wrap="square" lIns="0" rIns="0" tIns="0" bIns="0" anchor="t">
            <a:spAutoFit/>
          </a:bodyPr>
          <a:lstStyle/>
          <a:p>
            <a:pPr algn="l">
              <a:lnSpc>
                <a:spcPct val="120000"/>
              </a:lnSpc>
            </a:pPr>
            <a:r>
              <a:rPr sz="1400" b="0" i="0">
                <a:solidFill>
                  <a:srgbClr val="5B6470"/>
                </a:solidFill>
                <a:latin typeface="Segoe UI"/>
              </a:rPr>
              <a:t>Delivered inside a usable click-to-3D application with a learned detector, on low-cost cloud hardware.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02  Method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From one click to a 3D measurement with uncertainty</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05 / 20</a:t>
            </a:r>
          </a:p>
        </p:txBody>
      </p:sp>
      <p:grpSp>
        <p:nvGrpSpPr>
          <p:cNvPr id="7" name="Group 6"/>
          <p:cNvGrpSpPr/>
          <p:nvPr/>
        </p:nvGrpSpPr>
        <p:grpSpPr>
          <a:xfrm>
            <a:off x="812800" y="1714500"/>
            <a:ext cx="1320800" cy="1917700"/>
            <a:chOff x="812800" y="1714500"/>
            <a:chExt cx="1320800" cy="1917700"/>
          </a:xfrm>
        </p:grpSpPr>
        <p:sp>
          <p:nvSpPr>
            <p:cNvPr id="8" name="Rectangle 7"/>
            <p:cNvSpPr/>
            <p:nvPr/>
          </p:nvSpPr>
          <p:spPr>
            <a:xfrm>
              <a:off x="812800" y="1714500"/>
              <a:ext cx="1320800" cy="25400"/>
            </a:xfrm>
            <a:prstGeom prst="rect">
              <a:avLst/>
            </a:prstGeom>
            <a:solidFill>
              <a:srgbClr val="8A9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54200"/>
              <a:ext cx="1320800" cy="1778000"/>
            </a:xfrm>
            <a:prstGeom prst="rect">
              <a:avLst/>
            </a:prstGeom>
            <a:noFill/>
          </p:spPr>
          <p:txBody>
            <a:bodyPr wrap="square" lIns="0" rIns="0" tIns="0" bIns="0">
              <a:spAutoFit/>
            </a:bodyPr>
            <a:lstStyle/>
            <a:p>
              <a:pPr algn="l">
                <a:lnSpc>
                  <a:spcPct val="100000"/>
                </a:lnSpc>
              </a:pPr>
              <a:r>
                <a:rPr sz="2200" b="1" i="0">
                  <a:solidFill>
                    <a:srgbClr val="8A939C"/>
                  </a:solidFill>
                  <a:latin typeface="Segoe UI"/>
                </a:rPr>
                <a:t>01</a:t>
              </a:r>
            </a:p>
            <a:p>
              <a:pPr algn="l">
                <a:lnSpc>
                  <a:spcPct val="125000"/>
                </a:lnSpc>
                <a:spcBef>
                  <a:spcPts val="500"/>
                </a:spcBef>
              </a:pPr>
              <a:r>
                <a:rPr sz="1500" b="1" i="0">
                  <a:solidFill>
                    <a:srgbClr val="1B1F24"/>
                  </a:solidFill>
                  <a:latin typeface="Segoe UI"/>
                </a:rPr>
                <a:t>DTS scan</a:t>
              </a:r>
            </a:p>
            <a:p>
              <a:pPr algn="l">
                <a:lnSpc>
                  <a:spcPct val="125000"/>
                </a:lnSpc>
                <a:spcBef>
                  <a:spcPts val="500"/>
                </a:spcBef>
              </a:pPr>
              <a:r>
                <a:rPr sz="1200" b="0" i="0">
                  <a:solidFill>
                    <a:srgbClr val="5B6470"/>
                  </a:solidFill>
                  <a:latin typeface="Segoe UI"/>
                </a:rPr>
                <a:t>15 low-dose views, ±15°, SIRT</a:t>
              </a:r>
            </a:p>
          </p:txBody>
        </p:sp>
      </p:grpSp>
      <p:grpSp>
        <p:nvGrpSpPr>
          <p:cNvPr id="10" name="Group 9"/>
          <p:cNvGrpSpPr/>
          <p:nvPr/>
        </p:nvGrpSpPr>
        <p:grpSpPr>
          <a:xfrm>
            <a:off x="2336800" y="1714500"/>
            <a:ext cx="1320800" cy="1917700"/>
            <a:chOff x="2336800" y="1714500"/>
            <a:chExt cx="1320800" cy="1917700"/>
          </a:xfrm>
        </p:grpSpPr>
        <p:sp>
          <p:nvSpPr>
            <p:cNvPr id="11" name="Rectangle 10"/>
            <p:cNvSpPr/>
            <p:nvPr/>
          </p:nvSpPr>
          <p:spPr>
            <a:xfrm>
              <a:off x="2336800" y="1714500"/>
              <a:ext cx="1320800" cy="25400"/>
            </a:xfrm>
            <a:prstGeom prst="rect">
              <a:avLst/>
            </a:prstGeom>
            <a:solidFill>
              <a:srgbClr val="8A9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36800" y="1854200"/>
              <a:ext cx="1320800" cy="1778000"/>
            </a:xfrm>
            <a:prstGeom prst="rect">
              <a:avLst/>
            </a:prstGeom>
            <a:noFill/>
          </p:spPr>
          <p:txBody>
            <a:bodyPr wrap="square" lIns="0" rIns="0" tIns="0" bIns="0">
              <a:spAutoFit/>
            </a:bodyPr>
            <a:lstStyle/>
            <a:p>
              <a:pPr algn="l">
                <a:lnSpc>
                  <a:spcPct val="100000"/>
                </a:lnSpc>
              </a:pPr>
              <a:r>
                <a:rPr sz="2200" b="1" i="0">
                  <a:solidFill>
                    <a:srgbClr val="8A939C"/>
                  </a:solidFill>
                  <a:latin typeface="Segoe UI"/>
                </a:rPr>
                <a:t>02</a:t>
              </a:r>
            </a:p>
            <a:p>
              <a:pPr algn="l">
                <a:lnSpc>
                  <a:spcPct val="125000"/>
                </a:lnSpc>
                <a:spcBef>
                  <a:spcPts val="500"/>
                </a:spcBef>
              </a:pPr>
              <a:r>
                <a:rPr sz="1500" b="1" i="0">
                  <a:solidFill>
                    <a:srgbClr val="1B1F24"/>
                  </a:solidFill>
                  <a:latin typeface="Segoe UI"/>
                </a:rPr>
                <a:t>Click</a:t>
              </a:r>
            </a:p>
            <a:p>
              <a:pPr algn="l">
                <a:lnSpc>
                  <a:spcPct val="125000"/>
                </a:lnSpc>
                <a:spcBef>
                  <a:spcPts val="500"/>
                </a:spcBef>
              </a:pPr>
              <a:r>
                <a:rPr sz="1200" b="0" i="0">
                  <a:solidFill>
                    <a:srgbClr val="5B6470"/>
                  </a:solidFill>
                  <a:latin typeface="Segoe UI"/>
                </a:rPr>
                <a:t>3D U-Net detector suggests nodules</a:t>
              </a:r>
            </a:p>
          </p:txBody>
        </p:sp>
      </p:grpSp>
      <p:grpSp>
        <p:nvGrpSpPr>
          <p:cNvPr id="13" name="Group 12"/>
          <p:cNvGrpSpPr/>
          <p:nvPr/>
        </p:nvGrpSpPr>
        <p:grpSpPr>
          <a:xfrm>
            <a:off x="3860800" y="1714500"/>
            <a:ext cx="1320800" cy="1917700"/>
            <a:chOff x="3860800" y="1714500"/>
            <a:chExt cx="1320800" cy="1917700"/>
          </a:xfrm>
        </p:grpSpPr>
        <p:sp>
          <p:nvSpPr>
            <p:cNvPr id="14" name="Rectangle 13"/>
            <p:cNvSpPr/>
            <p:nvPr/>
          </p:nvSpPr>
          <p:spPr>
            <a:xfrm>
              <a:off x="3860800" y="1714500"/>
              <a:ext cx="1320800" cy="25400"/>
            </a:xfrm>
            <a:prstGeom prst="rect">
              <a:avLst/>
            </a:prstGeom>
            <a:solidFill>
              <a:srgbClr val="8A9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60800" y="1854200"/>
              <a:ext cx="1320800" cy="1778000"/>
            </a:xfrm>
            <a:prstGeom prst="rect">
              <a:avLst/>
            </a:prstGeom>
            <a:noFill/>
          </p:spPr>
          <p:txBody>
            <a:bodyPr wrap="square" lIns="0" rIns="0" tIns="0" bIns="0">
              <a:spAutoFit/>
            </a:bodyPr>
            <a:lstStyle/>
            <a:p>
              <a:pPr algn="l">
                <a:lnSpc>
                  <a:spcPct val="100000"/>
                </a:lnSpc>
              </a:pPr>
              <a:r>
                <a:rPr sz="2200" b="1" i="0">
                  <a:solidFill>
                    <a:srgbClr val="8A939C"/>
                  </a:solidFill>
                  <a:latin typeface="Segoe UI"/>
                </a:rPr>
                <a:t>03</a:t>
              </a:r>
            </a:p>
            <a:p>
              <a:pPr algn="l">
                <a:lnSpc>
                  <a:spcPct val="125000"/>
                </a:lnSpc>
                <a:spcBef>
                  <a:spcPts val="500"/>
                </a:spcBef>
              </a:pPr>
              <a:r>
                <a:rPr sz="1500" b="1" i="0">
                  <a:solidFill>
                    <a:srgbClr val="1B1F24"/>
                  </a:solidFill>
                  <a:latin typeface="Segoe UI"/>
                </a:rPr>
                <a:t>Prism</a:t>
              </a:r>
            </a:p>
            <a:p>
              <a:pPr algn="l">
                <a:lnSpc>
                  <a:spcPct val="125000"/>
                </a:lnSpc>
                <a:spcBef>
                  <a:spcPts val="500"/>
                </a:spcBef>
              </a:pPr>
              <a:r>
                <a:rPr sz="1200" b="0" i="0">
                  <a:solidFill>
                    <a:srgbClr val="5B6470"/>
                  </a:solidFill>
                  <a:latin typeface="Segoe UI"/>
                </a:rPr>
                <a:t>64 mm column through the chest</a:t>
              </a:r>
            </a:p>
          </p:txBody>
        </p:sp>
      </p:grpSp>
      <p:grpSp>
        <p:nvGrpSpPr>
          <p:cNvPr id="16" name="Group 15"/>
          <p:cNvGrpSpPr/>
          <p:nvPr/>
        </p:nvGrpSpPr>
        <p:grpSpPr>
          <a:xfrm>
            <a:off x="5384800" y="1714500"/>
            <a:ext cx="1320800" cy="1917700"/>
            <a:chOff x="5384800" y="1714500"/>
            <a:chExt cx="1320800" cy="1917700"/>
          </a:xfrm>
        </p:grpSpPr>
        <p:sp>
          <p:nvSpPr>
            <p:cNvPr id="17" name="Rectangle 16"/>
            <p:cNvSpPr/>
            <p:nvPr/>
          </p:nvSpPr>
          <p:spPr>
            <a:xfrm>
              <a:off x="5384800" y="1714500"/>
              <a:ext cx="13208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4800" y="1854200"/>
              <a:ext cx="1320800" cy="1778000"/>
            </a:xfrm>
            <a:prstGeom prst="rect">
              <a:avLst/>
            </a:prstGeom>
            <a:noFill/>
          </p:spPr>
          <p:txBody>
            <a:bodyPr wrap="square" lIns="0" rIns="0" tIns="0" bIns="0">
              <a:spAutoFit/>
            </a:bodyPr>
            <a:lstStyle/>
            <a:p>
              <a:pPr algn="l">
                <a:lnSpc>
                  <a:spcPct val="100000"/>
                </a:lnSpc>
              </a:pPr>
              <a:r>
                <a:rPr sz="2200" b="1" i="0">
                  <a:solidFill>
                    <a:srgbClr val="00677F"/>
                  </a:solidFill>
                  <a:latin typeface="Segoe UI"/>
                </a:rPr>
                <a:t>04</a:t>
              </a:r>
            </a:p>
            <a:p>
              <a:pPr algn="l">
                <a:lnSpc>
                  <a:spcPct val="125000"/>
                </a:lnSpc>
                <a:spcBef>
                  <a:spcPts val="500"/>
                </a:spcBef>
              </a:pPr>
              <a:r>
                <a:rPr sz="1500" b="1" i="0">
                  <a:solidFill>
                    <a:srgbClr val="1B1F24"/>
                  </a:solidFill>
                  <a:latin typeface="Segoe UI"/>
                </a:rPr>
                <a:t>Diffusion</a:t>
              </a:r>
            </a:p>
            <a:p>
              <a:pPr algn="l">
                <a:lnSpc>
                  <a:spcPct val="125000"/>
                </a:lnSpc>
                <a:spcBef>
                  <a:spcPts val="500"/>
                </a:spcBef>
              </a:pPr>
              <a:r>
                <a:rPr sz="1200" b="0" i="0">
                  <a:solidFill>
                    <a:srgbClr val="5B6470"/>
                  </a:solidFill>
                  <a:latin typeface="Segoe UI"/>
                </a:rPr>
                <a:t>8 CT-like samples, kept X-ray consistent</a:t>
              </a:r>
            </a:p>
          </p:txBody>
        </p:sp>
      </p:grpSp>
      <p:grpSp>
        <p:nvGrpSpPr>
          <p:cNvPr id="19" name="Group 18"/>
          <p:cNvGrpSpPr/>
          <p:nvPr/>
        </p:nvGrpSpPr>
        <p:grpSpPr>
          <a:xfrm>
            <a:off x="6908800" y="1714500"/>
            <a:ext cx="1320800" cy="1917700"/>
            <a:chOff x="6908800" y="1714500"/>
            <a:chExt cx="1320800" cy="1917700"/>
          </a:xfrm>
        </p:grpSpPr>
        <p:sp>
          <p:nvSpPr>
            <p:cNvPr id="20" name="Rectangle 19"/>
            <p:cNvSpPr/>
            <p:nvPr/>
          </p:nvSpPr>
          <p:spPr>
            <a:xfrm>
              <a:off x="6908800" y="1714500"/>
              <a:ext cx="1320800" cy="254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8800" y="1854200"/>
              <a:ext cx="1320800" cy="1778000"/>
            </a:xfrm>
            <a:prstGeom prst="rect">
              <a:avLst/>
            </a:prstGeom>
            <a:noFill/>
          </p:spPr>
          <p:txBody>
            <a:bodyPr wrap="square" lIns="0" rIns="0" tIns="0" bIns="0">
              <a:spAutoFit/>
            </a:bodyPr>
            <a:lstStyle/>
            <a:p>
              <a:pPr algn="l">
                <a:lnSpc>
                  <a:spcPct val="100000"/>
                </a:lnSpc>
              </a:pPr>
              <a:r>
                <a:rPr sz="2200" b="1" i="0">
                  <a:solidFill>
                    <a:srgbClr val="1B1F24"/>
                  </a:solidFill>
                  <a:latin typeface="Segoe UI"/>
                </a:rPr>
                <a:t>05</a:t>
              </a:r>
            </a:p>
            <a:p>
              <a:pPr algn="l">
                <a:lnSpc>
                  <a:spcPct val="125000"/>
                </a:lnSpc>
                <a:spcBef>
                  <a:spcPts val="500"/>
                </a:spcBef>
              </a:pPr>
              <a:r>
                <a:rPr sz="1500" b="1" i="0">
                  <a:solidFill>
                    <a:srgbClr val="1B1F24"/>
                  </a:solidFill>
                  <a:latin typeface="Segoe UI"/>
                </a:rPr>
                <a:t>Gaussians</a:t>
              </a:r>
            </a:p>
            <a:p>
              <a:pPr algn="l">
                <a:lnSpc>
                  <a:spcPct val="125000"/>
                </a:lnSpc>
                <a:spcBef>
                  <a:spcPts val="500"/>
                </a:spcBef>
              </a:pPr>
              <a:r>
                <a:rPr sz="1200" b="0" i="0">
                  <a:solidFill>
                    <a:srgbClr val="5B6470"/>
                  </a:solidFill>
                  <a:latin typeface="Segoe UI"/>
                </a:rPr>
                <a:t>Closed-form nodule mass</a:t>
              </a:r>
            </a:p>
          </p:txBody>
        </p:sp>
      </p:grpSp>
      <p:grpSp>
        <p:nvGrpSpPr>
          <p:cNvPr id="22" name="Group 21"/>
          <p:cNvGrpSpPr/>
          <p:nvPr/>
        </p:nvGrpSpPr>
        <p:grpSpPr>
          <a:xfrm>
            <a:off x="8432800" y="1714500"/>
            <a:ext cx="1320800" cy="1917700"/>
            <a:chOff x="8432800" y="1714500"/>
            <a:chExt cx="1320800" cy="1917700"/>
          </a:xfrm>
        </p:grpSpPr>
        <p:sp>
          <p:nvSpPr>
            <p:cNvPr id="23" name="Rectangle 22"/>
            <p:cNvSpPr/>
            <p:nvPr/>
          </p:nvSpPr>
          <p:spPr>
            <a:xfrm>
              <a:off x="8432800" y="1714500"/>
              <a:ext cx="1320800" cy="254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32800" y="1854200"/>
              <a:ext cx="1320800" cy="1778000"/>
            </a:xfrm>
            <a:prstGeom prst="rect">
              <a:avLst/>
            </a:prstGeom>
            <a:noFill/>
          </p:spPr>
          <p:txBody>
            <a:bodyPr wrap="square" lIns="0" rIns="0" tIns="0" bIns="0">
              <a:spAutoFit/>
            </a:bodyPr>
            <a:lstStyle/>
            <a:p>
              <a:pPr algn="l">
                <a:lnSpc>
                  <a:spcPct val="100000"/>
                </a:lnSpc>
              </a:pPr>
              <a:r>
                <a:rPr sz="2200" b="1" i="0">
                  <a:solidFill>
                    <a:srgbClr val="1B1F24"/>
                  </a:solidFill>
                  <a:latin typeface="Segoe UI"/>
                </a:rPr>
                <a:t>06</a:t>
              </a:r>
            </a:p>
            <a:p>
              <a:pPr algn="l">
                <a:lnSpc>
                  <a:spcPct val="125000"/>
                </a:lnSpc>
                <a:spcBef>
                  <a:spcPts val="500"/>
                </a:spcBef>
              </a:pPr>
              <a:r>
                <a:rPr sz="1500" b="1" i="0">
                  <a:solidFill>
                    <a:srgbClr val="1B1F24"/>
                  </a:solidFill>
                  <a:latin typeface="Segoe UI"/>
                </a:rPr>
                <a:t>Conformal</a:t>
              </a:r>
            </a:p>
            <a:p>
              <a:pPr algn="l">
                <a:lnSpc>
                  <a:spcPct val="125000"/>
                </a:lnSpc>
                <a:spcBef>
                  <a:spcPts val="500"/>
                </a:spcBef>
              </a:pPr>
              <a:r>
                <a:rPr sz="1200" b="0" i="0">
                  <a:solidFill>
                    <a:srgbClr val="5B6470"/>
                  </a:solidFill>
                  <a:latin typeface="Segoe UI"/>
                </a:rPr>
                <a:t>Intervals and size-category odds</a:t>
              </a:r>
            </a:p>
          </p:txBody>
        </p:sp>
      </p:grpSp>
      <p:grpSp>
        <p:nvGrpSpPr>
          <p:cNvPr id="25" name="Group 24"/>
          <p:cNvGrpSpPr/>
          <p:nvPr/>
        </p:nvGrpSpPr>
        <p:grpSpPr>
          <a:xfrm>
            <a:off x="9956800" y="1714500"/>
            <a:ext cx="1320800" cy="1917700"/>
            <a:chOff x="9956800" y="1714500"/>
            <a:chExt cx="1320800" cy="1917700"/>
          </a:xfrm>
        </p:grpSpPr>
        <p:sp>
          <p:nvSpPr>
            <p:cNvPr id="26" name="Rectangle 25"/>
            <p:cNvSpPr/>
            <p:nvPr/>
          </p:nvSpPr>
          <p:spPr>
            <a:xfrm>
              <a:off x="9956800" y="1714500"/>
              <a:ext cx="1320800" cy="254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56800" y="1854200"/>
              <a:ext cx="1320800" cy="1778000"/>
            </a:xfrm>
            <a:prstGeom prst="rect">
              <a:avLst/>
            </a:prstGeom>
            <a:noFill/>
          </p:spPr>
          <p:txBody>
            <a:bodyPr wrap="square" lIns="0" rIns="0" tIns="0" bIns="0">
              <a:spAutoFit/>
            </a:bodyPr>
            <a:lstStyle/>
            <a:p>
              <a:pPr algn="l">
                <a:lnSpc>
                  <a:spcPct val="100000"/>
                </a:lnSpc>
              </a:pPr>
              <a:r>
                <a:rPr sz="2200" b="1" i="0">
                  <a:solidFill>
                    <a:srgbClr val="1B1F24"/>
                  </a:solidFill>
                  <a:latin typeface="Segoe UI"/>
                </a:rPr>
                <a:t>07</a:t>
              </a:r>
            </a:p>
            <a:p>
              <a:pPr algn="l">
                <a:lnSpc>
                  <a:spcPct val="125000"/>
                </a:lnSpc>
                <a:spcBef>
                  <a:spcPts val="500"/>
                </a:spcBef>
              </a:pPr>
              <a:r>
                <a:rPr sz="1500" b="1" i="0">
                  <a:solidFill>
                    <a:srgbClr val="1B1F24"/>
                  </a:solidFill>
                  <a:latin typeface="Segoe UI"/>
                </a:rPr>
                <a:t>Explain</a:t>
              </a:r>
            </a:p>
            <a:p>
              <a:pPr algn="l">
                <a:lnSpc>
                  <a:spcPct val="125000"/>
                </a:lnSpc>
                <a:spcBef>
                  <a:spcPts val="500"/>
                </a:spcBef>
              </a:pPr>
              <a:r>
                <a:rPr sz="1200" b="0" i="0">
                  <a:solidFill>
                    <a:srgbClr val="5B6470"/>
                  </a:solidFill>
                  <a:latin typeface="Segoe UI"/>
                </a:rPr>
                <a:t>Seen vs unseen split, saliency</a:t>
              </a:r>
            </a:p>
          </p:txBody>
        </p:sp>
      </p:grpSp>
      <p:grpSp>
        <p:nvGrpSpPr>
          <p:cNvPr id="28" name="Group 27"/>
          <p:cNvGrpSpPr/>
          <p:nvPr/>
        </p:nvGrpSpPr>
        <p:grpSpPr>
          <a:xfrm>
            <a:off x="812800" y="3810000"/>
            <a:ext cx="4368800" cy="711200"/>
            <a:chOff x="812800" y="3810000"/>
            <a:chExt cx="4368800" cy="711200"/>
          </a:xfrm>
        </p:grpSpPr>
        <p:sp>
          <p:nvSpPr>
            <p:cNvPr id="29" name="Rectangle 28"/>
            <p:cNvSpPr/>
            <p:nvPr/>
          </p:nvSpPr>
          <p:spPr>
            <a:xfrm>
              <a:off x="812800" y="3810000"/>
              <a:ext cx="4368800" cy="12700"/>
            </a:xfrm>
            <a:prstGeom prst="rect">
              <a:avLst/>
            </a:prstGeom>
            <a:solidFill>
              <a:srgbClr val="8A9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800" y="3949700"/>
              <a:ext cx="4368800" cy="571500"/>
            </a:xfrm>
            <a:prstGeom prst="rect">
              <a:avLst/>
            </a:prstGeom>
            <a:noFill/>
          </p:spPr>
          <p:txBody>
            <a:bodyPr wrap="square" lIns="0" rIns="0" tIns="0" bIns="0">
              <a:spAutoFit/>
            </a:bodyPr>
            <a:lstStyle/>
            <a:p>
              <a:pPr algn="l">
                <a:lnSpc>
                  <a:spcPct val="125000"/>
                </a:lnSpc>
              </a:pPr>
              <a:r>
                <a:rPr sz="1200" b="1" i="0">
                  <a:solidFill>
                    <a:srgbClr val="8A939C"/>
                  </a:solidFill>
                  <a:latin typeface="Segoe UI"/>
                </a:rPr>
                <a:t>Physics</a:t>
              </a:r>
            </a:p>
            <a:p>
              <a:pPr algn="l">
                <a:lnSpc>
                  <a:spcPct val="125000"/>
                </a:lnSpc>
                <a:spcBef>
                  <a:spcPts val="200"/>
                </a:spcBef>
              </a:pPr>
              <a:r>
                <a:rPr sz="1200" b="0" i="0">
                  <a:solidFill>
                    <a:srgbClr val="5B6470"/>
                  </a:solidFill>
                  <a:latin typeface="Segoe UI"/>
                </a:rPr>
                <a:t>what the X-rays measure</a:t>
              </a:r>
            </a:p>
          </p:txBody>
        </p:sp>
      </p:grpSp>
      <p:grpSp>
        <p:nvGrpSpPr>
          <p:cNvPr id="31" name="Group 30"/>
          <p:cNvGrpSpPr/>
          <p:nvPr/>
        </p:nvGrpSpPr>
        <p:grpSpPr>
          <a:xfrm>
            <a:off x="5384800" y="3810000"/>
            <a:ext cx="1320800" cy="711200"/>
            <a:chOff x="5384800" y="3810000"/>
            <a:chExt cx="1320800" cy="711200"/>
          </a:xfrm>
        </p:grpSpPr>
        <p:sp>
          <p:nvSpPr>
            <p:cNvPr id="32" name="Rectangle 31"/>
            <p:cNvSpPr/>
            <p:nvPr/>
          </p:nvSpPr>
          <p:spPr>
            <a:xfrm>
              <a:off x="5384800" y="3810000"/>
              <a:ext cx="1320800" cy="127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84800" y="3949700"/>
              <a:ext cx="1320800" cy="571500"/>
            </a:xfrm>
            <a:prstGeom prst="rect">
              <a:avLst/>
            </a:prstGeom>
            <a:noFill/>
          </p:spPr>
          <p:txBody>
            <a:bodyPr wrap="square" lIns="0" rIns="0" tIns="0" bIns="0">
              <a:spAutoFit/>
            </a:bodyPr>
            <a:lstStyle/>
            <a:p>
              <a:pPr algn="l">
                <a:lnSpc>
                  <a:spcPct val="125000"/>
                </a:lnSpc>
              </a:pPr>
              <a:r>
                <a:rPr sz="1200" b="1" i="0">
                  <a:solidFill>
                    <a:srgbClr val="00677F"/>
                  </a:solidFill>
                  <a:latin typeface="Segoe UI"/>
                </a:rPr>
                <a:t>Learned</a:t>
              </a:r>
            </a:p>
            <a:p>
              <a:pPr algn="l">
                <a:lnSpc>
                  <a:spcPct val="125000"/>
                </a:lnSpc>
                <a:spcBef>
                  <a:spcPts val="200"/>
                </a:spcBef>
              </a:pPr>
              <a:r>
                <a:rPr sz="1200" b="0" i="0">
                  <a:solidFill>
                    <a:srgbClr val="5B6470"/>
                  </a:solidFill>
                  <a:latin typeface="Segoe UI"/>
                </a:rPr>
                <a:t>fills the missing wedge</a:t>
              </a:r>
            </a:p>
          </p:txBody>
        </p:sp>
      </p:grpSp>
      <p:grpSp>
        <p:nvGrpSpPr>
          <p:cNvPr id="34" name="Group 33"/>
          <p:cNvGrpSpPr/>
          <p:nvPr/>
        </p:nvGrpSpPr>
        <p:grpSpPr>
          <a:xfrm>
            <a:off x="6908800" y="3810000"/>
            <a:ext cx="4470400" cy="711200"/>
            <a:chOff x="6908800" y="3810000"/>
            <a:chExt cx="4470400" cy="711200"/>
          </a:xfrm>
        </p:grpSpPr>
        <p:sp>
          <p:nvSpPr>
            <p:cNvPr id="35" name="Rectangle 34"/>
            <p:cNvSpPr/>
            <p:nvPr/>
          </p:nvSpPr>
          <p:spPr>
            <a:xfrm>
              <a:off x="6908800" y="3810000"/>
              <a:ext cx="4470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08800" y="3949700"/>
              <a:ext cx="4470400" cy="571500"/>
            </a:xfrm>
            <a:prstGeom prst="rect">
              <a:avLst/>
            </a:prstGeom>
            <a:noFill/>
          </p:spPr>
          <p:txBody>
            <a:bodyPr wrap="square" lIns="0" rIns="0" tIns="0" bIns="0">
              <a:spAutoFit/>
            </a:bodyPr>
            <a:lstStyle/>
            <a:p>
              <a:pPr algn="l">
                <a:lnSpc>
                  <a:spcPct val="125000"/>
                </a:lnSpc>
              </a:pPr>
              <a:r>
                <a:rPr sz="1200" b="1" i="0">
                  <a:solidFill>
                    <a:srgbClr val="1B1F24"/>
                  </a:solidFill>
                  <a:latin typeface="Segoe UI"/>
                </a:rPr>
                <a:t>Measure and trust</a:t>
              </a:r>
            </a:p>
            <a:p>
              <a:pPr algn="l">
                <a:lnSpc>
                  <a:spcPct val="125000"/>
                </a:lnSpc>
                <a:spcBef>
                  <a:spcPts val="200"/>
                </a:spcBef>
              </a:pPr>
              <a:r>
                <a:rPr sz="1200" b="0" i="0">
                  <a:solidFill>
                    <a:srgbClr val="5B6470"/>
                  </a:solidFill>
                  <a:latin typeface="Segoe UI"/>
                </a:rPr>
                <a:t>numbers, intervals, explanation</a:t>
              </a:r>
            </a:p>
          </p:txBody>
        </p:sp>
      </p:grpSp>
      <p:sp>
        <p:nvSpPr>
          <p:cNvPr id="37" name="TextBox 36"/>
          <p:cNvSpPr txBox="1"/>
          <p:nvPr/>
        </p:nvSpPr>
        <p:spPr>
          <a:xfrm>
            <a:off x="812800" y="4826000"/>
            <a:ext cx="10566400" cy="254000"/>
          </a:xfrm>
          <a:prstGeom prst="rect">
            <a:avLst/>
          </a:prstGeom>
          <a:noFill/>
        </p:spPr>
        <p:txBody>
          <a:bodyPr wrap="square" lIns="0" rIns="0" tIns="0" bIns="0" anchor="t">
            <a:spAutoFit/>
          </a:bodyPr>
          <a:lstStyle/>
          <a:p>
            <a:pPr algn="l">
              <a:lnSpc>
                <a:spcPct val="120000"/>
              </a:lnSpc>
            </a:pPr>
            <a:r>
              <a:rPr sz="1300" b="0" i="0">
                <a:solidFill>
                  <a:srgbClr val="1B1F24"/>
                </a:solidFill>
                <a:latin typeface="Segoe UI"/>
              </a:rPr>
              <a:t>18 scripted steps with automatic PASS/FAIL checks · 69 unit tests · one rented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anim calcmode="lin" valueType="num">
                                      <p:cBhvr additive="base">
                                        <p:cTn id="17" dur="50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0" presetID="42"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anim calcmode="lin" valueType="num">
                                      <p:cBhvr additive="base">
                                        <p:cTn id="29" dur="500" fill="hold"/>
                                        <p:tgtEl>
                                          <p:spTgt spid="19"/>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anim calcmode="lin" valueType="num">
                                      <p:cBhvr additive="base">
                                        <p:cTn id="35" dur="500" fill="hold"/>
                                        <p:tgtEl>
                                          <p:spTgt spid="22"/>
                                        </p:tgtEl>
                                        <p:attrNameLst>
                                          <p:attrName>ppt_y</p:attrName>
                                        </p:attrNameLst>
                                      </p:cBhvr>
                                      <p:tavLst>
                                        <p:tav tm="0">
                                          <p:val>
                                            <p:strVal val="#ppt_y+0.05"/>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500"/>
                                        <p:tgtEl>
                                          <p:spTgt spid="25"/>
                                        </p:tgtEl>
                                      </p:cBhvr>
                                    </p:animEffect>
                                    <p:anim calcmode="lin" valueType="num">
                                      <p:cBhvr additive="base">
                                        <p:cTn id="41" dur="500" fill="hold"/>
                                        <p:tgtEl>
                                          <p:spTgt spid="25"/>
                                        </p:tgtEl>
                                        <p:attrNameLst>
                                          <p:attrName>ppt_y</p:attrName>
                                        </p:attrNameLst>
                                      </p:cBhvr>
                                      <p:tavLst>
                                        <p:tav tm="0">
                                          <p:val>
                                            <p:strVal val="#ppt_y+0.05"/>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7" presetID="10" presetClass="entr" presetSubtype="0" fill="hold" grpId="0" nodeType="click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500"/>
                                        <p:tgtEl>
                                          <p:spTgt spid="28"/>
                                        </p:tgtEl>
                                      </p:cBhvr>
                                    </p:animEffect>
                                  </p:childTnLst>
                                </p:cTn>
                              </p:par>
                              <p:par>
                                <p:cTn id="50" presetID="10" presetClass="entr" presetSubtype="0" fill="hold" grpId="0" nodeType="withEffect">
                                  <p:stCondLst>
                                    <p:cond delay="25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500"/>
                                        <p:tgtEl>
                                          <p:spTgt spid="31"/>
                                        </p:tgtEl>
                                      </p:cBhvr>
                                    </p:animEffect>
                                  </p:childTnLst>
                                </p:cTn>
                              </p:par>
                              <p:par>
                                <p:cTn id="53" presetID="10" presetClass="entr" presetSubtype="0" fill="hold" grpId="0" nodeType="withEffect">
                                  <p:stCondLst>
                                    <p:cond delay="50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500"/>
                                        <p:tgtEl>
                                          <p:spTgt spid="34"/>
                                        </p:tgtEl>
                                      </p:cBhvr>
                                    </p:animEffect>
                                  </p:childTnLst>
                                </p:cTn>
                              </p:par>
                            </p:childTnLst>
                          </p:cTn>
                        </p:par>
                      </p:childTnLst>
                    </p:cTn>
                  </p:par>
                  <p:par>
                    <p:cTn id="59" fill="hold">
                      <p:stCondLst>
                        <p:cond delay="indefinite"/>
                      </p:stCondLst>
                      <p:childTnLst>
                        <p:par>
                          <p:cTn id="60" fill="hold">
                            <p:stCondLst>
                              <p:cond delay="0"/>
                            </p:stCondLst>
                            <p:childTnLst>
                              <p:par>
                                <p:cTn id="58" presetID="10" presetClass="entr" presetSubtype="0" fill="hold" grpId="0" nodeType="click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02  Method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Real patient CT, simulated low-dose DTS</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06 / 20</a:t>
            </a:r>
          </a:p>
        </p:txBody>
      </p:sp>
      <p:sp>
        <p:nvSpPr>
          <p:cNvPr id="7" name="Rectangle 6"/>
          <p:cNvSpPr/>
          <p:nvPr/>
        </p:nvSpPr>
        <p:spPr>
          <a:xfrm>
            <a:off x="812800" y="1663700"/>
            <a:ext cx="5588000" cy="3784600"/>
          </a:xfrm>
          <a:prstGeom prst="rect">
            <a:avLst/>
          </a:prstGeom>
          <a:solidFill>
            <a:srgbClr val="FFFFFF"/>
          </a:solidFill>
          <a:ln w="12700">
            <a:solidFill>
              <a:srgbClr val="C9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ts_views.png"/>
          <p:cNvPicPr>
            <a:picLocks noChangeAspect="1"/>
          </p:cNvPicPr>
          <p:nvPr/>
        </p:nvPicPr>
        <p:blipFill>
          <a:blip r:embed="rId2"/>
          <a:stretch>
            <a:fillRect/>
          </a:stretch>
        </p:blipFill>
        <p:spPr>
          <a:xfrm>
            <a:off x="834022" y="1676400"/>
            <a:ext cx="5545556" cy="3759200"/>
          </a:xfrm>
          <a:prstGeom prst="rect">
            <a:avLst/>
          </a:prstGeom>
        </p:spPr>
      </p:pic>
      <p:grpSp>
        <p:nvGrpSpPr>
          <p:cNvPr id="9" name="Group 8"/>
          <p:cNvGrpSpPr/>
          <p:nvPr/>
        </p:nvGrpSpPr>
        <p:grpSpPr>
          <a:xfrm>
            <a:off x="6807200" y="1663700"/>
            <a:ext cx="4572000" cy="901700"/>
            <a:chOff x="6807200" y="1663700"/>
            <a:chExt cx="4572000" cy="901700"/>
          </a:xfrm>
        </p:grpSpPr>
        <p:sp>
          <p:nvSpPr>
            <p:cNvPr id="10" name="Rectangle 9"/>
            <p:cNvSpPr/>
            <p:nvPr/>
          </p:nvSpPr>
          <p:spPr>
            <a:xfrm>
              <a:off x="6807200" y="1663700"/>
              <a:ext cx="4572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07200" y="1803400"/>
              <a:ext cx="4572000" cy="762000"/>
            </a:xfrm>
            <a:prstGeom prst="rect">
              <a:avLst/>
            </a:prstGeom>
            <a:noFill/>
          </p:spPr>
          <p:txBody>
            <a:bodyPr wrap="square" lIns="0" rIns="0" tIns="0" bIns="0">
              <a:spAutoFit/>
            </a:bodyPr>
            <a:lstStyle/>
            <a:p>
              <a:pPr algn="l">
                <a:lnSpc>
                  <a:spcPct val="100000"/>
                </a:lnSpc>
              </a:pPr>
              <a:r>
                <a:rPr sz="2800" b="1" i="0">
                  <a:solidFill>
                    <a:srgbClr val="00677F"/>
                  </a:solidFill>
                  <a:latin typeface="Segoe UI"/>
                </a:rPr>
                <a:t>583</a:t>
              </a:r>
            </a:p>
            <a:p>
              <a:pPr algn="l">
                <a:lnSpc>
                  <a:spcPct val="125000"/>
                </a:lnSpc>
                <a:spcBef>
                  <a:spcPts val="500"/>
                </a:spcBef>
              </a:pPr>
              <a:r>
                <a:rPr sz="1300" b="0" i="0">
                  <a:solidFill>
                    <a:srgbClr val="5B6470"/>
                  </a:solidFill>
                  <a:latin typeface="Segoe UI"/>
                </a:rPr>
                <a:t>LIDC-IDRI patients (TCIA, CC BY 3.0)</a:t>
              </a:r>
            </a:p>
          </p:txBody>
        </p:sp>
      </p:grpSp>
      <p:grpSp>
        <p:nvGrpSpPr>
          <p:cNvPr id="12" name="Group 11"/>
          <p:cNvGrpSpPr/>
          <p:nvPr/>
        </p:nvGrpSpPr>
        <p:grpSpPr>
          <a:xfrm>
            <a:off x="6807200" y="2628900"/>
            <a:ext cx="4572000" cy="901700"/>
            <a:chOff x="6807200" y="2628900"/>
            <a:chExt cx="4572000" cy="901700"/>
          </a:xfrm>
        </p:grpSpPr>
        <p:sp>
          <p:nvSpPr>
            <p:cNvPr id="13" name="Rectangle 12"/>
            <p:cNvSpPr/>
            <p:nvPr/>
          </p:nvSpPr>
          <p:spPr>
            <a:xfrm>
              <a:off x="6807200" y="2628900"/>
              <a:ext cx="45720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07200" y="2768600"/>
              <a:ext cx="4572000" cy="762000"/>
            </a:xfrm>
            <a:prstGeom prst="rect">
              <a:avLst/>
            </a:prstGeom>
            <a:noFill/>
          </p:spPr>
          <p:txBody>
            <a:bodyPr wrap="square" lIns="0" rIns="0" tIns="0" bIns="0">
              <a:spAutoFit/>
            </a:bodyPr>
            <a:lstStyle/>
            <a:p>
              <a:pPr algn="l">
                <a:lnSpc>
                  <a:spcPct val="100000"/>
                </a:lnSpc>
              </a:pPr>
              <a:r>
                <a:rPr sz="2800" b="1" i="0">
                  <a:solidFill>
                    <a:srgbClr val="00677F"/>
                  </a:solidFill>
                  <a:latin typeface="Segoe UI"/>
                </a:rPr>
                <a:t>1,144</a:t>
              </a:r>
            </a:p>
            <a:p>
              <a:pPr algn="l">
                <a:lnSpc>
                  <a:spcPct val="125000"/>
                </a:lnSpc>
                <a:spcBef>
                  <a:spcPts val="500"/>
                </a:spcBef>
              </a:pPr>
              <a:r>
                <a:rPr sz="1300" b="0" i="0">
                  <a:solidFill>
                    <a:srgbClr val="5B6470"/>
                  </a:solidFill>
                  <a:latin typeface="Segoe UI"/>
                </a:rPr>
                <a:t>nodules of 4–30 mm marked by ≥3 of 4 radiologists</a:t>
              </a:r>
            </a:p>
          </p:txBody>
        </p:sp>
      </p:grpSp>
      <p:grpSp>
        <p:nvGrpSpPr>
          <p:cNvPr id="15" name="Group 14"/>
          <p:cNvGrpSpPr/>
          <p:nvPr/>
        </p:nvGrpSpPr>
        <p:grpSpPr>
          <a:xfrm>
            <a:off x="6807200" y="3594100"/>
            <a:ext cx="4572000" cy="901700"/>
            <a:chOff x="6807200" y="3594100"/>
            <a:chExt cx="4572000" cy="901700"/>
          </a:xfrm>
        </p:grpSpPr>
        <p:sp>
          <p:nvSpPr>
            <p:cNvPr id="16" name="Rectangle 15"/>
            <p:cNvSpPr/>
            <p:nvPr/>
          </p:nvSpPr>
          <p:spPr>
            <a:xfrm>
              <a:off x="6807200" y="3594100"/>
              <a:ext cx="45720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7200" y="3733800"/>
              <a:ext cx="4572000" cy="762000"/>
            </a:xfrm>
            <a:prstGeom prst="rect">
              <a:avLst/>
            </a:prstGeom>
            <a:noFill/>
          </p:spPr>
          <p:txBody>
            <a:bodyPr wrap="square" lIns="0" rIns="0" tIns="0" bIns="0">
              <a:spAutoFit/>
            </a:bodyPr>
            <a:lstStyle/>
            <a:p>
              <a:pPr algn="l">
                <a:lnSpc>
                  <a:spcPct val="100000"/>
                </a:lnSpc>
              </a:pPr>
              <a:r>
                <a:rPr sz="2800" b="1" i="0">
                  <a:solidFill>
                    <a:srgbClr val="00677F"/>
                  </a:solidFill>
                  <a:latin typeface="Segoe UI"/>
                </a:rPr>
                <a:t>60 / 20 / 20</a:t>
              </a:r>
            </a:p>
            <a:p>
              <a:pPr algn="l">
                <a:lnSpc>
                  <a:spcPct val="125000"/>
                </a:lnSpc>
                <a:spcBef>
                  <a:spcPts val="500"/>
                </a:spcBef>
              </a:pPr>
              <a:r>
                <a:rPr sz="1300" b="0" i="0">
                  <a:solidFill>
                    <a:srgbClr val="5B6470"/>
                  </a:solidFill>
                  <a:latin typeface="Segoe UI"/>
                </a:rPr>
                <a:t>train / calibration / test, split by patient</a:t>
              </a:r>
            </a:p>
          </p:txBody>
        </p:sp>
      </p:grpSp>
      <p:grpSp>
        <p:nvGrpSpPr>
          <p:cNvPr id="18" name="Group 17"/>
          <p:cNvGrpSpPr/>
          <p:nvPr/>
        </p:nvGrpSpPr>
        <p:grpSpPr>
          <a:xfrm>
            <a:off x="6807200" y="4559300"/>
            <a:ext cx="4572000" cy="901700"/>
            <a:chOff x="6807200" y="4559300"/>
            <a:chExt cx="4572000" cy="901700"/>
          </a:xfrm>
        </p:grpSpPr>
        <p:sp>
          <p:nvSpPr>
            <p:cNvPr id="19" name="Rectangle 18"/>
            <p:cNvSpPr/>
            <p:nvPr/>
          </p:nvSpPr>
          <p:spPr>
            <a:xfrm>
              <a:off x="6807200" y="4559300"/>
              <a:ext cx="45720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07200" y="4699000"/>
              <a:ext cx="4572000" cy="762000"/>
            </a:xfrm>
            <a:prstGeom prst="rect">
              <a:avLst/>
            </a:prstGeom>
            <a:noFill/>
          </p:spPr>
          <p:txBody>
            <a:bodyPr wrap="square" lIns="0" rIns="0" tIns="0" bIns="0">
              <a:spAutoFit/>
            </a:bodyPr>
            <a:lstStyle/>
            <a:p>
              <a:pPr algn="l">
                <a:lnSpc>
                  <a:spcPct val="100000"/>
                </a:lnSpc>
              </a:pPr>
              <a:r>
                <a:rPr sz="2800" b="1" i="0">
                  <a:solidFill>
                    <a:srgbClr val="00677F"/>
                  </a:solidFill>
                  <a:latin typeface="Segoe UI"/>
                </a:rPr>
                <a:t>2,522</a:t>
              </a:r>
            </a:p>
            <a:p>
              <a:pPr algn="l">
                <a:lnSpc>
                  <a:spcPct val="125000"/>
                </a:lnSpc>
                <a:spcBef>
                  <a:spcPts val="500"/>
                </a:spcBef>
              </a:pPr>
              <a:r>
                <a:rPr sz="1300" b="0" i="0">
                  <a:solidFill>
                    <a:srgbClr val="5B6470"/>
                  </a:solidFill>
                  <a:latin typeface="Segoe UI"/>
                </a:rPr>
                <a:t>training pairs; 150 nodules measured (76 cal, 74 test)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additive="base">
                                        <p:cTn id="5"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anim calcmode="lin" valueType="num">
                                      <p:cBhvr additive="base">
                                        <p:cTn id="17"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anim calcmode="lin" valueType="num">
                                      <p:cBhvr additive="base">
                                        <p:cTn id="23" dur="500" fill="hold"/>
                                        <p:tgtEl>
                                          <p:spTgt spid="18"/>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02  Method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A conditional 3D diffusion model fills the missing wedge</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07 / 20</a:t>
            </a:r>
          </a:p>
        </p:txBody>
      </p:sp>
      <p:pic>
        <p:nvPicPr>
          <p:cNvPr id="7" name="Picture 6" descr="diff_strip.png"/>
          <p:cNvPicPr>
            <a:picLocks noChangeAspect="1"/>
          </p:cNvPicPr>
          <p:nvPr/>
        </p:nvPicPr>
        <p:blipFill>
          <a:blip r:embed="rId2"/>
          <a:stretch>
            <a:fillRect/>
          </a:stretch>
        </p:blipFill>
        <p:spPr>
          <a:xfrm>
            <a:off x="812800" y="1663946"/>
            <a:ext cx="6426200" cy="2031508"/>
          </a:xfrm>
          <a:prstGeom prst="rect">
            <a:avLst/>
          </a:prstGeom>
        </p:spPr>
      </p:pic>
      <p:sp>
        <p:nvSpPr>
          <p:cNvPr id="8" name="TextBox 7"/>
          <p:cNvSpPr txBox="1"/>
          <p:nvPr/>
        </p:nvSpPr>
        <p:spPr>
          <a:xfrm>
            <a:off x="812800" y="3771900"/>
            <a:ext cx="2142067" cy="2286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DTS input (condition)</a:t>
            </a:r>
          </a:p>
        </p:txBody>
      </p:sp>
      <p:sp>
        <p:nvSpPr>
          <p:cNvPr id="9" name="TextBox 8"/>
          <p:cNvSpPr txBox="1"/>
          <p:nvPr/>
        </p:nvSpPr>
        <p:spPr>
          <a:xfrm>
            <a:off x="2954867" y="3771900"/>
            <a:ext cx="2142067" cy="2286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Diffusion sample</a:t>
            </a:r>
          </a:p>
        </p:txBody>
      </p:sp>
      <p:sp>
        <p:nvSpPr>
          <p:cNvPr id="10" name="TextBox 9"/>
          <p:cNvSpPr txBox="1"/>
          <p:nvPr/>
        </p:nvSpPr>
        <p:spPr>
          <a:xfrm>
            <a:off x="5096933" y="3771900"/>
            <a:ext cx="2142067" cy="2286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CT truth</a:t>
            </a:r>
          </a:p>
        </p:txBody>
      </p:sp>
      <p:grpSp>
        <p:nvGrpSpPr>
          <p:cNvPr id="11" name="Group 10"/>
          <p:cNvGrpSpPr/>
          <p:nvPr/>
        </p:nvGrpSpPr>
        <p:grpSpPr>
          <a:xfrm>
            <a:off x="812800" y="4445000"/>
            <a:ext cx="2489200" cy="1092200"/>
            <a:chOff x="812800" y="4445000"/>
            <a:chExt cx="2489200" cy="1092200"/>
          </a:xfrm>
        </p:grpSpPr>
        <p:sp>
          <p:nvSpPr>
            <p:cNvPr id="12" name="Rectangle 11"/>
            <p:cNvSpPr/>
            <p:nvPr/>
          </p:nvSpPr>
          <p:spPr>
            <a:xfrm>
              <a:off x="812800" y="4445000"/>
              <a:ext cx="24892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4584700"/>
              <a:ext cx="2489200" cy="952500"/>
            </a:xfrm>
            <a:prstGeom prst="rect">
              <a:avLst/>
            </a:prstGeom>
            <a:noFill/>
          </p:spPr>
          <p:txBody>
            <a:bodyPr wrap="square" lIns="0" rIns="0" tIns="0" bIns="0">
              <a:spAutoFit/>
            </a:bodyPr>
            <a:lstStyle/>
            <a:p>
              <a:pPr algn="l">
                <a:lnSpc>
                  <a:spcPct val="100000"/>
                </a:lnSpc>
              </a:pPr>
              <a:r>
                <a:rPr sz="2200" b="1" i="0">
                  <a:solidFill>
                    <a:srgbClr val="1B1F24"/>
                  </a:solidFill>
                  <a:latin typeface="Segoe UI"/>
                </a:rPr>
                <a:t>17.4 M</a:t>
              </a:r>
            </a:p>
            <a:p>
              <a:pPr algn="l">
                <a:lnSpc>
                  <a:spcPct val="125000"/>
                </a:lnSpc>
                <a:spcBef>
                  <a:spcPts val="500"/>
                </a:spcBef>
              </a:pPr>
              <a:r>
                <a:rPr sz="1200" b="0" i="0">
                  <a:solidFill>
                    <a:srgbClr val="5B6470"/>
                  </a:solidFill>
                  <a:latin typeface="Segoe UI"/>
                </a:rPr>
                <a:t>parameter 3D U-Net, v-prediction, DDIM</a:t>
              </a:r>
            </a:p>
          </p:txBody>
        </p:sp>
      </p:grpSp>
      <p:grpSp>
        <p:nvGrpSpPr>
          <p:cNvPr id="14" name="Group 13"/>
          <p:cNvGrpSpPr/>
          <p:nvPr/>
        </p:nvGrpSpPr>
        <p:grpSpPr>
          <a:xfrm>
            <a:off x="3505200" y="4445000"/>
            <a:ext cx="2489200" cy="1092200"/>
            <a:chOff x="3505200" y="4445000"/>
            <a:chExt cx="2489200" cy="1092200"/>
          </a:xfrm>
        </p:grpSpPr>
        <p:sp>
          <p:nvSpPr>
            <p:cNvPr id="15" name="Rectangle 14"/>
            <p:cNvSpPr/>
            <p:nvPr/>
          </p:nvSpPr>
          <p:spPr>
            <a:xfrm>
              <a:off x="3505200" y="4445000"/>
              <a:ext cx="24892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5200" y="4584700"/>
              <a:ext cx="2489200" cy="952500"/>
            </a:xfrm>
            <a:prstGeom prst="rect">
              <a:avLst/>
            </a:prstGeom>
            <a:noFill/>
          </p:spPr>
          <p:txBody>
            <a:bodyPr wrap="square" lIns="0" rIns="0" tIns="0" bIns="0">
              <a:spAutoFit/>
            </a:bodyPr>
            <a:lstStyle/>
            <a:p>
              <a:pPr algn="l">
                <a:lnSpc>
                  <a:spcPct val="100000"/>
                </a:lnSpc>
              </a:pPr>
              <a:r>
                <a:rPr sz="2200" b="1" i="0">
                  <a:solidFill>
                    <a:srgbClr val="1B1F24"/>
                  </a:solidFill>
                  <a:latin typeface="Segoe UI"/>
                </a:rPr>
                <a:t>SIRT</a:t>
              </a:r>
            </a:p>
            <a:p>
              <a:pPr algn="l">
                <a:lnSpc>
                  <a:spcPct val="125000"/>
                </a:lnSpc>
                <a:spcBef>
                  <a:spcPts val="500"/>
                </a:spcBef>
              </a:pPr>
              <a:r>
                <a:rPr sz="1200" b="0" i="0">
                  <a:solidFill>
                    <a:srgbClr val="5B6470"/>
                  </a:solidFill>
                  <a:latin typeface="Segoe UI"/>
                </a:rPr>
                <a:t>steps inside the sampler keep samples X-ray consistent</a:t>
              </a:r>
            </a:p>
          </p:txBody>
        </p:sp>
      </p:grpSp>
      <p:grpSp>
        <p:nvGrpSpPr>
          <p:cNvPr id="17" name="Group 16"/>
          <p:cNvGrpSpPr/>
          <p:nvPr/>
        </p:nvGrpSpPr>
        <p:grpSpPr>
          <a:xfrm>
            <a:off x="6197600" y="4445000"/>
            <a:ext cx="2489200" cy="1092200"/>
            <a:chOff x="6197600" y="4445000"/>
            <a:chExt cx="2489200" cy="1092200"/>
          </a:xfrm>
        </p:grpSpPr>
        <p:sp>
          <p:nvSpPr>
            <p:cNvPr id="18" name="Rectangle 17"/>
            <p:cNvSpPr/>
            <p:nvPr/>
          </p:nvSpPr>
          <p:spPr>
            <a:xfrm>
              <a:off x="6197600" y="4445000"/>
              <a:ext cx="24892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7600" y="4584700"/>
              <a:ext cx="2489200" cy="952500"/>
            </a:xfrm>
            <a:prstGeom prst="rect">
              <a:avLst/>
            </a:prstGeom>
            <a:noFill/>
          </p:spPr>
          <p:txBody>
            <a:bodyPr wrap="square" lIns="0" rIns="0" tIns="0" bIns="0">
              <a:spAutoFit/>
            </a:bodyPr>
            <a:lstStyle/>
            <a:p>
              <a:pPr algn="l">
                <a:lnSpc>
                  <a:spcPct val="100000"/>
                </a:lnSpc>
              </a:pPr>
              <a:r>
                <a:rPr sz="2200" b="1" i="0">
                  <a:solidFill>
                    <a:srgbClr val="1B1F24"/>
                  </a:solidFill>
                  <a:latin typeface="Segoe UI"/>
                </a:rPr>
                <a:t>27,610</a:t>
              </a:r>
            </a:p>
            <a:p>
              <a:pPr algn="l">
                <a:lnSpc>
                  <a:spcPct val="125000"/>
                </a:lnSpc>
                <a:spcBef>
                  <a:spcPts val="500"/>
                </a:spcBef>
              </a:pPr>
              <a:r>
                <a:rPr sz="1200" b="0" i="0">
                  <a:solidFill>
                    <a:srgbClr val="5B6470"/>
                  </a:solidFill>
                  <a:latin typeface="Segoe UI"/>
                </a:rPr>
                <a:t>training steps in 6 hours on 2,522 pairs</a:t>
              </a:r>
            </a:p>
          </p:txBody>
        </p:sp>
      </p:grpSp>
      <p:grpSp>
        <p:nvGrpSpPr>
          <p:cNvPr id="20" name="Group 19"/>
          <p:cNvGrpSpPr/>
          <p:nvPr/>
        </p:nvGrpSpPr>
        <p:grpSpPr>
          <a:xfrm>
            <a:off x="8890000" y="4445000"/>
            <a:ext cx="2489200" cy="1092200"/>
            <a:chOff x="8890000" y="4445000"/>
            <a:chExt cx="2489200" cy="1092200"/>
          </a:xfrm>
        </p:grpSpPr>
        <p:sp>
          <p:nvSpPr>
            <p:cNvPr id="21" name="Rectangle 20"/>
            <p:cNvSpPr/>
            <p:nvPr/>
          </p:nvSpPr>
          <p:spPr>
            <a:xfrm>
              <a:off x="8890000" y="4445000"/>
              <a:ext cx="2489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0000" y="4584700"/>
              <a:ext cx="2489200" cy="952500"/>
            </a:xfrm>
            <a:prstGeom prst="rect">
              <a:avLst/>
            </a:prstGeom>
            <a:noFill/>
          </p:spPr>
          <p:txBody>
            <a:bodyPr wrap="square" lIns="0" rIns="0" tIns="0" bIns="0">
              <a:spAutoFit/>
            </a:bodyPr>
            <a:lstStyle/>
            <a:p>
              <a:pPr algn="l">
                <a:lnSpc>
                  <a:spcPct val="100000"/>
                </a:lnSpc>
              </a:pPr>
              <a:r>
                <a:rPr sz="2200" b="1" i="0">
                  <a:solidFill>
                    <a:srgbClr val="00677F"/>
                  </a:solidFill>
                  <a:latin typeface="Segoe UI"/>
                </a:rPr>
                <a:t>+3.35 dB</a:t>
              </a:r>
            </a:p>
            <a:p>
              <a:pPr algn="l">
                <a:lnSpc>
                  <a:spcPct val="125000"/>
                </a:lnSpc>
                <a:spcBef>
                  <a:spcPts val="500"/>
                </a:spcBef>
              </a:pPr>
              <a:r>
                <a:rPr sz="1200" b="0" i="0">
                  <a:solidFill>
                    <a:srgbClr val="5B6470"/>
                  </a:solidFill>
                  <a:latin typeface="Segoe UI"/>
                </a:rPr>
                <a:t>held-out nodule PSNR, 11.88 → 15.23 dB</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additive="base">
                                        <p:cTn id="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anim calcmode="lin" valueType="num">
                                      <p:cBhvr additive="base">
                                        <p:cTn id="11"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anim calcmode="lin" valueType="num">
                                      <p:cBhvr additive="base">
                                        <p:cTn id="23" dur="500" fill="hold"/>
                                        <p:tgtEl>
                                          <p:spTgt spid="20"/>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02  Method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Gaussians give the mass, conformal prediction the intervals</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08 / 20</a:t>
            </a:r>
          </a:p>
        </p:txBody>
      </p:sp>
      <p:grpSp>
        <p:nvGrpSpPr>
          <p:cNvPr id="7" name="Group 6"/>
          <p:cNvGrpSpPr/>
          <p:nvPr/>
        </p:nvGrpSpPr>
        <p:grpSpPr>
          <a:xfrm>
            <a:off x="812800" y="1714500"/>
            <a:ext cx="5080000" cy="3111500"/>
            <a:chOff x="812800" y="1714500"/>
            <a:chExt cx="5080000" cy="3111500"/>
          </a:xfrm>
        </p:grpSpPr>
        <p:sp>
          <p:nvSpPr>
            <p:cNvPr id="8" name="Rectangle 7"/>
            <p:cNvSpPr/>
            <p:nvPr/>
          </p:nvSpPr>
          <p:spPr>
            <a:xfrm>
              <a:off x="812800" y="17145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54200"/>
              <a:ext cx="5080000" cy="381000"/>
            </a:xfrm>
            <a:prstGeom prst="rect">
              <a:avLst/>
            </a:prstGeom>
            <a:noFill/>
          </p:spPr>
          <p:txBody>
            <a:bodyPr wrap="square" lIns="0" rIns="0" tIns="0" bIns="0">
              <a:spAutoFit/>
            </a:bodyPr>
            <a:lstStyle/>
            <a:p>
              <a:pPr algn="l">
                <a:lnSpc>
                  <a:spcPct val="125000"/>
                </a:lnSpc>
              </a:pPr>
              <a:r>
                <a:rPr sz="1800" b="1" i="0">
                  <a:solidFill>
                    <a:srgbClr val="1B1F24"/>
                  </a:solidFill>
                  <a:latin typeface="Segoe UI"/>
                </a:rPr>
                <a:t>3D Gaussians</a:t>
              </a:r>
            </a:p>
          </p:txBody>
        </p:sp>
        <p:sp>
          <p:nvSpPr>
            <p:cNvPr id="10" name="Oval 9"/>
            <p:cNvSpPr/>
            <p:nvPr/>
          </p:nvSpPr>
          <p:spPr>
            <a:xfrm>
              <a:off x="1778000" y="2413000"/>
              <a:ext cx="1524000" cy="889000"/>
            </a:xfrm>
            <a:prstGeom prst="ellipse">
              <a:avLst/>
            </a:prstGeom>
            <a:solidFill>
              <a:srgbClr val="00677F">
                <a:alpha val="20000"/>
              </a:srgbClr>
            </a:solidFill>
            <a:ln w="19050">
              <a:solidFill>
                <a:srgbClr val="0067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476500" y="2444750"/>
              <a:ext cx="889000" cy="698500"/>
            </a:xfrm>
            <a:prstGeom prst="ellipse">
              <a:avLst/>
            </a:prstGeom>
            <a:solidFill>
              <a:srgbClr val="00677F">
                <a:alpha val="20000"/>
              </a:srgbClr>
            </a:solidFill>
            <a:ln w="19050">
              <a:solidFill>
                <a:srgbClr val="0067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41500" y="2698750"/>
              <a:ext cx="762000" cy="508000"/>
            </a:xfrm>
            <a:prstGeom prst="ellipse">
              <a:avLst/>
            </a:prstGeom>
            <a:solidFill>
              <a:srgbClr val="00677F">
                <a:alpha val="20000"/>
              </a:srgbClr>
            </a:solidFill>
            <a:ln w="19050">
              <a:solidFill>
                <a:srgbClr val="0067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556000"/>
              <a:ext cx="5080000" cy="1270000"/>
            </a:xfrm>
            <a:prstGeom prst="rect">
              <a:avLst/>
            </a:prstGeom>
            <a:noFill/>
          </p:spPr>
          <p:txBody>
            <a:bodyPr wrap="square" lIns="0">
              <a:spAutoFit/>
            </a:bodyPr>
            <a:lstStyle/>
            <a:p>
              <a:pPr algn="l">
                <a:lnSpc>
                  <a:spcPct val="130000"/>
                </a:lnSpc>
              </a:pPr>
              <a:r>
                <a:rPr sz="1500" b="0" i="0">
                  <a:solidFill>
                    <a:srgbClr val="1B1F24"/>
                  </a:solidFill>
                  <a:latin typeface="Segoe UI"/>
                </a:rPr>
                <a:t>Each sample is fitted with anisotropic Gaussians. Mass is a closed-form sum: amplitude × (2π)^(3/2) × s₁ s₂ s₃.</a:t>
              </a:r>
            </a:p>
          </p:txBody>
        </p:sp>
      </p:grpSp>
      <p:grpSp>
        <p:nvGrpSpPr>
          <p:cNvPr id="14" name="Group 13"/>
          <p:cNvGrpSpPr/>
          <p:nvPr/>
        </p:nvGrpSpPr>
        <p:grpSpPr>
          <a:xfrm>
            <a:off x="6299200" y="1714500"/>
            <a:ext cx="5080000" cy="3111500"/>
            <a:chOff x="6299200" y="1714500"/>
            <a:chExt cx="5080000" cy="3111500"/>
          </a:xfrm>
        </p:grpSpPr>
        <p:sp>
          <p:nvSpPr>
            <p:cNvPr id="15" name="Rectangle 14"/>
            <p:cNvSpPr/>
            <p:nvPr/>
          </p:nvSpPr>
          <p:spPr>
            <a:xfrm>
              <a:off x="6299200" y="17145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9200" y="1854200"/>
              <a:ext cx="5080000" cy="381000"/>
            </a:xfrm>
            <a:prstGeom prst="rect">
              <a:avLst/>
            </a:prstGeom>
            <a:noFill/>
          </p:spPr>
          <p:txBody>
            <a:bodyPr wrap="square" lIns="0" rIns="0" tIns="0" bIns="0">
              <a:spAutoFit/>
            </a:bodyPr>
            <a:lstStyle/>
            <a:p>
              <a:pPr algn="l">
                <a:lnSpc>
                  <a:spcPct val="125000"/>
                </a:lnSpc>
              </a:pPr>
              <a:r>
                <a:rPr sz="1800" b="1" i="0">
                  <a:solidFill>
                    <a:srgbClr val="1B1F24"/>
                  </a:solidFill>
                  <a:latin typeface="Segoe UI"/>
                </a:rPr>
                <a:t>Conformal calibration</a:t>
              </a:r>
            </a:p>
          </p:txBody>
        </p:sp>
        <p:sp>
          <p:nvSpPr>
            <p:cNvPr id="17" name="Oval 16"/>
            <p:cNvSpPr/>
            <p:nvPr/>
          </p:nvSpPr>
          <p:spPr>
            <a:xfrm>
              <a:off x="6381750" y="30670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72250" y="30035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731000" y="30670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89750" y="29400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0250" y="303530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70750" y="28765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61250" y="30035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51750" y="28130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874000" y="271780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96250" y="2559050"/>
              <a:ext cx="88900" cy="88900"/>
            </a:xfrm>
            <a:prstGeom prst="ellipse">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50250" y="2413000"/>
              <a:ext cx="88900" cy="88900"/>
            </a:xfrm>
            <a:prstGeom prst="ellipse">
              <a:avLst/>
            </a:prstGeom>
            <a:solidFill>
              <a:srgbClr val="B54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8267700" y="2286000"/>
              <a:ext cx="0" cy="984250"/>
            </a:xfrm>
            <a:prstGeom prst="line">
              <a:avLst/>
            </a:prstGeom>
            <a:ln w="19050">
              <a:solidFill>
                <a:srgbClr val="B5472F"/>
              </a:solidFill>
              <a:prstDash val="dash"/>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8648700" y="2698750"/>
              <a:ext cx="889000" cy="190500"/>
            </a:xfrm>
            <a:prstGeom prst="rect">
              <a:avLst/>
            </a:prstGeom>
            <a:solidFill>
              <a:srgbClr val="00677F">
                <a:alpha val="20000"/>
              </a:srgbClr>
            </a:solidFill>
            <a:ln w="12700">
              <a:solidFill>
                <a:srgbClr val="0067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042400" y="2743200"/>
              <a:ext cx="101600" cy="101600"/>
            </a:xfrm>
            <a:prstGeom prst="ellipse">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9200" y="3556000"/>
              <a:ext cx="5080000" cy="1270000"/>
            </a:xfrm>
            <a:prstGeom prst="rect">
              <a:avLst/>
            </a:prstGeom>
            <a:noFill/>
          </p:spPr>
          <p:txBody>
            <a:bodyPr wrap="square" lIns="0">
              <a:spAutoFit/>
            </a:bodyPr>
            <a:lstStyle/>
            <a:p>
              <a:pPr algn="l">
                <a:lnSpc>
                  <a:spcPct val="130000"/>
                </a:lnSpc>
              </a:pPr>
              <a:r>
                <a:rPr sz="1500" b="0" i="0">
                  <a:solidFill>
                    <a:srgbClr val="1B1F24"/>
                  </a:solidFill>
                  <a:latin typeface="Segoe UI"/>
                </a:rPr>
                <a:t>Errors on </a:t>
              </a:r>
              <a:r>
                <a:rPr sz="1500" b="1" i="0">
                  <a:solidFill>
                    <a:srgbClr val="1B1F24"/>
                  </a:solidFill>
                  <a:latin typeface="Segoe UI"/>
                </a:rPr>
                <a:t>76 calibration nodules</a:t>
              </a:r>
              <a:r>
                <a:rPr sz="1500" b="0" i="0">
                  <a:solidFill>
                    <a:srgbClr val="1B1F24"/>
                  </a:solidFill>
                  <a:latin typeface="Segoe UI"/>
                </a:rPr>
                <a:t> set the 90% quantile; every new estimate gets that interval and calibrated EUPS size-category probabilities.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anim calcmode="lin" valueType="num">
                                      <p:cBhvr additive="base">
                                        <p:cTn id="11"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02  Method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Click a nodule, get its 3D measurement in under a minute</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09 / 20</a:t>
            </a:r>
          </a:p>
        </p:txBody>
      </p:sp>
      <p:sp>
        <p:nvSpPr>
          <p:cNvPr id="7" name="Rectangle 6"/>
          <p:cNvSpPr/>
          <p:nvPr/>
        </p:nvSpPr>
        <p:spPr>
          <a:xfrm>
            <a:off x="812800" y="1663700"/>
            <a:ext cx="5588000" cy="2921000"/>
          </a:xfrm>
          <a:prstGeom prst="rect">
            <a:avLst/>
          </a:prstGeom>
          <a:solidFill>
            <a:srgbClr val="FFFFFF"/>
          </a:solidFill>
          <a:ln w="12700">
            <a:solidFill>
              <a:srgbClr val="C9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mo_roi_solid.png"/>
          <p:cNvPicPr>
            <a:picLocks noChangeAspect="1"/>
          </p:cNvPicPr>
          <p:nvPr/>
        </p:nvPicPr>
        <p:blipFill>
          <a:blip r:embed="rId2"/>
          <a:stretch>
            <a:fillRect/>
          </a:stretch>
        </p:blipFill>
        <p:spPr>
          <a:xfrm>
            <a:off x="833549" y="1676400"/>
            <a:ext cx="5546501" cy="2895600"/>
          </a:xfrm>
          <a:prstGeom prst="rect">
            <a:avLst/>
          </a:prstGeom>
        </p:spPr>
      </p:pic>
      <p:sp>
        <p:nvSpPr>
          <p:cNvPr id="9" name="TextBox 8"/>
          <p:cNvSpPr txBox="1"/>
          <p:nvPr/>
        </p:nvSpPr>
        <p:spPr>
          <a:xfrm>
            <a:off x="812800" y="4660900"/>
            <a:ext cx="5588000" cy="4445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Prism views: DTS input (top), reconstruction with segmentation and sample spread (bottom)</a:t>
            </a:r>
          </a:p>
        </p:txBody>
      </p:sp>
      <p:sp>
        <p:nvSpPr>
          <p:cNvPr id="10" name="Rectangle 9"/>
          <p:cNvSpPr/>
          <p:nvPr/>
        </p:nvSpPr>
        <p:spPr>
          <a:xfrm>
            <a:off x="6604000" y="1663700"/>
            <a:ext cx="4775200" cy="1841500"/>
          </a:xfrm>
          <a:prstGeom prst="rect">
            <a:avLst/>
          </a:prstGeom>
          <a:solidFill>
            <a:srgbClr val="FFFFFF"/>
          </a:solidFill>
          <a:ln w="12700">
            <a:solidFill>
              <a:srgbClr val="C9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mo_3d_a.png"/>
          <p:cNvPicPr>
            <a:picLocks noChangeAspect="1"/>
          </p:cNvPicPr>
          <p:nvPr/>
        </p:nvPicPr>
        <p:blipFill>
          <a:blip r:embed="rId3"/>
          <a:stretch>
            <a:fillRect/>
          </a:stretch>
        </p:blipFill>
        <p:spPr>
          <a:xfrm>
            <a:off x="6964743" y="1676400"/>
            <a:ext cx="4053715" cy="1816100"/>
          </a:xfrm>
          <a:prstGeom prst="rect">
            <a:avLst/>
          </a:prstGeom>
        </p:spPr>
      </p:pic>
      <p:sp>
        <p:nvSpPr>
          <p:cNvPr id="12" name="TextBox 11"/>
          <p:cNvSpPr txBox="1"/>
          <p:nvPr/>
        </p:nvSpPr>
        <p:spPr>
          <a:xfrm>
            <a:off x="6604000" y="3581400"/>
            <a:ext cx="4775200" cy="4445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3D view: green = samples agree, red = uncertain (mostly depth), grey = radiologists</a:t>
            </a:r>
          </a:p>
        </p:txBody>
      </p:sp>
      <p:grpSp>
        <p:nvGrpSpPr>
          <p:cNvPr id="13" name="Group 12"/>
          <p:cNvGrpSpPr/>
          <p:nvPr/>
        </p:nvGrpSpPr>
        <p:grpSpPr>
          <a:xfrm>
            <a:off x="6604000" y="4318000"/>
            <a:ext cx="4775200" cy="1155700"/>
            <a:chOff x="6604000" y="4318000"/>
            <a:chExt cx="4775200" cy="1155700"/>
          </a:xfrm>
        </p:grpSpPr>
        <p:sp>
          <p:nvSpPr>
            <p:cNvPr id="14" name="Rectangle 13"/>
            <p:cNvSpPr/>
            <p:nvPr/>
          </p:nvSpPr>
          <p:spPr>
            <a:xfrm>
              <a:off x="6604000" y="4318000"/>
              <a:ext cx="4775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4000" y="4457700"/>
              <a:ext cx="4775200" cy="1016000"/>
            </a:xfrm>
            <a:prstGeom prst="rect">
              <a:avLst/>
            </a:prstGeom>
            <a:noFill/>
          </p:spPr>
          <p:txBody>
            <a:bodyPr wrap="square" lIns="0" rIns="0" tIns="0" bIns="0">
              <a:spAutoFit/>
            </a:bodyPr>
            <a:lstStyle/>
            <a:p>
              <a:pPr algn="l">
                <a:lnSpc>
                  <a:spcPct val="125000"/>
                </a:lnSpc>
              </a:pPr>
              <a:r>
                <a:rPr sz="1500" b="0" i="0">
                  <a:solidFill>
                    <a:srgbClr val="1B1F24"/>
                  </a:solidFill>
                  <a:latin typeface="Segoe UI"/>
                </a:rPr>
                <a:t>Returns mass, volume and EUPS category with intervals and probabilities, plus a </a:t>
              </a:r>
              <a:r>
                <a:rPr sz="1500" b="1" i="0">
                  <a:solidFill>
                    <a:srgbClr val="1B1F24"/>
                  </a:solidFill>
                  <a:latin typeface="Segoe UI"/>
                </a:rPr>
                <a:t>low-confidence flag</a:t>
              </a:r>
              <a:r>
                <a:rPr sz="1500" b="0" i="0">
                  <a:solidFill>
                    <a:srgbClr val="1B1F24"/>
                  </a:solidFill>
                  <a:latin typeface="Segoe UI"/>
                </a:rPr>
                <a:t>. Runs on a free Kaggle GPU.</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02  Method</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Each nodule rebuilt in 3D, coloured by certainty</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10 / 20</a:t>
            </a:r>
          </a:p>
        </p:txBody>
      </p:sp>
      <p:grpSp>
        <p:nvGrpSpPr>
          <p:cNvPr id="7" name="Group 6"/>
          <p:cNvGrpSpPr/>
          <p:nvPr/>
        </p:nvGrpSpPr>
        <p:grpSpPr>
          <a:xfrm>
            <a:off x="812800" y="1663700"/>
            <a:ext cx="5130800" cy="3594100"/>
            <a:chOff x="812800" y="1663700"/>
            <a:chExt cx="5130800" cy="3594100"/>
          </a:xfrm>
        </p:grpSpPr>
        <p:sp>
          <p:nvSpPr>
            <p:cNvPr id="8" name="Rectangle 7"/>
            <p:cNvSpPr/>
            <p:nvPr/>
          </p:nvSpPr>
          <p:spPr>
            <a:xfrm>
              <a:off x="812800" y="1663700"/>
              <a:ext cx="5130800" cy="2857500"/>
            </a:xfrm>
            <a:prstGeom prst="rect">
              <a:avLst/>
            </a:prstGeom>
            <a:solidFill>
              <a:srgbClr val="FFFFFF"/>
            </a:solidFill>
            <a:ln w="12700">
              <a:solidFill>
                <a:srgbClr val="C9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con3d_a.png"/>
            <p:cNvPicPr>
              <a:picLocks noChangeAspect="1"/>
            </p:cNvPicPr>
            <p:nvPr/>
          </p:nvPicPr>
          <p:blipFill>
            <a:blip r:embed="rId2"/>
            <a:stretch>
              <a:fillRect/>
            </a:stretch>
          </p:blipFill>
          <p:spPr>
            <a:xfrm>
              <a:off x="1391920" y="1689100"/>
              <a:ext cx="3972560" cy="2806700"/>
            </a:xfrm>
            <a:prstGeom prst="rect">
              <a:avLst/>
            </a:prstGeom>
          </p:spPr>
        </p:pic>
        <p:sp>
          <p:nvSpPr>
            <p:cNvPr id="10" name="TextBox 9"/>
            <p:cNvSpPr txBox="1"/>
            <p:nvPr/>
          </p:nvSpPr>
          <p:spPr>
            <a:xfrm>
              <a:off x="812800" y="4622800"/>
              <a:ext cx="5130800" cy="635000"/>
            </a:xfrm>
            <a:prstGeom prst="rect">
              <a:avLst/>
            </a:prstGeom>
            <a:noFill/>
          </p:spPr>
          <p:txBody>
            <a:bodyPr wrap="square" lIns="0">
              <a:spAutoFit/>
            </a:bodyPr>
            <a:lstStyle/>
            <a:p>
              <a:pPr algn="l">
                <a:lnSpc>
                  <a:spcPct val="130000"/>
                </a:lnSpc>
              </a:pPr>
              <a:r>
                <a:rPr sz="1400" b="1" i="0">
                  <a:solidFill>
                    <a:srgbClr val="00677F"/>
                  </a:solidFill>
                  <a:latin typeface="Segoe UI"/>
                </a:rPr>
                <a:t>(a) Match. </a:t>
              </a:r>
              <a:r>
                <a:rPr sz="1400" b="0" i="0">
                  <a:solidFill>
                    <a:srgbClr val="1B1F24"/>
                  </a:solidFill>
                  <a:latin typeface="Segoe UI"/>
                </a:rPr>
                <a:t>The reconstruction fills the radiologists’ nodule; red patches sit at the depth edges.</a:t>
              </a:r>
            </a:p>
          </p:txBody>
        </p:sp>
      </p:grpSp>
      <p:grpSp>
        <p:nvGrpSpPr>
          <p:cNvPr id="11" name="Group 10"/>
          <p:cNvGrpSpPr/>
          <p:nvPr/>
        </p:nvGrpSpPr>
        <p:grpSpPr>
          <a:xfrm>
            <a:off x="6248400" y="1663700"/>
            <a:ext cx="5130800" cy="3594100"/>
            <a:chOff x="6248400" y="1663700"/>
            <a:chExt cx="5130800" cy="3594100"/>
          </a:xfrm>
        </p:grpSpPr>
        <p:sp>
          <p:nvSpPr>
            <p:cNvPr id="12" name="Rectangle 11"/>
            <p:cNvSpPr/>
            <p:nvPr/>
          </p:nvSpPr>
          <p:spPr>
            <a:xfrm>
              <a:off x="6248400" y="1663700"/>
              <a:ext cx="5130800" cy="2857500"/>
            </a:xfrm>
            <a:prstGeom prst="rect">
              <a:avLst/>
            </a:prstGeom>
            <a:solidFill>
              <a:srgbClr val="FFFFFF"/>
            </a:solidFill>
            <a:ln w="12700">
              <a:solidFill>
                <a:srgbClr val="C9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con3d_b.png"/>
            <p:cNvPicPr>
              <a:picLocks noChangeAspect="1"/>
            </p:cNvPicPr>
            <p:nvPr/>
          </p:nvPicPr>
          <p:blipFill>
            <a:blip r:embed="rId3"/>
            <a:stretch>
              <a:fillRect/>
            </a:stretch>
          </p:blipFill>
          <p:spPr>
            <a:xfrm>
              <a:off x="6827520" y="1689100"/>
              <a:ext cx="3972560" cy="2806700"/>
            </a:xfrm>
            <a:prstGeom prst="rect">
              <a:avLst/>
            </a:prstGeom>
          </p:spPr>
        </p:pic>
        <p:sp>
          <p:nvSpPr>
            <p:cNvPr id="14" name="TextBox 13"/>
            <p:cNvSpPr txBox="1"/>
            <p:nvPr/>
          </p:nvSpPr>
          <p:spPr>
            <a:xfrm>
              <a:off x="6248400" y="4622800"/>
              <a:ext cx="5130800" cy="635000"/>
            </a:xfrm>
            <a:prstGeom prst="rect">
              <a:avLst/>
            </a:prstGeom>
            <a:noFill/>
          </p:spPr>
          <p:txBody>
            <a:bodyPr wrap="square" lIns="0">
              <a:spAutoFit/>
            </a:bodyPr>
            <a:lstStyle/>
            <a:p>
              <a:pPr algn="l">
                <a:lnSpc>
                  <a:spcPct val="130000"/>
                </a:lnSpc>
              </a:pPr>
              <a:r>
                <a:rPr sz="1400" b="1" i="0">
                  <a:solidFill>
                    <a:srgbClr val="B5472F"/>
                  </a:solidFill>
                  <a:latin typeface="Segoe UI"/>
                </a:rPr>
                <a:t>(b) Under-estimate. </a:t>
              </a:r>
              <a:r>
                <a:rPr sz="1400" b="0" i="0">
                  <a:solidFill>
                    <a:srgbClr val="1B1F24"/>
                  </a:solidFill>
                  <a:latin typeface="Segoe UI"/>
                </a:rPr>
                <a:t>Smaller than the radiologists’ nodule: the gap our next step closes.</a:t>
              </a:r>
            </a:p>
          </p:txBody>
        </p:sp>
      </p:grpSp>
      <p:sp>
        <p:nvSpPr>
          <p:cNvPr id="15" name="TextBox 14"/>
          <p:cNvSpPr txBox="1"/>
          <p:nvPr/>
        </p:nvSpPr>
        <p:spPr>
          <a:xfrm>
            <a:off x="812800" y="5461000"/>
            <a:ext cx="10566400" cy="2540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Colour = disagreement of the 8 samples (green agree, red uncertain) · grey shell = radiologists’ nodule (truth)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F24"/>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20000"/>
              </a:lnSpc>
            </a:pPr>
            <a:r>
              <a:rPr sz="1400" b="1" i="0">
                <a:solidFill>
                  <a:srgbClr val="7FC4D3"/>
                </a:solidFill>
                <a:latin typeface="Segoe UI"/>
              </a:rPr>
              <a:t>03  Results · held-out patients never seen in training</a:t>
            </a:r>
          </a:p>
        </p:txBody>
      </p:sp>
      <p:sp>
        <p:nvSpPr>
          <p:cNvPr id="3" name="TextBox 2"/>
          <p:cNvSpPr txBox="1"/>
          <p:nvPr/>
        </p:nvSpPr>
        <p:spPr>
          <a:xfrm>
            <a:off x="812800" y="2286000"/>
            <a:ext cx="10160000" cy="1524000"/>
          </a:xfrm>
          <a:prstGeom prst="rect">
            <a:avLst/>
          </a:prstGeom>
          <a:noFill/>
        </p:spPr>
        <p:txBody>
          <a:bodyPr wrap="square" lIns="0" rIns="0" tIns="0" bIns="0" anchor="t">
            <a:spAutoFit/>
          </a:bodyPr>
          <a:lstStyle/>
          <a:p>
            <a:pPr algn="l">
              <a:lnSpc>
                <a:spcPct val="100000"/>
              </a:lnSpc>
            </a:pPr>
            <a:r>
              <a:rPr sz="5200" b="1" i="0">
                <a:solidFill>
                  <a:srgbClr val="F7F6F2"/>
                </a:solidFill>
                <a:latin typeface="Segoe UI"/>
              </a:rPr>
              <a:t>A complete, working system, validated end to end</a:t>
            </a:r>
          </a:p>
        </p:txBody>
      </p:sp>
      <p:sp>
        <p:nvSpPr>
          <p:cNvPr id="4" name="TextBox 3"/>
          <p:cNvSpPr txBox="1"/>
          <p:nvPr/>
        </p:nvSpPr>
        <p:spPr>
          <a:xfrm>
            <a:off x="812800" y="4127500"/>
            <a:ext cx="8890000" cy="762000"/>
          </a:xfrm>
          <a:prstGeom prst="rect">
            <a:avLst/>
          </a:prstGeom>
          <a:noFill/>
        </p:spPr>
        <p:txBody>
          <a:bodyPr wrap="square" lIns="0" rIns="0" tIns="0" bIns="0" anchor="t">
            <a:spAutoFit/>
          </a:bodyPr>
          <a:lstStyle/>
          <a:p>
            <a:pPr algn="l">
              <a:lnSpc>
                <a:spcPct val="135000"/>
              </a:lnSpc>
            </a:pPr>
            <a:r>
              <a:rPr sz="1700" b="0" i="0">
                <a:solidFill>
                  <a:srgbClr val="C9CED4"/>
                </a:solidFill>
                <a:latin typeface="Segoe UI"/>
              </a:rPr>
              <a:t>Every component met its target, the physics insight was confirmed on data, and our analysis maps a clear path to clinical accuracy.</a:t>
            </a: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8A939C"/>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8A939C"/>
                </a:solidFill>
                <a:latin typeface="Segoe UI"/>
              </a:rPr>
              <a:t>11 / 20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03  Results</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Every component met its own specification</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12 / 20</a:t>
            </a:r>
          </a:p>
        </p:txBody>
      </p:sp>
      <p:grpSp>
        <p:nvGrpSpPr>
          <p:cNvPr id="7" name="Group 6"/>
          <p:cNvGrpSpPr/>
          <p:nvPr/>
        </p:nvGrpSpPr>
        <p:grpSpPr>
          <a:xfrm>
            <a:off x="812800" y="1714500"/>
            <a:ext cx="5080000" cy="1727200"/>
            <a:chOff x="812800" y="1714500"/>
            <a:chExt cx="5080000" cy="1727200"/>
          </a:xfrm>
        </p:grpSpPr>
        <p:sp>
          <p:nvSpPr>
            <p:cNvPr id="8" name="Rectangle 7"/>
            <p:cNvSpPr/>
            <p:nvPr/>
          </p:nvSpPr>
          <p:spPr>
            <a:xfrm>
              <a:off x="812800" y="17145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54200"/>
              <a:ext cx="5080000" cy="1587500"/>
            </a:xfrm>
            <a:prstGeom prst="rect">
              <a:avLst/>
            </a:prstGeom>
            <a:noFill/>
          </p:spPr>
          <p:txBody>
            <a:bodyPr wrap="square" lIns="0" rIns="0" tIns="0" bIns="0">
              <a:spAutoFit/>
            </a:bodyPr>
            <a:lstStyle/>
            <a:p>
              <a:pPr algn="l">
                <a:lnSpc>
                  <a:spcPct val="125000"/>
                </a:lnSpc>
              </a:pPr>
              <a:r>
                <a:rPr sz="1400" b="1" i="0">
                  <a:solidFill>
                    <a:srgbClr val="5B6470"/>
                  </a:solidFill>
                  <a:latin typeface="Segoe UI"/>
                </a:rPr>
                <a:t>Diffusion prior</a:t>
              </a:r>
            </a:p>
            <a:p>
              <a:pPr algn="l">
                <a:lnSpc>
                  <a:spcPct val="100000"/>
                </a:lnSpc>
              </a:pPr>
              <a:r>
                <a:rPr sz="4800" b="1" i="0">
                  <a:solidFill>
                    <a:srgbClr val="00677F"/>
                  </a:solidFill>
                  <a:latin typeface="Segoe UI"/>
                </a:rPr>
                <a:t>+3.35 dB</a:t>
              </a:r>
            </a:p>
            <a:p>
              <a:pPr algn="l">
                <a:lnSpc>
                  <a:spcPct val="125000"/>
                </a:lnSpc>
                <a:spcBef>
                  <a:spcPts val="500"/>
                </a:spcBef>
              </a:pPr>
              <a:r>
                <a:rPr sz="1400" b="0" i="0">
                  <a:solidFill>
                    <a:srgbClr val="5B6470"/>
                  </a:solidFill>
                  <a:latin typeface="Segoe UI"/>
                </a:rPr>
                <a:t>nodule PSNR on held-out data, 11.88 → 15.23 dB</a:t>
              </a:r>
            </a:p>
          </p:txBody>
        </p:sp>
      </p:grpSp>
      <p:grpSp>
        <p:nvGrpSpPr>
          <p:cNvPr id="10" name="Group 9"/>
          <p:cNvGrpSpPr/>
          <p:nvPr/>
        </p:nvGrpSpPr>
        <p:grpSpPr>
          <a:xfrm>
            <a:off x="6299200" y="1714500"/>
            <a:ext cx="5080000" cy="1727200"/>
            <a:chOff x="6299200" y="1714500"/>
            <a:chExt cx="5080000" cy="1727200"/>
          </a:xfrm>
        </p:grpSpPr>
        <p:sp>
          <p:nvSpPr>
            <p:cNvPr id="11" name="Rectangle 10"/>
            <p:cNvSpPr/>
            <p:nvPr/>
          </p:nvSpPr>
          <p:spPr>
            <a:xfrm>
              <a:off x="6299200" y="17145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9200" y="1854200"/>
              <a:ext cx="5080000" cy="1587500"/>
            </a:xfrm>
            <a:prstGeom prst="rect">
              <a:avLst/>
            </a:prstGeom>
            <a:noFill/>
          </p:spPr>
          <p:txBody>
            <a:bodyPr wrap="square" lIns="0" rIns="0" tIns="0" bIns="0">
              <a:spAutoFit/>
            </a:bodyPr>
            <a:lstStyle/>
            <a:p>
              <a:pPr algn="l">
                <a:lnSpc>
                  <a:spcPct val="125000"/>
                </a:lnSpc>
              </a:pPr>
              <a:r>
                <a:rPr sz="1400" b="1" i="0">
                  <a:solidFill>
                    <a:srgbClr val="5B6470"/>
                  </a:solidFill>
                  <a:latin typeface="Segoe UI"/>
                </a:rPr>
                <a:t>Learned detector</a:t>
              </a:r>
            </a:p>
            <a:p>
              <a:pPr algn="l">
                <a:lnSpc>
                  <a:spcPct val="100000"/>
                </a:lnSpc>
              </a:pPr>
              <a:r>
                <a:rPr sz="4800" b="1" i="0">
                  <a:solidFill>
                    <a:srgbClr val="00677F"/>
                  </a:solidFill>
                  <a:latin typeface="Segoe UI"/>
                </a:rPr>
                <a:t>17× better</a:t>
              </a:r>
            </a:p>
            <a:p>
              <a:pPr algn="l">
                <a:lnSpc>
                  <a:spcPct val="125000"/>
                </a:lnSpc>
                <a:spcBef>
                  <a:spcPts val="500"/>
                </a:spcBef>
              </a:pPr>
              <a:r>
                <a:rPr sz="1400" b="0" i="0">
                  <a:solidFill>
                    <a:srgbClr val="5B6470"/>
                  </a:solidFill>
                  <a:latin typeface="Segoe UI"/>
                </a:rPr>
                <a:t>CPM 0.298 vs 0.017 for a training-free baseline</a:t>
              </a:r>
            </a:p>
          </p:txBody>
        </p:sp>
      </p:grpSp>
      <p:grpSp>
        <p:nvGrpSpPr>
          <p:cNvPr id="13" name="Group 12"/>
          <p:cNvGrpSpPr/>
          <p:nvPr/>
        </p:nvGrpSpPr>
        <p:grpSpPr>
          <a:xfrm>
            <a:off x="812800" y="3746500"/>
            <a:ext cx="5080000" cy="1727200"/>
            <a:chOff x="812800" y="3746500"/>
            <a:chExt cx="5080000" cy="1727200"/>
          </a:xfrm>
        </p:grpSpPr>
        <p:sp>
          <p:nvSpPr>
            <p:cNvPr id="14" name="Rectangle 13"/>
            <p:cNvSpPr/>
            <p:nvPr/>
          </p:nvSpPr>
          <p:spPr>
            <a:xfrm>
              <a:off x="812800" y="37465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3886200"/>
              <a:ext cx="5080000" cy="1587500"/>
            </a:xfrm>
            <a:prstGeom prst="rect">
              <a:avLst/>
            </a:prstGeom>
            <a:noFill/>
          </p:spPr>
          <p:txBody>
            <a:bodyPr wrap="square" lIns="0" rIns="0" tIns="0" bIns="0">
              <a:spAutoFit/>
            </a:bodyPr>
            <a:lstStyle/>
            <a:p>
              <a:pPr algn="l">
                <a:lnSpc>
                  <a:spcPct val="125000"/>
                </a:lnSpc>
              </a:pPr>
              <a:r>
                <a:rPr sz="1400" b="1" i="0">
                  <a:solidFill>
                    <a:srgbClr val="5B6470"/>
                  </a:solidFill>
                  <a:latin typeface="Segoe UI"/>
                </a:rPr>
                <a:t>Conformal intervals</a:t>
              </a:r>
            </a:p>
            <a:p>
              <a:pPr algn="l">
                <a:lnSpc>
                  <a:spcPct val="100000"/>
                </a:lnSpc>
              </a:pPr>
              <a:r>
                <a:rPr sz="4800" b="1" i="0">
                  <a:solidFill>
                    <a:srgbClr val="00677F"/>
                  </a:solidFill>
                  <a:latin typeface="Segoe UI"/>
                </a:rPr>
                <a:t>95% coverage</a:t>
              </a:r>
            </a:p>
            <a:p>
              <a:pPr algn="l">
                <a:lnSpc>
                  <a:spcPct val="125000"/>
                </a:lnSpc>
                <a:spcBef>
                  <a:spcPts val="500"/>
                </a:spcBef>
              </a:pPr>
              <a:r>
                <a:rPr sz="1400" b="0" i="0">
                  <a:solidFill>
                    <a:srgbClr val="5B6470"/>
                  </a:solidFill>
                  <a:latin typeface="Segoe UI"/>
                </a:rPr>
                <a:t>target 90%; raw ensemble spread covered only 28%</a:t>
              </a:r>
            </a:p>
          </p:txBody>
        </p:sp>
      </p:grpSp>
      <p:grpSp>
        <p:nvGrpSpPr>
          <p:cNvPr id="16" name="Group 15"/>
          <p:cNvGrpSpPr/>
          <p:nvPr/>
        </p:nvGrpSpPr>
        <p:grpSpPr>
          <a:xfrm>
            <a:off x="6299200" y="3746500"/>
            <a:ext cx="5080000" cy="1727200"/>
            <a:chOff x="6299200" y="3746500"/>
            <a:chExt cx="5080000" cy="1727200"/>
          </a:xfrm>
        </p:grpSpPr>
        <p:sp>
          <p:nvSpPr>
            <p:cNvPr id="17" name="Rectangle 16"/>
            <p:cNvSpPr/>
            <p:nvPr/>
          </p:nvSpPr>
          <p:spPr>
            <a:xfrm>
              <a:off x="6299200" y="37465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9200" y="3886200"/>
              <a:ext cx="5080000" cy="1587500"/>
            </a:xfrm>
            <a:prstGeom prst="rect">
              <a:avLst/>
            </a:prstGeom>
            <a:noFill/>
          </p:spPr>
          <p:txBody>
            <a:bodyPr wrap="square" lIns="0" rIns="0" tIns="0" bIns="0">
              <a:spAutoFit/>
            </a:bodyPr>
            <a:lstStyle/>
            <a:p>
              <a:pPr algn="l">
                <a:lnSpc>
                  <a:spcPct val="125000"/>
                </a:lnSpc>
              </a:pPr>
              <a:r>
                <a:rPr sz="1400" b="1" i="0">
                  <a:solidFill>
                    <a:srgbClr val="5B6470"/>
                  </a:solidFill>
                  <a:latin typeface="Segoe UI"/>
                </a:rPr>
                <a:t>Size-category risk</a:t>
              </a:r>
            </a:p>
            <a:p>
              <a:pPr algn="l">
                <a:lnSpc>
                  <a:spcPct val="100000"/>
                </a:lnSpc>
              </a:pPr>
              <a:r>
                <a:rPr sz="4800" b="1" i="0">
                  <a:solidFill>
                    <a:srgbClr val="00677F"/>
                  </a:solidFill>
                  <a:latin typeface="Segoe UI"/>
                </a:rPr>
                <a:t>0.54 → 0.17</a:t>
              </a:r>
            </a:p>
            <a:p>
              <a:pPr algn="l">
                <a:lnSpc>
                  <a:spcPct val="125000"/>
                </a:lnSpc>
                <a:spcBef>
                  <a:spcPts val="500"/>
                </a:spcBef>
              </a:pPr>
              <a:r>
                <a:rPr sz="1400" b="0" i="0">
                  <a:solidFill>
                    <a:srgbClr val="5B6470"/>
                  </a:solidFill>
                  <a:latin typeface="Segoe UI"/>
                </a:rPr>
                <a:t>Brier score for P(volume ≥ 100 mm³), a 68% reduction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anim calcmode="lin" valueType="num">
                                      <p:cBhvr additive="base">
                                        <p:cTn id="17" dur="50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03  Results · calibrated uncertainty</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Our intervals keep their guarantee on new patients</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13 / 20</a:t>
            </a:r>
          </a:p>
        </p:txBody>
      </p:sp>
      <p:sp>
        <p:nvSpPr>
          <p:cNvPr id="7" name="Rectangle 6"/>
          <p:cNvSpPr/>
          <p:nvPr/>
        </p:nvSpPr>
        <p:spPr>
          <a:xfrm>
            <a:off x="812800" y="1663700"/>
            <a:ext cx="6350000" cy="2667000"/>
          </a:xfrm>
          <a:prstGeom prst="rect">
            <a:avLst/>
          </a:prstGeom>
          <a:solidFill>
            <a:srgbClr val="FFFFFF"/>
          </a:solidFill>
          <a:ln w="12700">
            <a:solidFill>
              <a:srgbClr val="C9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liability.png"/>
          <p:cNvPicPr>
            <a:picLocks noChangeAspect="1"/>
          </p:cNvPicPr>
          <p:nvPr/>
        </p:nvPicPr>
        <p:blipFill>
          <a:blip r:embed="rId2"/>
          <a:stretch>
            <a:fillRect/>
          </a:stretch>
        </p:blipFill>
        <p:spPr>
          <a:xfrm>
            <a:off x="985982" y="1676400"/>
            <a:ext cx="6003636" cy="2641600"/>
          </a:xfrm>
          <a:prstGeom prst="rect">
            <a:avLst/>
          </a:prstGeom>
        </p:spPr>
      </p:pic>
      <p:sp>
        <p:nvSpPr>
          <p:cNvPr id="9" name="TextBox 8"/>
          <p:cNvSpPr txBox="1"/>
          <p:nvPr/>
        </p:nvSpPr>
        <p:spPr>
          <a:xfrm>
            <a:off x="812800" y="4406900"/>
            <a:ext cx="6350000" cy="2286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Reliability of the size-category probabilities (closer to the diagonal is better)</a:t>
            </a:r>
          </a:p>
        </p:txBody>
      </p:sp>
      <p:grpSp>
        <p:nvGrpSpPr>
          <p:cNvPr id="10" name="Group 9"/>
          <p:cNvGrpSpPr/>
          <p:nvPr/>
        </p:nvGrpSpPr>
        <p:grpSpPr>
          <a:xfrm>
            <a:off x="7467600" y="1663700"/>
            <a:ext cx="3911600" cy="965200"/>
            <a:chOff x="7467600" y="1663700"/>
            <a:chExt cx="3911600" cy="965200"/>
          </a:xfrm>
        </p:grpSpPr>
        <p:sp>
          <p:nvSpPr>
            <p:cNvPr id="11" name="Rectangle 10"/>
            <p:cNvSpPr/>
            <p:nvPr/>
          </p:nvSpPr>
          <p:spPr>
            <a:xfrm>
              <a:off x="7467600" y="1663700"/>
              <a:ext cx="39116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67600" y="1803400"/>
              <a:ext cx="3911600" cy="825500"/>
            </a:xfrm>
            <a:prstGeom prst="rect">
              <a:avLst/>
            </a:prstGeom>
            <a:noFill/>
          </p:spPr>
          <p:txBody>
            <a:bodyPr wrap="square" lIns="0" rIns="0" tIns="0" bIns="0">
              <a:spAutoFit/>
            </a:bodyPr>
            <a:lstStyle/>
            <a:p>
              <a:pPr algn="l">
                <a:lnSpc>
                  <a:spcPct val="125000"/>
                </a:lnSpc>
              </a:pPr>
              <a:r>
                <a:rPr sz="1500" b="1" i="0">
                  <a:solidFill>
                    <a:srgbClr val="1B1F24"/>
                  </a:solidFill>
                  <a:latin typeface="Segoe UI"/>
                </a:rPr>
                <a:t>Coverage met</a:t>
              </a:r>
            </a:p>
            <a:p>
              <a:pPr algn="l">
                <a:lnSpc>
                  <a:spcPct val="125000"/>
                </a:lnSpc>
                <a:spcBef>
                  <a:spcPts val="500"/>
                </a:spcBef>
              </a:pPr>
              <a:r>
                <a:rPr sz="1400" b="0" i="0">
                  <a:solidFill>
                    <a:srgbClr val="1B1F24"/>
                  </a:solidFill>
                  <a:latin typeface="Segoe UI"/>
                </a:rPr>
                <a:t>95–96% for the 90% target.</a:t>
              </a:r>
            </a:p>
          </p:txBody>
        </p:sp>
      </p:grpSp>
      <p:grpSp>
        <p:nvGrpSpPr>
          <p:cNvPr id="13" name="Group 12"/>
          <p:cNvGrpSpPr/>
          <p:nvPr/>
        </p:nvGrpSpPr>
        <p:grpSpPr>
          <a:xfrm>
            <a:off x="7467600" y="2743200"/>
            <a:ext cx="3911600" cy="965200"/>
            <a:chOff x="7467600" y="2743200"/>
            <a:chExt cx="3911600" cy="965200"/>
          </a:xfrm>
        </p:grpSpPr>
        <p:sp>
          <p:nvSpPr>
            <p:cNvPr id="14" name="Rectangle 13"/>
            <p:cNvSpPr/>
            <p:nvPr/>
          </p:nvSpPr>
          <p:spPr>
            <a:xfrm>
              <a:off x="7467600" y="2743200"/>
              <a:ext cx="39116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67600" y="2882900"/>
              <a:ext cx="3911600" cy="825500"/>
            </a:xfrm>
            <a:prstGeom prst="rect">
              <a:avLst/>
            </a:prstGeom>
            <a:noFill/>
          </p:spPr>
          <p:txBody>
            <a:bodyPr wrap="square" lIns="0" rIns="0" tIns="0" bIns="0">
              <a:spAutoFit/>
            </a:bodyPr>
            <a:lstStyle/>
            <a:p>
              <a:pPr algn="l">
                <a:lnSpc>
                  <a:spcPct val="125000"/>
                </a:lnSpc>
              </a:pPr>
              <a:r>
                <a:rPr sz="1500" b="1" i="0">
                  <a:solidFill>
                    <a:srgbClr val="1B1F24"/>
                  </a:solidFill>
                  <a:latin typeface="Segoe UI"/>
                </a:rPr>
                <a:t>Risk calibrated</a:t>
              </a:r>
            </a:p>
            <a:p>
              <a:pPr algn="l">
                <a:lnSpc>
                  <a:spcPct val="125000"/>
                </a:lnSpc>
                <a:spcBef>
                  <a:spcPts val="500"/>
                </a:spcBef>
              </a:pPr>
              <a:r>
                <a:rPr sz="1400" b="0" i="0">
                  <a:solidFill>
                    <a:srgbClr val="1B1F24"/>
                  </a:solidFill>
                  <a:latin typeface="Segoe UI"/>
                </a:rPr>
                <a:t>ECE 0.58 → 0.12; right category 38% vs 26%.</a:t>
              </a:r>
            </a:p>
          </p:txBody>
        </p:sp>
      </p:grpSp>
      <p:grpSp>
        <p:nvGrpSpPr>
          <p:cNvPr id="16" name="Group 15"/>
          <p:cNvGrpSpPr/>
          <p:nvPr/>
        </p:nvGrpSpPr>
        <p:grpSpPr>
          <a:xfrm>
            <a:off x="7467600" y="3822700"/>
            <a:ext cx="3911600" cy="965200"/>
            <a:chOff x="7467600" y="3822700"/>
            <a:chExt cx="3911600" cy="965200"/>
          </a:xfrm>
        </p:grpSpPr>
        <p:sp>
          <p:nvSpPr>
            <p:cNvPr id="17" name="Rectangle 16"/>
            <p:cNvSpPr/>
            <p:nvPr/>
          </p:nvSpPr>
          <p:spPr>
            <a:xfrm>
              <a:off x="7467600" y="3822700"/>
              <a:ext cx="3911600" cy="25400"/>
            </a:xfrm>
            <a:prstGeom prst="rect">
              <a:avLst/>
            </a:prstGeom>
            <a:solidFill>
              <a:srgbClr val="B54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7600" y="3962400"/>
              <a:ext cx="3911600" cy="825500"/>
            </a:xfrm>
            <a:prstGeom prst="rect">
              <a:avLst/>
            </a:prstGeom>
            <a:noFill/>
          </p:spPr>
          <p:txBody>
            <a:bodyPr wrap="square" lIns="0" rIns="0" tIns="0" bIns="0">
              <a:spAutoFit/>
            </a:bodyPr>
            <a:lstStyle/>
            <a:p>
              <a:pPr algn="l">
                <a:lnSpc>
                  <a:spcPct val="125000"/>
                </a:lnSpc>
              </a:pPr>
              <a:r>
                <a:rPr sz="1500" b="1" i="0">
                  <a:solidFill>
                    <a:srgbClr val="B5472F"/>
                  </a:solidFill>
                  <a:latin typeface="Segoe UI"/>
                </a:rPr>
                <a:t>Next step</a:t>
              </a:r>
            </a:p>
            <a:p>
              <a:pPr algn="l">
                <a:lnSpc>
                  <a:spcPct val="125000"/>
                </a:lnSpc>
                <a:spcBef>
                  <a:spcPts val="500"/>
                </a:spcBef>
              </a:pPr>
              <a:r>
                <a:rPr sz="1400" b="0" i="0">
                  <a:solidFill>
                    <a:srgbClr val="1B1F24"/>
                  </a:solidFill>
                  <a:latin typeface="Segoe UI"/>
                </a:rPr>
                <a:t>Narrower intervals once failed reads are handled separately.</a:t>
              </a:r>
            </a:p>
          </p:txBody>
        </p:sp>
      </p:grpSp>
      <p:sp>
        <p:nvSpPr>
          <p:cNvPr id="19" name="TextBox 18"/>
          <p:cNvSpPr txBox="1"/>
          <p:nvPr/>
        </p:nvSpPr>
        <p:spPr>
          <a:xfrm>
            <a:off x="812800" y="5080000"/>
            <a:ext cx="10566400" cy="571500"/>
          </a:xfrm>
          <a:prstGeom prst="rect">
            <a:avLst/>
          </a:prstGeom>
          <a:noFill/>
        </p:spPr>
        <p:txBody>
          <a:bodyPr wrap="square" lIns="0" rIns="0" tIns="0" bIns="0" anchor="t">
            <a:spAutoFit/>
          </a:bodyPr>
          <a:lstStyle/>
          <a:p>
            <a:pPr algn="l">
              <a:lnSpc>
                <a:spcPct val="135000"/>
              </a:lnSpc>
            </a:pPr>
            <a:r>
              <a:rPr sz="1400" b="1" i="0">
                <a:solidFill>
                  <a:srgbClr val="1B1F24"/>
                </a:solidFill>
                <a:latin typeface="Segoe UI"/>
              </a:rPr>
              <a:t>Insight. </a:t>
            </a:r>
            <a:r>
              <a:rPr sz="1400" b="0" i="0">
                <a:solidFill>
                  <a:srgbClr val="1B1F24"/>
                </a:solidFill>
                <a:latin typeface="Segoe UI"/>
              </a:rPr>
              <a:t>Raw sample spread is not a safe uncertainty (ρ = −0.52 with error), which is exactly why we calibrate.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additive="base">
                                        <p:cTn id="5"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anim calcmode="lin" valueType="num">
                                      <p:cBhvr additive="base">
                                        <p:cTn id="11" dur="50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03  Results · explainability</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We can show what the X-rays saw and what the AI filled in</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14 / 20</a:t>
            </a:r>
          </a:p>
        </p:txBody>
      </p:sp>
      <p:sp>
        <p:nvSpPr>
          <p:cNvPr id="7" name="Rectangle 6"/>
          <p:cNvSpPr/>
          <p:nvPr/>
        </p:nvSpPr>
        <p:spPr>
          <a:xfrm>
            <a:off x="812800" y="1663700"/>
            <a:ext cx="5969000" cy="3365500"/>
          </a:xfrm>
          <a:prstGeom prst="rect">
            <a:avLst/>
          </a:prstGeom>
          <a:solidFill>
            <a:srgbClr val="FFFFFF"/>
          </a:solidFill>
          <a:ln w="12700">
            <a:solidFill>
              <a:srgbClr val="C9C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een_unseen.png"/>
          <p:cNvPicPr>
            <a:picLocks noChangeAspect="1"/>
          </p:cNvPicPr>
          <p:nvPr/>
        </p:nvPicPr>
        <p:blipFill>
          <a:blip r:embed="rId2"/>
          <a:stretch>
            <a:fillRect/>
          </a:stretch>
        </p:blipFill>
        <p:spPr>
          <a:xfrm>
            <a:off x="825500" y="1734090"/>
            <a:ext cx="5943600" cy="3224719"/>
          </a:xfrm>
          <a:prstGeom prst="rect">
            <a:avLst/>
          </a:prstGeom>
        </p:spPr>
      </p:pic>
      <p:sp>
        <p:nvSpPr>
          <p:cNvPr id="9" name="TextBox 8"/>
          <p:cNvSpPr txBox="1"/>
          <p:nvPr/>
        </p:nvSpPr>
        <p:spPr>
          <a:xfrm>
            <a:off x="812800" y="5105400"/>
            <a:ext cx="5969000" cy="2286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Null-space split, one test nodule (depth view): top CT truth, bottom diffusion prior</a:t>
            </a:r>
          </a:p>
        </p:txBody>
      </p:sp>
      <p:grpSp>
        <p:nvGrpSpPr>
          <p:cNvPr id="10" name="Group 9"/>
          <p:cNvGrpSpPr/>
          <p:nvPr/>
        </p:nvGrpSpPr>
        <p:grpSpPr>
          <a:xfrm>
            <a:off x="7086600" y="1663700"/>
            <a:ext cx="4292600" cy="1155700"/>
            <a:chOff x="7086600" y="1663700"/>
            <a:chExt cx="4292600" cy="1155700"/>
          </a:xfrm>
        </p:grpSpPr>
        <p:sp>
          <p:nvSpPr>
            <p:cNvPr id="11" name="Rectangle 10"/>
            <p:cNvSpPr/>
            <p:nvPr/>
          </p:nvSpPr>
          <p:spPr>
            <a:xfrm>
              <a:off x="7086600" y="1663700"/>
              <a:ext cx="42926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1803400"/>
              <a:ext cx="4292600" cy="1016000"/>
            </a:xfrm>
            <a:prstGeom prst="rect">
              <a:avLst/>
            </a:prstGeom>
            <a:noFill/>
          </p:spPr>
          <p:txBody>
            <a:bodyPr wrap="square" lIns="0" rIns="0" tIns="0" bIns="0">
              <a:spAutoFit/>
            </a:bodyPr>
            <a:lstStyle/>
            <a:p>
              <a:pPr algn="l">
                <a:lnSpc>
                  <a:spcPct val="100000"/>
                </a:lnSpc>
              </a:pPr>
              <a:r>
                <a:rPr sz="3200" b="1" i="0">
                  <a:solidFill>
                    <a:srgbClr val="00677F"/>
                  </a:solidFill>
                  <a:latin typeface="Segoe UI"/>
                </a:rPr>
                <a:t>0.3%</a:t>
              </a:r>
            </a:p>
            <a:p>
              <a:pPr algn="l">
                <a:lnSpc>
                  <a:spcPct val="125000"/>
                </a:lnSpc>
                <a:spcBef>
                  <a:spcPts val="500"/>
                </a:spcBef>
              </a:pPr>
              <a:r>
                <a:rPr sz="1300" b="0" i="0">
                  <a:solidFill>
                    <a:srgbClr val="5B6470"/>
                  </a:solidFill>
                  <a:latin typeface="Segoe UI"/>
                </a:rPr>
                <a:t>of nodule mass is unseen: the X-rays measure mass, as the physics predicts</a:t>
              </a:r>
            </a:p>
          </p:txBody>
        </p:sp>
      </p:grpSp>
      <p:grpSp>
        <p:nvGrpSpPr>
          <p:cNvPr id="13" name="Group 12"/>
          <p:cNvGrpSpPr/>
          <p:nvPr/>
        </p:nvGrpSpPr>
        <p:grpSpPr>
          <a:xfrm>
            <a:off x="7086600" y="2933700"/>
            <a:ext cx="4292600" cy="1155700"/>
            <a:chOff x="7086600" y="2933700"/>
            <a:chExt cx="4292600" cy="1155700"/>
          </a:xfrm>
        </p:grpSpPr>
        <p:sp>
          <p:nvSpPr>
            <p:cNvPr id="14" name="Rectangle 13"/>
            <p:cNvSpPr/>
            <p:nvPr/>
          </p:nvSpPr>
          <p:spPr>
            <a:xfrm>
              <a:off x="7086600" y="2933700"/>
              <a:ext cx="42926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600" y="3073400"/>
              <a:ext cx="4292600" cy="1016000"/>
            </a:xfrm>
            <a:prstGeom prst="rect">
              <a:avLst/>
            </a:prstGeom>
            <a:noFill/>
          </p:spPr>
          <p:txBody>
            <a:bodyPr wrap="square" lIns="0" rIns="0" tIns="0" bIns="0">
              <a:spAutoFit/>
            </a:bodyPr>
            <a:lstStyle/>
            <a:p>
              <a:pPr algn="l">
                <a:lnSpc>
                  <a:spcPct val="100000"/>
                </a:lnSpc>
              </a:pPr>
              <a:r>
                <a:rPr sz="3200" b="1" i="0">
                  <a:solidFill>
                    <a:srgbClr val="00677F"/>
                  </a:solidFill>
                  <a:latin typeface="Segoe UI"/>
                </a:rPr>
                <a:t>+0.22</a:t>
              </a:r>
            </a:p>
            <a:p>
              <a:pPr algn="l">
                <a:lnSpc>
                  <a:spcPct val="125000"/>
                </a:lnSpc>
                <a:spcBef>
                  <a:spcPts val="500"/>
                </a:spcBef>
              </a:pPr>
              <a:r>
                <a:rPr sz="1300" b="0" i="0">
                  <a:solidFill>
                    <a:srgbClr val="5B6470"/>
                  </a:solidFill>
                  <a:latin typeface="Segoe UI"/>
                </a:rPr>
                <a:t>unseen skill of the prior vs truth [0.14, 0.36]: it recovers, not invents</a:t>
              </a:r>
            </a:p>
          </p:txBody>
        </p:sp>
      </p:grpSp>
      <p:grpSp>
        <p:nvGrpSpPr>
          <p:cNvPr id="16" name="Group 15"/>
          <p:cNvGrpSpPr/>
          <p:nvPr/>
        </p:nvGrpSpPr>
        <p:grpSpPr>
          <a:xfrm>
            <a:off x="7086600" y="4203700"/>
            <a:ext cx="4292600" cy="1155700"/>
            <a:chOff x="7086600" y="4203700"/>
            <a:chExt cx="4292600" cy="1155700"/>
          </a:xfrm>
        </p:grpSpPr>
        <p:sp>
          <p:nvSpPr>
            <p:cNvPr id="17" name="Rectangle 16"/>
            <p:cNvSpPr/>
            <p:nvPr/>
          </p:nvSpPr>
          <p:spPr>
            <a:xfrm>
              <a:off x="7086600" y="4203700"/>
              <a:ext cx="4292600" cy="25400"/>
            </a:xfrm>
            <a:prstGeom prst="rect">
              <a:avLst/>
            </a:prstGeom>
            <a:solidFill>
              <a:srgbClr val="B54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86600" y="4343400"/>
              <a:ext cx="4292600" cy="1016000"/>
            </a:xfrm>
            <a:prstGeom prst="rect">
              <a:avLst/>
            </a:prstGeom>
            <a:noFill/>
          </p:spPr>
          <p:txBody>
            <a:bodyPr wrap="square" lIns="0" rIns="0" tIns="0" bIns="0">
              <a:spAutoFit/>
            </a:bodyPr>
            <a:lstStyle/>
            <a:p>
              <a:pPr algn="l">
                <a:lnSpc>
                  <a:spcPct val="100000"/>
                </a:lnSpc>
              </a:pPr>
              <a:r>
                <a:rPr sz="3200" b="1" i="0">
                  <a:solidFill>
                    <a:srgbClr val="B5472F"/>
                  </a:solidFill>
                  <a:latin typeface="Segoe UI"/>
                </a:rPr>
                <a:t>0.09</a:t>
              </a:r>
            </a:p>
            <a:p>
              <a:pPr algn="l">
                <a:lnSpc>
                  <a:spcPct val="125000"/>
                </a:lnSpc>
                <a:spcBef>
                  <a:spcPts val="500"/>
                </a:spcBef>
              </a:pPr>
              <a:r>
                <a:rPr sz="1300" b="0" i="0">
                  <a:solidFill>
                    <a:srgbClr val="5B6470"/>
                  </a:solidFill>
                  <a:latin typeface="Segoe UI"/>
                </a:rPr>
                <a:t>skill left after Gaussian fitting: that step discards what the prior found</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additive="base">
                                        <p:cTn id="5"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anim calcmode="lin" valueType="num">
                                      <p:cBhvr additive="base">
                                        <p:cTn id="11" dur="50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03  Results · accuracy benchmark</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Volume from DTS is hard for every method</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15 / 20</a:t>
            </a:r>
          </a:p>
        </p:txBody>
      </p:sp>
      <p:sp>
        <p:nvSpPr>
          <p:cNvPr id="7" name="TextBox 6"/>
          <p:cNvSpPr txBox="1"/>
          <p:nvPr/>
        </p:nvSpPr>
        <p:spPr>
          <a:xfrm>
            <a:off x="812800" y="1663700"/>
            <a:ext cx="6985000" cy="228600"/>
          </a:xfrm>
          <a:prstGeom prst="rect">
            <a:avLst/>
          </a:prstGeom>
          <a:noFill/>
        </p:spPr>
        <p:txBody>
          <a:bodyPr wrap="square" lIns="0" rIns="0" tIns="0" bIns="0" anchor="t">
            <a:spAutoFit/>
          </a:bodyPr>
          <a:lstStyle/>
          <a:p>
            <a:pPr algn="l">
              <a:lnSpc>
                <a:spcPct val="120000"/>
              </a:lnSpc>
            </a:pPr>
            <a:r>
              <a:rPr sz="1200" b="1" i="0">
                <a:solidFill>
                  <a:srgbClr val="5B6470"/>
                </a:solidFill>
                <a:latin typeface="Segoe UI"/>
              </a:rPr>
              <a:t>Volume error, median absolute % (lower is better; a failure counts as 100%)</a:t>
            </a:r>
          </a:p>
        </p:txBody>
      </p:sp>
      <p:sp>
        <p:nvSpPr>
          <p:cNvPr id="8" name="TextBox 7"/>
          <p:cNvSpPr txBox="1"/>
          <p:nvPr/>
        </p:nvSpPr>
        <p:spPr>
          <a:xfrm>
            <a:off x="812800" y="2019300"/>
            <a:ext cx="2286000" cy="330200"/>
          </a:xfrm>
          <a:prstGeom prst="rect">
            <a:avLst/>
          </a:prstGeom>
          <a:noFill/>
        </p:spPr>
        <p:txBody>
          <a:bodyPr wrap="square" lIns="0" rIns="0" tIns="0" bIns="0" anchor="ctr">
            <a:spAutoFit/>
          </a:bodyPr>
          <a:lstStyle/>
          <a:p>
            <a:pPr algn="l">
              <a:lnSpc>
                <a:spcPct val="120000"/>
              </a:lnSpc>
            </a:pPr>
            <a:r>
              <a:rPr sz="1300" b="0" i="0">
                <a:solidFill>
                  <a:srgbClr val="5B6470"/>
                </a:solidFill>
                <a:latin typeface="Segoe UI"/>
              </a:rPr>
              <a:t>2D diameter → sphere</a:t>
            </a:r>
          </a:p>
        </p:txBody>
      </p:sp>
      <p:sp>
        <p:nvSpPr>
          <p:cNvPr id="9" name="Rectangle 8"/>
          <p:cNvSpPr/>
          <p:nvPr/>
        </p:nvSpPr>
        <p:spPr>
          <a:xfrm>
            <a:off x="3200400" y="2051050"/>
            <a:ext cx="3352800" cy="266700"/>
          </a:xfrm>
          <a:prstGeom prst="rect">
            <a:avLst/>
          </a:prstGeom>
          <a:solidFill>
            <a:srgbClr val="A7AE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54800" y="2019300"/>
            <a:ext cx="1651000" cy="330200"/>
          </a:xfrm>
          <a:prstGeom prst="rect">
            <a:avLst/>
          </a:prstGeom>
          <a:noFill/>
        </p:spPr>
        <p:txBody>
          <a:bodyPr wrap="square" lIns="0" rIns="0" tIns="0" bIns="0" anchor="ctr">
            <a:spAutoFit/>
          </a:bodyPr>
          <a:lstStyle/>
          <a:p>
            <a:pPr algn="l">
              <a:lnSpc>
                <a:spcPct val="120000"/>
              </a:lnSpc>
            </a:pPr>
            <a:r>
              <a:rPr sz="1300" b="1" i="0">
                <a:solidFill>
                  <a:srgbClr val="1B1F24"/>
                </a:solidFill>
                <a:latin typeface="Segoe UI"/>
              </a:rPr>
              <a:t>88.0</a:t>
            </a:r>
          </a:p>
        </p:txBody>
      </p:sp>
      <p:sp>
        <p:nvSpPr>
          <p:cNvPr id="11" name="TextBox 10"/>
          <p:cNvSpPr txBox="1"/>
          <p:nvPr/>
        </p:nvSpPr>
        <p:spPr>
          <a:xfrm>
            <a:off x="812800" y="2489200"/>
            <a:ext cx="2286000" cy="330200"/>
          </a:xfrm>
          <a:prstGeom prst="rect">
            <a:avLst/>
          </a:prstGeom>
          <a:noFill/>
        </p:spPr>
        <p:txBody>
          <a:bodyPr wrap="square" lIns="0" rIns="0" tIns="0" bIns="0" anchor="ctr">
            <a:spAutoFit/>
          </a:bodyPr>
          <a:lstStyle/>
          <a:p>
            <a:pPr algn="l">
              <a:lnSpc>
                <a:spcPct val="120000"/>
              </a:lnSpc>
            </a:pPr>
            <a:r>
              <a:rPr sz="1300" b="0" i="0">
                <a:solidFill>
                  <a:srgbClr val="5B6470"/>
                </a:solidFill>
                <a:latin typeface="Segoe UI"/>
              </a:rPr>
              <a:t>Coarse DTS SIRT</a:t>
            </a:r>
          </a:p>
        </p:txBody>
      </p:sp>
      <p:sp>
        <p:nvSpPr>
          <p:cNvPr id="12" name="Rectangle 11"/>
          <p:cNvSpPr/>
          <p:nvPr/>
        </p:nvSpPr>
        <p:spPr>
          <a:xfrm>
            <a:off x="3200400" y="2520950"/>
            <a:ext cx="3810000" cy="266700"/>
          </a:xfrm>
          <a:prstGeom prst="rect">
            <a:avLst/>
          </a:prstGeom>
          <a:solidFill>
            <a:srgbClr val="A7AE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12000" y="2489200"/>
            <a:ext cx="1651000" cy="330200"/>
          </a:xfrm>
          <a:prstGeom prst="rect">
            <a:avLst/>
          </a:prstGeom>
          <a:noFill/>
        </p:spPr>
        <p:txBody>
          <a:bodyPr wrap="square" lIns="0" rIns="0" tIns="0" bIns="0" anchor="ctr">
            <a:spAutoFit/>
          </a:bodyPr>
          <a:lstStyle/>
          <a:p>
            <a:pPr algn="l">
              <a:lnSpc>
                <a:spcPct val="120000"/>
              </a:lnSpc>
            </a:pPr>
            <a:r>
              <a:rPr sz="1300" b="1" i="0">
                <a:solidFill>
                  <a:srgbClr val="1B1F24"/>
                </a:solidFill>
                <a:latin typeface="Segoe UI"/>
              </a:rPr>
              <a:t>100</a:t>
            </a:r>
          </a:p>
        </p:txBody>
      </p:sp>
      <p:sp>
        <p:nvSpPr>
          <p:cNvPr id="14" name="TextBox 13"/>
          <p:cNvSpPr txBox="1"/>
          <p:nvPr/>
        </p:nvSpPr>
        <p:spPr>
          <a:xfrm>
            <a:off x="812800" y="2959100"/>
            <a:ext cx="2286000" cy="330200"/>
          </a:xfrm>
          <a:prstGeom prst="rect">
            <a:avLst/>
          </a:prstGeom>
          <a:noFill/>
        </p:spPr>
        <p:txBody>
          <a:bodyPr wrap="square" lIns="0" rIns="0" tIns="0" bIns="0" anchor="ctr">
            <a:spAutoFit/>
          </a:bodyPr>
          <a:lstStyle/>
          <a:p>
            <a:pPr algn="l">
              <a:lnSpc>
                <a:spcPct val="120000"/>
              </a:lnSpc>
            </a:pPr>
            <a:r>
              <a:rPr sz="1300" b="0" i="0">
                <a:solidFill>
                  <a:srgbClr val="5B6470"/>
                </a:solidFill>
                <a:latin typeface="Segoe UI"/>
              </a:rPr>
              <a:t>Prism ROI-SIRT</a:t>
            </a:r>
          </a:p>
        </p:txBody>
      </p:sp>
      <p:sp>
        <p:nvSpPr>
          <p:cNvPr id="15" name="Rectangle 14"/>
          <p:cNvSpPr/>
          <p:nvPr/>
        </p:nvSpPr>
        <p:spPr>
          <a:xfrm>
            <a:off x="3200400" y="2990850"/>
            <a:ext cx="3474720" cy="266700"/>
          </a:xfrm>
          <a:prstGeom prst="rect">
            <a:avLst/>
          </a:prstGeom>
          <a:solidFill>
            <a:srgbClr val="A7AE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76720" y="2959100"/>
            <a:ext cx="1651000" cy="330200"/>
          </a:xfrm>
          <a:prstGeom prst="rect">
            <a:avLst/>
          </a:prstGeom>
          <a:noFill/>
        </p:spPr>
        <p:txBody>
          <a:bodyPr wrap="square" lIns="0" rIns="0" tIns="0" bIns="0" anchor="ctr">
            <a:spAutoFit/>
          </a:bodyPr>
          <a:lstStyle/>
          <a:p>
            <a:pPr algn="l">
              <a:lnSpc>
                <a:spcPct val="120000"/>
              </a:lnSpc>
            </a:pPr>
            <a:r>
              <a:rPr sz="1300" b="1" i="0">
                <a:solidFill>
                  <a:srgbClr val="1B1F24"/>
                </a:solidFill>
                <a:latin typeface="Segoe UI"/>
              </a:rPr>
              <a:t>91.2</a:t>
            </a:r>
          </a:p>
        </p:txBody>
      </p:sp>
      <p:sp>
        <p:nvSpPr>
          <p:cNvPr id="17" name="TextBox 16"/>
          <p:cNvSpPr txBox="1"/>
          <p:nvPr/>
        </p:nvSpPr>
        <p:spPr>
          <a:xfrm>
            <a:off x="812800" y="3429000"/>
            <a:ext cx="2286000" cy="330200"/>
          </a:xfrm>
          <a:prstGeom prst="rect">
            <a:avLst/>
          </a:prstGeom>
          <a:noFill/>
        </p:spPr>
        <p:txBody>
          <a:bodyPr wrap="square" lIns="0" rIns="0" tIns="0" bIns="0" anchor="ctr">
            <a:spAutoFit/>
          </a:bodyPr>
          <a:lstStyle/>
          <a:p>
            <a:pPr algn="l">
              <a:lnSpc>
                <a:spcPct val="120000"/>
              </a:lnSpc>
            </a:pPr>
            <a:r>
              <a:rPr sz="1300" b="0" i="0">
                <a:solidFill>
                  <a:srgbClr val="5B6470"/>
                </a:solidFill>
                <a:latin typeface="Segoe UI"/>
              </a:rPr>
              <a:t>Physics-only Gaussians</a:t>
            </a:r>
          </a:p>
        </p:txBody>
      </p:sp>
      <p:sp>
        <p:nvSpPr>
          <p:cNvPr id="18" name="Rectangle 17"/>
          <p:cNvSpPr/>
          <p:nvPr/>
        </p:nvSpPr>
        <p:spPr>
          <a:xfrm>
            <a:off x="3200400" y="3460750"/>
            <a:ext cx="3341370" cy="266700"/>
          </a:xfrm>
          <a:prstGeom prst="rect">
            <a:avLst/>
          </a:prstGeom>
          <a:solidFill>
            <a:srgbClr val="A7AE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43370" y="3429000"/>
            <a:ext cx="1651000" cy="330200"/>
          </a:xfrm>
          <a:prstGeom prst="rect">
            <a:avLst/>
          </a:prstGeom>
          <a:noFill/>
        </p:spPr>
        <p:txBody>
          <a:bodyPr wrap="square" lIns="0" rIns="0" tIns="0" bIns="0" anchor="ctr">
            <a:spAutoFit/>
          </a:bodyPr>
          <a:lstStyle/>
          <a:p>
            <a:pPr algn="l">
              <a:lnSpc>
                <a:spcPct val="120000"/>
              </a:lnSpc>
            </a:pPr>
            <a:r>
              <a:rPr sz="1300" b="1" i="0">
                <a:solidFill>
                  <a:srgbClr val="1B1F24"/>
                </a:solidFill>
                <a:latin typeface="Segoe UI"/>
              </a:rPr>
              <a:t>87.7</a:t>
            </a:r>
          </a:p>
        </p:txBody>
      </p:sp>
      <p:sp>
        <p:nvSpPr>
          <p:cNvPr id="20" name="TextBox 19"/>
          <p:cNvSpPr txBox="1"/>
          <p:nvPr/>
        </p:nvSpPr>
        <p:spPr>
          <a:xfrm>
            <a:off x="812800" y="3898900"/>
            <a:ext cx="2286000" cy="330200"/>
          </a:xfrm>
          <a:prstGeom prst="rect">
            <a:avLst/>
          </a:prstGeom>
          <a:noFill/>
        </p:spPr>
        <p:txBody>
          <a:bodyPr wrap="square" lIns="0" rIns="0" tIns="0" bIns="0" anchor="ctr">
            <a:spAutoFit/>
          </a:bodyPr>
          <a:lstStyle/>
          <a:p>
            <a:pPr algn="l">
              <a:lnSpc>
                <a:spcPct val="120000"/>
              </a:lnSpc>
            </a:pPr>
            <a:r>
              <a:rPr sz="1300" b="1" i="0">
                <a:solidFill>
                  <a:srgbClr val="1B1F24"/>
                </a:solidFill>
                <a:latin typeface="Segoe UI"/>
              </a:rPr>
              <a:t>Our diffusion prior</a:t>
            </a:r>
          </a:p>
        </p:txBody>
      </p:sp>
      <p:sp>
        <p:nvSpPr>
          <p:cNvPr id="21" name="Rectangle 20"/>
          <p:cNvSpPr/>
          <p:nvPr/>
        </p:nvSpPr>
        <p:spPr>
          <a:xfrm>
            <a:off x="3200400" y="3930650"/>
            <a:ext cx="2838450" cy="2667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0450" y="3898900"/>
            <a:ext cx="1651000" cy="330200"/>
          </a:xfrm>
          <a:prstGeom prst="rect">
            <a:avLst/>
          </a:prstGeom>
          <a:noFill/>
        </p:spPr>
        <p:txBody>
          <a:bodyPr wrap="square" lIns="0" rIns="0" tIns="0" bIns="0" anchor="ctr">
            <a:spAutoFit/>
          </a:bodyPr>
          <a:lstStyle/>
          <a:p>
            <a:pPr algn="l">
              <a:lnSpc>
                <a:spcPct val="120000"/>
              </a:lnSpc>
            </a:pPr>
            <a:r>
              <a:rPr sz="1300" b="1" i="0">
                <a:solidFill>
                  <a:srgbClr val="00677F"/>
                </a:solidFill>
                <a:latin typeface="Segoe UI"/>
              </a:rPr>
              <a:t>74.5 · best</a:t>
            </a:r>
          </a:p>
        </p:txBody>
      </p:sp>
      <p:sp>
        <p:nvSpPr>
          <p:cNvPr id="23" name="TextBox 22"/>
          <p:cNvSpPr txBox="1"/>
          <p:nvPr/>
        </p:nvSpPr>
        <p:spPr>
          <a:xfrm>
            <a:off x="812800" y="4368800"/>
            <a:ext cx="2286000" cy="330200"/>
          </a:xfrm>
          <a:prstGeom prst="rect">
            <a:avLst/>
          </a:prstGeom>
          <a:noFill/>
        </p:spPr>
        <p:txBody>
          <a:bodyPr wrap="square" lIns="0" rIns="0" tIns="0" bIns="0" anchor="ctr">
            <a:spAutoFit/>
          </a:bodyPr>
          <a:lstStyle/>
          <a:p>
            <a:pPr algn="l">
              <a:lnSpc>
                <a:spcPct val="120000"/>
              </a:lnSpc>
            </a:pPr>
            <a:r>
              <a:rPr sz="1300" b="0" i="0">
                <a:solidFill>
                  <a:srgbClr val="5B6470"/>
                </a:solidFill>
                <a:latin typeface="Segoe UI"/>
              </a:rPr>
              <a:t>Diffusion + Gaussians</a:t>
            </a:r>
          </a:p>
        </p:txBody>
      </p:sp>
      <p:sp>
        <p:nvSpPr>
          <p:cNvPr id="24" name="Rectangle 23"/>
          <p:cNvSpPr/>
          <p:nvPr/>
        </p:nvSpPr>
        <p:spPr>
          <a:xfrm>
            <a:off x="3200400" y="4400550"/>
            <a:ext cx="3604260" cy="266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6260" y="4368800"/>
            <a:ext cx="1651000" cy="330200"/>
          </a:xfrm>
          <a:prstGeom prst="rect">
            <a:avLst/>
          </a:prstGeom>
          <a:noFill/>
        </p:spPr>
        <p:txBody>
          <a:bodyPr wrap="square" lIns="0" rIns="0" tIns="0" bIns="0" anchor="ctr">
            <a:spAutoFit/>
          </a:bodyPr>
          <a:lstStyle/>
          <a:p>
            <a:pPr algn="l">
              <a:lnSpc>
                <a:spcPct val="120000"/>
              </a:lnSpc>
            </a:pPr>
            <a:r>
              <a:rPr sz="1300" b="1" i="0">
                <a:solidFill>
                  <a:srgbClr val="1B1F24"/>
                </a:solidFill>
                <a:latin typeface="Segoe UI"/>
              </a:rPr>
              <a:t>94.6</a:t>
            </a:r>
          </a:p>
        </p:txBody>
      </p:sp>
      <p:grpSp>
        <p:nvGrpSpPr>
          <p:cNvPr id="26" name="Group 25"/>
          <p:cNvGrpSpPr/>
          <p:nvPr/>
        </p:nvGrpSpPr>
        <p:grpSpPr>
          <a:xfrm>
            <a:off x="8191500" y="1663700"/>
            <a:ext cx="3187700" cy="1028700"/>
            <a:chOff x="8191500" y="1663700"/>
            <a:chExt cx="3187700" cy="1028700"/>
          </a:xfrm>
        </p:grpSpPr>
        <p:sp>
          <p:nvSpPr>
            <p:cNvPr id="27" name="Rectangle 26"/>
            <p:cNvSpPr/>
            <p:nvPr/>
          </p:nvSpPr>
          <p:spPr>
            <a:xfrm>
              <a:off x="8191500" y="1663700"/>
              <a:ext cx="31877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1500" y="1803400"/>
              <a:ext cx="3187700" cy="889000"/>
            </a:xfrm>
            <a:prstGeom prst="rect">
              <a:avLst/>
            </a:prstGeom>
            <a:noFill/>
          </p:spPr>
          <p:txBody>
            <a:bodyPr wrap="square" lIns="0" rIns="0" tIns="0" bIns="0">
              <a:spAutoFit/>
            </a:bodyPr>
            <a:lstStyle/>
            <a:p>
              <a:pPr algn="l">
                <a:lnSpc>
                  <a:spcPct val="125000"/>
                </a:lnSpc>
              </a:pPr>
              <a:r>
                <a:rPr sz="1500" b="1" i="0">
                  <a:solidFill>
                    <a:srgbClr val="1B1F24"/>
                  </a:solidFill>
                  <a:latin typeface="Segoe UI"/>
                </a:rPr>
                <a:t>Best of six</a:t>
              </a:r>
            </a:p>
            <a:p>
              <a:pPr algn="l">
                <a:lnSpc>
                  <a:spcPct val="125000"/>
                </a:lnSpc>
                <a:spcBef>
                  <a:spcPts val="500"/>
                </a:spcBef>
              </a:pPr>
              <a:r>
                <a:rPr sz="1300" b="0" i="0">
                  <a:solidFill>
                    <a:srgbClr val="1B1F24"/>
                  </a:solidFill>
                  <a:latin typeface="Segoe UI"/>
                </a:rPr>
                <a:t>Our diffusion prior had the lowest error and the fewest failures (3%).</a:t>
              </a:r>
            </a:p>
          </p:txBody>
        </p:sp>
      </p:grpSp>
      <p:grpSp>
        <p:nvGrpSpPr>
          <p:cNvPr id="29" name="Group 28"/>
          <p:cNvGrpSpPr/>
          <p:nvPr/>
        </p:nvGrpSpPr>
        <p:grpSpPr>
          <a:xfrm>
            <a:off x="8191500" y="2933700"/>
            <a:ext cx="3187700" cy="1028700"/>
            <a:chOff x="8191500" y="2933700"/>
            <a:chExt cx="3187700" cy="1028700"/>
          </a:xfrm>
        </p:grpSpPr>
        <p:sp>
          <p:nvSpPr>
            <p:cNvPr id="30" name="Rectangle 29"/>
            <p:cNvSpPr/>
            <p:nvPr/>
          </p:nvSpPr>
          <p:spPr>
            <a:xfrm>
              <a:off x="8191500" y="2933700"/>
              <a:ext cx="31877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91500" y="3073400"/>
              <a:ext cx="3187700" cy="889000"/>
            </a:xfrm>
            <a:prstGeom prst="rect">
              <a:avLst/>
            </a:prstGeom>
            <a:noFill/>
          </p:spPr>
          <p:txBody>
            <a:bodyPr wrap="square" lIns="0" rIns="0" tIns="0" bIns="0">
              <a:spAutoFit/>
            </a:bodyPr>
            <a:lstStyle/>
            <a:p>
              <a:pPr algn="l">
                <a:lnSpc>
                  <a:spcPct val="125000"/>
                </a:lnSpc>
              </a:pPr>
              <a:r>
                <a:rPr sz="1500" b="1" i="0">
                  <a:solidFill>
                    <a:srgbClr val="1B1F24"/>
                  </a:solidFill>
                  <a:latin typeface="Segoe UI"/>
                </a:rPr>
                <a:t>Hard for all</a:t>
              </a:r>
            </a:p>
            <a:p>
              <a:pPr algn="l">
                <a:lnSpc>
                  <a:spcPct val="125000"/>
                </a:lnSpc>
                <a:spcBef>
                  <a:spcPts val="500"/>
                </a:spcBef>
              </a:pPr>
              <a:r>
                <a:rPr sz="1300" b="0" i="0">
                  <a:solidFill>
                    <a:srgbClr val="1B1F24"/>
                  </a:solidFill>
                  <a:latin typeface="Segoe UI"/>
                </a:rPr>
                <a:t>Even the clinical 2D standard errs by 88%.</a:t>
              </a:r>
            </a:p>
          </p:txBody>
        </p:sp>
      </p:grpSp>
      <p:grpSp>
        <p:nvGrpSpPr>
          <p:cNvPr id="32" name="Group 31"/>
          <p:cNvGrpSpPr/>
          <p:nvPr/>
        </p:nvGrpSpPr>
        <p:grpSpPr>
          <a:xfrm>
            <a:off x="8191500" y="3949700"/>
            <a:ext cx="3187700" cy="1028700"/>
            <a:chOff x="8191500" y="3949700"/>
            <a:chExt cx="3187700" cy="1028700"/>
          </a:xfrm>
        </p:grpSpPr>
        <p:sp>
          <p:nvSpPr>
            <p:cNvPr id="33" name="Rectangle 32"/>
            <p:cNvSpPr/>
            <p:nvPr/>
          </p:nvSpPr>
          <p:spPr>
            <a:xfrm>
              <a:off x="8191500" y="3949700"/>
              <a:ext cx="3187700" cy="25400"/>
            </a:xfrm>
            <a:prstGeom prst="rect">
              <a:avLst/>
            </a:prstGeom>
            <a:solidFill>
              <a:srgbClr val="B54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91500" y="4089400"/>
              <a:ext cx="3187700" cy="889000"/>
            </a:xfrm>
            <a:prstGeom prst="rect">
              <a:avLst/>
            </a:prstGeom>
            <a:noFill/>
          </p:spPr>
          <p:txBody>
            <a:bodyPr wrap="square" lIns="0" rIns="0" tIns="0" bIns="0">
              <a:spAutoFit/>
            </a:bodyPr>
            <a:lstStyle/>
            <a:p>
              <a:pPr algn="l">
                <a:lnSpc>
                  <a:spcPct val="125000"/>
                </a:lnSpc>
              </a:pPr>
              <a:r>
                <a:rPr sz="1500" b="1" i="0">
                  <a:solidFill>
                    <a:srgbClr val="B5472F"/>
                  </a:solidFill>
                  <a:latin typeface="Segoe UI"/>
                </a:rPr>
                <a:t>Open challenge</a:t>
              </a:r>
            </a:p>
            <a:p>
              <a:pPr algn="l">
                <a:lnSpc>
                  <a:spcPct val="125000"/>
                </a:lnSpc>
                <a:spcBef>
                  <a:spcPts val="500"/>
                </a:spcBef>
              </a:pPr>
              <a:r>
                <a:rPr sz="1300" b="0" i="0">
                  <a:solidFill>
                    <a:srgbClr val="1B1F24"/>
                  </a:solidFill>
                  <a:latin typeface="Segoe UI"/>
                </a:rPr>
                <a:t>Learned methods under-estimate size; the cause is found.</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wipe(left)">
                                      <p:cBhvr>
                                        <p:cTn id="4" dur="600"/>
                                        <p:tgtEl>
                                          <p:spTgt spid="9"/>
                                        </p:tgtEl>
                                      </p:cBhvr>
                                    </p:animEffect>
                                  </p:childTnLst>
                                </p:cTn>
                              </p:par>
                              <p:par>
                                <p:cTn id="8" presetID="22" presetClass="entr" presetSubtype="8" fill="hold" grpId="0" nodeType="withEffect">
                                  <p:stCondLst>
                                    <p:cond delay="150"/>
                                  </p:stCondLst>
                                  <p:childTnLst>
                                    <p:set>
                                      <p:cBhvr>
                                        <p:cTn id="6" dur="1" fill="hold">
                                          <p:stCondLst>
                                            <p:cond delay="0"/>
                                          </p:stCondLst>
                                        </p:cTn>
                                        <p:tgtEl>
                                          <p:spTgt spid="10"/>
                                        </p:tgtEl>
                                        <p:attrNameLst>
                                          <p:attrName>style.visibility</p:attrName>
                                        </p:attrNameLst>
                                      </p:cBhvr>
                                      <p:to>
                                        <p:strVal val="visible"/>
                                      </p:to>
                                    </p:set>
                                    <p:animEffect transition="in" filter="wipe(left)">
                                      <p:cBhvr>
                                        <p:cTn id="7" dur="600"/>
                                        <p:tgtEl>
                                          <p:spTgt spid="10"/>
                                        </p:tgtEl>
                                      </p:cBhvr>
                                    </p:animEffect>
                                  </p:childTnLst>
                                </p:cTn>
                              </p:par>
                              <p:par>
                                <p:cTn id="11" presetID="22" presetClass="entr" presetSubtype="8" fill="hold" grpId="0" nodeType="withEffect">
                                  <p:stCondLst>
                                    <p:cond delay="300"/>
                                  </p:stCondLst>
                                  <p:childTnLst>
                                    <p:set>
                                      <p:cBhvr>
                                        <p:cTn id="9" dur="1" fill="hold">
                                          <p:stCondLst>
                                            <p:cond delay="0"/>
                                          </p:stCondLst>
                                        </p:cTn>
                                        <p:tgtEl>
                                          <p:spTgt spid="12"/>
                                        </p:tgtEl>
                                        <p:attrNameLst>
                                          <p:attrName>style.visibility</p:attrName>
                                        </p:attrNameLst>
                                      </p:cBhvr>
                                      <p:to>
                                        <p:strVal val="visible"/>
                                      </p:to>
                                    </p:set>
                                    <p:animEffect transition="in" filter="wipe(left)">
                                      <p:cBhvr>
                                        <p:cTn id="10" dur="600"/>
                                        <p:tgtEl>
                                          <p:spTgt spid="12"/>
                                        </p:tgtEl>
                                      </p:cBhvr>
                                    </p:animEffect>
                                  </p:childTnLst>
                                </p:cTn>
                              </p:par>
                              <p:par>
                                <p:cTn id="14" presetID="22" presetClass="entr" presetSubtype="8" fill="hold" grpId="0" nodeType="withEffect">
                                  <p:stCondLst>
                                    <p:cond delay="450"/>
                                  </p:stCondLst>
                                  <p:childTnLst>
                                    <p:set>
                                      <p:cBhvr>
                                        <p:cTn id="12" dur="1" fill="hold">
                                          <p:stCondLst>
                                            <p:cond delay="0"/>
                                          </p:stCondLst>
                                        </p:cTn>
                                        <p:tgtEl>
                                          <p:spTgt spid="13"/>
                                        </p:tgtEl>
                                        <p:attrNameLst>
                                          <p:attrName>style.visibility</p:attrName>
                                        </p:attrNameLst>
                                      </p:cBhvr>
                                      <p:to>
                                        <p:strVal val="visible"/>
                                      </p:to>
                                    </p:set>
                                    <p:animEffect transition="in" filter="wipe(left)">
                                      <p:cBhvr>
                                        <p:cTn id="13" dur="600"/>
                                        <p:tgtEl>
                                          <p:spTgt spid="13"/>
                                        </p:tgtEl>
                                      </p:cBhvr>
                                    </p:animEffect>
                                  </p:childTnLst>
                                </p:cTn>
                              </p:par>
                              <p:par>
                                <p:cTn id="17" presetID="22" presetClass="entr" presetSubtype="8" fill="hold" grpId="0" nodeType="withEffect">
                                  <p:stCondLst>
                                    <p:cond delay="600"/>
                                  </p:stCondLst>
                                  <p:childTnLst>
                                    <p:set>
                                      <p:cBhvr>
                                        <p:cTn id="15" dur="1" fill="hold">
                                          <p:stCondLst>
                                            <p:cond delay="0"/>
                                          </p:stCondLst>
                                        </p:cTn>
                                        <p:tgtEl>
                                          <p:spTgt spid="15"/>
                                        </p:tgtEl>
                                        <p:attrNameLst>
                                          <p:attrName>style.visibility</p:attrName>
                                        </p:attrNameLst>
                                      </p:cBhvr>
                                      <p:to>
                                        <p:strVal val="visible"/>
                                      </p:to>
                                    </p:set>
                                    <p:animEffect transition="in" filter="wipe(left)">
                                      <p:cBhvr>
                                        <p:cTn id="16" dur="600"/>
                                        <p:tgtEl>
                                          <p:spTgt spid="15"/>
                                        </p:tgtEl>
                                      </p:cBhvr>
                                    </p:animEffect>
                                  </p:childTnLst>
                                </p:cTn>
                              </p:par>
                              <p:par>
                                <p:cTn id="20" presetID="22" presetClass="entr" presetSubtype="8" fill="hold" grpId="0" nodeType="withEffect">
                                  <p:stCondLst>
                                    <p:cond delay="750"/>
                                  </p:stCondLst>
                                  <p:childTnLst>
                                    <p:set>
                                      <p:cBhvr>
                                        <p:cTn id="18" dur="1" fill="hold">
                                          <p:stCondLst>
                                            <p:cond delay="0"/>
                                          </p:stCondLst>
                                        </p:cTn>
                                        <p:tgtEl>
                                          <p:spTgt spid="16"/>
                                        </p:tgtEl>
                                        <p:attrNameLst>
                                          <p:attrName>style.visibility</p:attrName>
                                        </p:attrNameLst>
                                      </p:cBhvr>
                                      <p:to>
                                        <p:strVal val="visible"/>
                                      </p:to>
                                    </p:set>
                                    <p:animEffect transition="in" filter="wipe(left)">
                                      <p:cBhvr>
                                        <p:cTn id="19" dur="600"/>
                                        <p:tgtEl>
                                          <p:spTgt spid="16"/>
                                        </p:tgtEl>
                                      </p:cBhvr>
                                    </p:animEffect>
                                  </p:childTnLst>
                                </p:cTn>
                              </p:par>
                              <p:par>
                                <p:cTn id="23" presetID="22" presetClass="entr" presetSubtype="8" fill="hold" grpId="0" nodeType="withEffect">
                                  <p:stCondLst>
                                    <p:cond delay="90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600"/>
                                        <p:tgtEl>
                                          <p:spTgt spid="18"/>
                                        </p:tgtEl>
                                      </p:cBhvr>
                                    </p:animEffect>
                                  </p:childTnLst>
                                </p:cTn>
                              </p:par>
                              <p:par>
                                <p:cTn id="26" presetID="22" presetClass="entr" presetSubtype="8" fill="hold" grpId="0" nodeType="withEffect">
                                  <p:stCondLst>
                                    <p:cond delay="1050"/>
                                  </p:stCondLst>
                                  <p:childTnLst>
                                    <p:set>
                                      <p:cBhvr>
                                        <p:cTn id="24" dur="1" fill="hold">
                                          <p:stCondLst>
                                            <p:cond delay="0"/>
                                          </p:stCondLst>
                                        </p:cTn>
                                        <p:tgtEl>
                                          <p:spTgt spid="19"/>
                                        </p:tgtEl>
                                        <p:attrNameLst>
                                          <p:attrName>style.visibility</p:attrName>
                                        </p:attrNameLst>
                                      </p:cBhvr>
                                      <p:to>
                                        <p:strVal val="visible"/>
                                      </p:to>
                                    </p:set>
                                    <p:animEffect transition="in" filter="wipe(left)">
                                      <p:cBhvr>
                                        <p:cTn id="25" dur="600"/>
                                        <p:tgtEl>
                                          <p:spTgt spid="19"/>
                                        </p:tgtEl>
                                      </p:cBhvr>
                                    </p:animEffect>
                                  </p:childTnLst>
                                </p:cTn>
                              </p:par>
                              <p:par>
                                <p:cTn id="29" presetID="22" presetClass="entr" presetSubtype="8" fill="hold" grpId="0" nodeType="withEffect">
                                  <p:stCondLst>
                                    <p:cond delay="1200"/>
                                  </p:stCondLst>
                                  <p:childTnLst>
                                    <p:set>
                                      <p:cBhvr>
                                        <p:cTn id="27" dur="1" fill="hold">
                                          <p:stCondLst>
                                            <p:cond delay="0"/>
                                          </p:stCondLst>
                                        </p:cTn>
                                        <p:tgtEl>
                                          <p:spTgt spid="21"/>
                                        </p:tgtEl>
                                        <p:attrNameLst>
                                          <p:attrName>style.visibility</p:attrName>
                                        </p:attrNameLst>
                                      </p:cBhvr>
                                      <p:to>
                                        <p:strVal val="visible"/>
                                      </p:to>
                                    </p:set>
                                    <p:animEffect transition="in" filter="wipe(left)">
                                      <p:cBhvr>
                                        <p:cTn id="28" dur="600"/>
                                        <p:tgtEl>
                                          <p:spTgt spid="21"/>
                                        </p:tgtEl>
                                      </p:cBhvr>
                                    </p:animEffect>
                                  </p:childTnLst>
                                </p:cTn>
                              </p:par>
                              <p:par>
                                <p:cTn id="32" presetID="22" presetClass="entr" presetSubtype="8" fill="hold" grpId="0" nodeType="withEffect">
                                  <p:stCondLst>
                                    <p:cond delay="1350"/>
                                  </p:stCondLst>
                                  <p:childTnLst>
                                    <p:set>
                                      <p:cBhvr>
                                        <p:cTn id="30" dur="1" fill="hold">
                                          <p:stCondLst>
                                            <p:cond delay="0"/>
                                          </p:stCondLst>
                                        </p:cTn>
                                        <p:tgtEl>
                                          <p:spTgt spid="22"/>
                                        </p:tgtEl>
                                        <p:attrNameLst>
                                          <p:attrName>style.visibility</p:attrName>
                                        </p:attrNameLst>
                                      </p:cBhvr>
                                      <p:to>
                                        <p:strVal val="visible"/>
                                      </p:to>
                                    </p:set>
                                    <p:animEffect transition="in" filter="wipe(left)">
                                      <p:cBhvr>
                                        <p:cTn id="31" dur="600"/>
                                        <p:tgtEl>
                                          <p:spTgt spid="22"/>
                                        </p:tgtEl>
                                      </p:cBhvr>
                                    </p:animEffect>
                                  </p:childTnLst>
                                </p:cTn>
                              </p:par>
                              <p:par>
                                <p:cTn id="35" presetID="22" presetClass="entr" presetSubtype="8" fill="hold" grpId="0" nodeType="withEffect">
                                  <p:stCondLst>
                                    <p:cond delay="150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600"/>
                                        <p:tgtEl>
                                          <p:spTgt spid="24"/>
                                        </p:tgtEl>
                                      </p:cBhvr>
                                    </p:animEffect>
                                  </p:childTnLst>
                                </p:cTn>
                              </p:par>
                              <p:par>
                                <p:cTn id="38" presetID="22" presetClass="entr" presetSubtype="8" fill="hold" grpId="0" nodeType="withEffect">
                                  <p:stCondLst>
                                    <p:cond delay="165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600"/>
                                        <p:tgtEl>
                                          <p:spTgt spid="25"/>
                                        </p:tgtEl>
                                      </p:cBhvr>
                                    </p:animEffect>
                                  </p:childTnLst>
                                </p:cTn>
                              </p:par>
                            </p:childTnLst>
                          </p:cTn>
                        </p:par>
                      </p:childTnLst>
                    </p:cTn>
                  </p:par>
                  <p:par>
                    <p:cTn id="45" fill="hold">
                      <p:stCondLst>
                        <p:cond delay="indefinite"/>
                      </p:stCondLst>
                      <p:childTnLst>
                        <p:par>
                          <p:cTn id="46" fill="hold">
                            <p:stCondLst>
                              <p:cond delay="0"/>
                            </p:stCondLst>
                            <p:childTnLst>
                              <p:par>
                                <p:cTn id="44" presetID="42" presetClass="entr" presetSubtype="0"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anim calcmode="lin" valueType="num">
                                      <p:cBhvr additive="base">
                                        <p:cTn id="43" dur="500" fill="hold"/>
                                        <p:tgtEl>
                                          <p:spTgt spid="26"/>
                                        </p:tgtEl>
                                        <p:attrNameLst>
                                          <p:attrName>ppt_y</p:attrName>
                                        </p:attrNameLst>
                                      </p:cBhvr>
                                      <p:tavLst>
                                        <p:tav tm="0">
                                          <p:val>
                                            <p:strVal val="#ppt_y+0.05"/>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grpId="0" nodeType="click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500"/>
                                        <p:tgtEl>
                                          <p:spTgt spid="29"/>
                                        </p:tgtEl>
                                      </p:cBhvr>
                                    </p:animEffect>
                                    <p:anim calcmode="lin" valueType="num">
                                      <p:cBhvr additive="base">
                                        <p:cTn id="49" dur="500" fill="hold"/>
                                        <p:tgtEl>
                                          <p:spTgt spid="29"/>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grpId="0" nodeType="clickEffect">
                                  <p:stCondLst>
                                    <p:cond delay="0"/>
                                  </p:stCondLst>
                                  <p:childTnLst>
                                    <p:set>
                                      <p:cBhvr>
                                        <p:cTn id="53" dur="1" fill="hold">
                                          <p:stCondLst>
                                            <p:cond delay="0"/>
                                          </p:stCondLst>
                                        </p:cTn>
                                        <p:tgtEl>
                                          <p:spTgt spid="32"/>
                                        </p:tgtEl>
                                        <p:attrNameLst>
                                          <p:attrName>style.visibility</p:attrName>
                                        </p:attrNameLst>
                                      </p:cBhvr>
                                      <p:to>
                                        <p:strVal val="visible"/>
                                      </p:to>
                                    </p:set>
                                    <p:animEffect transition="in" filter="fade">
                                      <p:cBhvr>
                                        <p:cTn id="54" dur="500"/>
                                        <p:tgtEl>
                                          <p:spTgt spid="32"/>
                                        </p:tgtEl>
                                      </p:cBhvr>
                                    </p:animEffect>
                                    <p:anim calcmode="lin" valueType="num">
                                      <p:cBhvr additive="base">
                                        <p:cTn id="55" dur="500" fill="hold"/>
                                        <p:tgtEl>
                                          <p:spTgt spid="3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2" grpId="0"/>
      <p:bldP spid="13" grpId="0"/>
      <p:bldP spid="15" grpId="0"/>
      <p:bldP spid="16" grpId="0"/>
      <p:bldP spid="18" grpId="0"/>
      <p:bldP spid="19" grpId="0"/>
      <p:bldP spid="21" grpId="0"/>
      <p:bldP spid="22" grpId="0"/>
      <p:bldP spid="24" grpId="0"/>
      <p:bldP spid="25"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03  Results · engineering</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The complete system at a glance</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16 / 20</a:t>
            </a:r>
          </a:p>
        </p:txBody>
      </p:sp>
      <p:grpSp>
        <p:nvGrpSpPr>
          <p:cNvPr id="7" name="Group 6"/>
          <p:cNvGrpSpPr/>
          <p:nvPr/>
        </p:nvGrpSpPr>
        <p:grpSpPr>
          <a:xfrm>
            <a:off x="812800" y="1714500"/>
            <a:ext cx="3251200" cy="1600200"/>
            <a:chOff x="812800" y="1714500"/>
            <a:chExt cx="3251200" cy="1600200"/>
          </a:xfrm>
        </p:grpSpPr>
        <p:sp>
          <p:nvSpPr>
            <p:cNvPr id="8" name="Rectangle 7"/>
            <p:cNvSpPr/>
            <p:nvPr/>
          </p:nvSpPr>
          <p:spPr>
            <a:xfrm>
              <a:off x="812800" y="1714500"/>
              <a:ext cx="3251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54200"/>
              <a:ext cx="3251200" cy="1460500"/>
            </a:xfrm>
            <a:prstGeom prst="rect">
              <a:avLst/>
            </a:prstGeom>
            <a:noFill/>
          </p:spPr>
          <p:txBody>
            <a:bodyPr wrap="square" lIns="0" rIns="0" tIns="0" bIns="0">
              <a:spAutoFit/>
            </a:bodyPr>
            <a:lstStyle/>
            <a:p>
              <a:pPr algn="l">
                <a:lnSpc>
                  <a:spcPct val="100000"/>
                </a:lnSpc>
              </a:pPr>
              <a:r>
                <a:rPr sz="4800" b="1" i="0">
                  <a:solidFill>
                    <a:srgbClr val="00677F"/>
                  </a:solidFill>
                  <a:latin typeface="Segoe UI"/>
                </a:rPr>
                <a:t>583</a:t>
              </a:r>
            </a:p>
            <a:p>
              <a:pPr algn="l">
                <a:lnSpc>
                  <a:spcPct val="125000"/>
                </a:lnSpc>
                <a:spcBef>
                  <a:spcPts val="500"/>
                </a:spcBef>
              </a:pPr>
              <a:r>
                <a:rPr sz="1400" b="0" i="0">
                  <a:solidFill>
                    <a:srgbClr val="5B6470"/>
                  </a:solidFill>
                  <a:latin typeface="Segoe UI"/>
                </a:rPr>
                <a:t>patients processed end to end, 1,144 nodules</a:t>
              </a:r>
            </a:p>
          </p:txBody>
        </p:sp>
      </p:grpSp>
      <p:grpSp>
        <p:nvGrpSpPr>
          <p:cNvPr id="10" name="Group 9"/>
          <p:cNvGrpSpPr/>
          <p:nvPr/>
        </p:nvGrpSpPr>
        <p:grpSpPr>
          <a:xfrm>
            <a:off x="4470400" y="1714500"/>
            <a:ext cx="3251200" cy="1600200"/>
            <a:chOff x="4470400" y="1714500"/>
            <a:chExt cx="3251200" cy="1600200"/>
          </a:xfrm>
        </p:grpSpPr>
        <p:sp>
          <p:nvSpPr>
            <p:cNvPr id="11" name="Rectangle 10"/>
            <p:cNvSpPr/>
            <p:nvPr/>
          </p:nvSpPr>
          <p:spPr>
            <a:xfrm>
              <a:off x="4470400" y="1714500"/>
              <a:ext cx="3251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0400" y="1854200"/>
              <a:ext cx="3251200" cy="1460500"/>
            </a:xfrm>
            <a:prstGeom prst="rect">
              <a:avLst/>
            </a:prstGeom>
            <a:noFill/>
          </p:spPr>
          <p:txBody>
            <a:bodyPr wrap="square" lIns="0" rIns="0" tIns="0" bIns="0">
              <a:spAutoFit/>
            </a:bodyPr>
            <a:lstStyle/>
            <a:p>
              <a:pPr algn="l">
                <a:lnSpc>
                  <a:spcPct val="100000"/>
                </a:lnSpc>
              </a:pPr>
              <a:r>
                <a:rPr sz="4800" b="1" i="0">
                  <a:solidFill>
                    <a:srgbClr val="00677F"/>
                  </a:solidFill>
                  <a:latin typeface="Segoe UI"/>
                </a:rPr>
                <a:t>18</a:t>
              </a:r>
            </a:p>
            <a:p>
              <a:pPr algn="l">
                <a:lnSpc>
                  <a:spcPct val="125000"/>
                </a:lnSpc>
                <a:spcBef>
                  <a:spcPts val="500"/>
                </a:spcBef>
              </a:pPr>
              <a:r>
                <a:rPr sz="1400" b="0" i="0">
                  <a:solidFill>
                    <a:srgbClr val="5B6470"/>
                  </a:solidFill>
                  <a:latin typeface="Segoe UI"/>
                </a:rPr>
                <a:t>scripted steps, each with automatic PASS/FAIL checks</a:t>
              </a:r>
            </a:p>
          </p:txBody>
        </p:sp>
      </p:grpSp>
      <p:grpSp>
        <p:nvGrpSpPr>
          <p:cNvPr id="13" name="Group 12"/>
          <p:cNvGrpSpPr/>
          <p:nvPr/>
        </p:nvGrpSpPr>
        <p:grpSpPr>
          <a:xfrm>
            <a:off x="8128000" y="1714500"/>
            <a:ext cx="3251200" cy="1600200"/>
            <a:chOff x="8128000" y="1714500"/>
            <a:chExt cx="3251200" cy="1600200"/>
          </a:xfrm>
        </p:grpSpPr>
        <p:sp>
          <p:nvSpPr>
            <p:cNvPr id="14" name="Rectangle 13"/>
            <p:cNvSpPr/>
            <p:nvPr/>
          </p:nvSpPr>
          <p:spPr>
            <a:xfrm>
              <a:off x="8128000" y="1714500"/>
              <a:ext cx="3251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0" y="1854200"/>
              <a:ext cx="3251200" cy="1460500"/>
            </a:xfrm>
            <a:prstGeom prst="rect">
              <a:avLst/>
            </a:prstGeom>
            <a:noFill/>
          </p:spPr>
          <p:txBody>
            <a:bodyPr wrap="square" lIns="0" rIns="0" tIns="0" bIns="0">
              <a:spAutoFit/>
            </a:bodyPr>
            <a:lstStyle/>
            <a:p>
              <a:pPr algn="l">
                <a:lnSpc>
                  <a:spcPct val="100000"/>
                </a:lnSpc>
              </a:pPr>
              <a:r>
                <a:rPr sz="4800" b="1" i="0">
                  <a:solidFill>
                    <a:srgbClr val="00677F"/>
                  </a:solidFill>
                  <a:latin typeface="Segoe UI"/>
                </a:rPr>
                <a:t>69</a:t>
              </a:r>
            </a:p>
            <a:p>
              <a:pPr algn="l">
                <a:lnSpc>
                  <a:spcPct val="125000"/>
                </a:lnSpc>
                <a:spcBef>
                  <a:spcPts val="500"/>
                </a:spcBef>
              </a:pPr>
              <a:r>
                <a:rPr sz="1400" b="0" i="0">
                  <a:solidFill>
                    <a:srgbClr val="5B6470"/>
                  </a:solidFill>
                  <a:latin typeface="Segoe UI"/>
                </a:rPr>
                <a:t>unit tests covering physics, models and measurement</a:t>
              </a:r>
            </a:p>
          </p:txBody>
        </p:sp>
      </p:grpSp>
      <p:grpSp>
        <p:nvGrpSpPr>
          <p:cNvPr id="16" name="Group 15"/>
          <p:cNvGrpSpPr/>
          <p:nvPr/>
        </p:nvGrpSpPr>
        <p:grpSpPr>
          <a:xfrm>
            <a:off x="812800" y="3746500"/>
            <a:ext cx="3251200" cy="1600200"/>
            <a:chOff x="812800" y="3746500"/>
            <a:chExt cx="3251200" cy="1600200"/>
          </a:xfrm>
        </p:grpSpPr>
        <p:sp>
          <p:nvSpPr>
            <p:cNvPr id="17" name="Rectangle 16"/>
            <p:cNvSpPr/>
            <p:nvPr/>
          </p:nvSpPr>
          <p:spPr>
            <a:xfrm>
              <a:off x="812800" y="3746500"/>
              <a:ext cx="3251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800" y="3886200"/>
              <a:ext cx="3251200" cy="1460500"/>
            </a:xfrm>
            <a:prstGeom prst="rect">
              <a:avLst/>
            </a:prstGeom>
            <a:noFill/>
          </p:spPr>
          <p:txBody>
            <a:bodyPr wrap="square" lIns="0" rIns="0" tIns="0" bIns="0">
              <a:spAutoFit/>
            </a:bodyPr>
            <a:lstStyle/>
            <a:p>
              <a:pPr algn="l">
                <a:lnSpc>
                  <a:spcPct val="100000"/>
                </a:lnSpc>
              </a:pPr>
              <a:r>
                <a:rPr sz="4800" b="1" i="0">
                  <a:solidFill>
                    <a:srgbClr val="00677F"/>
                  </a:solidFill>
                  <a:latin typeface="Segoe UI"/>
                </a:rPr>
                <a:t>15 h</a:t>
              </a:r>
            </a:p>
            <a:p>
              <a:pPr algn="l">
                <a:lnSpc>
                  <a:spcPct val="125000"/>
                </a:lnSpc>
                <a:spcBef>
                  <a:spcPts val="500"/>
                </a:spcBef>
              </a:pPr>
              <a:r>
                <a:rPr sz="1400" b="0" i="0">
                  <a:solidFill>
                    <a:srgbClr val="5B6470"/>
                  </a:solidFill>
                  <a:latin typeface="Segoe UI"/>
                </a:rPr>
                <a:t>full study on one rented L40S GPU, about US$20</a:t>
              </a:r>
            </a:p>
          </p:txBody>
        </p:sp>
      </p:grpSp>
      <p:grpSp>
        <p:nvGrpSpPr>
          <p:cNvPr id="19" name="Group 18"/>
          <p:cNvGrpSpPr/>
          <p:nvPr/>
        </p:nvGrpSpPr>
        <p:grpSpPr>
          <a:xfrm>
            <a:off x="4470400" y="3746500"/>
            <a:ext cx="3251200" cy="1600200"/>
            <a:chOff x="4470400" y="3746500"/>
            <a:chExt cx="3251200" cy="1600200"/>
          </a:xfrm>
        </p:grpSpPr>
        <p:sp>
          <p:nvSpPr>
            <p:cNvPr id="20" name="Rectangle 19"/>
            <p:cNvSpPr/>
            <p:nvPr/>
          </p:nvSpPr>
          <p:spPr>
            <a:xfrm>
              <a:off x="4470400" y="3746500"/>
              <a:ext cx="3251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70400" y="3886200"/>
              <a:ext cx="3251200" cy="1460500"/>
            </a:xfrm>
            <a:prstGeom prst="rect">
              <a:avLst/>
            </a:prstGeom>
            <a:noFill/>
          </p:spPr>
          <p:txBody>
            <a:bodyPr wrap="square" lIns="0" rIns="0" tIns="0" bIns="0">
              <a:spAutoFit/>
            </a:bodyPr>
            <a:lstStyle/>
            <a:p>
              <a:pPr algn="l">
                <a:lnSpc>
                  <a:spcPct val="100000"/>
                </a:lnSpc>
              </a:pPr>
              <a:r>
                <a:rPr sz="4800" b="1" i="0">
                  <a:solidFill>
                    <a:srgbClr val="00677F"/>
                  </a:solidFill>
                  <a:latin typeface="Segoe UI"/>
                </a:rPr>
                <a:t>17.4 M</a:t>
              </a:r>
            </a:p>
            <a:p>
              <a:pPr algn="l">
                <a:lnSpc>
                  <a:spcPct val="125000"/>
                </a:lnSpc>
                <a:spcBef>
                  <a:spcPts val="500"/>
                </a:spcBef>
              </a:pPr>
              <a:r>
                <a:rPr sz="1400" b="0" i="0">
                  <a:solidFill>
                    <a:srgbClr val="5B6470"/>
                  </a:solidFill>
                  <a:latin typeface="Segoe UI"/>
                </a:rPr>
                <a:t>parameter 3D diffusion model, trained in 6 hours</a:t>
              </a:r>
            </a:p>
          </p:txBody>
        </p:sp>
      </p:grpSp>
      <p:grpSp>
        <p:nvGrpSpPr>
          <p:cNvPr id="22" name="Group 21"/>
          <p:cNvGrpSpPr/>
          <p:nvPr/>
        </p:nvGrpSpPr>
        <p:grpSpPr>
          <a:xfrm>
            <a:off x="8128000" y="3746500"/>
            <a:ext cx="3251200" cy="1600200"/>
            <a:chOff x="8128000" y="3746500"/>
            <a:chExt cx="3251200" cy="1600200"/>
          </a:xfrm>
        </p:grpSpPr>
        <p:sp>
          <p:nvSpPr>
            <p:cNvPr id="23" name="Rectangle 22"/>
            <p:cNvSpPr/>
            <p:nvPr/>
          </p:nvSpPr>
          <p:spPr>
            <a:xfrm>
              <a:off x="8128000" y="3746500"/>
              <a:ext cx="32512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0" y="3886200"/>
              <a:ext cx="3251200" cy="1460500"/>
            </a:xfrm>
            <a:prstGeom prst="rect">
              <a:avLst/>
            </a:prstGeom>
            <a:noFill/>
          </p:spPr>
          <p:txBody>
            <a:bodyPr wrap="square" lIns="0" rIns="0" tIns="0" bIns="0">
              <a:spAutoFit/>
            </a:bodyPr>
            <a:lstStyle/>
            <a:p>
              <a:pPr algn="l">
                <a:lnSpc>
                  <a:spcPct val="100000"/>
                </a:lnSpc>
              </a:pPr>
              <a:r>
                <a:rPr sz="4800" b="1" i="0">
                  <a:solidFill>
                    <a:srgbClr val="00677F"/>
                  </a:solidFill>
                  <a:latin typeface="Segoe UI"/>
                </a:rPr>
                <a:t>45.5 s</a:t>
              </a:r>
            </a:p>
            <a:p>
              <a:pPr algn="l">
                <a:lnSpc>
                  <a:spcPct val="125000"/>
                </a:lnSpc>
                <a:spcBef>
                  <a:spcPts val="500"/>
                </a:spcBef>
              </a:pPr>
              <a:r>
                <a:rPr sz="1400" b="0" i="0">
                  <a:solidFill>
                    <a:srgbClr val="5B6470"/>
                  </a:solidFill>
                  <a:latin typeface="Segoe UI"/>
                </a:rPr>
                <a:t>median per nodule, all five reconstruction methods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anim calcmode="lin" valueType="num">
                                      <p:cBhvr additive="base">
                                        <p:cTn id="17" dur="50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0" presetID="42"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anim calcmode="lin" valueType="num">
                                      <p:cBhvr additive="base">
                                        <p:cTn id="29" dur="500" fill="hold"/>
                                        <p:tgtEl>
                                          <p:spTgt spid="19"/>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anim calcmode="lin" valueType="num">
                                      <p:cBhvr additive="base">
                                        <p:cTn id="35" dur="500" fill="hold"/>
                                        <p:tgtEl>
                                          <p:spTgt spid="2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04  Outlook · root-cause analysis</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Every gap traced to a cause and a concrete fix</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17 / 20</a:t>
            </a:r>
          </a:p>
        </p:txBody>
      </p:sp>
      <p:pic>
        <p:nvPicPr>
          <p:cNvPr id="7" name="Picture 6" descr="shrink.png"/>
          <p:cNvPicPr>
            <a:picLocks noChangeAspect="1"/>
          </p:cNvPicPr>
          <p:nvPr/>
        </p:nvPicPr>
        <p:blipFill>
          <a:blip r:embed="rId2"/>
          <a:stretch>
            <a:fillRect/>
          </a:stretch>
        </p:blipFill>
        <p:spPr>
          <a:xfrm>
            <a:off x="814538" y="1663700"/>
            <a:ext cx="4314524" cy="2070100"/>
          </a:xfrm>
          <a:prstGeom prst="rect">
            <a:avLst/>
          </a:prstGeom>
        </p:spPr>
      </p:pic>
      <p:sp>
        <p:nvSpPr>
          <p:cNvPr id="8" name="TextBox 7"/>
          <p:cNvSpPr txBox="1"/>
          <p:nvPr/>
        </p:nvSpPr>
        <p:spPr>
          <a:xfrm>
            <a:off x="812800" y="3810000"/>
            <a:ext cx="2159000" cy="2286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CT truth, 6.8 mm</a:t>
            </a:r>
          </a:p>
        </p:txBody>
      </p:sp>
      <p:sp>
        <p:nvSpPr>
          <p:cNvPr id="9" name="TextBox 8"/>
          <p:cNvSpPr txBox="1"/>
          <p:nvPr/>
        </p:nvSpPr>
        <p:spPr>
          <a:xfrm>
            <a:off x="2971800" y="3810000"/>
            <a:ext cx="2159000" cy="228600"/>
          </a:xfrm>
          <a:prstGeom prst="rect">
            <a:avLst/>
          </a:prstGeom>
          <a:noFill/>
        </p:spPr>
        <p:txBody>
          <a:bodyPr wrap="square" lIns="0" rIns="0" tIns="0" bIns="0" anchor="t">
            <a:spAutoFit/>
          </a:bodyPr>
          <a:lstStyle/>
          <a:p>
            <a:pPr algn="l">
              <a:lnSpc>
                <a:spcPct val="120000"/>
              </a:lnSpc>
            </a:pPr>
            <a:r>
              <a:rPr sz="1200" b="1" i="0">
                <a:solidFill>
                  <a:srgbClr val="B5472F"/>
                </a:solidFill>
                <a:latin typeface="Segoe UI"/>
              </a:rPr>
              <a:t>Reconstruction: shrunk</a:t>
            </a:r>
          </a:p>
        </p:txBody>
      </p:sp>
      <p:grpSp>
        <p:nvGrpSpPr>
          <p:cNvPr id="10" name="Group 9"/>
          <p:cNvGrpSpPr/>
          <p:nvPr/>
        </p:nvGrpSpPr>
        <p:grpSpPr>
          <a:xfrm>
            <a:off x="5537200" y="1663700"/>
            <a:ext cx="5842000" cy="1155700"/>
            <a:chOff x="5537200" y="1663700"/>
            <a:chExt cx="5842000" cy="1155700"/>
          </a:xfrm>
        </p:grpSpPr>
        <p:sp>
          <p:nvSpPr>
            <p:cNvPr id="11" name="Rectangle 10"/>
            <p:cNvSpPr/>
            <p:nvPr/>
          </p:nvSpPr>
          <p:spPr>
            <a:xfrm>
              <a:off x="5537200" y="1663700"/>
              <a:ext cx="5842000" cy="254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37200" y="1803400"/>
              <a:ext cx="5842000" cy="1016000"/>
            </a:xfrm>
            <a:prstGeom prst="rect">
              <a:avLst/>
            </a:prstGeom>
            <a:noFill/>
          </p:spPr>
          <p:txBody>
            <a:bodyPr wrap="square" lIns="0" rIns="0" tIns="0" bIns="0">
              <a:spAutoFit/>
            </a:bodyPr>
            <a:lstStyle/>
            <a:p>
              <a:pPr algn="l">
                <a:lnSpc>
                  <a:spcPct val="125000"/>
                </a:lnSpc>
              </a:pPr>
              <a:r>
                <a:rPr sz="1200" b="1" i="0">
                  <a:solidFill>
                    <a:srgbClr val="00677F"/>
                  </a:solidFill>
                  <a:latin typeface="Segoe UI"/>
                </a:rPr>
                <a:t>Cause 1</a:t>
              </a:r>
            </a:p>
            <a:p>
              <a:pPr algn="l">
                <a:lnSpc>
                  <a:spcPct val="125000"/>
                </a:lnSpc>
                <a:spcBef>
                  <a:spcPts val="300"/>
                </a:spcBef>
              </a:pPr>
              <a:r>
                <a:rPr sz="1500" b="1" i="0">
                  <a:solidFill>
                    <a:srgbClr val="1B1F24"/>
                  </a:solidFill>
                  <a:latin typeface="Segoe UI"/>
                </a:rPr>
                <a:t>Faint nodules get shrunk</a:t>
              </a:r>
            </a:p>
            <a:p>
              <a:pPr algn="l">
                <a:lnSpc>
                  <a:spcPct val="125000"/>
                </a:lnSpc>
                <a:spcBef>
                  <a:spcPts val="500"/>
                </a:spcBef>
              </a:pPr>
              <a:r>
                <a:rPr sz="1300" b="0" i="0">
                  <a:solidFill>
                    <a:srgbClr val="5B6470"/>
                  </a:solidFill>
                  <a:latin typeface="Segoe UI"/>
                </a:rPr>
                <a:t>Fix: Condition the prior on the click and oversample nodule pairs.</a:t>
              </a:r>
            </a:p>
          </p:txBody>
        </p:sp>
      </p:grpSp>
      <p:grpSp>
        <p:nvGrpSpPr>
          <p:cNvPr id="13" name="Group 12"/>
          <p:cNvGrpSpPr/>
          <p:nvPr/>
        </p:nvGrpSpPr>
        <p:grpSpPr>
          <a:xfrm>
            <a:off x="5537200" y="2933700"/>
            <a:ext cx="5842000" cy="1155700"/>
            <a:chOff x="5537200" y="2933700"/>
            <a:chExt cx="5842000" cy="1155700"/>
          </a:xfrm>
        </p:grpSpPr>
        <p:sp>
          <p:nvSpPr>
            <p:cNvPr id="14" name="Rectangle 13"/>
            <p:cNvSpPr/>
            <p:nvPr/>
          </p:nvSpPr>
          <p:spPr>
            <a:xfrm>
              <a:off x="5537200" y="2933700"/>
              <a:ext cx="58420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37200" y="3073400"/>
              <a:ext cx="5842000" cy="1016000"/>
            </a:xfrm>
            <a:prstGeom prst="rect">
              <a:avLst/>
            </a:prstGeom>
            <a:noFill/>
          </p:spPr>
          <p:txBody>
            <a:bodyPr wrap="square" lIns="0" rIns="0" tIns="0" bIns="0">
              <a:spAutoFit/>
            </a:bodyPr>
            <a:lstStyle/>
            <a:p>
              <a:pPr algn="l">
                <a:lnSpc>
                  <a:spcPct val="125000"/>
                </a:lnSpc>
              </a:pPr>
              <a:r>
                <a:rPr sz="1200" b="1" i="0">
                  <a:solidFill>
                    <a:srgbClr val="00677F"/>
                  </a:solidFill>
                  <a:latin typeface="Segoe UI"/>
                </a:rPr>
                <a:t>Cause 2</a:t>
              </a:r>
            </a:p>
            <a:p>
              <a:pPr algn="l">
                <a:lnSpc>
                  <a:spcPct val="125000"/>
                </a:lnSpc>
                <a:spcBef>
                  <a:spcPts val="300"/>
                </a:spcBef>
              </a:pPr>
              <a:r>
                <a:rPr sz="1500" b="1" i="0">
                  <a:solidFill>
                    <a:srgbClr val="1B1F24"/>
                  </a:solidFill>
                  <a:latin typeface="Segoe UI"/>
                </a:rPr>
                <a:t>Mass read from the image</a:t>
              </a:r>
            </a:p>
            <a:p>
              <a:pPr algn="l">
                <a:lnSpc>
                  <a:spcPct val="125000"/>
                </a:lnSpc>
                <a:spcBef>
                  <a:spcPts val="500"/>
                </a:spcBef>
              </a:pPr>
              <a:r>
                <a:rPr sz="1300" b="0" i="0">
                  <a:solidFill>
                    <a:srgbClr val="5B6470"/>
                  </a:solidFill>
                  <a:latin typeface="Segoe UI"/>
                </a:rPr>
                <a:t>Fix: Read it from the projections, where 99.7% of mass is measured.</a:t>
              </a:r>
            </a:p>
          </p:txBody>
        </p:sp>
      </p:grpSp>
      <p:grpSp>
        <p:nvGrpSpPr>
          <p:cNvPr id="16" name="Group 15"/>
          <p:cNvGrpSpPr/>
          <p:nvPr/>
        </p:nvGrpSpPr>
        <p:grpSpPr>
          <a:xfrm>
            <a:off x="5537200" y="4203700"/>
            <a:ext cx="5842000" cy="1155700"/>
            <a:chOff x="5537200" y="4203700"/>
            <a:chExt cx="5842000" cy="1155700"/>
          </a:xfrm>
        </p:grpSpPr>
        <p:sp>
          <p:nvSpPr>
            <p:cNvPr id="17" name="Rectangle 16"/>
            <p:cNvSpPr/>
            <p:nvPr/>
          </p:nvSpPr>
          <p:spPr>
            <a:xfrm>
              <a:off x="5537200" y="4203700"/>
              <a:ext cx="5842000" cy="25400"/>
            </a:xfrm>
            <a:prstGeom prst="rect">
              <a:avLst/>
            </a:prstGeom>
            <a:solidFill>
              <a:srgbClr val="C9C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37200" y="4343400"/>
              <a:ext cx="5842000" cy="1016000"/>
            </a:xfrm>
            <a:prstGeom prst="rect">
              <a:avLst/>
            </a:prstGeom>
            <a:noFill/>
          </p:spPr>
          <p:txBody>
            <a:bodyPr wrap="square" lIns="0" rIns="0" tIns="0" bIns="0">
              <a:spAutoFit/>
            </a:bodyPr>
            <a:lstStyle/>
            <a:p>
              <a:pPr algn="l">
                <a:lnSpc>
                  <a:spcPct val="125000"/>
                </a:lnSpc>
              </a:pPr>
              <a:r>
                <a:rPr sz="1200" b="1" i="0">
                  <a:solidFill>
                    <a:srgbClr val="00677F"/>
                  </a:solidFill>
                  <a:latin typeface="Segoe UI"/>
                </a:rPr>
                <a:t>Cause 3</a:t>
              </a:r>
            </a:p>
            <a:p>
              <a:pPr algn="l">
                <a:lnSpc>
                  <a:spcPct val="125000"/>
                </a:lnSpc>
                <a:spcBef>
                  <a:spcPts val="300"/>
                </a:spcBef>
              </a:pPr>
              <a:r>
                <a:rPr sz="1500" b="1" i="0">
                  <a:solidFill>
                    <a:srgbClr val="1B1F24"/>
                  </a:solidFill>
                  <a:latin typeface="Segoe UI"/>
                </a:rPr>
                <a:t>Failed reads widen intervals</a:t>
              </a:r>
            </a:p>
            <a:p>
              <a:pPr algn="l">
                <a:lnSpc>
                  <a:spcPct val="125000"/>
                </a:lnSpc>
                <a:spcBef>
                  <a:spcPts val="500"/>
                </a:spcBef>
              </a:pPr>
              <a:r>
                <a:rPr sz="1300" b="0" i="0">
                  <a:solidFill>
                    <a:srgbClr val="5B6470"/>
                  </a:solidFill>
                  <a:latin typeface="Segoe UI"/>
                </a:rPr>
                <a:t>Fix: Report “not measurable” separately and calibrate the rest.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additive="base">
                                        <p:cTn id="5"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anim calcmode="lin" valueType="num">
                                      <p:cBhvr additive="base">
                                        <p:cTn id="11" dur="50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04  Outlook · comparison with closest work</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Only MedLift-3D combines all seven elements</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18 / 20</a:t>
            </a:r>
          </a:p>
        </p:txBody>
      </p:sp>
      <p:graphicFrame>
        <p:nvGraphicFramePr>
          <p:cNvPr id="7" name="Table 6"/>
          <p:cNvGraphicFramePr>
            <a:graphicFrameLocks noGrp="1"/>
          </p:cNvGraphicFramePr>
          <p:nvPr/>
        </p:nvGraphicFramePr>
        <p:xfrm>
          <a:off x="812800" y="1663700"/>
          <a:ext cx="10547350" cy="2857500"/>
        </p:xfrm>
        <a:graphic>
          <a:graphicData uri="http://schemas.openxmlformats.org/drawingml/2006/table">
            <a:tbl>
              <a:tblPr firstRow="1" bandRow="1">
                <a:tableStyleId>{5C22544A-7EE6-4342-B048-85BDC9FD1C3A}</a:tableStyleId>
              </a:tblPr>
              <a:tblGrid>
                <a:gridCol w="2324100"/>
                <a:gridCol w="1174750"/>
                <a:gridCol w="1174750"/>
                <a:gridCol w="1174750"/>
                <a:gridCol w="1174750"/>
                <a:gridCol w="1174750"/>
                <a:gridCol w="1174750"/>
                <a:gridCol w="1174750"/>
              </a:tblGrid>
              <a:tr h="571500">
                <a:tc>
                  <a:txBody>
                    <a:bodyPr wrap="square"/>
                    <a:lstStyle/>
                    <a:p>
                      <a:pPr algn="l">
                        <a:lnSpc>
                          <a:spcPct val="100000"/>
                        </a:lnSpc>
                      </a:pPr>
                      <a:r>
                        <a:rPr sz="1200" b="1" i="0">
                          <a:solidFill>
                            <a:srgbClr val="1B1F24"/>
                          </a:solidFill>
                          <a:latin typeface="Segoe UI"/>
                        </a:rPr>
                        <a:t>Work</a:t>
                      </a:r>
                    </a:p>
                  </a:txBody>
                  <a:tcPr anchor="ctr" marL="76200" marR="76200">
                    <a:solidFill>
                      <a:srgbClr val="E1EEF1"/>
                    </a:solidFill>
                  </a:tcPr>
                </a:tc>
                <a:tc>
                  <a:txBody>
                    <a:bodyPr wrap="square"/>
                    <a:lstStyle/>
                    <a:p>
                      <a:pPr algn="ctr">
                        <a:lnSpc>
                          <a:spcPct val="100000"/>
                        </a:lnSpc>
                      </a:pPr>
                      <a:r>
                        <a:rPr sz="1200" b="1" i="0">
                          <a:solidFill>
                            <a:srgbClr val="1B1F24"/>
                          </a:solidFill>
                          <a:latin typeface="Segoe UI"/>
                        </a:rPr>
                        <a:t>DTS geometry</a:t>
                      </a:r>
                    </a:p>
                  </a:txBody>
                  <a:tcPr anchor="ctr" marL="76200" marR="76200">
                    <a:solidFill>
                      <a:srgbClr val="E1EEF1"/>
                    </a:solidFill>
                  </a:tcPr>
                </a:tc>
                <a:tc>
                  <a:txBody>
                    <a:bodyPr wrap="square"/>
                    <a:lstStyle/>
                    <a:p>
                      <a:pPr algn="ctr">
                        <a:lnSpc>
                          <a:spcPct val="100000"/>
                        </a:lnSpc>
                      </a:pPr>
                      <a:r>
                        <a:rPr sz="1200" b="1" i="0">
                          <a:solidFill>
                            <a:srgbClr val="1B1F24"/>
                          </a:solidFill>
                          <a:latin typeface="Segoe UI"/>
                        </a:rPr>
                        <a:t>Learned prior</a:t>
                      </a:r>
                    </a:p>
                  </a:txBody>
                  <a:tcPr anchor="ctr" marL="76200" marR="76200">
                    <a:solidFill>
                      <a:srgbClr val="E1EEF1"/>
                    </a:solidFill>
                  </a:tcPr>
                </a:tc>
                <a:tc>
                  <a:txBody>
                    <a:bodyPr wrap="square"/>
                    <a:lstStyle/>
                    <a:p>
                      <a:pPr algn="ctr">
                        <a:lnSpc>
                          <a:spcPct val="100000"/>
                        </a:lnSpc>
                      </a:pPr>
                      <a:r>
                        <a:rPr sz="1200" b="1" i="0">
                          <a:solidFill>
                            <a:srgbClr val="1B1F24"/>
                          </a:solidFill>
                          <a:latin typeface="Segoe UI"/>
                        </a:rPr>
                        <a:t>Data consistency</a:t>
                      </a:r>
                    </a:p>
                  </a:txBody>
                  <a:tcPr anchor="ctr" marL="76200" marR="76200">
                    <a:solidFill>
                      <a:srgbClr val="E1EEF1"/>
                    </a:solidFill>
                  </a:tcPr>
                </a:tc>
                <a:tc>
                  <a:txBody>
                    <a:bodyPr wrap="square"/>
                    <a:lstStyle/>
                    <a:p>
                      <a:pPr algn="ctr">
                        <a:lnSpc>
                          <a:spcPct val="100000"/>
                        </a:lnSpc>
                      </a:pPr>
                      <a:r>
                        <a:rPr sz="1200" b="1" i="0">
                          <a:solidFill>
                            <a:srgbClr val="1B1F24"/>
                          </a:solidFill>
                          <a:latin typeface="Segoe UI"/>
                        </a:rPr>
                        <a:t>Gaussian mass</a:t>
                      </a:r>
                    </a:p>
                  </a:txBody>
                  <a:tcPr anchor="ctr" marL="76200" marR="76200">
                    <a:solidFill>
                      <a:srgbClr val="E1EEF1"/>
                    </a:solidFill>
                  </a:tcPr>
                </a:tc>
                <a:tc>
                  <a:txBody>
                    <a:bodyPr wrap="square"/>
                    <a:lstStyle/>
                    <a:p>
                      <a:pPr algn="ctr">
                        <a:lnSpc>
                          <a:spcPct val="100000"/>
                        </a:lnSpc>
                      </a:pPr>
                      <a:r>
                        <a:rPr sz="1200" b="1" i="0">
                          <a:solidFill>
                            <a:srgbClr val="1B1F24"/>
                          </a:solidFill>
                          <a:latin typeface="Segoe UI"/>
                        </a:rPr>
                        <a:t>Clinical biomarker</a:t>
                      </a:r>
                    </a:p>
                  </a:txBody>
                  <a:tcPr anchor="ctr" marL="76200" marR="76200">
                    <a:solidFill>
                      <a:srgbClr val="E1EEF1"/>
                    </a:solidFill>
                  </a:tcPr>
                </a:tc>
                <a:tc>
                  <a:txBody>
                    <a:bodyPr wrap="square"/>
                    <a:lstStyle/>
                    <a:p>
                      <a:pPr algn="ctr">
                        <a:lnSpc>
                          <a:spcPct val="100000"/>
                        </a:lnSpc>
                      </a:pPr>
                      <a:r>
                        <a:rPr sz="1200" b="1" i="0">
                          <a:solidFill>
                            <a:srgbClr val="1B1F24"/>
                          </a:solidFill>
                          <a:latin typeface="Segoe UI"/>
                        </a:rPr>
                        <a:t>Calibrated UQ</a:t>
                      </a:r>
                    </a:p>
                  </a:txBody>
                  <a:tcPr anchor="ctr" marL="76200" marR="76200">
                    <a:solidFill>
                      <a:srgbClr val="E1EEF1"/>
                    </a:solidFill>
                  </a:tcPr>
                </a:tc>
                <a:tc>
                  <a:txBody>
                    <a:bodyPr wrap="square"/>
                    <a:lstStyle/>
                    <a:p>
                      <a:pPr algn="ctr">
                        <a:lnSpc>
                          <a:spcPct val="100000"/>
                        </a:lnSpc>
                      </a:pPr>
                      <a:r>
                        <a:rPr sz="1200" b="1" i="0">
                          <a:solidFill>
                            <a:srgbClr val="1B1F24"/>
                          </a:solidFill>
                          <a:latin typeface="Segoe UI"/>
                        </a:rPr>
                        <a:t>Seen / unseen</a:t>
                      </a:r>
                    </a:p>
                  </a:txBody>
                  <a:tcPr anchor="ctr" marL="76200" marR="76200">
                    <a:solidFill>
                      <a:srgbClr val="E1EEF1"/>
                    </a:solidFill>
                  </a:tcPr>
                </a:tc>
              </a:tr>
              <a:tr h="381000">
                <a:tc>
                  <a:txBody>
                    <a:bodyPr wrap="square"/>
                    <a:lstStyle/>
                    <a:p>
                      <a:pPr algn="l">
                        <a:lnSpc>
                          <a:spcPct val="120000"/>
                        </a:lnSpc>
                      </a:pPr>
                      <a:r>
                        <a:rPr sz="1300" b="0" i="0">
                          <a:solidFill>
                            <a:srgbClr val="1B1F24"/>
                          </a:solidFill>
                          <a:latin typeface="Segoe UI"/>
                        </a:rPr>
                        <a:t>Li et al. 2025</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r>
              <a:tr h="381000">
                <a:tc>
                  <a:txBody>
                    <a:bodyPr wrap="square"/>
                    <a:lstStyle/>
                    <a:p>
                      <a:pPr algn="l">
                        <a:lnSpc>
                          <a:spcPct val="120000"/>
                        </a:lnSpc>
                      </a:pPr>
                      <a:r>
                        <a:rPr sz="1300" b="0" i="0">
                          <a:solidFill>
                            <a:srgbClr val="1B1F24"/>
                          </a:solidFill>
                          <a:latin typeface="Segoe UI"/>
                        </a:rPr>
                        <a:t>Zha et al. 2024</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r>
              <a:tr h="381000">
                <a:tc>
                  <a:txBody>
                    <a:bodyPr wrap="square"/>
                    <a:lstStyle/>
                    <a:p>
                      <a:pPr algn="l">
                        <a:lnSpc>
                          <a:spcPct val="120000"/>
                        </a:lnSpc>
                      </a:pPr>
                      <a:r>
                        <a:rPr sz="1300" b="0" i="0">
                          <a:solidFill>
                            <a:srgbClr val="1B1F24"/>
                          </a:solidFill>
                          <a:latin typeface="Segoe UI"/>
                        </a:rPr>
                        <a:t>Chung et al. 2023</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r>
              <a:tr h="381000">
                <a:tc>
                  <a:txBody>
                    <a:bodyPr wrap="square"/>
                    <a:lstStyle/>
                    <a:p>
                      <a:pPr algn="l">
                        <a:lnSpc>
                          <a:spcPct val="120000"/>
                        </a:lnSpc>
                      </a:pPr>
                      <a:r>
                        <a:rPr sz="1300" b="0" i="0">
                          <a:solidFill>
                            <a:srgbClr val="1B1F24"/>
                          </a:solidFill>
                          <a:latin typeface="Segoe UI"/>
                        </a:rPr>
                        <a:t>Zhang et al. 2025</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5B6470"/>
                          </a:solidFill>
                          <a:latin typeface="Segoe UI"/>
                        </a:rPr>
                        <a:t>partly</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r>
              <a:tr h="381000">
                <a:tc>
                  <a:txBody>
                    <a:bodyPr wrap="square"/>
                    <a:lstStyle/>
                    <a:p>
                      <a:pPr algn="l">
                        <a:lnSpc>
                          <a:spcPct val="120000"/>
                        </a:lnSpc>
                      </a:pPr>
                      <a:r>
                        <a:rPr sz="1300" b="0" i="0">
                          <a:solidFill>
                            <a:srgbClr val="1B1F24"/>
                          </a:solidFill>
                          <a:latin typeface="Segoe UI"/>
                        </a:rPr>
                        <a:t>Bhadra et al. 2021</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n/a</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r>
              <a:tr h="381000">
                <a:tc>
                  <a:txBody>
                    <a:bodyPr wrap="square"/>
                    <a:lstStyle/>
                    <a:p>
                      <a:pPr algn="l">
                        <a:lnSpc>
                          <a:spcPct val="120000"/>
                        </a:lnSpc>
                      </a:pPr>
                      <a:r>
                        <a:rPr sz="1300" b="0" i="0">
                          <a:solidFill>
                            <a:srgbClr val="1B1F24"/>
                          </a:solidFill>
                          <a:latin typeface="Segoe UI"/>
                        </a:rPr>
                        <a:t>de Hoop et al. 2010</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n/a</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1B1F24"/>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c>
                  <a:txBody>
                    <a:bodyPr wrap="square"/>
                    <a:lstStyle/>
                    <a:p>
                      <a:pPr algn="ctr">
                        <a:lnSpc>
                          <a:spcPct val="120000"/>
                        </a:lnSpc>
                      </a:pPr>
                      <a:r>
                        <a:rPr sz="1300" b="0" i="0">
                          <a:solidFill>
                            <a:srgbClr val="A7AEB6"/>
                          </a:solidFill>
                          <a:latin typeface="Segoe UI"/>
                        </a:rPr>
                        <a:t>–</a:t>
                      </a:r>
                    </a:p>
                  </a:txBody>
                  <a:tcPr anchor="ctr" marL="76200" marR="76200">
                    <a:solidFill>
                      <a:srgbClr val="FFFFFF"/>
                    </a:solidFill>
                  </a:tcPr>
                </a:tc>
              </a:tr>
            </a:tbl>
          </a:graphicData>
        </a:graphic>
      </p:graphicFrame>
      <p:grpSp>
        <p:nvGrpSpPr>
          <p:cNvPr id="8" name="Group 7"/>
          <p:cNvGrpSpPr/>
          <p:nvPr/>
        </p:nvGrpSpPr>
        <p:grpSpPr>
          <a:xfrm>
            <a:off x="812800" y="4521200"/>
            <a:ext cx="10566400" cy="419100"/>
            <a:chOff x="812800" y="4521200"/>
            <a:chExt cx="10566400" cy="419100"/>
          </a:xfrm>
        </p:grpSpPr>
        <p:sp>
          <p:nvSpPr>
            <p:cNvPr id="9" name="Rectangle 8"/>
            <p:cNvSpPr/>
            <p:nvPr/>
          </p:nvSpPr>
          <p:spPr>
            <a:xfrm>
              <a:off x="812800" y="4521200"/>
              <a:ext cx="10566400" cy="4191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9000" y="4521200"/>
              <a:ext cx="2171700" cy="419100"/>
            </a:xfrm>
            <a:prstGeom prst="rect">
              <a:avLst/>
            </a:prstGeom>
            <a:noFill/>
          </p:spPr>
          <p:txBody>
            <a:bodyPr wrap="square" lIns="0" tIns="0" bIns="0" anchor="ctr">
              <a:spAutoFit/>
            </a:bodyPr>
            <a:lstStyle/>
            <a:p>
              <a:pPr algn="l">
                <a:lnSpc>
                  <a:spcPct val="120000"/>
                </a:lnSpc>
              </a:pPr>
              <a:r>
                <a:rPr sz="1400" b="1" i="0">
                  <a:solidFill>
                    <a:srgbClr val="FFFFFF"/>
                  </a:solidFill>
                  <a:latin typeface="Segoe UI"/>
                </a:rPr>
                <a:t>MedLift-3D (ours)</a:t>
              </a:r>
            </a:p>
          </p:txBody>
        </p:sp>
        <p:sp>
          <p:nvSpPr>
            <p:cNvPr id="11" name="TextBox 10"/>
            <p:cNvSpPr txBox="1"/>
            <p:nvPr/>
          </p:nvSpPr>
          <p:spPr>
            <a:xfrm>
              <a:off x="3213100" y="4521200"/>
              <a:ext cx="1022350" cy="419100"/>
            </a:xfrm>
            <a:prstGeom prst="rect">
              <a:avLst/>
            </a:prstGeom>
            <a:noFill/>
          </p:spPr>
          <p:txBody>
            <a:bodyPr wrap="square" lIns="0" tIns="0" bIns="0" anchor="ctr">
              <a:spAutoFit/>
            </a:bodyPr>
            <a:lstStyle/>
            <a:p>
              <a:pPr algn="ctr">
                <a:lnSpc>
                  <a:spcPct val="120000"/>
                </a:lnSpc>
              </a:pPr>
              <a:r>
                <a:rPr sz="1400" b="1" i="0">
                  <a:solidFill>
                    <a:srgbClr val="FFFFFF"/>
                  </a:solidFill>
                  <a:latin typeface="Segoe UI"/>
                </a:rPr>
                <a:t>✓</a:t>
              </a:r>
            </a:p>
          </p:txBody>
        </p:sp>
        <p:sp>
          <p:nvSpPr>
            <p:cNvPr id="12" name="TextBox 11"/>
            <p:cNvSpPr txBox="1"/>
            <p:nvPr/>
          </p:nvSpPr>
          <p:spPr>
            <a:xfrm>
              <a:off x="4387850" y="4521200"/>
              <a:ext cx="1022350" cy="419100"/>
            </a:xfrm>
            <a:prstGeom prst="rect">
              <a:avLst/>
            </a:prstGeom>
            <a:noFill/>
          </p:spPr>
          <p:txBody>
            <a:bodyPr wrap="square" lIns="0" tIns="0" bIns="0" anchor="ctr">
              <a:spAutoFit/>
            </a:bodyPr>
            <a:lstStyle/>
            <a:p>
              <a:pPr algn="ctr">
                <a:lnSpc>
                  <a:spcPct val="120000"/>
                </a:lnSpc>
              </a:pPr>
              <a:r>
                <a:rPr sz="1400" b="1" i="0">
                  <a:solidFill>
                    <a:srgbClr val="FFFFFF"/>
                  </a:solidFill>
                  <a:latin typeface="Segoe UI"/>
                </a:rPr>
                <a:t>✓</a:t>
              </a:r>
            </a:p>
          </p:txBody>
        </p:sp>
        <p:sp>
          <p:nvSpPr>
            <p:cNvPr id="13" name="TextBox 12"/>
            <p:cNvSpPr txBox="1"/>
            <p:nvPr/>
          </p:nvSpPr>
          <p:spPr>
            <a:xfrm>
              <a:off x="5562600" y="4521200"/>
              <a:ext cx="1022350" cy="419100"/>
            </a:xfrm>
            <a:prstGeom prst="rect">
              <a:avLst/>
            </a:prstGeom>
            <a:noFill/>
          </p:spPr>
          <p:txBody>
            <a:bodyPr wrap="square" lIns="0" tIns="0" bIns="0" anchor="ctr">
              <a:spAutoFit/>
            </a:bodyPr>
            <a:lstStyle/>
            <a:p>
              <a:pPr algn="ctr">
                <a:lnSpc>
                  <a:spcPct val="120000"/>
                </a:lnSpc>
              </a:pPr>
              <a:r>
                <a:rPr sz="1400" b="1" i="0">
                  <a:solidFill>
                    <a:srgbClr val="FFFFFF"/>
                  </a:solidFill>
                  <a:latin typeface="Segoe UI"/>
                </a:rPr>
                <a:t>✓</a:t>
              </a:r>
            </a:p>
          </p:txBody>
        </p:sp>
        <p:sp>
          <p:nvSpPr>
            <p:cNvPr id="14" name="TextBox 13"/>
            <p:cNvSpPr txBox="1"/>
            <p:nvPr/>
          </p:nvSpPr>
          <p:spPr>
            <a:xfrm>
              <a:off x="6737350" y="4521200"/>
              <a:ext cx="1022350" cy="419100"/>
            </a:xfrm>
            <a:prstGeom prst="rect">
              <a:avLst/>
            </a:prstGeom>
            <a:noFill/>
          </p:spPr>
          <p:txBody>
            <a:bodyPr wrap="square" lIns="0" tIns="0" bIns="0" anchor="ctr">
              <a:spAutoFit/>
            </a:bodyPr>
            <a:lstStyle/>
            <a:p>
              <a:pPr algn="ctr">
                <a:lnSpc>
                  <a:spcPct val="120000"/>
                </a:lnSpc>
              </a:pPr>
              <a:r>
                <a:rPr sz="1400" b="1" i="0">
                  <a:solidFill>
                    <a:srgbClr val="FFFFFF"/>
                  </a:solidFill>
                  <a:latin typeface="Segoe UI"/>
                </a:rPr>
                <a:t>✓</a:t>
              </a:r>
            </a:p>
          </p:txBody>
        </p:sp>
        <p:sp>
          <p:nvSpPr>
            <p:cNvPr id="15" name="TextBox 14"/>
            <p:cNvSpPr txBox="1"/>
            <p:nvPr/>
          </p:nvSpPr>
          <p:spPr>
            <a:xfrm>
              <a:off x="7912100" y="4521200"/>
              <a:ext cx="1022350" cy="419100"/>
            </a:xfrm>
            <a:prstGeom prst="rect">
              <a:avLst/>
            </a:prstGeom>
            <a:noFill/>
          </p:spPr>
          <p:txBody>
            <a:bodyPr wrap="square" lIns="0" tIns="0" bIns="0" anchor="ctr">
              <a:spAutoFit/>
            </a:bodyPr>
            <a:lstStyle/>
            <a:p>
              <a:pPr algn="ctr">
                <a:lnSpc>
                  <a:spcPct val="120000"/>
                </a:lnSpc>
              </a:pPr>
              <a:r>
                <a:rPr sz="1400" b="1" i="0">
                  <a:solidFill>
                    <a:srgbClr val="FFFFFF"/>
                  </a:solidFill>
                  <a:latin typeface="Segoe UI"/>
                </a:rPr>
                <a:t>✓</a:t>
              </a:r>
            </a:p>
          </p:txBody>
        </p:sp>
        <p:sp>
          <p:nvSpPr>
            <p:cNvPr id="16" name="TextBox 15"/>
            <p:cNvSpPr txBox="1"/>
            <p:nvPr/>
          </p:nvSpPr>
          <p:spPr>
            <a:xfrm>
              <a:off x="9086850" y="4521200"/>
              <a:ext cx="1022350" cy="419100"/>
            </a:xfrm>
            <a:prstGeom prst="rect">
              <a:avLst/>
            </a:prstGeom>
            <a:noFill/>
          </p:spPr>
          <p:txBody>
            <a:bodyPr wrap="square" lIns="0" tIns="0" bIns="0" anchor="ctr">
              <a:spAutoFit/>
            </a:bodyPr>
            <a:lstStyle/>
            <a:p>
              <a:pPr algn="ctr">
                <a:lnSpc>
                  <a:spcPct val="120000"/>
                </a:lnSpc>
              </a:pPr>
              <a:r>
                <a:rPr sz="1400" b="1" i="0">
                  <a:solidFill>
                    <a:srgbClr val="FFFFFF"/>
                  </a:solidFill>
                  <a:latin typeface="Segoe UI"/>
                </a:rPr>
                <a:t>✓</a:t>
              </a:r>
            </a:p>
          </p:txBody>
        </p:sp>
        <p:sp>
          <p:nvSpPr>
            <p:cNvPr id="17" name="TextBox 16"/>
            <p:cNvSpPr txBox="1"/>
            <p:nvPr/>
          </p:nvSpPr>
          <p:spPr>
            <a:xfrm>
              <a:off x="10261600" y="4521200"/>
              <a:ext cx="1022350" cy="419100"/>
            </a:xfrm>
            <a:prstGeom prst="rect">
              <a:avLst/>
            </a:prstGeom>
            <a:noFill/>
          </p:spPr>
          <p:txBody>
            <a:bodyPr wrap="square" lIns="0" tIns="0" bIns="0" anchor="ctr">
              <a:spAutoFit/>
            </a:bodyPr>
            <a:lstStyle/>
            <a:p>
              <a:pPr algn="ctr">
                <a:lnSpc>
                  <a:spcPct val="120000"/>
                </a:lnSpc>
              </a:pPr>
              <a:r>
                <a:rPr sz="1400" b="1" i="0">
                  <a:solidFill>
                    <a:srgbClr val="FFFFFF"/>
                  </a:solidFill>
                  <a:latin typeface="Segoe UI"/>
                </a:rPr>
                <a:t>✓</a:t>
              </a:r>
            </a:p>
          </p:txBody>
        </p:sp>
      </p:grpSp>
      <p:sp>
        <p:nvSpPr>
          <p:cNvPr id="18" name="TextBox 17"/>
          <p:cNvSpPr txBox="1"/>
          <p:nvPr/>
        </p:nvSpPr>
        <p:spPr>
          <a:xfrm>
            <a:off x="812800" y="5130800"/>
            <a:ext cx="10566400" cy="508000"/>
          </a:xfrm>
          <a:prstGeom prst="rect">
            <a:avLst/>
          </a:prstGeom>
          <a:noFill/>
        </p:spPr>
        <p:txBody>
          <a:bodyPr wrap="square" lIns="0" rIns="0" tIns="0" bIns="0" anchor="t">
            <a:spAutoFit/>
          </a:bodyPr>
          <a:lstStyle/>
          <a:p>
            <a:pPr algn="l">
              <a:lnSpc>
                <a:spcPct val="130000"/>
              </a:lnSpc>
            </a:pPr>
            <a:r>
              <a:rPr sz="1200" b="0" i="0">
                <a:solidFill>
                  <a:srgbClr val="5B6470"/>
                </a:solidFill>
                <a:latin typeface="Segoe UI"/>
              </a:rPr>
              <a:t>✓ = addressed, – = not addressed. Each element exists somewhere; our contribution is combining them for DTS nodule measurement, with a mass-first design and a truth-checked evaluation.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1" presetID="10" presetClass="entr" presetSubtype="0" fill="hold" grpId="0" nodeType="click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09600"/>
            <a:ext cx="10566400" cy="215900"/>
          </a:xfrm>
          <a:prstGeom prst="rect">
            <a:avLst/>
          </a:prstGeom>
          <a:noFill/>
        </p:spPr>
        <p:txBody>
          <a:bodyPr wrap="square" lIns="0" rIns="0" tIns="0" bIns="0" anchor="t">
            <a:spAutoFit/>
          </a:bodyPr>
          <a:lstStyle/>
          <a:p>
            <a:pPr algn="l">
              <a:lnSpc>
                <a:spcPct val="120000"/>
              </a:lnSpc>
            </a:pPr>
            <a:r>
              <a:rPr sz="1200" b="1" i="0">
                <a:solidFill>
                  <a:srgbClr val="00677F"/>
                </a:solidFill>
                <a:latin typeface="Segoe UI"/>
              </a:rPr>
              <a:t>04  Outlook</a:t>
            </a:r>
          </a:p>
        </p:txBody>
      </p:sp>
      <p:sp>
        <p:nvSpPr>
          <p:cNvPr id="3" name="TextBox 2"/>
          <p:cNvSpPr txBox="1"/>
          <p:nvPr/>
        </p:nvSpPr>
        <p:spPr>
          <a:xfrm>
            <a:off x="812800" y="850900"/>
            <a:ext cx="10566400" cy="419100"/>
          </a:xfrm>
          <a:prstGeom prst="rect">
            <a:avLst/>
          </a:prstGeom>
          <a:noFill/>
        </p:spPr>
        <p:txBody>
          <a:bodyPr wrap="square" lIns="0" rIns="0" tIns="0" bIns="0" anchor="t">
            <a:spAutoFit/>
          </a:bodyPr>
          <a:lstStyle/>
          <a:p>
            <a:pPr algn="l">
              <a:lnSpc>
                <a:spcPct val="100000"/>
              </a:lnSpc>
            </a:pPr>
            <a:r>
              <a:rPr sz="2600" b="1" i="0">
                <a:solidFill>
                  <a:srgbClr val="1B1F24"/>
                </a:solidFill>
                <a:latin typeface="Segoe UI"/>
              </a:rPr>
              <a:t>What we delivered, and where it goes next</a:t>
            </a:r>
          </a:p>
        </p:txBody>
      </p:sp>
      <p:sp>
        <p:nvSpPr>
          <p:cNvPr id="4" name="Rectangle 3"/>
          <p:cNvSpPr/>
          <p:nvPr/>
        </p:nvSpPr>
        <p:spPr>
          <a:xfrm>
            <a:off x="812800" y="1358900"/>
            <a:ext cx="10566400" cy="127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6248400"/>
            <a:ext cx="6985000" cy="203200"/>
          </a:xfrm>
          <a:prstGeom prst="rect">
            <a:avLst/>
          </a:prstGeom>
          <a:noFill/>
        </p:spPr>
        <p:txBody>
          <a:bodyPr wrap="square" lIns="0" rIns="0" tIns="0" bIns="0" anchor="t">
            <a:spAutoFit/>
          </a:bodyPr>
          <a:lstStyle/>
          <a:p>
            <a:pPr algn="l">
              <a:lnSpc>
                <a:spcPct val="120000"/>
              </a:lnSpc>
            </a:pPr>
            <a:r>
              <a:rPr sz="1200" b="0" i="0">
                <a:solidFill>
                  <a:srgbClr val="5B6470"/>
                </a:solidFill>
                <a:latin typeface="Segoe UI"/>
              </a:rPr>
              <a:t>MedLift-3D · United International University · Final Year Design Project</a:t>
            </a:r>
          </a:p>
        </p:txBody>
      </p:sp>
      <p:sp>
        <p:nvSpPr>
          <p:cNvPr id="6" name="TextBox 5"/>
          <p:cNvSpPr txBox="1"/>
          <p:nvPr/>
        </p:nvSpPr>
        <p:spPr>
          <a:xfrm>
            <a:off x="10109200" y="6248400"/>
            <a:ext cx="1270000" cy="203200"/>
          </a:xfrm>
          <a:prstGeom prst="rect">
            <a:avLst/>
          </a:prstGeom>
          <a:noFill/>
        </p:spPr>
        <p:txBody>
          <a:bodyPr wrap="square" lIns="0" rIns="0" tIns="0" bIns="0" anchor="t">
            <a:spAutoFit/>
          </a:bodyPr>
          <a:lstStyle/>
          <a:p>
            <a:pPr algn="r">
              <a:lnSpc>
                <a:spcPct val="120000"/>
              </a:lnSpc>
            </a:pPr>
            <a:r>
              <a:rPr sz="1200" b="0" i="0">
                <a:solidFill>
                  <a:srgbClr val="5B6470"/>
                </a:solidFill>
                <a:latin typeface="Segoe UI"/>
              </a:rPr>
              <a:t>19 / 20</a:t>
            </a:r>
          </a:p>
        </p:txBody>
      </p:sp>
      <p:grpSp>
        <p:nvGrpSpPr>
          <p:cNvPr id="7" name="Group 6"/>
          <p:cNvGrpSpPr/>
          <p:nvPr/>
        </p:nvGrpSpPr>
        <p:grpSpPr>
          <a:xfrm>
            <a:off x="812800" y="1663700"/>
            <a:ext cx="5080000" cy="2806700"/>
            <a:chOff x="812800" y="1663700"/>
            <a:chExt cx="5080000" cy="2806700"/>
          </a:xfrm>
        </p:grpSpPr>
        <p:sp>
          <p:nvSpPr>
            <p:cNvPr id="8" name="Rectangle 7"/>
            <p:cNvSpPr/>
            <p:nvPr/>
          </p:nvSpPr>
          <p:spPr>
            <a:xfrm>
              <a:off x="812800" y="1663700"/>
              <a:ext cx="5080000" cy="25400"/>
            </a:xfrm>
            <a:prstGeom prst="rect">
              <a:avLst/>
            </a:prstGeom>
            <a:solidFill>
              <a:srgbClr val="0067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03400"/>
              <a:ext cx="5080000" cy="2667000"/>
            </a:xfrm>
            <a:prstGeom prst="rect">
              <a:avLst/>
            </a:prstGeom>
            <a:noFill/>
          </p:spPr>
          <p:txBody>
            <a:bodyPr wrap="square" lIns="0" rIns="0" tIns="0" bIns="0">
              <a:spAutoFit/>
            </a:bodyPr>
            <a:lstStyle/>
            <a:p>
              <a:pPr algn="l">
                <a:lnSpc>
                  <a:spcPct val="125000"/>
                </a:lnSpc>
              </a:pPr>
              <a:r>
                <a:rPr sz="1500" b="1" i="0">
                  <a:solidFill>
                    <a:srgbClr val="00677F"/>
                  </a:solidFill>
                  <a:latin typeface="Segoe UI"/>
                </a:rPr>
                <a:t>Delivered</a:t>
              </a:r>
            </a:p>
            <a:p>
              <a:pPr algn="l">
                <a:lnSpc>
                  <a:spcPct val="125000"/>
                </a:lnSpc>
                <a:spcBef>
                  <a:spcPts val="500"/>
                </a:spcBef>
              </a:pPr>
              <a:r>
                <a:rPr sz="1300" b="0" i="0">
                  <a:solidFill>
                    <a:srgbClr val="1B1F24"/>
                  </a:solidFill>
                  <a:latin typeface="Segoe UI"/>
                </a:rPr>
                <a:t>•  Projection-moment proof: DTS measures mass, not depth extent</a:t>
              </a:r>
            </a:p>
            <a:p>
              <a:pPr algn="l">
                <a:lnSpc>
                  <a:spcPct val="125000"/>
                </a:lnSpc>
                <a:spcBef>
                  <a:spcPts val="500"/>
                </a:spcBef>
              </a:pPr>
              <a:r>
                <a:rPr sz="1300" b="0" i="0">
                  <a:solidFill>
                    <a:srgbClr val="1B1F24"/>
                  </a:solidFill>
                  <a:latin typeface="Segoe UI"/>
                </a:rPr>
                <a:t>•  X-ray-consistent diffusion prior with closed-form Gaussian mass</a:t>
              </a:r>
            </a:p>
            <a:p>
              <a:pPr algn="l">
                <a:lnSpc>
                  <a:spcPct val="125000"/>
                </a:lnSpc>
                <a:spcBef>
                  <a:spcPts val="500"/>
                </a:spcBef>
              </a:pPr>
              <a:r>
                <a:rPr sz="1300" b="0" i="0">
                  <a:solidFill>
                    <a:srgbClr val="1B1F24"/>
                  </a:solidFill>
                  <a:latin typeface="Segoe UI"/>
                </a:rPr>
                <a:t>•  Calibrated, decision-level uncertainty for DTS volumetry</a:t>
              </a:r>
            </a:p>
            <a:p>
              <a:pPr algn="l">
                <a:lnSpc>
                  <a:spcPct val="125000"/>
                </a:lnSpc>
                <a:spcBef>
                  <a:spcPts val="500"/>
                </a:spcBef>
              </a:pPr>
              <a:r>
                <a:rPr sz="1300" b="0" i="0">
                  <a:solidFill>
                    <a:srgbClr val="1B1F24"/>
                  </a:solidFill>
                  <a:latin typeface="Segoe UI"/>
                </a:rPr>
                <a:t>•  Truth-referenced test of what a generative prior adds</a:t>
              </a:r>
            </a:p>
            <a:p>
              <a:pPr algn="l">
                <a:lnSpc>
                  <a:spcPct val="125000"/>
                </a:lnSpc>
                <a:spcBef>
                  <a:spcPts val="500"/>
                </a:spcBef>
              </a:pPr>
              <a:r>
                <a:rPr sz="1300" b="0" i="0">
                  <a:solidFill>
                    <a:srgbClr val="1B1F24"/>
                  </a:solidFill>
                  <a:latin typeface="Segoe UI"/>
                </a:rPr>
                <a:t>•  Verified 18-step pipeline and working click-to-3D application</a:t>
              </a:r>
            </a:p>
          </p:txBody>
        </p:sp>
      </p:grpSp>
      <p:grpSp>
        <p:nvGrpSpPr>
          <p:cNvPr id="10" name="Group 9"/>
          <p:cNvGrpSpPr/>
          <p:nvPr/>
        </p:nvGrpSpPr>
        <p:grpSpPr>
          <a:xfrm>
            <a:off x="6299200" y="1663700"/>
            <a:ext cx="5080000" cy="2806700"/>
            <a:chOff x="6299200" y="1663700"/>
            <a:chExt cx="5080000" cy="2806700"/>
          </a:xfrm>
        </p:grpSpPr>
        <p:sp>
          <p:nvSpPr>
            <p:cNvPr id="11" name="Rectangle 10"/>
            <p:cNvSpPr/>
            <p:nvPr/>
          </p:nvSpPr>
          <p:spPr>
            <a:xfrm>
              <a:off x="6299200" y="1663700"/>
              <a:ext cx="5080000" cy="25400"/>
            </a:xfrm>
            <a:prstGeom prst="rect">
              <a:avLst/>
            </a:prstGeom>
            <a:solidFill>
              <a:srgbClr val="1B1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9200" y="1803400"/>
              <a:ext cx="5080000" cy="2667000"/>
            </a:xfrm>
            <a:prstGeom prst="rect">
              <a:avLst/>
            </a:prstGeom>
            <a:noFill/>
          </p:spPr>
          <p:txBody>
            <a:bodyPr wrap="square" lIns="0" rIns="0" tIns="0" bIns="0">
              <a:spAutoFit/>
            </a:bodyPr>
            <a:lstStyle/>
            <a:p>
              <a:pPr algn="l">
                <a:lnSpc>
                  <a:spcPct val="125000"/>
                </a:lnSpc>
              </a:pPr>
              <a:r>
                <a:rPr sz="1500" b="1" i="0">
                  <a:solidFill>
                    <a:srgbClr val="1B1F24"/>
                  </a:solidFill>
                  <a:latin typeface="Segoe UI"/>
                </a:rPr>
                <a:t>Next</a:t>
              </a:r>
            </a:p>
            <a:p>
              <a:pPr algn="l">
                <a:lnSpc>
                  <a:spcPct val="125000"/>
                </a:lnSpc>
                <a:spcBef>
                  <a:spcPts val="500"/>
                </a:spcBef>
              </a:pPr>
              <a:r>
                <a:rPr sz="1300" b="0" i="0">
                  <a:solidFill>
                    <a:srgbClr val="1B1F24"/>
                  </a:solidFill>
                  <a:latin typeface="Segoe UI"/>
                </a:rPr>
                <a:t>•  Click-conditioned, nodule-preserving prior</a:t>
              </a:r>
            </a:p>
            <a:p>
              <a:pPr algn="l">
                <a:lnSpc>
                  <a:spcPct val="125000"/>
                </a:lnSpc>
                <a:spcBef>
                  <a:spcPts val="500"/>
                </a:spcBef>
              </a:pPr>
              <a:r>
                <a:rPr sz="1300" b="0" i="0">
                  <a:solidFill>
                    <a:srgbClr val="1B1F24"/>
                  </a:solidFill>
                  <a:latin typeface="Segoe UI"/>
                </a:rPr>
                <a:t>•  Projection-domain mass measurement</a:t>
              </a:r>
            </a:p>
            <a:p>
              <a:pPr algn="l">
                <a:lnSpc>
                  <a:spcPct val="125000"/>
                </a:lnSpc>
                <a:spcBef>
                  <a:spcPts val="500"/>
                </a:spcBef>
              </a:pPr>
              <a:r>
                <a:rPr sz="1300" b="0" i="0">
                  <a:solidFill>
                    <a:srgbClr val="1B1F24"/>
                  </a:solidFill>
                  <a:latin typeface="Segoe UI"/>
                </a:rPr>
                <a:t>•  Failure-aware calibration</a:t>
              </a:r>
            </a:p>
            <a:p>
              <a:pPr algn="l">
                <a:lnSpc>
                  <a:spcPct val="125000"/>
                </a:lnSpc>
                <a:spcBef>
                  <a:spcPts val="500"/>
                </a:spcBef>
              </a:pPr>
              <a:r>
                <a:rPr sz="1300" b="0" i="0">
                  <a:solidFill>
                    <a:srgbClr val="1B1F24"/>
                  </a:solidFill>
                  <a:latin typeface="Segoe UI"/>
                </a:rPr>
                <a:t>•  Real DTS + CT data with a hospital partner</a:t>
              </a:r>
            </a:p>
            <a:p>
              <a:pPr algn="l">
                <a:lnSpc>
                  <a:spcPct val="125000"/>
                </a:lnSpc>
                <a:spcBef>
                  <a:spcPts val="500"/>
                </a:spcBef>
              </a:pPr>
              <a:r>
                <a:rPr sz="1300" b="0" i="0">
                  <a:solidFill>
                    <a:srgbClr val="1B1F24"/>
                  </a:solidFill>
                  <a:latin typeface="Segoe UI"/>
                </a:rPr>
                <a:t>•  Bangla interface and PACS integration</a:t>
              </a:r>
            </a:p>
          </p:txBody>
        </p:sp>
      </p:grpSp>
      <p:grpSp>
        <p:nvGrpSpPr>
          <p:cNvPr id="13" name="Group 12"/>
          <p:cNvGrpSpPr/>
          <p:nvPr/>
        </p:nvGrpSpPr>
        <p:grpSpPr>
          <a:xfrm>
            <a:off x="812800" y="4699000"/>
            <a:ext cx="10566400" cy="952500"/>
            <a:chOff x="812800" y="4699000"/>
            <a:chExt cx="10566400" cy="952500"/>
          </a:xfrm>
        </p:grpSpPr>
        <p:sp>
          <p:nvSpPr>
            <p:cNvPr id="14" name="Rectangle 13"/>
            <p:cNvSpPr/>
            <p:nvPr/>
          </p:nvSpPr>
          <p:spPr>
            <a:xfrm>
              <a:off x="812800" y="4699000"/>
              <a:ext cx="10566400" cy="952500"/>
            </a:xfrm>
            <a:prstGeom prst="rect">
              <a:avLst/>
            </a:prstGeom>
            <a:solidFill>
              <a:srgbClr val="E1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1400" y="4851400"/>
              <a:ext cx="10109200" cy="698500"/>
            </a:xfrm>
            <a:prstGeom prst="rect">
              <a:avLst/>
            </a:prstGeom>
            <a:noFill/>
          </p:spPr>
          <p:txBody>
            <a:bodyPr wrap="square" lIns="0">
              <a:spAutoFit/>
            </a:bodyPr>
            <a:lstStyle/>
            <a:p>
              <a:pPr algn="l">
                <a:lnSpc>
                  <a:spcPct val="130000"/>
                </a:lnSpc>
              </a:pPr>
              <a:r>
                <a:rPr sz="1700" b="1" i="0">
                  <a:solidFill>
                    <a:srgbClr val="00677F"/>
                  </a:solidFill>
                  <a:latin typeface="Segoe UI"/>
                </a:rPr>
                <a:t>MedLift-3D</a:t>
              </a:r>
              <a:r>
                <a:rPr sz="1700" b="0" i="0">
                  <a:solidFill>
                    <a:srgbClr val="1B1F24"/>
                  </a:solidFill>
                  <a:latin typeface="Segoe UI"/>
                </a:rPr>
                <a:t> delivers low-dose, click-to-3D nodule assessment with calibrated, explainable uncertainty, built and validated for about US$22.</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F24"/>
        </a:solidFill>
        <a:effectLst/>
      </p:bgPr>
    </p:bg>
    <p:spTree>
      <p:nvGrpSpPr>
        <p:cNvPr id="1" name=""/>
        <p:cNvGrpSpPr/>
        <p:nvPr/>
      </p:nvGrpSpPr>
      <p:grpSpPr/>
      <p:sp>
        <p:nvSpPr>
          <p:cNvPr id="2" name="TextBox 1"/>
          <p:cNvSpPr txBox="1"/>
          <p:nvPr/>
        </p:nvSpPr>
        <p:spPr>
          <a:xfrm>
            <a:off x="812800" y="2095500"/>
            <a:ext cx="10566400" cy="1079500"/>
          </a:xfrm>
          <a:prstGeom prst="rect">
            <a:avLst/>
          </a:prstGeom>
          <a:noFill/>
        </p:spPr>
        <p:txBody>
          <a:bodyPr wrap="square" lIns="0" rIns="0" tIns="0" bIns="0" anchor="t">
            <a:spAutoFit/>
          </a:bodyPr>
          <a:lstStyle/>
          <a:p>
            <a:pPr algn="l">
              <a:lnSpc>
                <a:spcPct val="100000"/>
              </a:lnSpc>
            </a:pPr>
            <a:r>
              <a:rPr sz="7500" b="1" i="0">
                <a:solidFill>
                  <a:srgbClr val="F7F6F2"/>
                </a:solidFill>
                <a:latin typeface="Segoe UI"/>
              </a:rPr>
              <a:t>Thank you</a:t>
            </a:r>
          </a:p>
        </p:txBody>
      </p:sp>
      <p:sp>
        <p:nvSpPr>
          <p:cNvPr id="3" name="TextBox 2"/>
          <p:cNvSpPr txBox="1"/>
          <p:nvPr/>
        </p:nvSpPr>
        <p:spPr>
          <a:xfrm>
            <a:off x="812800" y="3302000"/>
            <a:ext cx="10566400" cy="355600"/>
          </a:xfrm>
          <a:prstGeom prst="rect">
            <a:avLst/>
          </a:prstGeom>
          <a:noFill/>
        </p:spPr>
        <p:txBody>
          <a:bodyPr wrap="square" lIns="0" rIns="0" tIns="0" bIns="0" anchor="t">
            <a:spAutoFit/>
          </a:bodyPr>
          <a:lstStyle/>
          <a:p>
            <a:pPr algn="l">
              <a:lnSpc>
                <a:spcPct val="120000"/>
              </a:lnSpc>
            </a:pPr>
            <a:r>
              <a:rPr sz="2000" b="0" i="0">
                <a:solidFill>
                  <a:srgbClr val="C9CED4"/>
                </a:solidFill>
                <a:latin typeface="Segoe UI"/>
              </a:rPr>
              <a:t>Questions and answers</a:t>
            </a:r>
          </a:p>
        </p:txBody>
      </p:sp>
      <p:sp>
        <p:nvSpPr>
          <p:cNvPr id="4" name="Rectangle 3"/>
          <p:cNvSpPr/>
          <p:nvPr/>
        </p:nvSpPr>
        <p:spPr>
          <a:xfrm>
            <a:off x="812800" y="3937000"/>
            <a:ext cx="10566400" cy="12700"/>
          </a:xfrm>
          <a:prstGeom prst="rect">
            <a:avLst/>
          </a:prstGeom>
          <a:solidFill>
            <a:srgbClr val="5B6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4114800"/>
            <a:ext cx="10566400" cy="279400"/>
          </a:xfrm>
          <a:prstGeom prst="rect">
            <a:avLst/>
          </a:prstGeom>
          <a:noFill/>
        </p:spPr>
        <p:txBody>
          <a:bodyPr wrap="square" lIns="0" rIns="0" tIns="0" bIns="0" anchor="t">
            <a:spAutoFit/>
          </a:bodyPr>
          <a:lstStyle/>
          <a:p>
            <a:pPr algn="l">
              <a:lnSpc>
                <a:spcPct val="120000"/>
              </a:lnSpc>
            </a:pPr>
            <a:r>
              <a:rPr sz="1400" b="0" i="0">
                <a:solidFill>
                  <a:srgbClr val="C9CED4"/>
                </a:solidFill>
                <a:latin typeface="Segoe UI"/>
              </a:rPr>
              <a:t>Jubair Ahmed · Foyez Ahammed Naeem · Md Motasim Billah</a:t>
            </a:r>
          </a:p>
        </p:txBody>
      </p:sp>
      <p:sp>
        <p:nvSpPr>
          <p:cNvPr id="6" name="TextBox 5"/>
          <p:cNvSpPr txBox="1"/>
          <p:nvPr/>
        </p:nvSpPr>
        <p:spPr>
          <a:xfrm>
            <a:off x="812800" y="4495800"/>
            <a:ext cx="10566400" cy="254000"/>
          </a:xfrm>
          <a:prstGeom prst="rect">
            <a:avLst/>
          </a:prstGeom>
          <a:noFill/>
        </p:spPr>
        <p:txBody>
          <a:bodyPr wrap="square" lIns="0" rIns="0" tIns="0" bIns="0" anchor="t">
            <a:spAutoFit/>
          </a:bodyPr>
          <a:lstStyle/>
          <a:p>
            <a:pPr algn="l">
              <a:lnSpc>
                <a:spcPct val="120000"/>
              </a:lnSpc>
            </a:pPr>
            <a:r>
              <a:rPr sz="1300" b="0" i="0">
                <a:solidFill>
                  <a:srgbClr val="8A939C"/>
                </a:solidFill>
                <a:latin typeface="Segoe UI"/>
              </a:rPr>
              <a:t>Department of Computer Science and Engineering, United International University</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